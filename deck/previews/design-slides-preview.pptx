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view" id="{5cdf60b1-6b5a-d1a7-ae5f-15588b1cefa3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popular class can draw far more interest than seats. The platform answers every click within seconds, never oversells, never charges someone who did not get a seat, and keeps everyone who missed out on a waitlist or interest list. When demand passes a threshold, staff add a session in one click and the people waiting get first access. Numbers are an example; caps and thresholds are set per event.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messages. First, card numbers never touch Memorial Hermann or Salesforce systems: the gateway hosts the payment page and returns a token. Second, registrant and patient data is protected in layers from the edge to governance. Shield licensing, BAA coverage and PCI level to be confirmed with Memorial Hermann IT and finance.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state. Five agents run day-to-day event and campaign work, but only through the harness: approved actions, guardrails on consent and patient data, staff approval for anything that reaches patients or spends money, per-agent identity, a full audit trail, evaluation before release, the Einstein Trust Layer and a kill switch. Autonomy grows as trust is earned.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G-Dark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G-Light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 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chemeClr val="bg1"/>
                </a:solidFill>
              </a:rPr>
              <a:t>MEMORIAL HERMANN  ·  EVENT PLATFORM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367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 Ligh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chemeClr val="tx1"/>
                </a:solidFill>
              </a:rPr>
              <a:t>MEMORIAL HERMANN  ·  EVENT PLATFORM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367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367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Every seat filled, no interested person lost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BFBF"/>
                </a:solidFill>
              </a:rPr>
              <a:t>Example: 100,000 people click Register for a class with 30 seats</a:t>
            </a:r>
            <a:endParaRPr lang="en-US" sz="1400" dirty="0"/>
          </a:p>
        </p:txBody>
      </p:sp>
      <p:sp>
        <p:nvSpPr>
          <p:cNvPr id="4" name="step-1"/>
          <p:cNvSpPr/>
          <p:nvPr/>
        </p:nvSpPr>
        <p:spPr>
          <a:xfrm>
            <a:off x="502920" y="1874520"/>
            <a:ext cx="2011680" cy="1325880"/>
          </a:xfrm>
          <a:prstGeom prst="roundRect">
            <a:avLst>
              <a:gd name="adj" fmla="val 8276"/>
            </a:avLst>
          </a:prstGeom>
          <a:solidFill>
            <a:srgbClr val="111114"/>
          </a:solidFill>
          <a:ln w="19050">
            <a:solidFill>
              <a:srgbClr val="00D6F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039112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103120" y="2020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BFBFB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67512" y="2423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Edge protection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67512" y="2715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BFBF"/>
                </a:solidFill>
              </a:rPr>
              <a:t>Cached pages, bot defense, rate limits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42032" y="2537460"/>
            <a:ext cx="219456" cy="0"/>
          </a:xfrm>
          <a:prstGeom prst="line">
            <a:avLst/>
          </a:prstGeom>
          <a:noFill/>
          <a:ln w="15875">
            <a:solidFill>
              <a:schemeClr val="bg1"/>
            </a:solidFill>
            <a:prstDash val="solid"/>
            <a:tailEnd type="triangle"/>
          </a:ln>
        </p:spPr>
      </p:sp>
      <p:sp>
        <p:nvSpPr>
          <p:cNvPr id="10" name="step-2"/>
          <p:cNvSpPr/>
          <p:nvPr/>
        </p:nvSpPr>
        <p:spPr>
          <a:xfrm>
            <a:off x="2788920" y="1874520"/>
            <a:ext cx="2011680" cy="1325880"/>
          </a:xfrm>
          <a:prstGeom prst="roundRect">
            <a:avLst>
              <a:gd name="adj" fmla="val 8276"/>
            </a:avLst>
          </a:prstGeom>
          <a:solidFill>
            <a:srgbClr val="111114"/>
          </a:solidFill>
          <a:ln w="19050">
            <a:solidFill>
              <a:srgbClr val="FED7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512" y="203911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389120" y="2020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BFBFB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2953512" y="2423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Fair waiting room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953512" y="2715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BFBF"/>
                </a:solidFill>
              </a:rPr>
              <a:t>Admits people in arrival order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828032" y="2537460"/>
            <a:ext cx="219456" cy="0"/>
          </a:xfrm>
          <a:prstGeom prst="line">
            <a:avLst/>
          </a:prstGeom>
          <a:noFill/>
          <a:ln w="15875">
            <a:solidFill>
              <a:schemeClr val="bg1"/>
            </a:solidFill>
            <a:prstDash val="solid"/>
            <a:tailEnd type="triangle"/>
          </a:ln>
        </p:spPr>
      </p:sp>
      <p:sp>
        <p:nvSpPr>
          <p:cNvPr id="16" name="step-3"/>
          <p:cNvSpPr/>
          <p:nvPr/>
        </p:nvSpPr>
        <p:spPr>
          <a:xfrm>
            <a:off x="5074920" y="1874520"/>
            <a:ext cx="2011680" cy="1325880"/>
          </a:xfrm>
          <a:prstGeom prst="roundRect">
            <a:avLst>
              <a:gd name="adj" fmla="val 8276"/>
            </a:avLst>
          </a:prstGeom>
          <a:solidFill>
            <a:srgbClr val="111114"/>
          </a:solidFill>
          <a:ln w="19050">
            <a:solidFill>
              <a:srgbClr val="FF006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512" y="2039112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675120" y="2020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BFBFB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5239512" y="2423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Seat hold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5239512" y="2715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BFBF"/>
                </a:solidFill>
              </a:rPr>
              <a:t>10-minute hold; a seat can never be sold twice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7114032" y="2537460"/>
            <a:ext cx="219456" cy="0"/>
          </a:xfrm>
          <a:prstGeom prst="line">
            <a:avLst/>
          </a:prstGeom>
          <a:noFill/>
          <a:ln w="15875">
            <a:solidFill>
              <a:schemeClr val="bg1"/>
            </a:solidFill>
            <a:prstDash val="solid"/>
            <a:tailEnd type="triangle"/>
          </a:ln>
        </p:spPr>
      </p:sp>
      <p:sp>
        <p:nvSpPr>
          <p:cNvPr id="22" name="step-4"/>
          <p:cNvSpPr/>
          <p:nvPr/>
        </p:nvSpPr>
        <p:spPr>
          <a:xfrm>
            <a:off x="7360920" y="1874520"/>
            <a:ext cx="2011680" cy="1325880"/>
          </a:xfrm>
          <a:prstGeom prst="roundRect">
            <a:avLst>
              <a:gd name="adj" fmla="val 8276"/>
            </a:avLst>
          </a:prstGeom>
          <a:solidFill>
            <a:srgbClr val="111114"/>
          </a:solidFill>
          <a:ln w="19050">
            <a:solidFill>
              <a:srgbClr val="FED70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5512" y="2039112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961120" y="2020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BFBFB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7525512" y="2423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Hosted payment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7525512" y="2715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BFBF"/>
                </a:solidFill>
              </a:rPr>
              <a:t>Paid = confirmed; unpaid seats return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9400032" y="2537460"/>
            <a:ext cx="219456" cy="0"/>
          </a:xfrm>
          <a:prstGeom prst="line">
            <a:avLst/>
          </a:prstGeom>
          <a:noFill/>
          <a:ln w="15875">
            <a:solidFill>
              <a:schemeClr val="bg1"/>
            </a:solidFill>
            <a:prstDash val="solid"/>
            <a:tailEnd type="triangle"/>
          </a:ln>
        </p:spPr>
      </p:sp>
      <p:sp>
        <p:nvSpPr>
          <p:cNvPr id="28" name="step-5"/>
          <p:cNvSpPr/>
          <p:nvPr/>
        </p:nvSpPr>
        <p:spPr>
          <a:xfrm>
            <a:off x="9646920" y="1874520"/>
            <a:ext cx="2011680" cy="1325880"/>
          </a:xfrm>
          <a:prstGeom prst="roundRect">
            <a:avLst>
              <a:gd name="adj" fmla="val 8276"/>
            </a:avLst>
          </a:prstGeom>
          <a:solidFill>
            <a:srgbClr val="111114"/>
          </a:solidFill>
          <a:ln w="19050">
            <a:solidFill>
              <a:srgbClr val="00D6F2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1512" y="2039112"/>
            <a:ext cx="292608" cy="29260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1247120" y="2020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BFBFB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9811512" y="2423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Salesforce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9811512" y="2715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BFBF"/>
                </a:solidFill>
              </a:rPr>
              <a:t>Queued and retried; never lost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502920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bg1"/>
                </a:solidFill>
              </a:rPr>
              <a:t>WHERE EVERY CLICK ENDS UP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502920" y="3840480"/>
            <a:ext cx="2514600" cy="1783080"/>
          </a:xfrm>
          <a:prstGeom prst="roundRect">
            <a:avLst>
              <a:gd name="adj" fmla="val 6154"/>
            </a:avLst>
          </a:prstGeom>
          <a:solidFill>
            <a:srgbClr val="17171B"/>
          </a:solidFill>
          <a:ln w="12700">
            <a:solidFill>
              <a:srgbClr val="3A3A42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704088" y="395020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0D6F2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30</a:t>
            </a:r>
            <a:endParaRPr lang="en-US" sz="3200" dirty="0"/>
          </a:p>
        </p:txBody>
      </p:sp>
      <p:sp>
        <p:nvSpPr>
          <p:cNvPr id="36" name="Text 29"/>
          <p:cNvSpPr txBox="1"/>
          <p:nvPr/>
        </p:nvSpPr>
        <p:spPr>
          <a:xfrm>
            <a:off x="704088" y="4617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Confirmed seats</a:t>
            </a:r>
            <a:endParaRPr lang="en-US" sz="1400" dirty="0"/>
          </a:p>
        </p:txBody>
      </p:sp>
      <p:sp>
        <p:nvSpPr>
          <p:cNvPr id="37" name="Text 30"/>
          <p:cNvSpPr txBox="1"/>
          <p:nvPr/>
        </p:nvSpPr>
        <p:spPr>
          <a:xfrm>
            <a:off x="704088" y="491947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BFBF"/>
                </a:solidFill>
              </a:rPr>
              <a:t>Paid, ticketed, QR check-in sent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3200400" y="3840480"/>
            <a:ext cx="2514600" cy="1783080"/>
          </a:xfrm>
          <a:prstGeom prst="roundRect">
            <a:avLst>
              <a:gd name="adj" fmla="val 6154"/>
            </a:avLst>
          </a:prstGeom>
          <a:solidFill>
            <a:srgbClr val="17171B"/>
          </a:solidFill>
          <a:ln w="12700">
            <a:solidFill>
              <a:srgbClr val="3A3A42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3401568" y="395020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ED700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60</a:t>
            </a:r>
            <a:endParaRPr lang="en-US" sz="3200" dirty="0"/>
          </a:p>
        </p:txBody>
      </p:sp>
      <p:sp>
        <p:nvSpPr>
          <p:cNvPr id="40" name="Text 33"/>
          <p:cNvSpPr txBox="1"/>
          <p:nvPr/>
        </p:nvSpPr>
        <p:spPr>
          <a:xfrm>
            <a:off x="3401568" y="4617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On the waitlist</a:t>
            </a:r>
            <a:endParaRPr lang="en-US" sz="1400" dirty="0"/>
          </a:p>
        </p:txBody>
      </p:sp>
      <p:sp>
        <p:nvSpPr>
          <p:cNvPr id="41" name="Text 34"/>
          <p:cNvSpPr txBox="1"/>
          <p:nvPr/>
        </p:nvSpPr>
        <p:spPr>
          <a:xfrm>
            <a:off x="3401568" y="491947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BFBF"/>
                </a:solidFill>
              </a:rPr>
              <a:t>Freed seats offered by SMS with a 2-hour claim window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5897880" y="3840480"/>
            <a:ext cx="2514600" cy="1783080"/>
          </a:xfrm>
          <a:prstGeom prst="roundRect">
            <a:avLst>
              <a:gd name="adj" fmla="val 6154"/>
            </a:avLst>
          </a:prstGeom>
          <a:solidFill>
            <a:srgbClr val="17171B"/>
          </a:solidFill>
          <a:ln w="12700">
            <a:solidFill>
              <a:srgbClr val="3A3A42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6099048" y="395020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0068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All others</a:t>
            </a:r>
            <a:endParaRPr lang="en-US" sz="3200" dirty="0"/>
          </a:p>
        </p:txBody>
      </p:sp>
      <p:sp>
        <p:nvSpPr>
          <p:cNvPr id="44" name="Text 37"/>
          <p:cNvSpPr txBox="1"/>
          <p:nvPr/>
        </p:nvSpPr>
        <p:spPr>
          <a:xfrm>
            <a:off x="6099048" y="4617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On the interest list</a:t>
            </a:r>
            <a:endParaRPr lang="en-US" sz="1400" dirty="0"/>
          </a:p>
        </p:txBody>
      </p:sp>
      <p:sp>
        <p:nvSpPr>
          <p:cNvPr id="45" name="Text 38"/>
          <p:cNvSpPr txBox="1"/>
          <p:nvPr/>
        </p:nvSpPr>
        <p:spPr>
          <a:xfrm>
            <a:off x="6099048" y="491947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BFBF"/>
                </a:solidFill>
              </a:rPr>
              <a:t>Told the moment a new date opens</a:t>
            </a:r>
            <a:endParaRPr lang="en-US" sz="1100" dirty="0"/>
          </a:p>
        </p:txBody>
      </p:sp>
      <p:sp>
        <p:nvSpPr>
          <p:cNvPr id="46" name="Shape 39"/>
          <p:cNvSpPr/>
          <p:nvPr/>
        </p:nvSpPr>
        <p:spPr>
          <a:xfrm>
            <a:off x="8778240" y="3840480"/>
            <a:ext cx="2910535" cy="1783080"/>
          </a:xfrm>
          <a:prstGeom prst="roundRect">
            <a:avLst>
              <a:gd name="adj" fmla="val 6154"/>
            </a:avLst>
          </a:prstGeom>
          <a:ln w="19050">
            <a:solidFill>
              <a:srgbClr val="FF0068"/>
            </a:solidFill>
            <a:prstDash val="dash"/>
          </a:ln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0" y="3986784"/>
            <a:ext cx="274320" cy="274320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9326880" y="3968496"/>
            <a:ext cx="2224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Turn overflow into sessions</a:t>
            </a:r>
            <a:endParaRPr lang="en-US" sz="1300" dirty="0"/>
          </a:p>
        </p:txBody>
      </p:sp>
      <p:sp>
        <p:nvSpPr>
          <p:cNvPr id="49" name="Text 41"/>
          <p:cNvSpPr txBox="1"/>
          <p:nvPr/>
        </p:nvSpPr>
        <p:spPr>
          <a:xfrm>
            <a:off x="8961120" y="4370832"/>
            <a:ext cx="25904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BFBFBF"/>
                </a:solidFill>
              </a:rPr>
              <a:t>Demand passes 3× the seats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BFBFBF"/>
                </a:solidFill>
              </a:rPr>
              <a:t>Staff add a session in one click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BFBFBF"/>
                </a:solidFill>
              </a:rPr>
              <a:t>Waitlist offered first, then the interest list</a:t>
            </a:r>
            <a:endParaRPr lang="en-US" sz="1100" dirty="0"/>
          </a:p>
        </p:txBody>
      </p:sp>
      <p:sp>
        <p:nvSpPr>
          <p:cNvPr id="50" name="Shape 42"/>
          <p:cNvSpPr/>
          <p:nvPr/>
        </p:nvSpPr>
        <p:spPr>
          <a:xfrm>
            <a:off x="8430768" y="4727448"/>
            <a:ext cx="320040" cy="0"/>
          </a:xfrm>
          <a:prstGeom prst="line">
            <a:avLst/>
          </a:prstGeom>
          <a:noFill/>
          <a:ln w="15875">
            <a:solidFill>
              <a:srgbClr val="FF0068"/>
            </a:solidFill>
            <a:prstDash val="dash"/>
            <a:tailEnd type="triangle"/>
          </a:ln>
        </p:spPr>
      </p:sp>
      <p:sp>
        <p:nvSpPr>
          <p:cNvPr id="51" name="Text 43"/>
          <p:cNvSpPr txBox="1"/>
          <p:nvPr/>
        </p:nvSpPr>
        <p:spPr>
          <a:xfrm>
            <a:off x="502920" y="58064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Reliable: queued, idempotent writes and auto-released holds.   Scalable: only admitted traffic reaches Salesforce.   Secure: bot defense on every hot event.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367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Payments and data security by design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463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Card data never enters our systems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3383280" cy="2011680"/>
          </a:xfrm>
          <a:prstGeom prst="roundRect">
            <a:avLst>
              <a:gd name="adj" fmla="val 4545"/>
            </a:avLst>
          </a:prstGeom>
          <a:ln w="15875">
            <a:solidFill>
              <a:srgbClr val="FF0068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731520" y="2103120"/>
            <a:ext cx="2926080" cy="73152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D0D0D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317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61872" y="2185416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Registrant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261872" y="244144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</a:rPr>
              <a:t>Website or My Memorial Hermann app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194560" y="2852928"/>
            <a:ext cx="0" cy="23774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731520" y="3108960"/>
            <a:ext cx="2926080" cy="73152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D0D0D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3375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61872" y="3191256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Gateway hosted page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261872" y="344728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</a:rPr>
              <a:t>Card typed here (Chase or Authorize.net)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2194560" y="3858768"/>
            <a:ext cx="0" cy="347472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731520" y="4224528"/>
            <a:ext cx="2926080" cy="73152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D0D0D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45312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61872" y="430682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Signed webhook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1261872" y="4562856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</a:rPr>
              <a:t>Token, last 4 digits, approval code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194560" y="4974336"/>
            <a:ext cx="0" cy="23774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731520" y="5230368"/>
            <a:ext cx="2926080" cy="73152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D0D0D6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45896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61872" y="531266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Salesforce payment record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1261872" y="5568696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</a:rPr>
              <a:t>Token reference, last 4, amount, status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4069080" y="2103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005A"/>
                </a:solidFill>
              </a:rPr>
              <a:t>CARD DATA ZONE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4069080" y="237744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</a:rPr>
              <a:t>Card numbers go straight to the payment gateway. PCI scope stays at the simplest level (SAQ A) [to confirm].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4069080" y="4206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tx1"/>
                </a:solidFill>
              </a:rPr>
              <a:t>OUR SYSTEMS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4069080" y="448056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</a:rPr>
              <a:t>No card number, CVV or expiry stored. Refunds by token. Signed, idempotent webhooks. Daily reconciliation.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6263640" y="1463040"/>
            <a:ext cx="5422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Registrant and patient data, protected in layers</a:t>
            </a:r>
            <a:endParaRPr lang="en-US" sz="1700" dirty="0"/>
          </a:p>
        </p:txBody>
      </p:sp>
      <p:sp>
        <p:nvSpPr>
          <p:cNvPr id="29" name="layer-Edge"/>
          <p:cNvSpPr/>
          <p:nvPr/>
        </p:nvSpPr>
        <p:spPr>
          <a:xfrm>
            <a:off x="6263640" y="1920240"/>
            <a:ext cx="5422392" cy="676656"/>
          </a:xfrm>
          <a:prstGeom prst="roundRect">
            <a:avLst>
              <a:gd name="adj" fmla="val 13514"/>
            </a:avLst>
          </a:prstGeom>
          <a:solidFill>
            <a:srgbClr val="F2F2F2"/>
          </a:solidFill>
          <a:ln w="12700">
            <a:solidFill>
              <a:srgbClr val="D0D0D6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6409944" y="2057400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C8CE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2157984"/>
            <a:ext cx="201168" cy="201168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6949440" y="2011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Edge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6949440" y="2267712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</a:rPr>
              <a:t>TLS 1.2+, web application firewall, bot defense, rate limits</a:t>
            </a:r>
            <a:endParaRPr lang="en-US" sz="1100" dirty="0"/>
          </a:p>
        </p:txBody>
      </p:sp>
      <p:sp>
        <p:nvSpPr>
          <p:cNvPr id="34" name="layer-Access"/>
          <p:cNvSpPr/>
          <p:nvPr/>
        </p:nvSpPr>
        <p:spPr>
          <a:xfrm>
            <a:off x="6373368" y="2688336"/>
            <a:ext cx="5312664" cy="676656"/>
          </a:xfrm>
          <a:prstGeom prst="roundRect">
            <a:avLst>
              <a:gd name="adj" fmla="val 13514"/>
            </a:avLst>
          </a:prstGeom>
          <a:solidFill>
            <a:srgbClr val="F2F2F2"/>
          </a:solidFill>
          <a:ln w="12700">
            <a:solidFill>
              <a:srgbClr val="D0D0D6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519672" y="2825496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C8CE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0256" y="2926080"/>
            <a:ext cx="201168" cy="201168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7059168" y="27797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Access</a:t>
            </a:r>
            <a:endParaRPr lang="en-US" sz="1300" dirty="0"/>
          </a:p>
        </p:txBody>
      </p:sp>
      <p:sp>
        <p:nvSpPr>
          <p:cNvPr id="38" name="Text 30"/>
          <p:cNvSpPr txBox="1"/>
          <p:nvPr/>
        </p:nvSpPr>
        <p:spPr>
          <a:xfrm>
            <a:off x="7059168" y="3035808"/>
            <a:ext cx="4489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</a:rPr>
              <a:t>SSO with MFA for staff; least-privilege permission sets</a:t>
            </a:r>
            <a:endParaRPr lang="en-US" sz="1100" dirty="0"/>
          </a:p>
        </p:txBody>
      </p:sp>
      <p:sp>
        <p:nvSpPr>
          <p:cNvPr id="39" name="layer-Data"/>
          <p:cNvSpPr/>
          <p:nvPr/>
        </p:nvSpPr>
        <p:spPr>
          <a:xfrm>
            <a:off x="6483096" y="3456432"/>
            <a:ext cx="5202936" cy="676656"/>
          </a:xfrm>
          <a:prstGeom prst="roundRect">
            <a:avLst>
              <a:gd name="adj" fmla="val 13514"/>
            </a:avLst>
          </a:prstGeom>
          <a:solidFill>
            <a:srgbClr val="000000"/>
          </a:solidFill>
          <a:ln w="12700">
            <a:solidFill>
              <a:srgbClr val="D0D0D6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6629400" y="3593592"/>
            <a:ext cx="402336" cy="402336"/>
          </a:xfrm>
          <a:prstGeom prst="ellipse">
            <a:avLst/>
          </a:prstGeom>
          <a:solidFill>
            <a:srgbClr val="00D6F2"/>
          </a:solidFill>
          <a:ln w="12700">
            <a:solidFill>
              <a:srgbClr val="00D6F2"/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9984" y="3694176"/>
            <a:ext cx="201168" cy="201168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7168896" y="35478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</a:t>
            </a:r>
            <a:endParaRPr lang="en-US" sz="1300" dirty="0"/>
          </a:p>
        </p:txBody>
      </p:sp>
      <p:sp>
        <p:nvSpPr>
          <p:cNvPr id="43" name="Text 34"/>
          <p:cNvSpPr txBox="1"/>
          <p:nvPr/>
        </p:nvSpPr>
        <p:spPr>
          <a:xfrm>
            <a:off x="7168896" y="3803904"/>
            <a:ext cx="4379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</a:rPr>
              <a:t>Shield Platform Encryption on sensitive fields; field-level security</a:t>
            </a:r>
            <a:endParaRPr lang="en-US" sz="1100" dirty="0"/>
          </a:p>
        </p:txBody>
      </p:sp>
      <p:sp>
        <p:nvSpPr>
          <p:cNvPr id="44" name="layer-Monitoring"/>
          <p:cNvSpPr/>
          <p:nvPr/>
        </p:nvSpPr>
        <p:spPr>
          <a:xfrm>
            <a:off x="6592824" y="4224528"/>
            <a:ext cx="5093208" cy="676656"/>
          </a:xfrm>
          <a:prstGeom prst="roundRect">
            <a:avLst>
              <a:gd name="adj" fmla="val 13514"/>
            </a:avLst>
          </a:prstGeom>
          <a:solidFill>
            <a:srgbClr val="F2F2F2"/>
          </a:solidFill>
          <a:ln w="12700">
            <a:solidFill>
              <a:srgbClr val="D0D0D6"/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6739128" y="4361688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C8CE"/>
            </a:solidFill>
            <a:prstDash val="solid"/>
          </a:ln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9712" y="4462272"/>
            <a:ext cx="201168" cy="201168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7278624" y="43159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Monitoring</a:t>
            </a:r>
            <a:endParaRPr lang="en-US" sz="1300" dirty="0"/>
          </a:p>
        </p:txBody>
      </p:sp>
      <p:sp>
        <p:nvSpPr>
          <p:cNvPr id="48" name="Text 38"/>
          <p:cNvSpPr txBox="1"/>
          <p:nvPr/>
        </p:nvSpPr>
        <p:spPr>
          <a:xfrm>
            <a:off x="7278624" y="4572000"/>
            <a:ext cx="4270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</a:rPr>
              <a:t>Event Monitoring, Field Audit Trail, real-time alerts</a:t>
            </a:r>
            <a:endParaRPr lang="en-US" sz="1100" dirty="0"/>
          </a:p>
        </p:txBody>
      </p:sp>
      <p:sp>
        <p:nvSpPr>
          <p:cNvPr id="49" name="layer-Governance"/>
          <p:cNvSpPr/>
          <p:nvPr/>
        </p:nvSpPr>
        <p:spPr>
          <a:xfrm>
            <a:off x="6702552" y="4992624"/>
            <a:ext cx="4983480" cy="676656"/>
          </a:xfrm>
          <a:prstGeom prst="roundRect">
            <a:avLst>
              <a:gd name="adj" fmla="val 13514"/>
            </a:avLst>
          </a:prstGeom>
          <a:solidFill>
            <a:srgbClr val="F2F2F2"/>
          </a:solidFill>
          <a:ln w="12700">
            <a:solidFill>
              <a:srgbClr val="D0D0D6"/>
            </a:solidFill>
            <a:prstDash val="solid"/>
          </a:ln>
        </p:spPr>
      </p:sp>
      <p:sp>
        <p:nvSpPr>
          <p:cNvPr id="50" name="Shape 40"/>
          <p:cNvSpPr/>
          <p:nvPr/>
        </p:nvSpPr>
        <p:spPr>
          <a:xfrm>
            <a:off x="6848856" y="5129784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C8CE"/>
            </a:solidFill>
            <a:prstDash val="solid"/>
          </a:ln>
        </p:spPr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9440" y="5230368"/>
            <a:ext cx="201168" cy="201168"/>
          </a:xfrm>
          <a:prstGeom prst="rect">
            <a:avLst/>
          </a:prstGeom>
        </p:spPr>
      </p:pic>
      <p:sp>
        <p:nvSpPr>
          <p:cNvPr id="52" name="Text 41"/>
          <p:cNvSpPr txBox="1"/>
          <p:nvPr/>
        </p:nvSpPr>
        <p:spPr>
          <a:xfrm>
            <a:off x="7388352" y="50840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Governance</a:t>
            </a:r>
            <a:endParaRPr lang="en-US" sz="1300" dirty="0"/>
          </a:p>
        </p:txBody>
      </p:sp>
      <p:sp>
        <p:nvSpPr>
          <p:cNvPr id="53" name="Text 42"/>
          <p:cNvSpPr txBox="1"/>
          <p:nvPr/>
        </p:nvSpPr>
        <p:spPr>
          <a:xfrm>
            <a:off x="7388352" y="534009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</a:rPr>
              <a:t>BAA [to confirm], data retention, no tracking pixels, pen tests</a:t>
            </a:r>
            <a:endParaRPr lang="en-US" sz="1100" dirty="0"/>
          </a:p>
        </p:txBody>
      </p:sp>
      <p:sp>
        <p:nvSpPr>
          <p:cNvPr id="54" name="Text 43"/>
          <p:cNvSpPr txBox="1"/>
          <p:nvPr/>
        </p:nvSpPr>
        <p:spPr>
          <a:xfrm>
            <a:off x="6263640" y="585216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D4D4D"/>
                </a:solidFill>
              </a:rPr>
              <a:t>Class topics are treated as sensitive: signing up for a diabetes class implies a health condition.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367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Future state: AI agents in a controlled harness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BFBF"/>
                </a:solidFill>
              </a:rPr>
              <a:t>Phase 4, after the core platform is stable. Agentforce and Data Cloud [to confirm].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194560" y="2148840"/>
            <a:ext cx="3657600" cy="3657600"/>
          </a:xfrm>
          <a:prstGeom prst="ellipse">
            <a:avLst/>
          </a:prstGeom>
          <a:ln w="12700">
            <a:solidFill>
              <a:srgbClr val="5A5A64"/>
            </a:solidFill>
            <a:prstDash val="sysDot"/>
          </a:ln>
        </p:spPr>
      </p:sp>
      <p:sp>
        <p:nvSpPr>
          <p:cNvPr id="5" name="harness"/>
          <p:cNvSpPr/>
          <p:nvPr/>
        </p:nvSpPr>
        <p:spPr>
          <a:xfrm>
            <a:off x="2834640" y="2788920"/>
            <a:ext cx="2377440" cy="2377440"/>
          </a:xfrm>
          <a:prstGeom prst="ellipse">
            <a:avLst/>
          </a:prstGeom>
          <a:solidFill>
            <a:srgbClr val="0E1A1D"/>
          </a:solidFill>
          <a:ln w="28575">
            <a:solidFill>
              <a:srgbClr val="00D6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108960" y="29535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00D6F2"/>
                </a:solidFill>
              </a:rPr>
              <a:t>HARNESS</a:t>
            </a:r>
            <a:endParaRPr lang="en-US" sz="1000" dirty="0"/>
          </a:p>
        </p:txBody>
      </p:sp>
      <p:sp>
        <p:nvSpPr>
          <p:cNvPr id="7" name="platform"/>
          <p:cNvSpPr/>
          <p:nvPr/>
        </p:nvSpPr>
        <p:spPr>
          <a:xfrm>
            <a:off x="3291840" y="3319272"/>
            <a:ext cx="1463040" cy="1463040"/>
          </a:xfrm>
          <a:prstGeom prst="ellipse">
            <a:avLst/>
          </a:prstGeom>
          <a:solidFill>
            <a:srgbClr val="00D6F2"/>
          </a:solidFill>
          <a:ln w="12700">
            <a:solidFill>
              <a:srgbClr val="00D6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01568" y="3520440"/>
            <a:ext cx="124358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</a:rPr>
              <a:t>Event platform + Marketing Cloud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 flipH="1">
            <a:off x="4023360" y="2560320"/>
            <a:ext cx="0" cy="228600"/>
          </a:xfrm>
          <a:prstGeom prst="line">
            <a:avLst/>
          </a:prstGeom>
          <a:noFill/>
          <a:ln w="15875">
            <a:solidFill>
              <a:srgbClr val="FED700"/>
            </a:solidFill>
            <a:prstDash val="dash"/>
          </a:ln>
        </p:spPr>
      </p:sp>
      <p:sp>
        <p:nvSpPr>
          <p:cNvPr id="10" name="agent-Event Ops"/>
          <p:cNvSpPr/>
          <p:nvPr/>
        </p:nvSpPr>
        <p:spPr>
          <a:xfrm>
            <a:off x="3611880" y="1737360"/>
            <a:ext cx="822960" cy="822960"/>
          </a:xfrm>
          <a:prstGeom prst="ellipse">
            <a:avLst/>
          </a:prstGeom>
          <a:solidFill>
            <a:srgbClr val="15151A"/>
          </a:solidFill>
          <a:ln w="22225">
            <a:solidFill>
              <a:srgbClr val="FED70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9624" y="1975104"/>
            <a:ext cx="347472" cy="34747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544568" y="1856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Event Ops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44568" y="2130552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FBFBF"/>
                </a:solidFill>
              </a:rPr>
              <a:t>Sessions, capacity, reminders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 flipH="1">
            <a:off x="5153900" y="3539664"/>
            <a:ext cx="217412" cy="70641"/>
          </a:xfrm>
          <a:prstGeom prst="line">
            <a:avLst/>
          </a:prstGeom>
          <a:noFill/>
          <a:ln w="15875">
            <a:solidFill>
              <a:srgbClr val="FF0068"/>
            </a:solidFill>
            <a:prstDash val="dash"/>
          </a:ln>
        </p:spPr>
      </p:sp>
      <p:sp>
        <p:nvSpPr>
          <p:cNvPr id="15" name="agent-Demand"/>
          <p:cNvSpPr/>
          <p:nvPr/>
        </p:nvSpPr>
        <p:spPr>
          <a:xfrm>
            <a:off x="5351172" y="3001030"/>
            <a:ext cx="822960" cy="822960"/>
          </a:xfrm>
          <a:prstGeom prst="ellipse">
            <a:avLst/>
          </a:prstGeom>
          <a:solidFill>
            <a:srgbClr val="15151A"/>
          </a:solidFill>
          <a:ln w="22225">
            <a:solidFill>
              <a:srgbClr val="FF0068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916" y="3238774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283860" y="3119902"/>
            <a:ext cx="1214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Demand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283860" y="3394222"/>
            <a:ext cx="12142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FBFBF"/>
                </a:solidFill>
              </a:rPr>
              <a:t>Spots surges, drafts new dates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722072" y="4939335"/>
            <a:ext cx="134368" cy="184941"/>
          </a:xfrm>
          <a:prstGeom prst="line">
            <a:avLst/>
          </a:prstGeom>
          <a:noFill/>
          <a:ln w="15875">
            <a:solidFill>
              <a:srgbClr val="FED700"/>
            </a:solidFill>
            <a:prstDash val="dash"/>
          </a:ln>
        </p:spPr>
      </p:sp>
      <p:sp>
        <p:nvSpPr>
          <p:cNvPr id="20" name="agent-Campaign"/>
          <p:cNvSpPr/>
          <p:nvPr/>
        </p:nvSpPr>
        <p:spPr>
          <a:xfrm>
            <a:off x="4686822" y="5045690"/>
            <a:ext cx="822960" cy="822960"/>
          </a:xfrm>
          <a:prstGeom prst="ellipse">
            <a:avLst/>
          </a:prstGeom>
          <a:solidFill>
            <a:srgbClr val="15151A"/>
          </a:solidFill>
          <a:ln w="22225">
            <a:solidFill>
              <a:srgbClr val="FED700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4566" y="5283434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619510" y="516456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Campaign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5619510" y="5438882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FBFBF"/>
                </a:solidFill>
              </a:rPr>
              <a:t>Builds PEI journeys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 flipH="1">
            <a:off x="3190280" y="4939335"/>
            <a:ext cx="134368" cy="184941"/>
          </a:xfrm>
          <a:prstGeom prst="line">
            <a:avLst/>
          </a:prstGeom>
          <a:noFill/>
          <a:ln w="15875">
            <a:solidFill>
              <a:srgbClr val="FF0068"/>
            </a:solidFill>
            <a:prstDash val="dash"/>
          </a:ln>
        </p:spPr>
      </p:sp>
      <p:sp>
        <p:nvSpPr>
          <p:cNvPr id="25" name="agent-Concierge"/>
          <p:cNvSpPr/>
          <p:nvPr/>
        </p:nvSpPr>
        <p:spPr>
          <a:xfrm>
            <a:off x="2536938" y="5045690"/>
            <a:ext cx="822960" cy="822960"/>
          </a:xfrm>
          <a:prstGeom prst="ellipse">
            <a:avLst/>
          </a:prstGeom>
          <a:solidFill>
            <a:srgbClr val="15151A"/>
          </a:solidFill>
          <a:ln w="22225">
            <a:solidFill>
              <a:srgbClr val="FF0068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4682" y="5283434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98410" y="516456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Concierge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598410" y="5438882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BFBFBF"/>
                </a:solidFill>
              </a:rPr>
              <a:t>Registers and answers on web, app, SMS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2675409" y="3539664"/>
            <a:ext cx="217412" cy="70641"/>
          </a:xfrm>
          <a:prstGeom prst="line">
            <a:avLst/>
          </a:prstGeom>
          <a:noFill/>
          <a:ln w="15875">
            <a:solidFill>
              <a:srgbClr val="FED700"/>
            </a:solidFill>
            <a:prstDash val="dash"/>
          </a:ln>
        </p:spPr>
      </p:sp>
      <p:sp>
        <p:nvSpPr>
          <p:cNvPr id="30" name="agent-Insights"/>
          <p:cNvSpPr/>
          <p:nvPr/>
        </p:nvSpPr>
        <p:spPr>
          <a:xfrm>
            <a:off x="1872588" y="3001030"/>
            <a:ext cx="822960" cy="822960"/>
          </a:xfrm>
          <a:prstGeom prst="ellipse">
            <a:avLst/>
          </a:prstGeom>
          <a:solidFill>
            <a:srgbClr val="15151A"/>
          </a:solidFill>
          <a:ln w="22225">
            <a:solidFill>
              <a:srgbClr val="FED700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0332" y="3238774"/>
            <a:ext cx="347472" cy="347472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02920" y="3119902"/>
            <a:ext cx="1259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Insights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502920" y="3394222"/>
            <a:ext cx="12599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BFBFBF"/>
                </a:solidFill>
              </a:rPr>
              <a:t>Summarizes feedback and results</a:t>
            </a:r>
            <a:endParaRPr lang="en-US" sz="1050" dirty="0"/>
          </a:p>
        </p:txBody>
      </p:sp>
      <p:sp>
        <p:nvSpPr>
          <p:cNvPr id="34" name="Text 27"/>
          <p:cNvSpPr txBox="1"/>
          <p:nvPr/>
        </p:nvSpPr>
        <p:spPr>
          <a:xfrm>
            <a:off x="7635240" y="1600200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What the harness controls</a:t>
            </a:r>
            <a:endParaRPr lang="en-US" sz="170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2130552"/>
            <a:ext cx="237744" cy="23774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8019288" y="2103120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Approved actions only</a:t>
            </a:r>
            <a:endParaRPr lang="en-US" sz="120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240" y="2560320"/>
            <a:ext cx="237744" cy="237744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8019288" y="2532888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Guardrails: consent, patient data, spend limits</a:t>
            </a:r>
            <a:endParaRPr lang="en-US" sz="1200" dirty="0"/>
          </a:p>
        </p:txBody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5240" y="2990088"/>
            <a:ext cx="237744" cy="237744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8019288" y="2962656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Staff approve anything sent or published</a:t>
            </a:r>
            <a:endParaRPr lang="en-US" sz="1200" dirty="0"/>
          </a:p>
        </p:txBody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35240" y="3419856"/>
            <a:ext cx="237744" cy="237744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8019288" y="3392424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Least-privilege identity per agent</a:t>
            </a:r>
            <a:endParaRPr lang="en-US" sz="1200" dirty="0"/>
          </a:p>
        </p:txBody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35240" y="3849624"/>
            <a:ext cx="237744" cy="237744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8019288" y="3822192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Full audit trail of every action</a:t>
            </a:r>
            <a:endParaRPr lang="en-US" sz="1200" dirty="0"/>
          </a:p>
        </p:txBody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35240" y="4279392"/>
            <a:ext cx="237744" cy="237744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8019288" y="4251960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Tested and evaluated before each release</a:t>
            </a:r>
            <a:endParaRPr lang="en-US" sz="1200" dirty="0"/>
          </a:p>
        </p:txBody>
      </p:sp>
      <p:pic>
        <p:nvPicPr>
          <p:cNvPr id="4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35240" y="4709160"/>
            <a:ext cx="237744" cy="237744"/>
          </a:xfrm>
          <a:prstGeom prst="rect">
            <a:avLst/>
          </a:prstGeom>
        </p:spPr>
      </p:pic>
      <p:sp>
        <p:nvSpPr>
          <p:cNvPr id="48" name="Text 34"/>
          <p:cNvSpPr txBox="1"/>
          <p:nvPr/>
        </p:nvSpPr>
        <p:spPr>
          <a:xfrm>
            <a:off x="8019288" y="4681728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Einstein Trust Layer: masking, zero data retention</a:t>
            </a:r>
            <a:endParaRPr lang="en-US" sz="1200" dirty="0"/>
          </a:p>
        </p:txBody>
      </p:sp>
      <p:pic>
        <p:nvPicPr>
          <p:cNvPr id="4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35240" y="5138928"/>
            <a:ext cx="237744" cy="237744"/>
          </a:xfrm>
          <a:prstGeom prst="rect">
            <a:avLst/>
          </a:prstGeom>
        </p:spPr>
      </p:pic>
      <p:sp>
        <p:nvSpPr>
          <p:cNvPr id="50" name="Text 35"/>
          <p:cNvSpPr txBox="1"/>
          <p:nvPr/>
        </p:nvSpPr>
        <p:spPr>
          <a:xfrm>
            <a:off x="8019288" y="5111496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Kill switch for any agent</a:t>
            </a:r>
            <a:endParaRPr lang="en-US" sz="1200" dirty="0"/>
          </a:p>
        </p:txBody>
      </p:sp>
      <p:sp>
        <p:nvSpPr>
          <p:cNvPr id="51" name="Text 36"/>
          <p:cNvSpPr txBox="1"/>
          <p:nvPr/>
        </p:nvSpPr>
        <p:spPr>
          <a:xfrm>
            <a:off x="7635240" y="5641848"/>
            <a:ext cx="4050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FBFBF"/>
                </a:solidFill>
              </a:rPr>
              <a:t>AUTONOMY GROWS WITH TRUST</a:t>
            </a:r>
            <a:endParaRPr lang="en-US" sz="900" dirty="0"/>
          </a:p>
        </p:txBody>
      </p:sp>
      <p:sp>
        <p:nvSpPr>
          <p:cNvPr id="52" name="Shape 37"/>
          <p:cNvSpPr/>
          <p:nvPr/>
        </p:nvSpPr>
        <p:spPr>
          <a:xfrm>
            <a:off x="7635240" y="5897880"/>
            <a:ext cx="1261872" cy="310896"/>
          </a:xfrm>
          <a:prstGeom prst="roundRect">
            <a:avLst>
              <a:gd name="adj" fmla="val 50000"/>
            </a:avLst>
          </a:prstGeom>
          <a:ln w="15875">
            <a:solidFill>
              <a:srgbClr val="00D6F2"/>
            </a:solidFill>
            <a:prstDash val="solid"/>
          </a:ln>
        </p:spPr>
      </p:sp>
      <p:sp>
        <p:nvSpPr>
          <p:cNvPr id="53" name="Text 38"/>
          <p:cNvSpPr txBox="1"/>
          <p:nvPr/>
        </p:nvSpPr>
        <p:spPr>
          <a:xfrm>
            <a:off x="7635240" y="589788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Suggest</a:t>
            </a:r>
            <a:endParaRPr lang="en-US" sz="1000" dirty="0"/>
          </a:p>
        </p:txBody>
      </p:sp>
      <p:sp>
        <p:nvSpPr>
          <p:cNvPr id="54" name="Shape 39"/>
          <p:cNvSpPr/>
          <p:nvPr/>
        </p:nvSpPr>
        <p:spPr>
          <a:xfrm>
            <a:off x="9006840" y="5897880"/>
            <a:ext cx="1261872" cy="310896"/>
          </a:xfrm>
          <a:prstGeom prst="roundRect">
            <a:avLst>
              <a:gd name="adj" fmla="val 50000"/>
            </a:avLst>
          </a:prstGeom>
          <a:ln w="15875">
            <a:solidFill>
              <a:srgbClr val="FED700"/>
            </a:solidFill>
            <a:prstDash val="solid"/>
          </a:ln>
        </p:spPr>
      </p:sp>
      <p:sp>
        <p:nvSpPr>
          <p:cNvPr id="55" name="Text 40"/>
          <p:cNvSpPr txBox="1"/>
          <p:nvPr/>
        </p:nvSpPr>
        <p:spPr>
          <a:xfrm>
            <a:off x="9006840" y="589788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Act with approval</a:t>
            </a:r>
            <a:endParaRPr lang="en-US" sz="1000" dirty="0"/>
          </a:p>
        </p:txBody>
      </p:sp>
      <p:sp>
        <p:nvSpPr>
          <p:cNvPr id="56" name="Shape 41"/>
          <p:cNvSpPr/>
          <p:nvPr/>
        </p:nvSpPr>
        <p:spPr>
          <a:xfrm>
            <a:off x="10378440" y="5897880"/>
            <a:ext cx="1261872" cy="310896"/>
          </a:xfrm>
          <a:prstGeom prst="roundRect">
            <a:avLst>
              <a:gd name="adj" fmla="val 50000"/>
            </a:avLst>
          </a:prstGeom>
          <a:ln w="15875">
            <a:solidFill>
              <a:srgbClr val="FF0068"/>
            </a:solidFill>
            <a:prstDash val="solid"/>
          </a:ln>
        </p:spPr>
      </p:sp>
      <p:sp>
        <p:nvSpPr>
          <p:cNvPr id="57" name="Text 42"/>
          <p:cNvSpPr txBox="1"/>
          <p:nvPr/>
        </p:nvSpPr>
        <p:spPr>
          <a:xfrm>
            <a:off x="10378440" y="589788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Act within limits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367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sight Global">
  <a:themeElements>
    <a:clrScheme name="Insight Global">
      <a:dk1>
        <a:srgbClr val="000000"/>
      </a:dk1>
      <a:lt1>
        <a:srgbClr val="FFFFFF"/>
      </a:lt1>
      <a:dk2>
        <a:srgbClr val="01273C"/>
      </a:dk2>
      <a:lt2>
        <a:srgbClr val="F2F2F2"/>
      </a:lt2>
      <a:accent1>
        <a:srgbClr val="00D6F2"/>
      </a:accent1>
      <a:accent2>
        <a:srgbClr val="FED700"/>
      </a:accent2>
      <a:accent3>
        <a:srgbClr val="FF0068"/>
      </a:accent3>
      <a:accent4>
        <a:srgbClr val="F98B34"/>
      </a:accent4>
      <a:accent5>
        <a:srgbClr val="D214AA"/>
      </a:accent5>
      <a:accent6>
        <a:srgbClr val="45289F"/>
      </a:accent6>
      <a:hlink>
        <a:srgbClr val="FF0068"/>
      </a:hlink>
      <a:folHlink>
        <a:srgbClr val="D214AA"/>
      </a:folHlink>
    </a:clrScheme>
    <a:fontScheme name="Insight Global">
      <a:majorFont>
        <a:latin typeface="Trenda IG T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renda IG T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2026-10-15T05:39:47Z</dcterms:created>
  <dcterms:modified xsi:type="dcterms:W3CDTF">2026-10-15T05:39:47Z</dcterms:modified>
</cp:coreProperties>
</file>