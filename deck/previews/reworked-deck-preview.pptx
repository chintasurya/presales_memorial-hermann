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b70609-27ad-5698-f756-6a136e17b0f8}">
          <p14:sldIdLst>
            <p14:sldId id="256"/>
            <p14:sldId id="257"/>
            <p14:sldId id="258"/>
            <p14:sldId id="259"/>
          </p14:sldIdLst>
        </p14:section>
        <p14:section name="The solution" id="{c0bea536-2c7b-0392-75ad-852f922a9aad}">
          <p14:sldIdLst>
            <p14:sldId id="260"/>
            <p14:sldId id="261"/>
            <p14:sldId id="262"/>
            <p14:sldId id="263"/>
            <p14:sldId id="264"/>
            <p14:sldId id="265"/>
            <p14:sldId id="266"/>
            <p14:sldId id="267"/>
            <p14:sldId id="268"/>
            <p14:sldId id="269"/>
          </p14:sldIdLst>
        </p14:section>
        <p14:section name="Delivery plan" id="{118a5501-73bd-2a37-d112-ed4465a52cc2}">
          <p14:sldIdLst>
            <p14:sldId id="270"/>
            <p14:sldId id="271"/>
            <p14:sldId id="272"/>
            <p14:sldId id="273"/>
          </p14:sldIdLst>
        </p14:section>
        <p14:section name="Beyond the event" id="{7c3dac34-9642-1530-6518-94ca041afb54}">
          <p14:sldIdLst>
            <p14:sldId id="274"/>
            <p14:sldId id="275"/>
            <p14:sldId id="276"/>
            <p14:sldId id="277"/>
            <p14:sldId id="278"/>
            <p14:sldId id="279"/>
          </p14:sldIdLst>
        </p14:section>
        <p14:section name="Roadmap and next steps" id="{879ce4f6-a3ad-54df-8554-c96f34d943c0}">
          <p14:sldIdLst>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Kevin for the detailed answers. Today: how we solve the event registration problem on the Salesforce platform they already own, how we deliver it, and how the registration data can grow engagement and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to 4 solve the problem Kevin described. Section 5 is the value we add on top: using registration data to keep people engaged and bring them into the Memorial Hermann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back Kevin’s answers and what we saw on the site. Class registration already runs on a home-built Experience Cloud site and in the app. The tool they want to replace is Certain. The goal is one platform for both, building on what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our position. We keep the Sitecore listings, the Experience Cloud registration site and the app. We improve classes where today’s experience is weak, such as confirmations that can take up to 24 hours. We replace only Certain. Engagement and AI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event platform on the Health Cloud org they already own. Today’s Sitecore listings, Experience Cloud site and mobile app stay the front doors. Salesforce runs classes and conferences on one model, and Marketing Cloud sends every message. Only Certain is retired.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solution on one page, in the order a registrant experiences it. Register: website or the existing My Memorial Hermann app, with a seat held while they pay. Pay: the gateway hosts the card page; we receive only a token. Confirm: Salesforce records the registration and Marketing Cloud sends confirmation and reminders. Attend: QR check-in. Engage: patient engagement initiatives. Grow: staff see demand and add sessions. It replaces Certain and builds on today’s Experience Cloud site and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ask: replace Certain. Conferences run on the same Salesforce platform as classes, with the attendee portal on their existing Experience Cloud site. CME requirements to be confirmed with Kevin.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screens, sample data. We keep today’s registration site and app and improve them: instant confirmation instead of up to 24 hours, safe payment retries, live seats and waitlists. How the app connects is confirmed with Lucky Rai’s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standard Salesforce Lightning app, so their in-house Salesforce admins can own it after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popular class can draw far more interest than seats. The platform answers every click within seconds, never oversells, never charges someone who did not get a seat, and keeps everyone who missed out on a waitlist or interest list. When demand passes a threshold, staff add a session in one click and the people waiting get first access. Numbers are an example; caps and thresholds are set per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by step for a busy event. The waiting room admits people fairly, seat holds are atomic so a seat is never sold twice, writes to Salesforce are queued and idempotent so nothing is lost or duplicated, and everyone who misses a seat lands on the waitlist or interest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messages. First, card numbers never touch Memorial Hermann or Salesforce systems: the gateway hosts the payment page and returns a token. Second, registrant and patient data is protected in layers from the edge to governance. Shield licensing, BAA coverage and PCI level to be confirmed with Memorial Hermann IT and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is typed directly into the gateway page; the registration service only creates the session and receives a signed webhook with a token. Salesforce stores the token reference, last 4 digits, amount and status. Gateway choice is Memorial Hermann finance's decision; both are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replaces Certain around week 12; time it to land before the Certain renewal. Phase 2 brings classes onto the same platform and improves them by week 20, without rebuilding the registration site. Engagement work can start once classes are on the shared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Two-week sprints, each closing with a demo and a milestone Memorial Hermann signs off. Sprint 1 assesses today’s Experience Cloud site, app and Certain. Sprints 2 to 6 deliver conference and session management (live at week 12, Certain retired). Sprints 7 to 10 move classes onto the same platform and improve them (live at week 20). Sprint scope is refined after the current-state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dedicated pod: one Scrum Master or Project Manager leading delivery, one QA engineer embedded in every sprint, and a build team of two Salesforce developers and one Marketing Cloud developer. Memorial Hermann provides a product owner and an Epic and app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upsell. The event platform captures first-party data about what each person is interested in. Marketing Cloud journeys turn that into patient engagement initiatives that lead to app adoption and booked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class feeds one Marketing Cloud journey: confirmation, reminder, then four patient engagement initiatives (thank you and survey, next class, app adoption, find a doctor). The journey exits when the person books a visit or downloads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to show the idea. We would pick two or three service lines with Kevin’s team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Memorial Hermann is their existing Epic-based patient app (scheduling, results, messaging). App users register in the app; people who register on the website get a tracked download link at every touchpoint. No new app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baselines during discovery from the current tools, then report these in a Salesforce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plan. AI agents use Agentforce and are licensed separately; we would scope them after the core platform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state. Five agents run day-to-day event and campaign work, but only through the harness: approved actions, guardrails on consent and patient data, staff approval for anything that reaches patients or spends money, per-agent identity, a full audit trail, evaluation before release, the Einstein Trust Layer and a kill switch. Autonomy grows as trust is 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for an offshore delivery model. Standard program value is $580,000. As a strategic partner, Memorial Hermann receives a 50% partnership credit applied upfront, for an investment of $290,000. Billing follows sprint milestones. Licenses and third-party fees are outside this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Kevin to set up the walkthrough with Lucky Rai’s team. Items 2 to 7 let us firm up the timeline and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G-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G-Agenda-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G-Section-Blue-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G-Section-Magenta-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G-Section-Gold-image-1.jpe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G-Dark-image-1.jpe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G-Light-image-1.jpe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G-Spectrum-image-1.jpe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G-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G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514600"/>
            <a:ext cx="10362895" cy="1554480"/>
          </a:xfrm>
          <a:prstGeom prst="rect">
            <a:avLst/>
          </a:prstGeom>
          <a:noFill/>
          <a:ln/>
        </p:spPr>
        <p:txBody>
          <a:bodyPr wrap="square" rtlCol="0"/>
          <a:lstStyle>
            <a:lvl1pPr algn="ctr" indent="0" marL="0">
              <a:buNone/>
              <a:defRPr lang="en-US" sz="4400" spc="600" kern="0" dirty="0">
                <a:solidFill>
                  <a:schemeClr val="bg1"/>
                </a:solidFill>
                <a:latin typeface="Trenda IG Text Light" pitchFamily="34" charset="0"/>
                <a:ea typeface="Trenda IG Text Light" pitchFamily="34" charset="-122"/>
                <a:cs typeface="Trenda IG Text Light" pitchFamily="34" charset="-120"/>
              </a:defRPr>
            </a:lvl1pPr>
          </a:lstStyle>
          <a:p>
            <a:pPr algn="ctr" indent="0" marL="0">
              <a:buNone/>
            </a:pPr>
            <a:endParaRPr lang="en-US" sz="4400" dirty="0"/>
          </a:p>
        </p:txBody>
      </p:sp>
      <p:sp>
        <p:nvSpPr>
          <p:cNvPr id="3" name="Text 0"/>
          <p:cNvSpPr/>
          <p:nvPr>
            <p:ph idx="101" type="body" hasCustomPrompt="1"/>
          </p:nvPr>
        </p:nvSpPr>
        <p:spPr>
          <a:xfrm>
            <a:off x="914400" y="4160520"/>
            <a:ext cx="10362895" cy="457200"/>
          </a:xfrm>
          <a:prstGeom prst="rect">
            <a:avLst/>
          </a:prstGeom>
          <a:noFill/>
          <a:ln/>
        </p:spPr>
        <p:txBody>
          <a:bodyPr wrap="square" rtlCol="0"/>
          <a:lstStyle>
            <a:lvl1pPr algn="ctr" indent="0" marL="0">
              <a:buNone/>
              <a:defRPr lang="en-US" sz="1800" dirty="0">
                <a:solidFill>
                  <a:schemeClr val="bg1"/>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G Agen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indent="0" marL="0">
              <a:buNone/>
            </a:pPr>
            <a:r>
              <a:rPr lang="en-US" sz="800" b="1" spc="300" kern="0" dirty="0">
                <a:solidFill>
                  <a:schemeClr val="bg1"/>
                </a:solidFill>
              </a:rPr>
              <a:t>MEMORIAL HERMANN  ·  EVENT PLATFORM</a:t>
            </a:r>
            <a:endParaRPr lang="en-US" sz="800" dirty="0"/>
          </a:p>
        </p:txBody>
      </p:sp>
      <p:sp>
        <p:nvSpPr>
          <p:cNvPr id="3" name="Text 1"/>
          <p:cNvSpPr/>
          <p:nvPr>
            <p:ph idx="101" type="title" hasCustomPrompt="1"/>
          </p:nvPr>
        </p:nvSpPr>
        <p:spPr>
          <a:xfrm>
            <a:off x="502920" y="658368"/>
            <a:ext cx="11185855"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G Section Blu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rtlCol="0"/>
          <a:lstStyle>
            <a:lvl1pPr algn="ctr" indent="0" marL="0">
              <a:buNone/>
              <a:defRPr lang="en-US" sz="4400" spc="600" kern="0" dirty="0">
                <a:solidFill>
                  <a:schemeClr val="bg1"/>
                </a:solidFill>
                <a:latin typeface="Trenda IG Text Light" pitchFamily="34" charset="0"/>
                <a:ea typeface="Trenda IG Text Light" pitchFamily="34" charset="-122"/>
                <a:cs typeface="Trenda IG Text Light" pitchFamily="34" charset="-120"/>
              </a:defRPr>
            </a:lvl1pPr>
          </a:lstStyle>
          <a:p>
            <a:pPr algn="ctr" indent="0" marL="0">
              <a:buNone/>
            </a:pP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rtlCol="0"/>
          <a:lstStyle>
            <a:lvl1pPr algn="ctr" indent="0" marL="0">
              <a:buNone/>
              <a:defRPr lang="en-US" sz="1800" dirty="0">
                <a:solidFill>
                  <a:schemeClr val="bg1"/>
                </a:solidFill>
              </a:defRPr>
            </a:lvl1pPr>
          </a:lstStyle>
          <a:p>
            <a:pPr algn="ctr"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G Section Magent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rtlCol="0"/>
          <a:lstStyle>
            <a:lvl1pPr algn="ctr" indent="0" marL="0">
              <a:buNone/>
              <a:defRPr lang="en-US" sz="4400" spc="600" kern="0" dirty="0">
                <a:solidFill>
                  <a:schemeClr val="bg1"/>
                </a:solidFill>
                <a:latin typeface="Trenda IG Text Light" pitchFamily="34" charset="0"/>
                <a:ea typeface="Trenda IG Text Light" pitchFamily="34" charset="-122"/>
                <a:cs typeface="Trenda IG Text Light" pitchFamily="34" charset="-120"/>
              </a:defRPr>
            </a:lvl1pPr>
          </a:lstStyle>
          <a:p>
            <a:pPr algn="ctr" indent="0" marL="0">
              <a:buNone/>
            </a:pP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rtlCol="0"/>
          <a:lstStyle>
            <a:lvl1pPr algn="ctr" indent="0" marL="0">
              <a:buNone/>
              <a:defRPr lang="en-US" sz="1800" dirty="0">
                <a:solidFill>
                  <a:schemeClr val="bg1"/>
                </a:solidFill>
              </a:defRPr>
            </a:lvl1pPr>
          </a:lstStyle>
          <a:p>
            <a:pPr algn="ctr" indent="0" marL="0">
              <a:buNone/>
            </a:pPr>
            <a:endParaRPr lang="en-US" sz="18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G Section Go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rtlCol="0"/>
          <a:lstStyle>
            <a:lvl1pPr algn="ctr" indent="0" marL="0">
              <a:buNone/>
              <a:defRPr lang="en-US" sz="4400" spc="600" kern="0" dirty="0">
                <a:solidFill>
                  <a:schemeClr val="bg1"/>
                </a:solidFill>
                <a:latin typeface="Trenda IG Text Light" pitchFamily="34" charset="0"/>
                <a:ea typeface="Trenda IG Text Light" pitchFamily="34" charset="-122"/>
                <a:cs typeface="Trenda IG Text Light" pitchFamily="34" charset="-120"/>
              </a:defRPr>
            </a:lvl1pPr>
          </a:lstStyle>
          <a:p>
            <a:pPr algn="ctr" indent="0" marL="0">
              <a:buNone/>
            </a:pP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rtlCol="0"/>
          <a:lstStyle>
            <a:lvl1pPr algn="ctr" indent="0" marL="0">
              <a:buNone/>
              <a:defRPr lang="en-US" sz="1800" dirty="0">
                <a:solidFill>
                  <a:schemeClr val="bg1"/>
                </a:solidFill>
              </a:defRPr>
            </a:lvl1pPr>
          </a:lstStyle>
          <a:p>
            <a:pPr algn="ctr" indent="0" marL="0">
              <a:buNone/>
            </a:pPr>
            <a:endParaRPr lang="en-US" sz="1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G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indent="0" marL="0">
              <a:buNone/>
            </a:pPr>
            <a:r>
              <a:rPr lang="en-US" sz="800" b="1" spc="300" kern="0" dirty="0">
                <a:solidFill>
                  <a:schemeClr val="bg1"/>
                </a:solidFill>
              </a:rPr>
              <a:t>MEMORIAL HERMANN  ·  EVENT PLATFORM</a:t>
            </a:r>
            <a:endParaRPr lang="en-US" sz="800" dirty="0"/>
          </a:p>
        </p:txBody>
      </p:sp>
      <p:sp>
        <p:nvSpPr>
          <p:cNvPr id="3" name="Text 1"/>
          <p:cNvSpPr/>
          <p:nvPr>
            <p:ph idx="101" type="title" hasCustomPrompt="1"/>
          </p:nvPr>
        </p:nvSpPr>
        <p:spPr>
          <a:xfrm>
            <a:off x="502920" y="658368"/>
            <a:ext cx="11185855"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G 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indent="0" marL="0">
              <a:buNone/>
            </a:pPr>
            <a:r>
              <a:rPr lang="en-US" sz="800" b="1" spc="300" kern="0" dirty="0">
                <a:solidFill>
                  <a:schemeClr val="tx1"/>
                </a:solidFill>
              </a:rPr>
              <a:t>MEMORIAL HERMANN  ·  EVENT PLATFORM</a:t>
            </a:r>
            <a:endParaRPr lang="en-US" sz="800" dirty="0"/>
          </a:p>
        </p:txBody>
      </p:sp>
      <p:sp>
        <p:nvSpPr>
          <p:cNvPr id="3" name="Text 1"/>
          <p:cNvSpPr/>
          <p:nvPr>
            <p:ph idx="101" type="title" hasCustomPrompt="1"/>
          </p:nvPr>
        </p:nvSpPr>
        <p:spPr>
          <a:xfrm>
            <a:off x="502920" y="658368"/>
            <a:ext cx="11185855"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G Spectrum">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indent="0" marL="0">
              <a:buNone/>
            </a:pPr>
            <a:r>
              <a:rPr lang="en-US" sz="800" b="1" spc="300" kern="0" dirty="0">
                <a:solidFill>
                  <a:schemeClr val="bg1"/>
                </a:solidFill>
              </a:rPr>
              <a:t>MEMORIAL HERMANN  ·  EVENT PLATFORM</a:t>
            </a:r>
            <a:endParaRPr lang="en-US" sz="800" dirty="0"/>
          </a:p>
        </p:txBody>
      </p:sp>
      <p:sp>
        <p:nvSpPr>
          <p:cNvPr id="3" name="Text 1"/>
          <p:cNvSpPr/>
          <p:nvPr>
            <p:ph idx="101" type="title" hasCustomPrompt="1"/>
          </p:nvPr>
        </p:nvSpPr>
        <p:spPr>
          <a:xfrm>
            <a:off x="502920" y="658368"/>
            <a:ext cx="11185855"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G 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8.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8.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8.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7.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8.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8.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8.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7.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slideLayout" Target="../slideLayouts/slideLayout7.xml"/><Relationship Id="rId1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914400" y="2514600"/>
            <a:ext cx="10362895" cy="1554480"/>
          </a:xfrm>
          <a:prstGeom prst="rect">
            <a:avLst/>
          </a:prstGeom>
          <a:noFill/>
          <a:ln/>
        </p:spPr>
        <p:txBody>
          <a:bodyPr wrap="square" lIns="0" tIns="0" rIns="0" bIns="0" rtlCol="0" anchor="ctr"/>
          <a:lstStyle/>
          <a:p>
            <a:pPr algn="ctr" indent="0" marL="0">
              <a:buNone/>
            </a:pPr>
            <a:r>
              <a:rPr lang="en-US" sz="4400" spc="600" kern="0" dirty="0">
                <a:solidFill>
                  <a:schemeClr val="bg1"/>
                </a:solidFill>
                <a:latin typeface="Trenda IG Text Light" pitchFamily="34" charset="0"/>
                <a:ea typeface="Trenda IG Text Light" pitchFamily="34" charset="-122"/>
                <a:cs typeface="Trenda IG Text Light" pitchFamily="34" charset="-120"/>
              </a:rPr>
              <a:t>ONE EVENT PLATFORM ON SALESFORCE</a:t>
            </a:r>
            <a:endParaRPr lang="en-US" sz="4400" dirty="0"/>
          </a:p>
        </p:txBody>
      </p:sp>
      <p:sp>
        <p:nvSpPr>
          <p:cNvPr id="3" name="Text 0"/>
          <p:cNvSpPr/>
          <p:nvPr>
            <p:ph idx="101" type="body" hasCustomPrompt="1"/>
          </p:nvPr>
        </p:nvSpPr>
        <p:spPr>
          <a:xfrm>
            <a:off x="914400" y="4160520"/>
            <a:ext cx="10362895" cy="457200"/>
          </a:xfrm>
          <a:prstGeom prst="rect">
            <a:avLst/>
          </a:prstGeom>
          <a:noFill/>
          <a:ln/>
        </p:spPr>
        <p:txBody>
          <a:bodyPr wrap="square" lIns="0" tIns="0" rIns="0" bIns="0" rtlCol="0"/>
          <a:lstStyle/>
          <a:p>
            <a:pPr algn="ctr" indent="0" marL="0">
              <a:buNone/>
            </a:pPr>
            <a:r>
              <a:rPr lang="en-US" sz="1800" dirty="0">
                <a:solidFill>
                  <a:schemeClr val="bg1"/>
                </a:solidFill>
              </a:rPr>
              <a:t>Memorial Hermann Health System  ×  Insight Global</a:t>
            </a:r>
            <a:endParaRPr lang="en-US" sz="1800" dirty="0"/>
          </a:p>
        </p:txBody>
      </p:sp>
      <p:sp>
        <p:nvSpPr>
          <p:cNvPr id="4" name="Text 2"/>
          <p:cNvSpPr txBox="1"/>
          <p:nvPr/>
        </p:nvSpPr>
        <p:spPr>
          <a:xfrm>
            <a:off x="914400" y="4709160"/>
            <a:ext cx="10362895" cy="274320"/>
          </a:xfrm>
          <a:prstGeom prst="rect">
            <a:avLst/>
          </a:prstGeom>
          <a:noFill/>
          <a:ln/>
        </p:spPr>
        <p:txBody>
          <a:bodyPr wrap="square" lIns="0" tIns="0" rIns="0" bIns="0" rtlCol="0" anchor="t"/>
          <a:lstStyle/>
          <a:p>
            <a:pPr algn="ctr" indent="0" marL="0">
              <a:buNone/>
            </a:pPr>
            <a:r>
              <a:rPr lang="en-US" sz="1100" spc="400" kern="0" dirty="0">
                <a:solidFill>
                  <a:schemeClr val="bg1"/>
                </a:solidFill>
              </a:rPr>
              <a:t>CLASSES  ·  EVENTS  ·  CONFERENCES  ·  ENGAGEMENT</a:t>
            </a:r>
            <a:endParaRPr lang="en-US" sz="1100" dirty="0"/>
          </a:p>
        </p:txBody>
      </p:sp>
      <p:sp>
        <p:nvSpPr>
          <p:cNvPr id="5" name="Text 3"/>
          <p:cNvSpPr txBox="1"/>
          <p:nvPr/>
        </p:nvSpPr>
        <p:spPr>
          <a:xfrm>
            <a:off x="914400" y="6172200"/>
            <a:ext cx="10362895" cy="274320"/>
          </a:xfrm>
          <a:prstGeom prst="rect">
            <a:avLst/>
          </a:prstGeom>
          <a:noFill/>
          <a:ln/>
        </p:spPr>
        <p:txBody>
          <a:bodyPr wrap="square" lIns="0" tIns="0" rIns="0" bIns="0" rtlCol="0" anchor="t"/>
          <a:lstStyle/>
          <a:p>
            <a:pPr algn="ctr" indent="0" marL="0">
              <a:buNone/>
            </a:pPr>
            <a:r>
              <a:rPr lang="en-US" sz="1100" b="1" spc="500" kern="0" dirty="0">
                <a:solidFill>
                  <a:schemeClr val="bg1"/>
                </a:solidFill>
              </a:rPr>
              <a:t>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Agenda</a:t>
            </a:r>
            <a:endParaRPr lang="en-US" sz="3200" dirty="0"/>
          </a:p>
        </p:txBody>
      </p:sp>
      <p:sp>
        <p:nvSpPr>
          <p:cNvPr id="3" name="circle-1"/>
          <p:cNvSpPr/>
          <p:nvPr/>
        </p:nvSpPr>
        <p:spPr>
          <a:xfrm>
            <a:off x="548640" y="2011680"/>
            <a:ext cx="420624" cy="420624"/>
          </a:xfrm>
          <a:prstGeom prst="ellipse">
            <a:avLst/>
          </a:prstGeom>
          <a:ln w="15875">
            <a:solidFill>
              <a:schemeClr val="bg1"/>
            </a:solidFill>
            <a:prstDash val="solid"/>
          </a:ln>
        </p:spPr>
      </p:sp>
      <p:sp>
        <p:nvSpPr>
          <p:cNvPr id="4" name="Text 2"/>
          <p:cNvSpPr txBox="1"/>
          <p:nvPr/>
        </p:nvSpPr>
        <p:spPr>
          <a:xfrm>
            <a:off x="548640" y="201168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1</a:t>
            </a:r>
            <a:endParaRPr lang="en-US" sz="1400" dirty="0"/>
          </a:p>
        </p:txBody>
      </p:sp>
      <p:sp>
        <p:nvSpPr>
          <p:cNvPr id="5" name="Text 3"/>
          <p:cNvSpPr txBox="1"/>
          <p:nvPr/>
        </p:nvSpPr>
        <p:spPr>
          <a:xfrm>
            <a:off x="1188720" y="201168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What we heard</a:t>
            </a:r>
            <a:endParaRPr lang="en-US" sz="2200" dirty="0"/>
          </a:p>
        </p:txBody>
      </p:sp>
      <p:sp>
        <p:nvSpPr>
          <p:cNvPr id="6" name="circle-2"/>
          <p:cNvSpPr/>
          <p:nvPr/>
        </p:nvSpPr>
        <p:spPr>
          <a:xfrm>
            <a:off x="548640" y="2880360"/>
            <a:ext cx="420624" cy="420624"/>
          </a:xfrm>
          <a:prstGeom prst="ellipse">
            <a:avLst/>
          </a:prstGeom>
          <a:ln w="15875">
            <a:solidFill>
              <a:schemeClr val="bg1"/>
            </a:solidFill>
            <a:prstDash val="solid"/>
          </a:ln>
        </p:spPr>
      </p:sp>
      <p:sp>
        <p:nvSpPr>
          <p:cNvPr id="7" name="Text 5"/>
          <p:cNvSpPr txBox="1"/>
          <p:nvPr/>
        </p:nvSpPr>
        <p:spPr>
          <a:xfrm>
            <a:off x="548640" y="288036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2</a:t>
            </a:r>
            <a:endParaRPr lang="en-US" sz="1400" dirty="0"/>
          </a:p>
        </p:txBody>
      </p:sp>
      <p:sp>
        <p:nvSpPr>
          <p:cNvPr id="8" name="Text 6"/>
          <p:cNvSpPr txBox="1"/>
          <p:nvPr/>
        </p:nvSpPr>
        <p:spPr>
          <a:xfrm>
            <a:off x="1188720" y="288036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The solution and design</a:t>
            </a:r>
            <a:endParaRPr lang="en-US" sz="2200" dirty="0"/>
          </a:p>
        </p:txBody>
      </p:sp>
      <p:sp>
        <p:nvSpPr>
          <p:cNvPr id="9" name="circle-3"/>
          <p:cNvSpPr/>
          <p:nvPr/>
        </p:nvSpPr>
        <p:spPr>
          <a:xfrm>
            <a:off x="548640" y="3749040"/>
            <a:ext cx="420624" cy="420624"/>
          </a:xfrm>
          <a:prstGeom prst="ellipse">
            <a:avLst/>
          </a:prstGeom>
          <a:ln w="15875">
            <a:solidFill>
              <a:schemeClr val="bg1"/>
            </a:solidFill>
            <a:prstDash val="solid"/>
          </a:ln>
        </p:spPr>
      </p:sp>
      <p:sp>
        <p:nvSpPr>
          <p:cNvPr id="10" name="Text 8"/>
          <p:cNvSpPr txBox="1"/>
          <p:nvPr/>
        </p:nvSpPr>
        <p:spPr>
          <a:xfrm>
            <a:off x="548640" y="37490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3</a:t>
            </a:r>
            <a:endParaRPr lang="en-US" sz="1400" dirty="0"/>
          </a:p>
        </p:txBody>
      </p:sp>
      <p:sp>
        <p:nvSpPr>
          <p:cNvPr id="11" name="Text 9"/>
          <p:cNvSpPr txBox="1"/>
          <p:nvPr/>
        </p:nvSpPr>
        <p:spPr>
          <a:xfrm>
            <a:off x="1188720" y="374904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Payments and data security</a:t>
            </a:r>
            <a:endParaRPr lang="en-US" sz="2200" dirty="0"/>
          </a:p>
        </p:txBody>
      </p:sp>
      <p:sp>
        <p:nvSpPr>
          <p:cNvPr id="12" name="circle-4"/>
          <p:cNvSpPr/>
          <p:nvPr/>
        </p:nvSpPr>
        <p:spPr>
          <a:xfrm>
            <a:off x="6309360" y="2011680"/>
            <a:ext cx="420624" cy="420624"/>
          </a:xfrm>
          <a:prstGeom prst="ellipse">
            <a:avLst/>
          </a:prstGeom>
          <a:ln w="15875">
            <a:solidFill>
              <a:schemeClr val="bg1"/>
            </a:solidFill>
            <a:prstDash val="solid"/>
          </a:ln>
        </p:spPr>
      </p:sp>
      <p:sp>
        <p:nvSpPr>
          <p:cNvPr id="13" name="Text 11"/>
          <p:cNvSpPr txBox="1"/>
          <p:nvPr/>
        </p:nvSpPr>
        <p:spPr>
          <a:xfrm>
            <a:off x="6309360" y="201168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4</a:t>
            </a:r>
            <a:endParaRPr lang="en-US" sz="1400" dirty="0"/>
          </a:p>
        </p:txBody>
      </p:sp>
      <p:sp>
        <p:nvSpPr>
          <p:cNvPr id="14" name="Text 12"/>
          <p:cNvSpPr txBox="1"/>
          <p:nvPr/>
        </p:nvSpPr>
        <p:spPr>
          <a:xfrm>
            <a:off x="6949440" y="201168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Delivery timeline</a:t>
            </a:r>
            <a:endParaRPr lang="en-US" sz="2200" dirty="0"/>
          </a:p>
        </p:txBody>
      </p:sp>
      <p:sp>
        <p:nvSpPr>
          <p:cNvPr id="15" name="circle-5"/>
          <p:cNvSpPr/>
          <p:nvPr/>
        </p:nvSpPr>
        <p:spPr>
          <a:xfrm>
            <a:off x="6309360" y="2880360"/>
            <a:ext cx="420624" cy="420624"/>
          </a:xfrm>
          <a:prstGeom prst="ellipse">
            <a:avLst/>
          </a:prstGeom>
          <a:ln w="15875">
            <a:solidFill>
              <a:schemeClr val="bg1"/>
            </a:solidFill>
            <a:prstDash val="solid"/>
          </a:ln>
        </p:spPr>
      </p:sp>
      <p:sp>
        <p:nvSpPr>
          <p:cNvPr id="16" name="Text 14"/>
          <p:cNvSpPr txBox="1"/>
          <p:nvPr/>
        </p:nvSpPr>
        <p:spPr>
          <a:xfrm>
            <a:off x="6309360" y="288036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5</a:t>
            </a:r>
            <a:endParaRPr lang="en-US" sz="1400" dirty="0"/>
          </a:p>
        </p:txBody>
      </p:sp>
      <p:sp>
        <p:nvSpPr>
          <p:cNvPr id="17" name="Text 15"/>
          <p:cNvSpPr txBox="1"/>
          <p:nvPr/>
        </p:nvSpPr>
        <p:spPr>
          <a:xfrm>
            <a:off x="6949440" y="288036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Beyond the event</a:t>
            </a:r>
            <a:endParaRPr lang="en-US" sz="2200" dirty="0"/>
          </a:p>
        </p:txBody>
      </p:sp>
      <p:sp>
        <p:nvSpPr>
          <p:cNvPr id="18" name="circle-6"/>
          <p:cNvSpPr/>
          <p:nvPr/>
        </p:nvSpPr>
        <p:spPr>
          <a:xfrm>
            <a:off x="6309360" y="3749040"/>
            <a:ext cx="420624" cy="420624"/>
          </a:xfrm>
          <a:prstGeom prst="ellipse">
            <a:avLst/>
          </a:prstGeom>
          <a:ln w="15875">
            <a:solidFill>
              <a:schemeClr val="bg1"/>
            </a:solidFill>
            <a:prstDash val="solid"/>
          </a:ln>
        </p:spPr>
      </p:sp>
      <p:sp>
        <p:nvSpPr>
          <p:cNvPr id="19" name="Text 17"/>
          <p:cNvSpPr txBox="1"/>
          <p:nvPr/>
        </p:nvSpPr>
        <p:spPr>
          <a:xfrm>
            <a:off x="6309360" y="37490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6</a:t>
            </a:r>
            <a:endParaRPr lang="en-US" sz="1400" dirty="0"/>
          </a:p>
        </p:txBody>
      </p:sp>
      <p:sp>
        <p:nvSpPr>
          <p:cNvPr id="20" name="Text 18"/>
          <p:cNvSpPr txBox="1"/>
          <p:nvPr/>
        </p:nvSpPr>
        <p:spPr>
          <a:xfrm>
            <a:off x="6949440" y="374904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Roadmap and next steps</a:t>
            </a:r>
            <a:endParaRPr lang="en-US" sz="2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What we heard</a:t>
            </a:r>
            <a:endParaRPr lang="en-US" sz="3200" dirty="0"/>
          </a:p>
        </p:txBody>
      </p:sp>
      <p:sp>
        <p:nvSpPr>
          <p:cNvPr id="3" name="Text 1"/>
          <p:cNvSpPr txBox="1"/>
          <p:nvPr/>
        </p:nvSpPr>
        <p:spPr>
          <a:xfrm>
            <a:off x="576072" y="1554480"/>
            <a:ext cx="2093976" cy="384048"/>
          </a:xfrm>
          <a:prstGeom prst="rect">
            <a:avLst/>
          </a:prstGeom>
          <a:noFill/>
          <a:ln/>
        </p:spPr>
        <p:txBody>
          <a:bodyPr wrap="square" lIns="0" tIns="0" rIns="0" bIns="0" rtlCol="0" anchor="b"/>
          <a:lstStyle/>
          <a:p>
            <a:pPr indent="0" marL="0">
              <a:buNone/>
            </a:pPr>
            <a:r>
              <a:rPr lang="en-US" sz="1500" b="1" dirty="0">
                <a:solidFill>
                  <a:schemeClr val="tx1"/>
                </a:solidFill>
              </a:rPr>
              <a:t>Area</a:t>
            </a:r>
            <a:endParaRPr lang="en-US" sz="1500" dirty="0"/>
          </a:p>
        </p:txBody>
      </p:sp>
      <p:sp>
        <p:nvSpPr>
          <p:cNvPr id="4" name="Text 2"/>
          <p:cNvSpPr txBox="1"/>
          <p:nvPr/>
        </p:nvSpPr>
        <p:spPr>
          <a:xfrm>
            <a:off x="2816352" y="1554480"/>
            <a:ext cx="4608576" cy="384048"/>
          </a:xfrm>
          <a:prstGeom prst="rect">
            <a:avLst/>
          </a:prstGeom>
          <a:noFill/>
          <a:ln/>
        </p:spPr>
        <p:txBody>
          <a:bodyPr wrap="square" lIns="0" tIns="0" rIns="0" bIns="0" rtlCol="0" anchor="b"/>
          <a:lstStyle/>
          <a:p>
            <a:pPr indent="0" marL="0">
              <a:buNone/>
            </a:pPr>
            <a:r>
              <a:rPr lang="en-US" sz="1500" b="1" dirty="0">
                <a:solidFill>
                  <a:schemeClr val="tx1"/>
                </a:solidFill>
              </a:rPr>
              <a:t>Today</a:t>
            </a:r>
            <a:endParaRPr lang="en-US" sz="1500" dirty="0"/>
          </a:p>
        </p:txBody>
      </p:sp>
      <p:sp>
        <p:nvSpPr>
          <p:cNvPr id="5" name="Text 3"/>
          <p:cNvSpPr txBox="1"/>
          <p:nvPr/>
        </p:nvSpPr>
        <p:spPr>
          <a:xfrm>
            <a:off x="7571232" y="1554480"/>
            <a:ext cx="4041648" cy="384048"/>
          </a:xfrm>
          <a:prstGeom prst="rect">
            <a:avLst/>
          </a:prstGeom>
          <a:noFill/>
          <a:ln/>
        </p:spPr>
        <p:txBody>
          <a:bodyPr wrap="square" lIns="0" tIns="0" rIns="0" bIns="0" rtlCol="0" anchor="b"/>
          <a:lstStyle/>
          <a:p>
            <a:pPr indent="0" marL="0">
              <a:buNone/>
            </a:pPr>
            <a:r>
              <a:rPr lang="en-US" sz="1500" b="1" dirty="0">
                <a:solidFill>
                  <a:schemeClr val="tx1"/>
                </a:solidFill>
              </a:rPr>
              <a:t>Where we take it</a:t>
            </a:r>
            <a:endParaRPr lang="en-US" sz="1500" dirty="0"/>
          </a:p>
        </p:txBody>
      </p:sp>
      <p:sp>
        <p:nvSpPr>
          <p:cNvPr id="6" name="Shape 4"/>
          <p:cNvSpPr/>
          <p:nvPr/>
        </p:nvSpPr>
        <p:spPr>
          <a:xfrm>
            <a:off x="502920" y="2011680"/>
            <a:ext cx="11183112" cy="0"/>
          </a:xfrm>
          <a:prstGeom prst="line">
            <a:avLst/>
          </a:prstGeom>
          <a:noFill/>
          <a:ln w="19050">
            <a:solidFill>
              <a:schemeClr val="tx1"/>
            </a:solidFill>
            <a:prstDash val="solid"/>
          </a:ln>
        </p:spPr>
      </p:sp>
      <p:sp>
        <p:nvSpPr>
          <p:cNvPr id="7" name="Text 5"/>
          <p:cNvSpPr txBox="1"/>
          <p:nvPr/>
        </p:nvSpPr>
        <p:spPr>
          <a:xfrm>
            <a:off x="576072" y="2084832"/>
            <a:ext cx="2093976" cy="530352"/>
          </a:xfrm>
          <a:prstGeom prst="rect">
            <a:avLst/>
          </a:prstGeom>
          <a:noFill/>
          <a:ln/>
        </p:spPr>
        <p:txBody>
          <a:bodyPr wrap="square" lIns="0" tIns="0" rIns="0" bIns="0" rtlCol="0" anchor="ctr"/>
          <a:lstStyle/>
          <a:p>
            <a:pPr indent="0" marL="0">
              <a:buNone/>
            </a:pPr>
            <a:r>
              <a:rPr lang="en-US" sz="1300" b="1" dirty="0">
                <a:solidFill>
                  <a:schemeClr val="tx1"/>
                </a:solidFill>
              </a:rPr>
              <a:t>Classes and events</a:t>
            </a:r>
            <a:endParaRPr lang="en-US" sz="1300" dirty="0"/>
          </a:p>
        </p:txBody>
      </p:sp>
      <p:sp>
        <p:nvSpPr>
          <p:cNvPr id="8" name="Text 6"/>
          <p:cNvSpPr txBox="1"/>
          <p:nvPr/>
        </p:nvSpPr>
        <p:spPr>
          <a:xfrm>
            <a:off x="2816352" y="2084832"/>
            <a:ext cx="4608576" cy="530352"/>
          </a:xfrm>
          <a:prstGeom prst="rect">
            <a:avLst/>
          </a:prstGeom>
          <a:noFill/>
          <a:ln/>
        </p:spPr>
        <p:txBody>
          <a:bodyPr wrap="square" lIns="0" tIns="0" rIns="0" bIns="0" rtlCol="0" anchor="ctr"/>
          <a:lstStyle/>
          <a:p>
            <a:pPr indent="0" marL="0">
              <a:buNone/>
            </a:pPr>
            <a:r>
              <a:rPr lang="en-US" sz="1300" dirty="0">
                <a:solidFill>
                  <a:srgbClr val="4D4D4D"/>
                </a:solidFill>
              </a:rPr>
              <a:t>Sitecore listings open a home-built Experience Cloud site; Chase payments; confirmation up to 24 hours</a:t>
            </a:r>
            <a:endParaRPr lang="en-US" sz="1300" dirty="0"/>
          </a:p>
        </p:txBody>
      </p:sp>
      <p:sp>
        <p:nvSpPr>
          <p:cNvPr id="9" name="Text 7"/>
          <p:cNvSpPr txBox="1"/>
          <p:nvPr/>
        </p:nvSpPr>
        <p:spPr>
          <a:xfrm>
            <a:off x="7571232" y="2084832"/>
            <a:ext cx="4041648" cy="530352"/>
          </a:xfrm>
          <a:prstGeom prst="rect">
            <a:avLst/>
          </a:prstGeom>
          <a:noFill/>
          <a:ln/>
        </p:spPr>
        <p:txBody>
          <a:bodyPr wrap="square" lIns="0" tIns="0" rIns="0" bIns="0" rtlCol="0" anchor="ctr"/>
          <a:lstStyle/>
          <a:p>
            <a:pPr indent="0" marL="0">
              <a:buNone/>
            </a:pPr>
            <a:r>
              <a:rPr lang="en-US" sz="1300" dirty="0">
                <a:solidFill>
                  <a:srgbClr val="4D4D4D"/>
                </a:solidFill>
              </a:rPr>
              <a:t>Keep the site and improve it on one shared event model</a:t>
            </a:r>
            <a:endParaRPr lang="en-US" sz="1300" dirty="0"/>
          </a:p>
        </p:txBody>
      </p:sp>
      <p:sp>
        <p:nvSpPr>
          <p:cNvPr id="10" name="Shape 8"/>
          <p:cNvSpPr/>
          <p:nvPr/>
        </p:nvSpPr>
        <p:spPr>
          <a:xfrm>
            <a:off x="502920" y="2651760"/>
            <a:ext cx="11183112" cy="0"/>
          </a:xfrm>
          <a:prstGeom prst="line">
            <a:avLst/>
          </a:prstGeom>
          <a:noFill/>
          <a:ln w="9525">
            <a:solidFill>
              <a:srgbClr val="8C8C8C"/>
            </a:solidFill>
            <a:prstDash val="sysDot"/>
          </a:ln>
        </p:spPr>
      </p:sp>
      <p:sp>
        <p:nvSpPr>
          <p:cNvPr id="11" name="Text 9"/>
          <p:cNvSpPr txBox="1"/>
          <p:nvPr/>
        </p:nvSpPr>
        <p:spPr>
          <a:xfrm>
            <a:off x="576072" y="2724912"/>
            <a:ext cx="2093976" cy="530352"/>
          </a:xfrm>
          <a:prstGeom prst="rect">
            <a:avLst/>
          </a:prstGeom>
          <a:noFill/>
          <a:ln/>
        </p:spPr>
        <p:txBody>
          <a:bodyPr wrap="square" lIns="0" tIns="0" rIns="0" bIns="0" rtlCol="0" anchor="ctr"/>
          <a:lstStyle/>
          <a:p>
            <a:pPr indent="0" marL="0">
              <a:buNone/>
            </a:pPr>
            <a:r>
              <a:rPr lang="en-US" sz="1300" b="1" dirty="0">
                <a:solidFill>
                  <a:schemeClr val="tx1"/>
                </a:solidFill>
              </a:rPr>
              <a:t>Mobile app</a:t>
            </a:r>
            <a:endParaRPr lang="en-US" sz="1300" dirty="0"/>
          </a:p>
        </p:txBody>
      </p:sp>
      <p:sp>
        <p:nvSpPr>
          <p:cNvPr id="12" name="Text 10"/>
          <p:cNvSpPr txBox="1"/>
          <p:nvPr/>
        </p:nvSpPr>
        <p:spPr>
          <a:xfrm>
            <a:off x="2816352" y="2724912"/>
            <a:ext cx="4608576" cy="530352"/>
          </a:xfrm>
          <a:prstGeom prst="rect">
            <a:avLst/>
          </a:prstGeom>
          <a:noFill/>
          <a:ln/>
        </p:spPr>
        <p:txBody>
          <a:bodyPr wrap="square" lIns="0" tIns="0" rIns="0" bIns="0" rtlCol="0" anchor="ctr"/>
          <a:lstStyle/>
          <a:p>
            <a:pPr indent="0" marL="0">
              <a:buNone/>
            </a:pPr>
            <a:r>
              <a:rPr lang="en-US" sz="1300" dirty="0">
                <a:solidFill>
                  <a:srgbClr val="4D4D4D"/>
                </a:solidFill>
              </a:rPr>
              <a:t>People can already register for events in the app</a:t>
            </a:r>
            <a:endParaRPr lang="en-US" sz="1300" dirty="0"/>
          </a:p>
        </p:txBody>
      </p:sp>
      <p:sp>
        <p:nvSpPr>
          <p:cNvPr id="13" name="Text 11"/>
          <p:cNvSpPr txBox="1"/>
          <p:nvPr/>
        </p:nvSpPr>
        <p:spPr>
          <a:xfrm>
            <a:off x="7571232" y="2724912"/>
            <a:ext cx="4041648" cy="530352"/>
          </a:xfrm>
          <a:prstGeom prst="rect">
            <a:avLst/>
          </a:prstGeom>
          <a:noFill/>
          <a:ln/>
        </p:spPr>
        <p:txBody>
          <a:bodyPr wrap="square" lIns="0" tIns="0" rIns="0" bIns="0" rtlCol="0" anchor="ctr"/>
          <a:lstStyle/>
          <a:p>
            <a:pPr indent="0" marL="0">
              <a:buNone/>
            </a:pPr>
            <a:r>
              <a:rPr lang="en-US" sz="1300" dirty="0">
                <a:solidFill>
                  <a:srgbClr val="4D4D4D"/>
                </a:solidFill>
              </a:rPr>
              <a:t>Keep it, connected to the same event model</a:t>
            </a:r>
            <a:endParaRPr lang="en-US" sz="1300" dirty="0"/>
          </a:p>
        </p:txBody>
      </p:sp>
      <p:sp>
        <p:nvSpPr>
          <p:cNvPr id="14" name="Shape 12"/>
          <p:cNvSpPr/>
          <p:nvPr/>
        </p:nvSpPr>
        <p:spPr>
          <a:xfrm>
            <a:off x="502920" y="3291840"/>
            <a:ext cx="11183112" cy="0"/>
          </a:xfrm>
          <a:prstGeom prst="line">
            <a:avLst/>
          </a:prstGeom>
          <a:noFill/>
          <a:ln w="9525">
            <a:solidFill>
              <a:srgbClr val="8C8C8C"/>
            </a:solidFill>
            <a:prstDash val="sysDot"/>
          </a:ln>
        </p:spPr>
      </p:sp>
      <p:sp>
        <p:nvSpPr>
          <p:cNvPr id="15" name="Text 13"/>
          <p:cNvSpPr txBox="1"/>
          <p:nvPr/>
        </p:nvSpPr>
        <p:spPr>
          <a:xfrm>
            <a:off x="576072" y="3364992"/>
            <a:ext cx="2093976" cy="530352"/>
          </a:xfrm>
          <a:prstGeom prst="rect">
            <a:avLst/>
          </a:prstGeom>
          <a:noFill/>
          <a:ln/>
        </p:spPr>
        <p:txBody>
          <a:bodyPr wrap="square" lIns="0" tIns="0" rIns="0" bIns="0" rtlCol="0" anchor="ctr"/>
          <a:lstStyle/>
          <a:p>
            <a:pPr indent="0" marL="0">
              <a:buNone/>
            </a:pPr>
            <a:r>
              <a:rPr lang="en-US" sz="1300" b="1" dirty="0">
                <a:solidFill>
                  <a:schemeClr val="tx1"/>
                </a:solidFill>
              </a:rPr>
              <a:t>Conferences</a:t>
            </a:r>
            <a:endParaRPr lang="en-US" sz="1300" dirty="0"/>
          </a:p>
        </p:txBody>
      </p:sp>
      <p:sp>
        <p:nvSpPr>
          <p:cNvPr id="16" name="Text 14"/>
          <p:cNvSpPr txBox="1"/>
          <p:nvPr/>
        </p:nvSpPr>
        <p:spPr>
          <a:xfrm>
            <a:off x="2816352" y="3364992"/>
            <a:ext cx="4608576" cy="530352"/>
          </a:xfrm>
          <a:prstGeom prst="rect">
            <a:avLst/>
          </a:prstGeom>
          <a:noFill/>
          <a:ln/>
        </p:spPr>
        <p:txBody>
          <a:bodyPr wrap="square" lIns="0" tIns="0" rIns="0" bIns="0" rtlCol="0" anchor="ctr"/>
          <a:lstStyle/>
          <a:p>
            <a:pPr indent="0" marL="0">
              <a:buNone/>
            </a:pPr>
            <a:r>
              <a:rPr lang="en-US" sz="1300" dirty="0">
                <a:solidFill>
                  <a:srgbClr val="4D4D4D"/>
                </a:solidFill>
              </a:rPr>
              <a:t>Certain for 1 to 2 multi-day events a year; Authorize.net</a:t>
            </a:r>
            <a:endParaRPr lang="en-US" sz="1300" dirty="0"/>
          </a:p>
        </p:txBody>
      </p:sp>
      <p:sp>
        <p:nvSpPr>
          <p:cNvPr id="17" name="Text 15"/>
          <p:cNvSpPr txBox="1"/>
          <p:nvPr/>
        </p:nvSpPr>
        <p:spPr>
          <a:xfrm>
            <a:off x="7571232" y="3364992"/>
            <a:ext cx="4041648" cy="530352"/>
          </a:xfrm>
          <a:prstGeom prst="rect">
            <a:avLst/>
          </a:prstGeom>
          <a:noFill/>
          <a:ln/>
        </p:spPr>
        <p:txBody>
          <a:bodyPr wrap="square" lIns="0" tIns="0" rIns="0" bIns="0" rtlCol="0" anchor="ctr"/>
          <a:lstStyle/>
          <a:p>
            <a:pPr indent="0" marL="0">
              <a:buNone/>
            </a:pPr>
            <a:r>
              <a:rPr lang="en-US" sz="1300" dirty="0">
                <a:solidFill>
                  <a:srgbClr val="4D4D4D"/>
                </a:solidFill>
              </a:rPr>
              <a:t>Replace with Salesforce conference and session management</a:t>
            </a:r>
            <a:endParaRPr lang="en-US" sz="1300" dirty="0"/>
          </a:p>
        </p:txBody>
      </p:sp>
      <p:sp>
        <p:nvSpPr>
          <p:cNvPr id="18" name="Shape 16"/>
          <p:cNvSpPr/>
          <p:nvPr/>
        </p:nvSpPr>
        <p:spPr>
          <a:xfrm>
            <a:off x="502920" y="3931920"/>
            <a:ext cx="11183112" cy="0"/>
          </a:xfrm>
          <a:prstGeom prst="line">
            <a:avLst/>
          </a:prstGeom>
          <a:noFill/>
          <a:ln w="9525">
            <a:solidFill>
              <a:srgbClr val="8C8C8C"/>
            </a:solidFill>
            <a:prstDash val="sysDot"/>
          </a:ln>
        </p:spPr>
      </p:sp>
      <p:sp>
        <p:nvSpPr>
          <p:cNvPr id="19" name="Text 17"/>
          <p:cNvSpPr txBox="1"/>
          <p:nvPr/>
        </p:nvSpPr>
        <p:spPr>
          <a:xfrm>
            <a:off x="576072" y="4005072"/>
            <a:ext cx="2093976" cy="530352"/>
          </a:xfrm>
          <a:prstGeom prst="rect">
            <a:avLst/>
          </a:prstGeom>
          <a:noFill/>
          <a:ln/>
        </p:spPr>
        <p:txBody>
          <a:bodyPr wrap="square" lIns="0" tIns="0" rIns="0" bIns="0" rtlCol="0" anchor="ctr"/>
          <a:lstStyle/>
          <a:p>
            <a:pPr indent="0" marL="0">
              <a:buNone/>
            </a:pPr>
            <a:r>
              <a:rPr lang="en-US" sz="1300" b="1" dirty="0">
                <a:solidFill>
                  <a:schemeClr val="tx1"/>
                </a:solidFill>
              </a:rPr>
              <a:t>Who registers</a:t>
            </a:r>
            <a:endParaRPr lang="en-US" sz="1300" dirty="0"/>
          </a:p>
        </p:txBody>
      </p:sp>
      <p:sp>
        <p:nvSpPr>
          <p:cNvPr id="20" name="Text 18"/>
          <p:cNvSpPr txBox="1"/>
          <p:nvPr/>
        </p:nvSpPr>
        <p:spPr>
          <a:xfrm>
            <a:off x="2816352" y="4005072"/>
            <a:ext cx="4608576" cy="530352"/>
          </a:xfrm>
          <a:prstGeom prst="rect">
            <a:avLst/>
          </a:prstGeom>
          <a:noFill/>
          <a:ln/>
        </p:spPr>
        <p:txBody>
          <a:bodyPr wrap="square" lIns="0" tIns="0" rIns="0" bIns="0" rtlCol="0" anchor="ctr"/>
          <a:lstStyle/>
          <a:p>
            <a:pPr indent="0" marL="0">
              <a:buNone/>
            </a:pPr>
            <a:r>
              <a:rPr lang="en-US" sz="1300" dirty="0">
                <a:solidFill>
                  <a:srgbClr val="4D4D4D"/>
                </a:solidFill>
              </a:rPr>
              <a:t>Consumers, caregivers and providers</a:t>
            </a:r>
            <a:endParaRPr lang="en-US" sz="1300" dirty="0"/>
          </a:p>
        </p:txBody>
      </p:sp>
      <p:sp>
        <p:nvSpPr>
          <p:cNvPr id="21" name="Text 19"/>
          <p:cNvSpPr txBox="1"/>
          <p:nvPr/>
        </p:nvSpPr>
        <p:spPr>
          <a:xfrm>
            <a:off x="7571232" y="4005072"/>
            <a:ext cx="4041648" cy="530352"/>
          </a:xfrm>
          <a:prstGeom prst="rect">
            <a:avLst/>
          </a:prstGeom>
          <a:noFill/>
          <a:ln/>
        </p:spPr>
        <p:txBody>
          <a:bodyPr wrap="square" lIns="0" tIns="0" rIns="0" bIns="0" rtlCol="0" anchor="ctr"/>
          <a:lstStyle/>
          <a:p>
            <a:pPr indent="0" marL="0">
              <a:buNone/>
            </a:pPr>
            <a:r>
              <a:rPr lang="en-US" sz="1300" dirty="0">
                <a:solidFill>
                  <a:srgbClr val="4D4D4D"/>
                </a:solidFill>
              </a:rPr>
              <a:t>One profile per person, matched to Health Cloud</a:t>
            </a:r>
            <a:endParaRPr lang="en-US" sz="1300" dirty="0"/>
          </a:p>
        </p:txBody>
      </p:sp>
      <p:sp>
        <p:nvSpPr>
          <p:cNvPr id="22" name="Shape 20"/>
          <p:cNvSpPr/>
          <p:nvPr/>
        </p:nvSpPr>
        <p:spPr>
          <a:xfrm>
            <a:off x="502920" y="4572000"/>
            <a:ext cx="11183112" cy="0"/>
          </a:xfrm>
          <a:prstGeom prst="line">
            <a:avLst/>
          </a:prstGeom>
          <a:noFill/>
          <a:ln w="9525">
            <a:solidFill>
              <a:srgbClr val="8C8C8C"/>
            </a:solidFill>
            <a:prstDash val="sysDot"/>
          </a:ln>
        </p:spPr>
      </p:sp>
      <p:sp>
        <p:nvSpPr>
          <p:cNvPr id="23" name="Text 21"/>
          <p:cNvSpPr txBox="1"/>
          <p:nvPr/>
        </p:nvSpPr>
        <p:spPr>
          <a:xfrm>
            <a:off x="576072" y="4645152"/>
            <a:ext cx="2093976" cy="530352"/>
          </a:xfrm>
          <a:prstGeom prst="rect">
            <a:avLst/>
          </a:prstGeom>
          <a:noFill/>
          <a:ln/>
        </p:spPr>
        <p:txBody>
          <a:bodyPr wrap="square" lIns="0" tIns="0" rIns="0" bIns="0" rtlCol="0" anchor="ctr"/>
          <a:lstStyle/>
          <a:p>
            <a:pPr indent="0" marL="0">
              <a:buNone/>
            </a:pPr>
            <a:r>
              <a:rPr lang="en-US" sz="1300" b="1" dirty="0">
                <a:solidFill>
                  <a:schemeClr val="tx1"/>
                </a:solidFill>
              </a:rPr>
              <a:t>Platform</a:t>
            </a:r>
            <a:endParaRPr lang="en-US" sz="1300" dirty="0"/>
          </a:p>
        </p:txBody>
      </p:sp>
      <p:sp>
        <p:nvSpPr>
          <p:cNvPr id="24" name="Text 22"/>
          <p:cNvSpPr txBox="1"/>
          <p:nvPr/>
        </p:nvSpPr>
        <p:spPr>
          <a:xfrm>
            <a:off x="2816352" y="4645152"/>
            <a:ext cx="4608576" cy="530352"/>
          </a:xfrm>
          <a:prstGeom prst="rect">
            <a:avLst/>
          </a:prstGeom>
          <a:noFill/>
          <a:ln/>
        </p:spPr>
        <p:txBody>
          <a:bodyPr wrap="square" lIns="0" tIns="0" rIns="0" bIns="0" rtlCol="0" anchor="ctr"/>
          <a:lstStyle/>
          <a:p>
            <a:pPr indent="0" marL="0">
              <a:buNone/>
            </a:pPr>
            <a:r>
              <a:rPr lang="en-US" sz="1300" dirty="0">
                <a:solidFill>
                  <a:srgbClr val="4D4D4D"/>
                </a:solidFill>
              </a:rPr>
              <a:t>Health Cloud and Marketing Cloud; Epic not needed</a:t>
            </a:r>
            <a:endParaRPr lang="en-US" sz="1300" dirty="0"/>
          </a:p>
        </p:txBody>
      </p:sp>
      <p:sp>
        <p:nvSpPr>
          <p:cNvPr id="25" name="Text 23"/>
          <p:cNvSpPr txBox="1"/>
          <p:nvPr/>
        </p:nvSpPr>
        <p:spPr>
          <a:xfrm>
            <a:off x="7571232" y="4645152"/>
            <a:ext cx="4041648" cy="530352"/>
          </a:xfrm>
          <a:prstGeom prst="rect">
            <a:avLst/>
          </a:prstGeom>
          <a:noFill/>
          <a:ln/>
        </p:spPr>
        <p:txBody>
          <a:bodyPr wrap="square" lIns="0" tIns="0" rIns="0" bIns="0" rtlCol="0" anchor="ctr"/>
          <a:lstStyle/>
          <a:p>
            <a:pPr indent="0" marL="0">
              <a:buNone/>
            </a:pPr>
            <a:r>
              <a:rPr lang="en-US" sz="1300" dirty="0">
                <a:solidFill>
                  <a:srgbClr val="4D4D4D"/>
                </a:solidFill>
              </a:rPr>
              <a:t>Built on what Memorial Hermann already owns</a:t>
            </a:r>
            <a:endParaRPr lang="en-US" sz="1300" dirty="0"/>
          </a:p>
        </p:txBody>
      </p:sp>
      <p:sp>
        <p:nvSpPr>
          <p:cNvPr id="26" name="Shape 24"/>
          <p:cNvSpPr/>
          <p:nvPr/>
        </p:nvSpPr>
        <p:spPr>
          <a:xfrm>
            <a:off x="502920" y="5212080"/>
            <a:ext cx="11183112" cy="0"/>
          </a:xfrm>
          <a:prstGeom prst="line">
            <a:avLst/>
          </a:prstGeom>
          <a:noFill/>
          <a:ln w="9525">
            <a:solidFill>
              <a:srgbClr val="8C8C8C"/>
            </a:solidFill>
            <a:prstDash val="sysDot"/>
          </a:ln>
        </p:spPr>
      </p:sp>
      <p:sp>
        <p:nvSpPr>
          <p:cNvPr id="27" name="Text 25"/>
          <p:cNvSpPr txBox="1"/>
          <p:nvPr/>
        </p:nvSpPr>
        <p:spPr>
          <a:xfrm>
            <a:off x="502920" y="5669280"/>
            <a:ext cx="11185855" cy="411480"/>
          </a:xfrm>
          <a:prstGeom prst="rect">
            <a:avLst/>
          </a:prstGeom>
          <a:noFill/>
          <a:ln/>
        </p:spPr>
        <p:txBody>
          <a:bodyPr wrap="square" lIns="0" tIns="0" rIns="0" bIns="0" rtlCol="0" anchor="t"/>
          <a:lstStyle/>
          <a:p>
            <a:pPr indent="0" marL="0">
              <a:buNone/>
            </a:pPr>
            <a:r>
              <a:rPr lang="en-US" sz="1500" b="1" dirty="0">
                <a:solidFill>
                  <a:schemeClr val="tx1"/>
                </a:solidFill>
              </a:rPr>
              <a:t>The ask: replace Certain and run classes and conferences on one Salesforce platform, without rebuilding what already works.</a:t>
            </a:r>
            <a:endParaRPr lang="en-US" sz="15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Build on what already works</a:t>
            </a:r>
            <a:endParaRPr lang="en-US" sz="3200" dirty="0"/>
          </a:p>
        </p:txBody>
      </p:sp>
      <p:sp>
        <p:nvSpPr>
          <p:cNvPr id="3" name="Text 1"/>
          <p:cNvSpPr txBox="1"/>
          <p:nvPr/>
        </p:nvSpPr>
        <p:spPr>
          <a:xfrm>
            <a:off x="502920" y="1298448"/>
            <a:ext cx="10972800" cy="292608"/>
          </a:xfrm>
          <a:prstGeom prst="rect">
            <a:avLst/>
          </a:prstGeom>
          <a:noFill/>
          <a:ln/>
        </p:spPr>
        <p:txBody>
          <a:bodyPr wrap="square" lIns="0" tIns="0" rIns="0" bIns="0" rtlCol="0" anchor="t"/>
          <a:lstStyle/>
          <a:p>
            <a:pPr indent="0" marL="0">
              <a:buNone/>
            </a:pPr>
            <a:r>
              <a:rPr lang="en-US" sz="1400" dirty="0">
                <a:solidFill>
                  <a:srgbClr val="4D4D4D"/>
                </a:solidFill>
              </a:rPr>
              <a:t>No rebuild of today’s class registration. Replace only Certain, then bring every event onto one platform.</a:t>
            </a:r>
            <a:endParaRPr lang="en-US" sz="1400" dirty="0"/>
          </a:p>
        </p:txBody>
      </p:sp>
      <p:sp>
        <p:nvSpPr>
          <p:cNvPr id="4" name="kir-KEEP"/>
          <p:cNvSpPr/>
          <p:nvPr/>
        </p:nvSpPr>
        <p:spPr>
          <a:xfrm>
            <a:off x="502920" y="1783080"/>
            <a:ext cx="2659304" cy="3794760"/>
          </a:xfrm>
          <a:prstGeom prst="roundRect">
            <a:avLst>
              <a:gd name="adj" fmla="val 4126"/>
            </a:avLst>
          </a:prstGeom>
          <a:solidFill>
            <a:srgbClr val="F2F2F2"/>
          </a:solidFill>
          <a:ln w="22225">
            <a:solidFill>
              <a:srgbClr val="00A9C0"/>
            </a:solidFill>
            <a:prstDash val="solid"/>
          </a:ln>
        </p:spPr>
      </p:sp>
      <p:sp>
        <p:nvSpPr>
          <p:cNvPr id="5" name="Text 3"/>
          <p:cNvSpPr txBox="1"/>
          <p:nvPr/>
        </p:nvSpPr>
        <p:spPr>
          <a:xfrm>
            <a:off x="704088" y="1984248"/>
            <a:ext cx="2256968" cy="292608"/>
          </a:xfrm>
          <a:prstGeom prst="rect">
            <a:avLst/>
          </a:prstGeom>
          <a:noFill/>
          <a:ln/>
        </p:spPr>
        <p:txBody>
          <a:bodyPr wrap="square" lIns="0" tIns="0" rIns="0" bIns="0" rtlCol="0" anchor="t"/>
          <a:lstStyle/>
          <a:p>
            <a:pPr indent="0" marL="0">
              <a:buNone/>
            </a:pPr>
            <a:r>
              <a:rPr lang="en-US" sz="1500" b="1" spc="300" kern="0" dirty="0">
                <a:solidFill>
                  <a:srgbClr val="007C8C"/>
                </a:solidFill>
              </a:rPr>
              <a:t>KEEP</a:t>
            </a:r>
            <a:endParaRPr lang="en-US" sz="1500" dirty="0"/>
          </a:p>
        </p:txBody>
      </p:sp>
      <p:sp>
        <p:nvSpPr>
          <p:cNvPr id="6" name="Text 4"/>
          <p:cNvSpPr txBox="1"/>
          <p:nvPr/>
        </p:nvSpPr>
        <p:spPr>
          <a:xfrm>
            <a:off x="704088" y="2468880"/>
            <a:ext cx="2293544"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Sitecore class listings</a:t>
            </a:r>
            <a:endParaRPr lang="en-US" sz="1300" dirty="0"/>
          </a:p>
          <a:p>
            <a:pPr marL="342900" indent="-342900">
              <a:spcAft>
                <a:spcPts val="600"/>
              </a:spcAft>
              <a:buSzPct val="100000"/>
              <a:buChar char="•"/>
            </a:pPr>
            <a:r>
              <a:rPr lang="en-US" sz="1300" dirty="0">
                <a:solidFill>
                  <a:schemeClr val="tx1"/>
                </a:solidFill>
              </a:rPr>
              <a:t>Experience Cloud registration site</a:t>
            </a:r>
            <a:endParaRPr lang="en-US" sz="1300" dirty="0"/>
          </a:p>
          <a:p>
            <a:pPr marL="342900" indent="-342900">
              <a:spcAft>
                <a:spcPts val="600"/>
              </a:spcAft>
              <a:buSzPct val="100000"/>
              <a:buChar char="•"/>
            </a:pPr>
            <a:r>
              <a:rPr lang="en-US" sz="1300" dirty="0">
                <a:solidFill>
                  <a:schemeClr val="tx1"/>
                </a:solidFill>
              </a:rPr>
              <a:t>Mobile app registration</a:t>
            </a:r>
            <a:endParaRPr lang="en-US" sz="1300" dirty="0"/>
          </a:p>
          <a:p>
            <a:pPr marL="342900" indent="-342900">
              <a:spcAft>
                <a:spcPts val="600"/>
              </a:spcAft>
              <a:buSzPct val="100000"/>
              <a:buChar char="•"/>
            </a:pPr>
            <a:r>
              <a:rPr lang="en-US" sz="1300" dirty="0">
                <a:solidFill>
                  <a:schemeClr val="tx1"/>
                </a:solidFill>
              </a:rPr>
              <a:t>Health Cloud and Marketing Cloud</a:t>
            </a:r>
            <a:endParaRPr lang="en-US" sz="1300" dirty="0"/>
          </a:p>
        </p:txBody>
      </p:sp>
      <p:sp>
        <p:nvSpPr>
          <p:cNvPr id="7" name="kir-IMPROVE"/>
          <p:cNvSpPr/>
          <p:nvPr/>
        </p:nvSpPr>
        <p:spPr>
          <a:xfrm>
            <a:off x="3345104" y="1783080"/>
            <a:ext cx="2659304" cy="3794760"/>
          </a:xfrm>
          <a:prstGeom prst="roundRect">
            <a:avLst>
              <a:gd name="adj" fmla="val 4126"/>
            </a:avLst>
          </a:prstGeom>
          <a:solidFill>
            <a:srgbClr val="F2F2F2"/>
          </a:solidFill>
          <a:ln w="22225">
            <a:solidFill>
              <a:srgbClr val="D9B200"/>
            </a:solidFill>
            <a:prstDash val="solid"/>
          </a:ln>
        </p:spPr>
      </p:sp>
      <p:sp>
        <p:nvSpPr>
          <p:cNvPr id="8" name="Text 6"/>
          <p:cNvSpPr txBox="1"/>
          <p:nvPr/>
        </p:nvSpPr>
        <p:spPr>
          <a:xfrm>
            <a:off x="3546272" y="1984248"/>
            <a:ext cx="2256968" cy="292608"/>
          </a:xfrm>
          <a:prstGeom prst="rect">
            <a:avLst/>
          </a:prstGeom>
          <a:noFill/>
          <a:ln/>
        </p:spPr>
        <p:txBody>
          <a:bodyPr wrap="square" lIns="0" tIns="0" rIns="0" bIns="0" rtlCol="0" anchor="t"/>
          <a:lstStyle/>
          <a:p>
            <a:pPr indent="0" marL="0">
              <a:buNone/>
            </a:pPr>
            <a:r>
              <a:rPr lang="en-US" sz="1500" b="1" spc="300" kern="0" dirty="0">
                <a:solidFill>
                  <a:srgbClr val="7A6100"/>
                </a:solidFill>
              </a:rPr>
              <a:t>IMPROVE</a:t>
            </a:r>
            <a:endParaRPr lang="en-US" sz="1500" dirty="0"/>
          </a:p>
        </p:txBody>
      </p:sp>
      <p:sp>
        <p:nvSpPr>
          <p:cNvPr id="9" name="Text 7"/>
          <p:cNvSpPr txBox="1"/>
          <p:nvPr/>
        </p:nvSpPr>
        <p:spPr>
          <a:xfrm>
            <a:off x="3546272" y="2468880"/>
            <a:ext cx="2293544"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Instant confirmation (today up to 24 hours)</a:t>
            </a:r>
            <a:endParaRPr lang="en-US" sz="1300" dirty="0"/>
          </a:p>
          <a:p>
            <a:pPr marL="342900" indent="-342900">
              <a:spcAft>
                <a:spcPts val="600"/>
              </a:spcAft>
              <a:buSzPct val="100000"/>
              <a:buChar char="•"/>
            </a:pPr>
            <a:r>
              <a:rPr lang="en-US" sz="1300" dirty="0">
                <a:solidFill>
                  <a:schemeClr val="tx1"/>
                </a:solidFill>
              </a:rPr>
              <a:t>Safe payment retries</a:t>
            </a:r>
            <a:endParaRPr lang="en-US" sz="1300" dirty="0"/>
          </a:p>
          <a:p>
            <a:pPr marL="342900" indent="-342900">
              <a:spcAft>
                <a:spcPts val="600"/>
              </a:spcAft>
              <a:buSzPct val="100000"/>
              <a:buChar char="•"/>
            </a:pPr>
            <a:r>
              <a:rPr lang="en-US" sz="1300" dirty="0">
                <a:solidFill>
                  <a:schemeClr val="tx1"/>
                </a:solidFill>
              </a:rPr>
              <a:t>Live seats and waitlists</a:t>
            </a:r>
            <a:endParaRPr lang="en-US" sz="1300" dirty="0"/>
          </a:p>
          <a:p>
            <a:pPr marL="342900" indent="-342900">
              <a:spcAft>
                <a:spcPts val="600"/>
              </a:spcAft>
              <a:buSzPct val="100000"/>
              <a:buChar char="•"/>
            </a:pPr>
            <a:r>
              <a:rPr lang="en-US" sz="1300" dirty="0">
                <a:solidFill>
                  <a:schemeClr val="tx1"/>
                </a:solidFill>
              </a:rPr>
              <a:t>Check-in and reporting</a:t>
            </a:r>
            <a:endParaRPr lang="en-US" sz="1300" dirty="0"/>
          </a:p>
          <a:p>
            <a:pPr marL="342900" indent="-342900">
              <a:spcAft>
                <a:spcPts val="600"/>
              </a:spcAft>
              <a:buSzPct val="100000"/>
              <a:buChar char="•"/>
            </a:pPr>
            <a:r>
              <a:rPr lang="en-US" sz="1300" dirty="0">
                <a:solidFill>
                  <a:schemeClr val="tx1"/>
                </a:solidFill>
              </a:rPr>
              <a:t>One shared event model</a:t>
            </a:r>
            <a:endParaRPr lang="en-US" sz="1300" dirty="0"/>
          </a:p>
        </p:txBody>
      </p:sp>
      <p:sp>
        <p:nvSpPr>
          <p:cNvPr id="10" name="kir-REPLACE"/>
          <p:cNvSpPr/>
          <p:nvPr/>
        </p:nvSpPr>
        <p:spPr>
          <a:xfrm>
            <a:off x="6187288" y="1783080"/>
            <a:ext cx="2659304" cy="3794760"/>
          </a:xfrm>
          <a:prstGeom prst="roundRect">
            <a:avLst>
              <a:gd name="adj" fmla="val 4126"/>
            </a:avLst>
          </a:prstGeom>
          <a:solidFill>
            <a:srgbClr val="000000"/>
          </a:solidFill>
          <a:ln w="22225">
            <a:solidFill>
              <a:srgbClr val="FF0068"/>
            </a:solidFill>
            <a:prstDash val="solid"/>
          </a:ln>
        </p:spPr>
      </p:sp>
      <p:sp>
        <p:nvSpPr>
          <p:cNvPr id="11" name="Text 9"/>
          <p:cNvSpPr txBox="1"/>
          <p:nvPr/>
        </p:nvSpPr>
        <p:spPr>
          <a:xfrm>
            <a:off x="6388456" y="1984248"/>
            <a:ext cx="2256968" cy="292608"/>
          </a:xfrm>
          <a:prstGeom prst="rect">
            <a:avLst/>
          </a:prstGeom>
          <a:noFill/>
          <a:ln/>
        </p:spPr>
        <p:txBody>
          <a:bodyPr wrap="square" lIns="0" tIns="0" rIns="0" bIns="0" rtlCol="0" anchor="t"/>
          <a:lstStyle/>
          <a:p>
            <a:pPr indent="0" marL="0">
              <a:buNone/>
            </a:pPr>
            <a:r>
              <a:rPr lang="en-US" sz="1500" b="1" spc="300" kern="0" dirty="0">
                <a:solidFill>
                  <a:srgbClr val="FF0068"/>
                </a:solidFill>
              </a:rPr>
              <a:t>REPLACE</a:t>
            </a:r>
            <a:endParaRPr lang="en-US" sz="1500" dirty="0"/>
          </a:p>
        </p:txBody>
      </p:sp>
      <p:sp>
        <p:nvSpPr>
          <p:cNvPr id="12" name="Text 10"/>
          <p:cNvSpPr txBox="1"/>
          <p:nvPr/>
        </p:nvSpPr>
        <p:spPr>
          <a:xfrm>
            <a:off x="6388456" y="2468880"/>
            <a:ext cx="2293544"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rPr>
              <a:t>Certain, with Salesforce conference and session management</a:t>
            </a:r>
            <a:endParaRPr lang="en-US" sz="1300" dirty="0"/>
          </a:p>
          <a:p>
            <a:pPr marL="342900" indent="-342900">
              <a:spcAft>
                <a:spcPts val="600"/>
              </a:spcAft>
              <a:buSzPct val="100000"/>
              <a:buChar char="•"/>
            </a:pPr>
            <a:r>
              <a:rPr lang="en-US" sz="1300" dirty="0">
                <a:solidFill>
                  <a:srgbClr val="FFFFFF"/>
                </a:solidFill>
              </a:rPr>
              <a:t>My Agenda portal on Experience Cloud</a:t>
            </a:r>
            <a:endParaRPr lang="en-US" sz="1300" dirty="0"/>
          </a:p>
          <a:p>
            <a:pPr marL="342900" indent="-342900">
              <a:spcAft>
                <a:spcPts val="600"/>
              </a:spcAft>
              <a:buSzPct val="100000"/>
              <a:buChar char="•"/>
            </a:pPr>
            <a:r>
              <a:rPr lang="en-US" sz="1300" dirty="0">
                <a:solidFill>
                  <a:srgbClr val="FFFFFF"/>
                </a:solidFill>
              </a:rPr>
              <a:t>Authorize.net checkout inside the platform</a:t>
            </a:r>
            <a:endParaRPr lang="en-US" sz="1300" dirty="0"/>
          </a:p>
          <a:p>
            <a:pPr marL="342900" indent="-342900">
              <a:spcAft>
                <a:spcPts val="600"/>
              </a:spcAft>
              <a:buSzPct val="100000"/>
              <a:buChar char="•"/>
            </a:pPr>
            <a:r>
              <a:rPr lang="en-US" sz="1300" dirty="0">
                <a:solidFill>
                  <a:srgbClr val="FFFFFF"/>
                </a:solidFill>
              </a:rPr>
              <a:t>Certain data migrated</a:t>
            </a:r>
            <a:endParaRPr lang="en-US" sz="1300" dirty="0"/>
          </a:p>
        </p:txBody>
      </p:sp>
      <p:sp>
        <p:nvSpPr>
          <p:cNvPr id="13" name="kir-ADD LATER"/>
          <p:cNvSpPr/>
          <p:nvPr/>
        </p:nvSpPr>
        <p:spPr>
          <a:xfrm>
            <a:off x="9029471" y="1783080"/>
            <a:ext cx="2659304" cy="3794760"/>
          </a:xfrm>
          <a:prstGeom prst="roundRect">
            <a:avLst>
              <a:gd name="adj" fmla="val 4126"/>
            </a:avLst>
          </a:prstGeom>
          <a:solidFill>
            <a:srgbClr val="F2F2F2"/>
          </a:solidFill>
          <a:ln w="22225">
            <a:solidFill>
              <a:srgbClr val="8C8C96"/>
            </a:solidFill>
            <a:prstDash val="solid"/>
          </a:ln>
        </p:spPr>
      </p:sp>
      <p:sp>
        <p:nvSpPr>
          <p:cNvPr id="14" name="Text 12"/>
          <p:cNvSpPr txBox="1"/>
          <p:nvPr/>
        </p:nvSpPr>
        <p:spPr>
          <a:xfrm>
            <a:off x="9230639" y="1984248"/>
            <a:ext cx="2256968" cy="292608"/>
          </a:xfrm>
          <a:prstGeom prst="rect">
            <a:avLst/>
          </a:prstGeom>
          <a:noFill/>
          <a:ln/>
        </p:spPr>
        <p:txBody>
          <a:bodyPr wrap="square" lIns="0" tIns="0" rIns="0" bIns="0" rtlCol="0" anchor="t"/>
          <a:lstStyle/>
          <a:p>
            <a:pPr indent="0" marL="0">
              <a:buNone/>
            </a:pPr>
            <a:r>
              <a:rPr lang="en-US" sz="1500" b="1" spc="300" kern="0" dirty="0">
                <a:solidFill>
                  <a:srgbClr val="4D4D4D"/>
                </a:solidFill>
              </a:rPr>
              <a:t>ADD LATER</a:t>
            </a:r>
            <a:endParaRPr lang="en-US" sz="1500" dirty="0"/>
          </a:p>
        </p:txBody>
      </p:sp>
      <p:sp>
        <p:nvSpPr>
          <p:cNvPr id="15" name="Text 13"/>
          <p:cNvSpPr txBox="1"/>
          <p:nvPr/>
        </p:nvSpPr>
        <p:spPr>
          <a:xfrm>
            <a:off x="9230639" y="2468880"/>
            <a:ext cx="2293544"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Patient engagement initiatives (PEIs)</a:t>
            </a:r>
            <a:endParaRPr lang="en-US" sz="1300" dirty="0"/>
          </a:p>
          <a:p>
            <a:pPr marL="342900" indent="-342900">
              <a:spcAft>
                <a:spcPts val="600"/>
              </a:spcAft>
              <a:buSzPct val="100000"/>
              <a:buChar char="•"/>
            </a:pPr>
            <a:r>
              <a:rPr lang="en-US" sz="1300" dirty="0">
                <a:solidFill>
                  <a:schemeClr val="tx1"/>
                </a:solidFill>
              </a:rPr>
              <a:t>App adoption campaigns</a:t>
            </a:r>
            <a:endParaRPr lang="en-US" sz="1300" dirty="0"/>
          </a:p>
          <a:p>
            <a:pPr marL="342900" indent="-342900">
              <a:spcAft>
                <a:spcPts val="600"/>
              </a:spcAft>
              <a:buSzPct val="100000"/>
              <a:buChar char="•"/>
            </a:pPr>
            <a:r>
              <a:rPr lang="en-US" sz="1300" dirty="0">
                <a:solidFill>
                  <a:schemeClr val="tx1"/>
                </a:solidFill>
              </a:rPr>
              <a:t>AI agents in a controlled harness</a:t>
            </a:r>
            <a:endParaRPr lang="en-US" sz="1300" dirty="0"/>
          </a:p>
        </p:txBody>
      </p:sp>
      <p:sp>
        <p:nvSpPr>
          <p:cNvPr id="16" name="Text 14"/>
          <p:cNvSpPr txBox="1"/>
          <p:nvPr/>
        </p:nvSpPr>
        <p:spPr>
          <a:xfrm>
            <a:off x="502920" y="5760720"/>
            <a:ext cx="11185855" cy="365760"/>
          </a:xfrm>
          <a:prstGeom prst="rect">
            <a:avLst/>
          </a:prstGeom>
          <a:noFill/>
          <a:ln/>
        </p:spPr>
        <p:txBody>
          <a:bodyPr wrap="square" lIns="0" tIns="0" rIns="0" bIns="0" rtlCol="0" anchor="t"/>
          <a:lstStyle/>
          <a:p>
            <a:pPr indent="0" marL="0">
              <a:buNone/>
            </a:pPr>
            <a:r>
              <a:rPr lang="en-US" sz="1300" i="1" dirty="0">
                <a:solidFill>
                  <a:srgbClr val="4D4D4D"/>
                </a:solidFill>
              </a:rPr>
              <a:t>Lowest-risk path: what works stays, the one tool you want gone goes, and every event ends up on the same data, payments and reporting.</a:t>
            </a:r>
            <a:endParaRPr lang="en-US" sz="13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lIns="0" tIns="0" rIns="0" bIns="0" rtlCol="0" anchor="ctr"/>
          <a:lstStyle/>
          <a:p>
            <a:pPr algn="ctr" indent="0" marL="0">
              <a:buNone/>
            </a:pPr>
            <a:r>
              <a:rPr lang="en-US" sz="4400" spc="600" kern="0" dirty="0">
                <a:solidFill>
                  <a:schemeClr val="bg1"/>
                </a:solidFill>
                <a:latin typeface="Trenda IG Text Light" pitchFamily="34" charset="0"/>
                <a:ea typeface="Trenda IG Text Light" pitchFamily="34" charset="-122"/>
                <a:cs typeface="Trenda IG Text Light" pitchFamily="34" charset="-120"/>
              </a:rPr>
              <a:t>01  THE SOLUTION</a:t>
            </a: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lIns="0" tIns="0" rIns="0" bIns="0" rtlCol="0"/>
          <a:lstStyle/>
          <a:p>
            <a:pPr algn="ctr" indent="0" marL="0">
              <a:buNone/>
            </a:pPr>
            <a:r>
              <a:rPr lang="en-US" sz="1800" dirty="0">
                <a:solidFill>
                  <a:schemeClr val="bg1"/>
                </a:solidFill>
              </a:rPr>
              <a:t>Conferences first, then classes on the same Salesforce platform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One event platform inside your Salesforce org</a:t>
            </a:r>
            <a:endParaRPr lang="en-US" sz="3200" dirty="0"/>
          </a:p>
        </p:txBody>
      </p:sp>
      <p:sp>
        <p:nvSpPr>
          <p:cNvPr id="3" name="circle-1"/>
          <p:cNvSpPr/>
          <p:nvPr/>
        </p:nvSpPr>
        <p:spPr>
          <a:xfrm>
            <a:off x="502920" y="1691640"/>
            <a:ext cx="420624" cy="420624"/>
          </a:xfrm>
          <a:prstGeom prst="ellipse">
            <a:avLst/>
          </a:prstGeom>
          <a:ln w="15875">
            <a:solidFill>
              <a:schemeClr val="bg1"/>
            </a:solidFill>
            <a:prstDash val="solid"/>
          </a:ln>
        </p:spPr>
      </p:sp>
      <p:sp>
        <p:nvSpPr>
          <p:cNvPr id="4" name="Text 2"/>
          <p:cNvSpPr txBox="1"/>
          <p:nvPr/>
        </p:nvSpPr>
        <p:spPr>
          <a:xfrm>
            <a:off x="502920" y="16916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1</a:t>
            </a:r>
            <a:endParaRPr lang="en-US" sz="1400" dirty="0"/>
          </a:p>
        </p:txBody>
      </p:sp>
      <p:sp>
        <p:nvSpPr>
          <p:cNvPr id="5" name="Text 3"/>
          <p:cNvSpPr txBox="1"/>
          <p:nvPr/>
        </p:nvSpPr>
        <p:spPr>
          <a:xfrm>
            <a:off x="502920" y="2286000"/>
            <a:ext cx="3291840" cy="411480"/>
          </a:xfrm>
          <a:prstGeom prst="rect">
            <a:avLst/>
          </a:prstGeom>
          <a:noFill/>
          <a:ln/>
        </p:spPr>
        <p:txBody>
          <a:bodyPr wrap="square" lIns="0" tIns="0" rIns="0" bIns="0" rtlCol="0" anchor="t"/>
          <a:lstStyle/>
          <a:p>
            <a:pPr indent="0" marL="0">
              <a:buNone/>
            </a:pPr>
            <a:r>
              <a:rPr lang="en-US" sz="2400" b="1" dirty="0">
                <a:solidFill>
                  <a:schemeClr val="bg1"/>
                </a:solidFill>
              </a:rPr>
              <a:t>Register</a:t>
            </a:r>
            <a:endParaRPr lang="en-US" sz="2400" dirty="0"/>
          </a:p>
        </p:txBody>
      </p:sp>
      <p:sp>
        <p:nvSpPr>
          <p:cNvPr id="6" name="Text 4"/>
          <p:cNvSpPr txBox="1"/>
          <p:nvPr/>
        </p:nvSpPr>
        <p:spPr>
          <a:xfrm>
            <a:off x="502920" y="2724912"/>
            <a:ext cx="3291840" cy="320040"/>
          </a:xfrm>
          <a:prstGeom prst="rect">
            <a:avLst/>
          </a:prstGeom>
          <a:noFill/>
          <a:ln/>
        </p:spPr>
        <p:txBody>
          <a:bodyPr wrap="square" lIns="0" tIns="0" rIns="0" bIns="0" rtlCol="0" anchor="t"/>
          <a:lstStyle/>
          <a:p>
            <a:pPr indent="0" marL="0">
              <a:buNone/>
            </a:pPr>
            <a:r>
              <a:rPr lang="en-US" sz="1500" dirty="0">
                <a:solidFill>
                  <a:schemeClr val="accent1"/>
                </a:solidFill>
              </a:rPr>
              <a:t>Your existing front doors</a:t>
            </a:r>
            <a:endParaRPr lang="en-US" sz="1500" dirty="0"/>
          </a:p>
        </p:txBody>
      </p:sp>
      <p:sp>
        <p:nvSpPr>
          <p:cNvPr id="7" name="Text 5"/>
          <p:cNvSpPr txBox="1"/>
          <p:nvPr/>
        </p:nvSpPr>
        <p:spPr>
          <a:xfrm>
            <a:off x="50292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FBFBF"/>
                </a:solidFill>
              </a:rPr>
              <a:t>Sitecore listings and today’s Experience Cloud site</a:t>
            </a:r>
            <a:endParaRPr lang="en-US" sz="1400" dirty="0"/>
          </a:p>
          <a:p>
            <a:pPr marL="342900" indent="-342900">
              <a:spcAft>
                <a:spcPts val="600"/>
              </a:spcAft>
              <a:buSzPct val="100000"/>
              <a:buChar char="•"/>
            </a:pPr>
            <a:r>
              <a:rPr lang="en-US" sz="1400" dirty="0">
                <a:solidFill>
                  <a:srgbClr val="BFBFBF"/>
                </a:solidFill>
              </a:rPr>
              <a:t>Existing mobile app</a:t>
            </a:r>
            <a:endParaRPr lang="en-US" sz="1400" dirty="0"/>
          </a:p>
          <a:p>
            <a:pPr marL="342900" indent="-342900">
              <a:spcAft>
                <a:spcPts val="600"/>
              </a:spcAft>
              <a:buSzPct val="100000"/>
              <a:buChar char="•"/>
            </a:pPr>
            <a:r>
              <a:rPr lang="en-US" sz="1400" dirty="0">
                <a:solidFill>
                  <a:srgbClr val="BFBFBF"/>
                </a:solidFill>
              </a:rPr>
              <a:t>“My Agenda” portal for conferences</a:t>
            </a:r>
            <a:endParaRPr lang="en-US" sz="1400" dirty="0"/>
          </a:p>
        </p:txBody>
      </p:sp>
      <p:sp>
        <p:nvSpPr>
          <p:cNvPr id="8" name="Shape 6"/>
          <p:cNvSpPr/>
          <p:nvPr/>
        </p:nvSpPr>
        <p:spPr>
          <a:xfrm>
            <a:off x="3813048" y="1901952"/>
            <a:ext cx="411480" cy="0"/>
          </a:xfrm>
          <a:prstGeom prst="line">
            <a:avLst/>
          </a:prstGeom>
          <a:noFill/>
          <a:ln w="15875">
            <a:solidFill>
              <a:schemeClr val="bg1"/>
            </a:solidFill>
            <a:prstDash val="solid"/>
            <a:tailEnd type="triangle"/>
          </a:ln>
        </p:spPr>
      </p:sp>
      <p:sp>
        <p:nvSpPr>
          <p:cNvPr id="9" name="circle-2"/>
          <p:cNvSpPr/>
          <p:nvPr/>
        </p:nvSpPr>
        <p:spPr>
          <a:xfrm>
            <a:off x="4343400" y="1691640"/>
            <a:ext cx="420624" cy="420624"/>
          </a:xfrm>
          <a:prstGeom prst="ellipse">
            <a:avLst/>
          </a:prstGeom>
          <a:ln w="15875">
            <a:solidFill>
              <a:schemeClr val="bg1"/>
            </a:solidFill>
            <a:prstDash val="solid"/>
          </a:ln>
        </p:spPr>
      </p:sp>
      <p:sp>
        <p:nvSpPr>
          <p:cNvPr id="10" name="Text 8"/>
          <p:cNvSpPr txBox="1"/>
          <p:nvPr/>
        </p:nvSpPr>
        <p:spPr>
          <a:xfrm>
            <a:off x="4343400" y="16916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2</a:t>
            </a:r>
            <a:endParaRPr lang="en-US" sz="1400" dirty="0"/>
          </a:p>
        </p:txBody>
      </p:sp>
      <p:sp>
        <p:nvSpPr>
          <p:cNvPr id="11" name="Text 9"/>
          <p:cNvSpPr txBox="1"/>
          <p:nvPr/>
        </p:nvSpPr>
        <p:spPr>
          <a:xfrm>
            <a:off x="4343400" y="2286000"/>
            <a:ext cx="3291840" cy="411480"/>
          </a:xfrm>
          <a:prstGeom prst="rect">
            <a:avLst/>
          </a:prstGeom>
          <a:noFill/>
          <a:ln/>
        </p:spPr>
        <p:txBody>
          <a:bodyPr wrap="square" lIns="0" tIns="0" rIns="0" bIns="0" rtlCol="0" anchor="t"/>
          <a:lstStyle/>
          <a:p>
            <a:pPr indent="0" marL="0">
              <a:buNone/>
            </a:pPr>
            <a:r>
              <a:rPr lang="en-US" sz="2400" b="1" dirty="0">
                <a:solidFill>
                  <a:schemeClr val="bg1"/>
                </a:solidFill>
              </a:rPr>
              <a:t>Manage</a:t>
            </a:r>
            <a:endParaRPr lang="en-US" sz="2400" dirty="0"/>
          </a:p>
        </p:txBody>
      </p:sp>
      <p:sp>
        <p:nvSpPr>
          <p:cNvPr id="12" name="Text 10"/>
          <p:cNvSpPr txBox="1"/>
          <p:nvPr/>
        </p:nvSpPr>
        <p:spPr>
          <a:xfrm>
            <a:off x="4343400" y="2724912"/>
            <a:ext cx="3291840" cy="320040"/>
          </a:xfrm>
          <a:prstGeom prst="rect">
            <a:avLst/>
          </a:prstGeom>
          <a:noFill/>
          <a:ln/>
        </p:spPr>
        <p:txBody>
          <a:bodyPr wrap="square" lIns="0" tIns="0" rIns="0" bIns="0" rtlCol="0" anchor="t"/>
          <a:lstStyle/>
          <a:p>
            <a:pPr indent="0" marL="0">
              <a:buNone/>
            </a:pPr>
            <a:r>
              <a:rPr lang="en-US" sz="1500" dirty="0">
                <a:solidFill>
                  <a:schemeClr val="accent2"/>
                </a:solidFill>
              </a:rPr>
              <a:t>Event app in Salesforce</a:t>
            </a:r>
            <a:endParaRPr lang="en-US" sz="1500" dirty="0"/>
          </a:p>
        </p:txBody>
      </p:sp>
      <p:sp>
        <p:nvSpPr>
          <p:cNvPr id="13" name="Text 11"/>
          <p:cNvSpPr txBox="1"/>
          <p:nvPr/>
        </p:nvSpPr>
        <p:spPr>
          <a:xfrm>
            <a:off x="434340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FBFBF"/>
                </a:solidFill>
              </a:rPr>
              <a:t>Classes, series, sessions, speakers</a:t>
            </a:r>
            <a:endParaRPr lang="en-US" sz="1400" dirty="0"/>
          </a:p>
          <a:p>
            <a:pPr marL="342900" indent="-342900">
              <a:spcAft>
                <a:spcPts val="600"/>
              </a:spcAft>
              <a:buSzPct val="100000"/>
              <a:buChar char="•"/>
            </a:pPr>
            <a:r>
              <a:rPr lang="en-US" sz="1400" dirty="0">
                <a:solidFill>
                  <a:srgbClr val="BFBFBF"/>
                </a:solidFill>
              </a:rPr>
              <a:t>Capacity, waitlists, refunds</a:t>
            </a:r>
            <a:endParaRPr lang="en-US" sz="1400" dirty="0"/>
          </a:p>
          <a:p>
            <a:pPr marL="342900" indent="-342900">
              <a:spcAft>
                <a:spcPts val="600"/>
              </a:spcAft>
              <a:buSzPct val="100000"/>
              <a:buChar char="•"/>
            </a:pPr>
            <a:r>
              <a:rPr lang="en-US" sz="1400" dirty="0">
                <a:solidFill>
                  <a:srgbClr val="BFBFBF"/>
                </a:solidFill>
              </a:rPr>
              <a:t>QR check-in and reporting</a:t>
            </a:r>
            <a:endParaRPr lang="en-US" sz="1400" dirty="0"/>
          </a:p>
          <a:p>
            <a:pPr marL="342900" indent="-342900">
              <a:spcAft>
                <a:spcPts val="600"/>
              </a:spcAft>
              <a:buSzPct val="100000"/>
              <a:buChar char="•"/>
            </a:pPr>
            <a:r>
              <a:rPr lang="en-US" sz="1400" dirty="0">
                <a:solidFill>
                  <a:srgbClr val="BFBFBF"/>
                </a:solidFill>
              </a:rPr>
              <a:t>Registrants matched to Health Cloud</a:t>
            </a:r>
            <a:endParaRPr lang="en-US" sz="1400" dirty="0"/>
          </a:p>
        </p:txBody>
      </p:sp>
      <p:sp>
        <p:nvSpPr>
          <p:cNvPr id="14" name="Shape 12"/>
          <p:cNvSpPr/>
          <p:nvPr/>
        </p:nvSpPr>
        <p:spPr>
          <a:xfrm>
            <a:off x="7653528" y="1901952"/>
            <a:ext cx="411480" cy="0"/>
          </a:xfrm>
          <a:prstGeom prst="line">
            <a:avLst/>
          </a:prstGeom>
          <a:noFill/>
          <a:ln w="15875">
            <a:solidFill>
              <a:schemeClr val="bg1"/>
            </a:solidFill>
            <a:prstDash val="solid"/>
            <a:tailEnd type="triangle"/>
          </a:ln>
        </p:spPr>
      </p:sp>
      <p:sp>
        <p:nvSpPr>
          <p:cNvPr id="15" name="circle-3"/>
          <p:cNvSpPr/>
          <p:nvPr/>
        </p:nvSpPr>
        <p:spPr>
          <a:xfrm>
            <a:off x="8183880" y="1691640"/>
            <a:ext cx="420624" cy="420624"/>
          </a:xfrm>
          <a:prstGeom prst="ellipse">
            <a:avLst/>
          </a:prstGeom>
          <a:ln w="15875">
            <a:solidFill>
              <a:schemeClr val="bg1"/>
            </a:solidFill>
            <a:prstDash val="solid"/>
          </a:ln>
        </p:spPr>
      </p:sp>
      <p:sp>
        <p:nvSpPr>
          <p:cNvPr id="16" name="Text 14"/>
          <p:cNvSpPr txBox="1"/>
          <p:nvPr/>
        </p:nvSpPr>
        <p:spPr>
          <a:xfrm>
            <a:off x="8183880" y="16916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3</a:t>
            </a:r>
            <a:endParaRPr lang="en-US" sz="1400" dirty="0"/>
          </a:p>
        </p:txBody>
      </p:sp>
      <p:sp>
        <p:nvSpPr>
          <p:cNvPr id="17" name="Text 15"/>
          <p:cNvSpPr txBox="1"/>
          <p:nvPr/>
        </p:nvSpPr>
        <p:spPr>
          <a:xfrm>
            <a:off x="8183880" y="2286000"/>
            <a:ext cx="3291840" cy="411480"/>
          </a:xfrm>
          <a:prstGeom prst="rect">
            <a:avLst/>
          </a:prstGeom>
          <a:noFill/>
          <a:ln/>
        </p:spPr>
        <p:txBody>
          <a:bodyPr wrap="square" lIns="0" tIns="0" rIns="0" bIns="0" rtlCol="0" anchor="t"/>
          <a:lstStyle/>
          <a:p>
            <a:pPr indent="0" marL="0">
              <a:buNone/>
            </a:pPr>
            <a:r>
              <a:rPr lang="en-US" sz="2400" b="1" dirty="0">
                <a:solidFill>
                  <a:schemeClr val="bg1"/>
                </a:solidFill>
              </a:rPr>
              <a:t>Engage</a:t>
            </a:r>
            <a:endParaRPr lang="en-US" sz="2400" dirty="0"/>
          </a:p>
        </p:txBody>
      </p:sp>
      <p:sp>
        <p:nvSpPr>
          <p:cNvPr id="18" name="Text 16"/>
          <p:cNvSpPr txBox="1"/>
          <p:nvPr/>
        </p:nvSpPr>
        <p:spPr>
          <a:xfrm>
            <a:off x="8183880" y="2724912"/>
            <a:ext cx="3291840" cy="320040"/>
          </a:xfrm>
          <a:prstGeom prst="rect">
            <a:avLst/>
          </a:prstGeom>
          <a:noFill/>
          <a:ln/>
        </p:spPr>
        <p:txBody>
          <a:bodyPr wrap="square" lIns="0" tIns="0" rIns="0" bIns="0" rtlCol="0" anchor="t"/>
          <a:lstStyle/>
          <a:p>
            <a:pPr indent="0" marL="0">
              <a:buNone/>
            </a:pPr>
            <a:r>
              <a:rPr lang="en-US" sz="1500" dirty="0">
                <a:solidFill>
                  <a:schemeClr val="accent3"/>
                </a:solidFill>
              </a:rPr>
              <a:t>Marketing Cloud journeys</a:t>
            </a:r>
            <a:endParaRPr lang="en-US" sz="1500" dirty="0"/>
          </a:p>
        </p:txBody>
      </p:sp>
      <p:sp>
        <p:nvSpPr>
          <p:cNvPr id="19" name="Text 17"/>
          <p:cNvSpPr txBox="1"/>
          <p:nvPr/>
        </p:nvSpPr>
        <p:spPr>
          <a:xfrm>
            <a:off x="818388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FBFBF"/>
                </a:solidFill>
              </a:rPr>
              <a:t>Confirmations and reminders</a:t>
            </a:r>
            <a:endParaRPr lang="en-US" sz="1400" dirty="0"/>
          </a:p>
          <a:p>
            <a:pPr marL="342900" indent="-342900">
              <a:spcAft>
                <a:spcPts val="600"/>
              </a:spcAft>
              <a:buSzPct val="100000"/>
              <a:buChar char="•"/>
            </a:pPr>
            <a:r>
              <a:rPr lang="en-US" sz="1400" dirty="0">
                <a:solidFill>
                  <a:srgbClr val="BFBFBF"/>
                </a:solidFill>
              </a:rPr>
              <a:t>Calendar invites and virtual links</a:t>
            </a:r>
            <a:endParaRPr lang="en-US" sz="1400" dirty="0"/>
          </a:p>
          <a:p>
            <a:pPr marL="342900" indent="-342900">
              <a:spcAft>
                <a:spcPts val="600"/>
              </a:spcAft>
              <a:buSzPct val="100000"/>
              <a:buChar char="•"/>
            </a:pPr>
            <a:r>
              <a:rPr lang="en-US" sz="1400" dirty="0">
                <a:solidFill>
                  <a:srgbClr val="BFBFBF"/>
                </a:solidFill>
              </a:rPr>
              <a:t>Patient engagement initiatives (PEIs)</a:t>
            </a:r>
            <a:endParaRPr lang="en-US" sz="1400" dirty="0"/>
          </a:p>
        </p:txBody>
      </p:sp>
      <p:sp>
        <p:nvSpPr>
          <p:cNvPr id="20" name="Text 18"/>
          <p:cNvSpPr txBox="1"/>
          <p:nvPr/>
        </p:nvSpPr>
        <p:spPr>
          <a:xfrm>
            <a:off x="502920" y="5138928"/>
            <a:ext cx="1828800" cy="274320"/>
          </a:xfrm>
          <a:prstGeom prst="rect">
            <a:avLst/>
          </a:prstGeom>
          <a:noFill/>
          <a:ln/>
        </p:spPr>
        <p:txBody>
          <a:bodyPr wrap="square" lIns="0" tIns="0" rIns="0" bIns="0" rtlCol="0" anchor="t"/>
          <a:lstStyle/>
          <a:p>
            <a:pPr indent="0" marL="0">
              <a:buNone/>
            </a:pPr>
            <a:r>
              <a:rPr lang="en-US" sz="1000" b="1" spc="300" kern="0" dirty="0">
                <a:solidFill>
                  <a:schemeClr val="bg1"/>
                </a:solidFill>
              </a:rPr>
              <a:t>CONNECTS TO</a:t>
            </a:r>
            <a:endParaRPr lang="en-US" sz="1000" dirty="0"/>
          </a:p>
        </p:txBody>
      </p:sp>
      <p:sp>
        <p:nvSpPr>
          <p:cNvPr id="21" name="Shape 19"/>
          <p:cNvSpPr/>
          <p:nvPr/>
        </p:nvSpPr>
        <p:spPr>
          <a:xfrm>
            <a:off x="502920" y="5486400"/>
            <a:ext cx="1691640" cy="384048"/>
          </a:xfrm>
          <a:prstGeom prst="roundRect">
            <a:avLst>
              <a:gd name="adj" fmla="val 50000"/>
            </a:avLst>
          </a:prstGeom>
          <a:ln w="19050">
            <a:solidFill>
              <a:schemeClr val="accent1"/>
            </a:solidFill>
            <a:prstDash val="solid"/>
          </a:ln>
        </p:spPr>
      </p:sp>
      <p:sp>
        <p:nvSpPr>
          <p:cNvPr id="22" name="Text 20"/>
          <p:cNvSpPr txBox="1"/>
          <p:nvPr/>
        </p:nvSpPr>
        <p:spPr>
          <a:xfrm>
            <a:off x="50292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Chase</a:t>
            </a:r>
            <a:endParaRPr lang="en-US" sz="1300" dirty="0"/>
          </a:p>
        </p:txBody>
      </p:sp>
      <p:sp>
        <p:nvSpPr>
          <p:cNvPr id="23" name="Shape 21"/>
          <p:cNvSpPr/>
          <p:nvPr/>
        </p:nvSpPr>
        <p:spPr>
          <a:xfrm>
            <a:off x="2377440" y="5486400"/>
            <a:ext cx="1691640" cy="384048"/>
          </a:xfrm>
          <a:prstGeom prst="roundRect">
            <a:avLst>
              <a:gd name="adj" fmla="val 50000"/>
            </a:avLst>
          </a:prstGeom>
          <a:ln w="19050">
            <a:solidFill>
              <a:schemeClr val="accent2"/>
            </a:solidFill>
            <a:prstDash val="solid"/>
          </a:ln>
        </p:spPr>
      </p:sp>
      <p:sp>
        <p:nvSpPr>
          <p:cNvPr id="24" name="Text 22"/>
          <p:cNvSpPr txBox="1"/>
          <p:nvPr/>
        </p:nvSpPr>
        <p:spPr>
          <a:xfrm>
            <a:off x="237744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Authorize.net</a:t>
            </a:r>
            <a:endParaRPr lang="en-US" sz="1300" dirty="0"/>
          </a:p>
        </p:txBody>
      </p:sp>
      <p:sp>
        <p:nvSpPr>
          <p:cNvPr id="25" name="Shape 23"/>
          <p:cNvSpPr/>
          <p:nvPr/>
        </p:nvSpPr>
        <p:spPr>
          <a:xfrm>
            <a:off x="4251960" y="5486400"/>
            <a:ext cx="1691640" cy="384048"/>
          </a:xfrm>
          <a:prstGeom prst="roundRect">
            <a:avLst>
              <a:gd name="adj" fmla="val 50000"/>
            </a:avLst>
          </a:prstGeom>
          <a:ln w="19050">
            <a:solidFill>
              <a:schemeClr val="accent3"/>
            </a:solidFill>
            <a:prstDash val="solid"/>
          </a:ln>
        </p:spPr>
      </p:sp>
      <p:sp>
        <p:nvSpPr>
          <p:cNvPr id="26" name="Text 24"/>
          <p:cNvSpPr txBox="1"/>
          <p:nvPr/>
        </p:nvSpPr>
        <p:spPr>
          <a:xfrm>
            <a:off x="425196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Sitecore</a:t>
            </a:r>
            <a:endParaRPr lang="en-US" sz="1300" dirty="0"/>
          </a:p>
        </p:txBody>
      </p:sp>
      <p:sp>
        <p:nvSpPr>
          <p:cNvPr id="27" name="Shape 25"/>
          <p:cNvSpPr/>
          <p:nvPr/>
        </p:nvSpPr>
        <p:spPr>
          <a:xfrm>
            <a:off x="6126480" y="5486400"/>
            <a:ext cx="1691640" cy="384048"/>
          </a:xfrm>
          <a:prstGeom prst="roundRect">
            <a:avLst>
              <a:gd name="adj" fmla="val 50000"/>
            </a:avLst>
          </a:prstGeom>
          <a:ln w="19050">
            <a:solidFill>
              <a:schemeClr val="accent1"/>
            </a:solidFill>
            <a:prstDash val="solid"/>
          </a:ln>
        </p:spPr>
      </p:sp>
      <p:sp>
        <p:nvSpPr>
          <p:cNvPr id="28" name="Text 26"/>
          <p:cNvSpPr txBox="1"/>
          <p:nvPr/>
        </p:nvSpPr>
        <p:spPr>
          <a:xfrm>
            <a:off x="612648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Zoom / Teams</a:t>
            </a:r>
            <a:endParaRPr lang="en-US" sz="1300" dirty="0"/>
          </a:p>
        </p:txBody>
      </p:sp>
      <p:sp>
        <p:nvSpPr>
          <p:cNvPr id="29" name="Shape 27"/>
          <p:cNvSpPr/>
          <p:nvPr/>
        </p:nvSpPr>
        <p:spPr>
          <a:xfrm>
            <a:off x="8001000" y="5486400"/>
            <a:ext cx="1691640" cy="384048"/>
          </a:xfrm>
          <a:prstGeom prst="roundRect">
            <a:avLst>
              <a:gd name="adj" fmla="val 50000"/>
            </a:avLst>
          </a:prstGeom>
          <a:ln w="19050">
            <a:solidFill>
              <a:schemeClr val="accent2"/>
            </a:solidFill>
            <a:prstDash val="solid"/>
          </a:ln>
        </p:spPr>
      </p:sp>
      <p:sp>
        <p:nvSpPr>
          <p:cNvPr id="30" name="Text 28"/>
          <p:cNvSpPr txBox="1"/>
          <p:nvPr/>
        </p:nvSpPr>
        <p:spPr>
          <a:xfrm>
            <a:off x="800100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Health Cloud</a:t>
            </a:r>
            <a:endParaRPr lang="en-US" sz="1300" dirty="0"/>
          </a:p>
        </p:txBody>
      </p:sp>
      <p:sp>
        <p:nvSpPr>
          <p:cNvPr id="31" name="Shape 29"/>
          <p:cNvSpPr/>
          <p:nvPr/>
        </p:nvSpPr>
        <p:spPr>
          <a:xfrm>
            <a:off x="9875520" y="5486400"/>
            <a:ext cx="1691640" cy="384048"/>
          </a:xfrm>
          <a:prstGeom prst="roundRect">
            <a:avLst>
              <a:gd name="adj" fmla="val 50000"/>
            </a:avLst>
          </a:prstGeom>
          <a:ln w="19050">
            <a:solidFill>
              <a:schemeClr val="accent3"/>
            </a:solidFill>
            <a:prstDash val="solid"/>
          </a:ln>
        </p:spPr>
      </p:sp>
      <p:sp>
        <p:nvSpPr>
          <p:cNvPr id="32" name="Text 30"/>
          <p:cNvSpPr txBox="1"/>
          <p:nvPr/>
        </p:nvSpPr>
        <p:spPr>
          <a:xfrm>
            <a:off x="987552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Marketing Cloud</a:t>
            </a:r>
            <a:endParaRPr lang="en-US" sz="1300" dirty="0"/>
          </a:p>
        </p:txBody>
      </p:sp>
      <p:sp>
        <p:nvSpPr>
          <p:cNvPr id="33" name="Text 31"/>
          <p:cNvSpPr txBox="1"/>
          <p:nvPr/>
        </p:nvSpPr>
        <p:spPr>
          <a:xfrm>
            <a:off x="502920" y="5989320"/>
            <a:ext cx="11185855" cy="274320"/>
          </a:xfrm>
          <a:prstGeom prst="rect">
            <a:avLst/>
          </a:prstGeom>
          <a:noFill/>
          <a:ln/>
        </p:spPr>
        <p:txBody>
          <a:bodyPr wrap="square" lIns="0" tIns="0" rIns="0" bIns="0" rtlCol="0" anchor="t"/>
          <a:lstStyle/>
          <a:p>
            <a:pPr indent="0" marL="0">
              <a:buNone/>
            </a:pPr>
            <a:r>
              <a:rPr lang="en-US" sz="1100" i="1" dirty="0">
                <a:solidFill>
                  <a:schemeClr val="accent1"/>
                </a:solidFill>
              </a:rPr>
              <a:t>Reliable, secure and scalable by design: waiting room and seat holds for busy events, encrypted data, full audit trail.</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Overall solution design</a:t>
            </a:r>
            <a:endParaRPr lang="en-US" sz="3200" dirty="0"/>
          </a:p>
        </p:txBody>
      </p:sp>
      <p:sp>
        <p:nvSpPr>
          <p:cNvPr id="3" name="Text 1"/>
          <p:cNvSpPr txBox="1"/>
          <p:nvPr/>
        </p:nvSpPr>
        <p:spPr>
          <a:xfrm>
            <a:off x="502920" y="1298448"/>
            <a:ext cx="10972800" cy="292608"/>
          </a:xfrm>
          <a:prstGeom prst="rect">
            <a:avLst/>
          </a:prstGeom>
          <a:noFill/>
          <a:ln/>
        </p:spPr>
        <p:txBody>
          <a:bodyPr wrap="square" lIns="0" tIns="0" rIns="0" bIns="0" rtlCol="0" anchor="t"/>
          <a:lstStyle/>
          <a:p>
            <a:pPr indent="0" marL="0">
              <a:buNone/>
            </a:pPr>
            <a:r>
              <a:rPr lang="en-US" sz="1400" dirty="0">
                <a:solidFill>
                  <a:srgbClr val="4D4D4D"/>
                </a:solidFill>
              </a:rPr>
              <a:t>One flow for conferences and classes on your existing Experience Cloud site and app; replaces Certain</a:t>
            </a:r>
            <a:endParaRPr lang="en-US" sz="1400" dirty="0"/>
          </a:p>
        </p:txBody>
      </p:sp>
      <p:sp>
        <p:nvSpPr>
          <p:cNvPr id="4" name="participant-p"/>
          <p:cNvSpPr/>
          <p:nvPr/>
        </p:nvSpPr>
        <p:spPr>
          <a:xfrm>
            <a:off x="1472184" y="1755648"/>
            <a:ext cx="1357623" cy="475488"/>
          </a:xfrm>
          <a:prstGeom prst="roundRect">
            <a:avLst>
              <a:gd name="adj" fmla="val 15385"/>
            </a:avLst>
          </a:prstGeom>
          <a:solidFill>
            <a:srgbClr val="F2F2F2"/>
          </a:solidFill>
          <a:ln w="15875">
            <a:solidFill>
              <a:srgbClr val="B8B8C0"/>
            </a:solidFill>
            <a:prstDash val="solid"/>
          </a:ln>
        </p:spPr>
      </p:sp>
      <p:sp>
        <p:nvSpPr>
          <p:cNvPr id="5" name="Text 3"/>
          <p:cNvSpPr txBox="1"/>
          <p:nvPr/>
        </p:nvSpPr>
        <p:spPr>
          <a:xfrm>
            <a:off x="1508760"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Registrant</a:t>
            </a:r>
            <a:endParaRPr lang="en-US" sz="1050" dirty="0"/>
          </a:p>
        </p:txBody>
      </p:sp>
      <p:sp>
        <p:nvSpPr>
          <p:cNvPr id="6" name="Shape 4"/>
          <p:cNvSpPr/>
          <p:nvPr/>
        </p:nvSpPr>
        <p:spPr>
          <a:xfrm>
            <a:off x="2150995" y="2231136"/>
            <a:ext cx="0" cy="3822192"/>
          </a:xfrm>
          <a:prstGeom prst="line">
            <a:avLst/>
          </a:prstGeom>
          <a:noFill/>
          <a:ln w="12700">
            <a:solidFill>
              <a:srgbClr val="B0B0B8"/>
            </a:solidFill>
            <a:prstDash val="dash"/>
          </a:ln>
        </p:spPr>
      </p:sp>
      <p:sp>
        <p:nvSpPr>
          <p:cNvPr id="7" name="participant-ch"/>
          <p:cNvSpPr/>
          <p:nvPr/>
        </p:nvSpPr>
        <p:spPr>
          <a:xfrm>
            <a:off x="2939535" y="1755648"/>
            <a:ext cx="1357623" cy="475488"/>
          </a:xfrm>
          <a:prstGeom prst="roundRect">
            <a:avLst>
              <a:gd name="adj" fmla="val 15385"/>
            </a:avLst>
          </a:prstGeom>
          <a:solidFill>
            <a:srgbClr val="F2F2F2"/>
          </a:solidFill>
          <a:ln w="22225">
            <a:solidFill>
              <a:srgbClr val="00A9C0"/>
            </a:solidFill>
            <a:prstDash val="solid"/>
          </a:ln>
        </p:spPr>
      </p:sp>
      <p:sp>
        <p:nvSpPr>
          <p:cNvPr id="8" name="Text 6"/>
          <p:cNvSpPr txBox="1"/>
          <p:nvPr/>
        </p:nvSpPr>
        <p:spPr>
          <a:xfrm>
            <a:off x="2976111"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Website or app</a:t>
            </a:r>
            <a:endParaRPr lang="en-US" sz="1050" dirty="0"/>
          </a:p>
        </p:txBody>
      </p:sp>
      <p:sp>
        <p:nvSpPr>
          <p:cNvPr id="9" name="Shape 7"/>
          <p:cNvSpPr/>
          <p:nvPr/>
        </p:nvSpPr>
        <p:spPr>
          <a:xfrm>
            <a:off x="3618346" y="2231136"/>
            <a:ext cx="0" cy="3822192"/>
          </a:xfrm>
          <a:prstGeom prst="line">
            <a:avLst/>
          </a:prstGeom>
          <a:noFill/>
          <a:ln w="12700">
            <a:solidFill>
              <a:srgbClr val="B0B0B8"/>
            </a:solidFill>
            <a:prstDash val="dash"/>
          </a:ln>
        </p:spPr>
      </p:sp>
      <p:sp>
        <p:nvSpPr>
          <p:cNvPr id="10" name="participant-reg"/>
          <p:cNvSpPr/>
          <p:nvPr/>
        </p:nvSpPr>
        <p:spPr>
          <a:xfrm>
            <a:off x="4406885" y="1755648"/>
            <a:ext cx="1357623" cy="475488"/>
          </a:xfrm>
          <a:prstGeom prst="roundRect">
            <a:avLst>
              <a:gd name="adj" fmla="val 15385"/>
            </a:avLst>
          </a:prstGeom>
          <a:solidFill>
            <a:srgbClr val="F2F2F2"/>
          </a:solidFill>
          <a:ln w="22225">
            <a:solidFill>
              <a:srgbClr val="D9B200"/>
            </a:solidFill>
            <a:prstDash val="solid"/>
          </a:ln>
        </p:spPr>
      </p:sp>
      <p:sp>
        <p:nvSpPr>
          <p:cNvPr id="11" name="Text 9"/>
          <p:cNvSpPr txBox="1"/>
          <p:nvPr/>
        </p:nvSpPr>
        <p:spPr>
          <a:xfrm>
            <a:off x="4443461"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Registration service</a:t>
            </a:r>
            <a:endParaRPr lang="en-US" sz="1050" dirty="0"/>
          </a:p>
        </p:txBody>
      </p:sp>
      <p:sp>
        <p:nvSpPr>
          <p:cNvPr id="12" name="Shape 10"/>
          <p:cNvSpPr/>
          <p:nvPr/>
        </p:nvSpPr>
        <p:spPr>
          <a:xfrm>
            <a:off x="5085697" y="2231136"/>
            <a:ext cx="0" cy="3822192"/>
          </a:xfrm>
          <a:prstGeom prst="line">
            <a:avLst/>
          </a:prstGeom>
          <a:noFill/>
          <a:ln w="12700">
            <a:solidFill>
              <a:srgbClr val="B0B0B8"/>
            </a:solidFill>
            <a:prstDash val="dash"/>
          </a:ln>
        </p:spPr>
      </p:sp>
      <p:sp>
        <p:nvSpPr>
          <p:cNvPr id="13" name="participant-pay"/>
          <p:cNvSpPr/>
          <p:nvPr/>
        </p:nvSpPr>
        <p:spPr>
          <a:xfrm>
            <a:off x="5874236" y="1755648"/>
            <a:ext cx="1357623" cy="475488"/>
          </a:xfrm>
          <a:prstGeom prst="roundRect">
            <a:avLst>
              <a:gd name="adj" fmla="val 15385"/>
            </a:avLst>
          </a:prstGeom>
          <a:solidFill>
            <a:srgbClr val="F2F2F2"/>
          </a:solidFill>
          <a:ln w="15875">
            <a:solidFill>
              <a:srgbClr val="B8B8C0"/>
            </a:solidFill>
            <a:prstDash val="solid"/>
          </a:ln>
        </p:spPr>
      </p:sp>
      <p:sp>
        <p:nvSpPr>
          <p:cNvPr id="14" name="Text 12"/>
          <p:cNvSpPr txBox="1"/>
          <p:nvPr/>
        </p:nvSpPr>
        <p:spPr>
          <a:xfrm>
            <a:off x="5910812"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Payment gateway</a:t>
            </a:r>
            <a:endParaRPr lang="en-US" sz="1050" dirty="0"/>
          </a:p>
        </p:txBody>
      </p:sp>
      <p:sp>
        <p:nvSpPr>
          <p:cNvPr id="15" name="Shape 13"/>
          <p:cNvSpPr/>
          <p:nvPr/>
        </p:nvSpPr>
        <p:spPr>
          <a:xfrm>
            <a:off x="6553048" y="2231136"/>
            <a:ext cx="0" cy="3822192"/>
          </a:xfrm>
          <a:prstGeom prst="line">
            <a:avLst/>
          </a:prstGeom>
          <a:noFill/>
          <a:ln w="12700">
            <a:solidFill>
              <a:srgbClr val="B0B0B8"/>
            </a:solidFill>
            <a:prstDash val="dash"/>
          </a:ln>
        </p:spPr>
      </p:sp>
      <p:sp>
        <p:nvSpPr>
          <p:cNvPr id="16" name="participant-sf"/>
          <p:cNvSpPr/>
          <p:nvPr/>
        </p:nvSpPr>
        <p:spPr>
          <a:xfrm>
            <a:off x="7341587" y="1755648"/>
            <a:ext cx="1357623" cy="475488"/>
          </a:xfrm>
          <a:prstGeom prst="roundRect">
            <a:avLst>
              <a:gd name="adj" fmla="val 15385"/>
            </a:avLst>
          </a:prstGeom>
          <a:solidFill>
            <a:srgbClr val="F2F2F2"/>
          </a:solidFill>
          <a:ln w="22225">
            <a:solidFill>
              <a:srgbClr val="00A9C0"/>
            </a:solidFill>
            <a:prstDash val="solid"/>
          </a:ln>
        </p:spPr>
      </p:sp>
      <p:sp>
        <p:nvSpPr>
          <p:cNvPr id="17" name="Text 15"/>
          <p:cNvSpPr txBox="1"/>
          <p:nvPr/>
        </p:nvSpPr>
        <p:spPr>
          <a:xfrm>
            <a:off x="7378163"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Salesforce event app</a:t>
            </a:r>
            <a:endParaRPr lang="en-US" sz="1050" dirty="0"/>
          </a:p>
        </p:txBody>
      </p:sp>
      <p:sp>
        <p:nvSpPr>
          <p:cNvPr id="18" name="Shape 16"/>
          <p:cNvSpPr/>
          <p:nvPr/>
        </p:nvSpPr>
        <p:spPr>
          <a:xfrm>
            <a:off x="8020398" y="2231136"/>
            <a:ext cx="0" cy="3822192"/>
          </a:xfrm>
          <a:prstGeom prst="line">
            <a:avLst/>
          </a:prstGeom>
          <a:noFill/>
          <a:ln w="12700">
            <a:solidFill>
              <a:srgbClr val="B0B0B8"/>
            </a:solidFill>
            <a:prstDash val="dash"/>
          </a:ln>
        </p:spPr>
      </p:sp>
      <p:sp>
        <p:nvSpPr>
          <p:cNvPr id="19" name="participant-mc"/>
          <p:cNvSpPr/>
          <p:nvPr/>
        </p:nvSpPr>
        <p:spPr>
          <a:xfrm>
            <a:off x="8808938" y="1755648"/>
            <a:ext cx="1357623" cy="475488"/>
          </a:xfrm>
          <a:prstGeom prst="roundRect">
            <a:avLst>
              <a:gd name="adj" fmla="val 15385"/>
            </a:avLst>
          </a:prstGeom>
          <a:solidFill>
            <a:srgbClr val="F2F2F2"/>
          </a:solidFill>
          <a:ln w="22225">
            <a:solidFill>
              <a:srgbClr val="FF0068"/>
            </a:solidFill>
            <a:prstDash val="solid"/>
          </a:ln>
        </p:spPr>
      </p:sp>
      <p:sp>
        <p:nvSpPr>
          <p:cNvPr id="20" name="Text 18"/>
          <p:cNvSpPr txBox="1"/>
          <p:nvPr/>
        </p:nvSpPr>
        <p:spPr>
          <a:xfrm>
            <a:off x="8845514"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Marketing Cloud</a:t>
            </a:r>
            <a:endParaRPr lang="en-US" sz="1050" dirty="0"/>
          </a:p>
        </p:txBody>
      </p:sp>
      <p:sp>
        <p:nvSpPr>
          <p:cNvPr id="21" name="Shape 19"/>
          <p:cNvSpPr/>
          <p:nvPr/>
        </p:nvSpPr>
        <p:spPr>
          <a:xfrm>
            <a:off x="9487749" y="2231136"/>
            <a:ext cx="0" cy="3822192"/>
          </a:xfrm>
          <a:prstGeom prst="line">
            <a:avLst/>
          </a:prstGeom>
          <a:noFill/>
          <a:ln w="12700">
            <a:solidFill>
              <a:srgbClr val="B0B0B8"/>
            </a:solidFill>
            <a:prstDash val="dash"/>
          </a:ln>
        </p:spPr>
      </p:sp>
      <p:sp>
        <p:nvSpPr>
          <p:cNvPr id="22" name="participant-st"/>
          <p:cNvSpPr/>
          <p:nvPr/>
        </p:nvSpPr>
        <p:spPr>
          <a:xfrm>
            <a:off x="10276288" y="1755648"/>
            <a:ext cx="1357623" cy="475488"/>
          </a:xfrm>
          <a:prstGeom prst="roundRect">
            <a:avLst>
              <a:gd name="adj" fmla="val 15385"/>
            </a:avLst>
          </a:prstGeom>
          <a:solidFill>
            <a:srgbClr val="F2F2F2"/>
          </a:solidFill>
          <a:ln w="15875">
            <a:solidFill>
              <a:srgbClr val="B8B8C0"/>
            </a:solidFill>
            <a:prstDash val="solid"/>
          </a:ln>
        </p:spPr>
      </p:sp>
      <p:sp>
        <p:nvSpPr>
          <p:cNvPr id="23" name="Text 21"/>
          <p:cNvSpPr txBox="1"/>
          <p:nvPr/>
        </p:nvSpPr>
        <p:spPr>
          <a:xfrm>
            <a:off x="10312864"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Event staff</a:t>
            </a:r>
            <a:endParaRPr lang="en-US" sz="1050" dirty="0"/>
          </a:p>
        </p:txBody>
      </p:sp>
      <p:sp>
        <p:nvSpPr>
          <p:cNvPr id="24" name="Shape 22"/>
          <p:cNvSpPr/>
          <p:nvPr/>
        </p:nvSpPr>
        <p:spPr>
          <a:xfrm>
            <a:off x="10955100" y="2231136"/>
            <a:ext cx="0" cy="3822192"/>
          </a:xfrm>
          <a:prstGeom prst="line">
            <a:avLst/>
          </a:prstGeom>
          <a:noFill/>
          <a:ln w="12700">
            <a:solidFill>
              <a:srgbClr val="B0B0B8"/>
            </a:solidFill>
            <a:prstDash val="dash"/>
          </a:ln>
        </p:spPr>
      </p:sp>
      <p:sp>
        <p:nvSpPr>
          <p:cNvPr id="25" name="Text 23"/>
          <p:cNvSpPr txBox="1"/>
          <p:nvPr/>
        </p:nvSpPr>
        <p:spPr>
          <a:xfrm>
            <a:off x="502920" y="2377440"/>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REGISTER</a:t>
            </a:r>
            <a:endParaRPr lang="en-US" sz="950" dirty="0"/>
          </a:p>
        </p:txBody>
      </p:sp>
      <p:sp>
        <p:nvSpPr>
          <p:cNvPr id="26" name="Shape 24"/>
          <p:cNvSpPr/>
          <p:nvPr/>
        </p:nvSpPr>
        <p:spPr>
          <a:xfrm>
            <a:off x="2150995" y="2511983"/>
            <a:ext cx="1467351" cy="0"/>
          </a:xfrm>
          <a:prstGeom prst="line">
            <a:avLst/>
          </a:prstGeom>
          <a:noFill/>
          <a:ln w="15875">
            <a:solidFill>
              <a:srgbClr val="1A1A1A"/>
            </a:solidFill>
            <a:prstDash val="solid"/>
            <a:tailEnd type="triangle"/>
          </a:ln>
        </p:spPr>
      </p:sp>
      <p:sp>
        <p:nvSpPr>
          <p:cNvPr id="27" name="Shape 25"/>
          <p:cNvSpPr/>
          <p:nvPr/>
        </p:nvSpPr>
        <p:spPr>
          <a:xfrm>
            <a:off x="2050411" y="2411399"/>
            <a:ext cx="201168" cy="201168"/>
          </a:xfrm>
          <a:prstGeom prst="ellipse">
            <a:avLst/>
          </a:prstGeom>
          <a:solidFill>
            <a:srgbClr val="00A9C0"/>
          </a:solidFill>
          <a:ln w="12700">
            <a:solidFill>
              <a:srgbClr val="00A9C0"/>
            </a:solidFill>
            <a:prstDash val="solid"/>
          </a:ln>
        </p:spPr>
      </p:sp>
      <p:sp>
        <p:nvSpPr>
          <p:cNvPr id="28" name="Text 26"/>
          <p:cNvSpPr txBox="1"/>
          <p:nvPr/>
        </p:nvSpPr>
        <p:spPr>
          <a:xfrm>
            <a:off x="2050411" y="241139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a:t>
            </a:r>
            <a:endParaRPr lang="en-US" sz="800" dirty="0"/>
          </a:p>
        </p:txBody>
      </p:sp>
      <p:sp>
        <p:nvSpPr>
          <p:cNvPr id="29" name="Text 27"/>
          <p:cNvSpPr txBox="1"/>
          <p:nvPr/>
        </p:nvSpPr>
        <p:spPr>
          <a:xfrm>
            <a:off x="2297299" y="2265095"/>
            <a:ext cx="1987906" cy="219456"/>
          </a:xfrm>
          <a:prstGeom prst="rect">
            <a:avLst/>
          </a:prstGeom>
          <a:noFill/>
          <a:ln/>
        </p:spPr>
        <p:txBody>
          <a:bodyPr wrap="square" lIns="0" tIns="0" rIns="0" bIns="0" rtlCol="0" anchor="b"/>
          <a:lstStyle/>
          <a:p>
            <a:pPr algn="ctr" indent="0" marL="0">
              <a:buNone/>
            </a:pPr>
            <a:r>
              <a:rPr lang="en-US" sz="1000" dirty="0">
                <a:solidFill>
                  <a:srgbClr val="000000"/>
                </a:solidFill>
              </a:rPr>
              <a:t>Find a class or conference</a:t>
            </a:r>
            <a:endParaRPr lang="en-US" sz="1000" dirty="0"/>
          </a:p>
        </p:txBody>
      </p:sp>
      <p:sp>
        <p:nvSpPr>
          <p:cNvPr id="30" name="Shape 28"/>
          <p:cNvSpPr/>
          <p:nvPr/>
        </p:nvSpPr>
        <p:spPr>
          <a:xfrm>
            <a:off x="3618346" y="2798964"/>
            <a:ext cx="1467351" cy="0"/>
          </a:xfrm>
          <a:prstGeom prst="line">
            <a:avLst/>
          </a:prstGeom>
          <a:noFill/>
          <a:ln w="15875">
            <a:solidFill>
              <a:srgbClr val="1A1A1A"/>
            </a:solidFill>
            <a:prstDash val="solid"/>
            <a:tailEnd type="triangle"/>
          </a:ln>
        </p:spPr>
      </p:sp>
      <p:sp>
        <p:nvSpPr>
          <p:cNvPr id="31" name="Shape 29"/>
          <p:cNvSpPr/>
          <p:nvPr/>
        </p:nvSpPr>
        <p:spPr>
          <a:xfrm>
            <a:off x="3517762" y="2698380"/>
            <a:ext cx="201168" cy="201168"/>
          </a:xfrm>
          <a:prstGeom prst="ellipse">
            <a:avLst/>
          </a:prstGeom>
          <a:solidFill>
            <a:srgbClr val="00A9C0"/>
          </a:solidFill>
          <a:ln w="12700">
            <a:solidFill>
              <a:srgbClr val="00A9C0"/>
            </a:solidFill>
            <a:prstDash val="solid"/>
          </a:ln>
        </p:spPr>
      </p:sp>
      <p:sp>
        <p:nvSpPr>
          <p:cNvPr id="32" name="Text 30"/>
          <p:cNvSpPr txBox="1"/>
          <p:nvPr/>
        </p:nvSpPr>
        <p:spPr>
          <a:xfrm>
            <a:off x="3517762" y="2698380"/>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2</a:t>
            </a:r>
            <a:endParaRPr lang="en-US" sz="800" dirty="0"/>
          </a:p>
        </p:txBody>
      </p:sp>
      <p:sp>
        <p:nvSpPr>
          <p:cNvPr id="33" name="Text 31"/>
          <p:cNvSpPr txBox="1"/>
          <p:nvPr/>
        </p:nvSpPr>
        <p:spPr>
          <a:xfrm>
            <a:off x="3764650" y="2552076"/>
            <a:ext cx="1852574" cy="219456"/>
          </a:xfrm>
          <a:prstGeom prst="rect">
            <a:avLst/>
          </a:prstGeom>
          <a:noFill/>
          <a:ln/>
        </p:spPr>
        <p:txBody>
          <a:bodyPr wrap="square" lIns="0" tIns="0" rIns="0" bIns="0" rtlCol="0" anchor="b"/>
          <a:lstStyle/>
          <a:p>
            <a:pPr algn="ctr" indent="0" marL="0">
              <a:buNone/>
            </a:pPr>
            <a:r>
              <a:rPr lang="en-US" sz="1000" dirty="0">
                <a:solidFill>
                  <a:srgbClr val="000000"/>
                </a:solidFill>
              </a:rPr>
              <a:t>Register and hold a seat</a:t>
            </a:r>
            <a:endParaRPr lang="en-US" sz="1000" dirty="0"/>
          </a:p>
        </p:txBody>
      </p:sp>
      <p:sp>
        <p:nvSpPr>
          <p:cNvPr id="34" name="Shape 32"/>
          <p:cNvSpPr/>
          <p:nvPr/>
        </p:nvSpPr>
        <p:spPr>
          <a:xfrm>
            <a:off x="2150995" y="3085945"/>
            <a:ext cx="2934701" cy="0"/>
          </a:xfrm>
          <a:prstGeom prst="line">
            <a:avLst/>
          </a:prstGeom>
          <a:noFill/>
          <a:ln w="15875">
            <a:solidFill>
              <a:srgbClr val="6B7280"/>
            </a:solidFill>
            <a:prstDash val="dash"/>
            <a:headEnd type="triangle"/>
          </a:ln>
        </p:spPr>
      </p:sp>
      <p:sp>
        <p:nvSpPr>
          <p:cNvPr id="35" name="Shape 33"/>
          <p:cNvSpPr/>
          <p:nvPr/>
        </p:nvSpPr>
        <p:spPr>
          <a:xfrm>
            <a:off x="4985113" y="2985361"/>
            <a:ext cx="201168" cy="201168"/>
          </a:xfrm>
          <a:prstGeom prst="ellipse">
            <a:avLst/>
          </a:prstGeom>
          <a:solidFill>
            <a:srgbClr val="00A9C0"/>
          </a:solidFill>
          <a:ln w="12700">
            <a:solidFill>
              <a:srgbClr val="00A9C0"/>
            </a:solidFill>
            <a:prstDash val="solid"/>
          </a:ln>
        </p:spPr>
      </p:sp>
      <p:sp>
        <p:nvSpPr>
          <p:cNvPr id="36" name="Text 34"/>
          <p:cNvSpPr txBox="1"/>
          <p:nvPr/>
        </p:nvSpPr>
        <p:spPr>
          <a:xfrm>
            <a:off x="4985113" y="298536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3</a:t>
            </a:r>
            <a:endParaRPr lang="en-US" sz="800" dirty="0"/>
          </a:p>
        </p:txBody>
      </p:sp>
      <p:sp>
        <p:nvSpPr>
          <p:cNvPr id="37" name="Text 35"/>
          <p:cNvSpPr txBox="1"/>
          <p:nvPr/>
        </p:nvSpPr>
        <p:spPr>
          <a:xfrm>
            <a:off x="2187571" y="2839057"/>
            <a:ext cx="2751821" cy="219456"/>
          </a:xfrm>
          <a:prstGeom prst="rect">
            <a:avLst/>
          </a:prstGeom>
          <a:noFill/>
          <a:ln/>
        </p:spPr>
        <p:txBody>
          <a:bodyPr wrap="square" lIns="0" tIns="0" rIns="0" bIns="0" rtlCol="0" anchor="b"/>
          <a:lstStyle/>
          <a:p>
            <a:pPr algn="ctr" indent="0" marL="0">
              <a:buNone/>
            </a:pPr>
            <a:r>
              <a:rPr lang="en-US" sz="1000" dirty="0">
                <a:solidFill>
                  <a:srgbClr val="4D4D4D"/>
                </a:solidFill>
              </a:rPr>
              <a:t>Seat held for 10 minutes</a:t>
            </a:r>
            <a:endParaRPr lang="en-US" sz="1000" dirty="0"/>
          </a:p>
        </p:txBody>
      </p:sp>
      <p:sp>
        <p:nvSpPr>
          <p:cNvPr id="38" name="Shape 36"/>
          <p:cNvSpPr/>
          <p:nvPr/>
        </p:nvSpPr>
        <p:spPr>
          <a:xfrm>
            <a:off x="502920" y="3183519"/>
            <a:ext cx="11141835" cy="0"/>
          </a:xfrm>
          <a:prstGeom prst="line">
            <a:avLst/>
          </a:prstGeom>
          <a:noFill/>
          <a:ln w="9525">
            <a:solidFill>
              <a:srgbClr val="D4D4DA"/>
            </a:solidFill>
            <a:prstDash val="sysDot"/>
          </a:ln>
        </p:spPr>
      </p:sp>
      <p:sp>
        <p:nvSpPr>
          <p:cNvPr id="39" name="Text 37"/>
          <p:cNvSpPr txBox="1"/>
          <p:nvPr/>
        </p:nvSpPr>
        <p:spPr>
          <a:xfrm>
            <a:off x="502920" y="3238383"/>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PAY</a:t>
            </a:r>
            <a:endParaRPr lang="en-US" sz="950" dirty="0"/>
          </a:p>
        </p:txBody>
      </p:sp>
      <p:sp>
        <p:nvSpPr>
          <p:cNvPr id="40" name="Shape 38"/>
          <p:cNvSpPr/>
          <p:nvPr/>
        </p:nvSpPr>
        <p:spPr>
          <a:xfrm>
            <a:off x="2150995" y="3372926"/>
            <a:ext cx="4402052" cy="0"/>
          </a:xfrm>
          <a:prstGeom prst="line">
            <a:avLst/>
          </a:prstGeom>
          <a:noFill/>
          <a:ln w="15875">
            <a:solidFill>
              <a:srgbClr val="1A1A1A"/>
            </a:solidFill>
            <a:prstDash val="solid"/>
            <a:tailEnd type="triangle"/>
          </a:ln>
        </p:spPr>
      </p:sp>
      <p:sp>
        <p:nvSpPr>
          <p:cNvPr id="41" name="Shape 39"/>
          <p:cNvSpPr/>
          <p:nvPr/>
        </p:nvSpPr>
        <p:spPr>
          <a:xfrm>
            <a:off x="2050411" y="3272342"/>
            <a:ext cx="201168" cy="201168"/>
          </a:xfrm>
          <a:prstGeom prst="ellipse">
            <a:avLst/>
          </a:prstGeom>
          <a:solidFill>
            <a:srgbClr val="00A9C0"/>
          </a:solidFill>
          <a:ln w="12700">
            <a:solidFill>
              <a:srgbClr val="00A9C0"/>
            </a:solidFill>
            <a:prstDash val="solid"/>
          </a:ln>
        </p:spPr>
      </p:sp>
      <p:sp>
        <p:nvSpPr>
          <p:cNvPr id="42" name="Text 40"/>
          <p:cNvSpPr txBox="1"/>
          <p:nvPr/>
        </p:nvSpPr>
        <p:spPr>
          <a:xfrm>
            <a:off x="2050411" y="327234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4</a:t>
            </a:r>
            <a:endParaRPr lang="en-US" sz="800" dirty="0"/>
          </a:p>
        </p:txBody>
      </p:sp>
      <p:sp>
        <p:nvSpPr>
          <p:cNvPr id="43" name="Text 41"/>
          <p:cNvSpPr txBox="1"/>
          <p:nvPr/>
        </p:nvSpPr>
        <p:spPr>
          <a:xfrm>
            <a:off x="2297299" y="3126038"/>
            <a:ext cx="4219172" cy="219456"/>
          </a:xfrm>
          <a:prstGeom prst="rect">
            <a:avLst/>
          </a:prstGeom>
          <a:noFill/>
          <a:ln/>
        </p:spPr>
        <p:txBody>
          <a:bodyPr wrap="square" lIns="0" tIns="0" rIns="0" bIns="0" rtlCol="0" anchor="b"/>
          <a:lstStyle/>
          <a:p>
            <a:pPr algn="ctr" indent="0" marL="0">
              <a:buNone/>
            </a:pPr>
            <a:r>
              <a:rPr lang="en-US" sz="1000" dirty="0">
                <a:solidFill>
                  <a:srgbClr val="000000"/>
                </a:solidFill>
              </a:rPr>
              <a:t>Pay on hosted page (free events skip this)</a:t>
            </a:r>
            <a:endParaRPr lang="en-US" sz="1000" dirty="0"/>
          </a:p>
        </p:txBody>
      </p:sp>
      <p:sp>
        <p:nvSpPr>
          <p:cNvPr id="44" name="Shape 42"/>
          <p:cNvSpPr/>
          <p:nvPr/>
        </p:nvSpPr>
        <p:spPr>
          <a:xfrm>
            <a:off x="5085697" y="3659907"/>
            <a:ext cx="1467351" cy="0"/>
          </a:xfrm>
          <a:prstGeom prst="line">
            <a:avLst/>
          </a:prstGeom>
          <a:noFill/>
          <a:ln w="15875">
            <a:solidFill>
              <a:srgbClr val="6B7280"/>
            </a:solidFill>
            <a:prstDash val="dash"/>
            <a:headEnd type="triangle"/>
          </a:ln>
        </p:spPr>
      </p:sp>
      <p:sp>
        <p:nvSpPr>
          <p:cNvPr id="45" name="Shape 43"/>
          <p:cNvSpPr/>
          <p:nvPr/>
        </p:nvSpPr>
        <p:spPr>
          <a:xfrm>
            <a:off x="6452464" y="3559323"/>
            <a:ext cx="201168" cy="201168"/>
          </a:xfrm>
          <a:prstGeom prst="ellipse">
            <a:avLst/>
          </a:prstGeom>
          <a:solidFill>
            <a:srgbClr val="00A9C0"/>
          </a:solidFill>
          <a:ln w="12700">
            <a:solidFill>
              <a:srgbClr val="00A9C0"/>
            </a:solidFill>
            <a:prstDash val="solid"/>
          </a:ln>
        </p:spPr>
      </p:sp>
      <p:sp>
        <p:nvSpPr>
          <p:cNvPr id="46" name="Text 44"/>
          <p:cNvSpPr txBox="1"/>
          <p:nvPr/>
        </p:nvSpPr>
        <p:spPr>
          <a:xfrm>
            <a:off x="6452464" y="355932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5</a:t>
            </a:r>
            <a:endParaRPr lang="en-US" sz="800" dirty="0"/>
          </a:p>
        </p:txBody>
      </p:sp>
      <p:sp>
        <p:nvSpPr>
          <p:cNvPr id="47" name="Text 45"/>
          <p:cNvSpPr txBox="1"/>
          <p:nvPr/>
        </p:nvSpPr>
        <p:spPr>
          <a:xfrm>
            <a:off x="4418838" y="3413019"/>
            <a:ext cx="1987906" cy="219456"/>
          </a:xfrm>
          <a:prstGeom prst="rect">
            <a:avLst/>
          </a:prstGeom>
          <a:noFill/>
          <a:ln/>
        </p:spPr>
        <p:txBody>
          <a:bodyPr wrap="square" lIns="0" tIns="0" rIns="0" bIns="0" rtlCol="0" anchor="b"/>
          <a:lstStyle/>
          <a:p>
            <a:pPr algn="ctr" indent="0" marL="0">
              <a:buNone/>
            </a:pPr>
            <a:r>
              <a:rPr lang="en-US" sz="1000" dirty="0">
                <a:solidFill>
                  <a:srgbClr val="4D4D4D"/>
                </a:solidFill>
              </a:rPr>
              <a:t>Signed webhook, token only</a:t>
            </a:r>
            <a:endParaRPr lang="en-US" sz="1000" dirty="0"/>
          </a:p>
        </p:txBody>
      </p:sp>
      <p:sp>
        <p:nvSpPr>
          <p:cNvPr id="48" name="Shape 46"/>
          <p:cNvSpPr/>
          <p:nvPr/>
        </p:nvSpPr>
        <p:spPr>
          <a:xfrm>
            <a:off x="5085697" y="3946888"/>
            <a:ext cx="2934701" cy="0"/>
          </a:xfrm>
          <a:prstGeom prst="line">
            <a:avLst/>
          </a:prstGeom>
          <a:noFill/>
          <a:ln w="15875">
            <a:solidFill>
              <a:srgbClr val="1A1A1A"/>
            </a:solidFill>
            <a:prstDash val="solid"/>
            <a:tailEnd type="triangle"/>
          </a:ln>
        </p:spPr>
      </p:sp>
      <p:sp>
        <p:nvSpPr>
          <p:cNvPr id="49" name="Shape 47"/>
          <p:cNvSpPr/>
          <p:nvPr/>
        </p:nvSpPr>
        <p:spPr>
          <a:xfrm>
            <a:off x="4985113" y="3846304"/>
            <a:ext cx="201168" cy="201168"/>
          </a:xfrm>
          <a:prstGeom prst="ellipse">
            <a:avLst/>
          </a:prstGeom>
          <a:solidFill>
            <a:srgbClr val="00A9C0"/>
          </a:solidFill>
          <a:ln w="12700">
            <a:solidFill>
              <a:srgbClr val="00A9C0"/>
            </a:solidFill>
            <a:prstDash val="solid"/>
          </a:ln>
        </p:spPr>
      </p:sp>
      <p:sp>
        <p:nvSpPr>
          <p:cNvPr id="50" name="Text 48"/>
          <p:cNvSpPr txBox="1"/>
          <p:nvPr/>
        </p:nvSpPr>
        <p:spPr>
          <a:xfrm>
            <a:off x="4985113" y="3846304"/>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6</a:t>
            </a:r>
            <a:endParaRPr lang="en-US" sz="800" dirty="0"/>
          </a:p>
        </p:txBody>
      </p:sp>
      <p:sp>
        <p:nvSpPr>
          <p:cNvPr id="51" name="Text 49"/>
          <p:cNvSpPr txBox="1"/>
          <p:nvPr/>
        </p:nvSpPr>
        <p:spPr>
          <a:xfrm>
            <a:off x="5232001" y="3700000"/>
            <a:ext cx="2935224" cy="219456"/>
          </a:xfrm>
          <a:prstGeom prst="rect">
            <a:avLst/>
          </a:prstGeom>
          <a:noFill/>
          <a:ln/>
        </p:spPr>
        <p:txBody>
          <a:bodyPr wrap="square" lIns="0" tIns="0" rIns="0" bIns="0" rtlCol="0" anchor="b"/>
          <a:lstStyle/>
          <a:p>
            <a:pPr algn="ctr" indent="0" marL="0">
              <a:buNone/>
            </a:pPr>
            <a:r>
              <a:rPr lang="en-US" sz="1000" dirty="0">
                <a:solidFill>
                  <a:srgbClr val="000000"/>
                </a:solidFill>
              </a:rPr>
              <a:t>Create registration (queued, idempotent)</a:t>
            </a:r>
            <a:endParaRPr lang="en-US" sz="1000" dirty="0"/>
          </a:p>
        </p:txBody>
      </p:sp>
      <p:sp>
        <p:nvSpPr>
          <p:cNvPr id="52" name="Shape 50"/>
          <p:cNvSpPr/>
          <p:nvPr/>
        </p:nvSpPr>
        <p:spPr>
          <a:xfrm>
            <a:off x="502920" y="4044462"/>
            <a:ext cx="11141835" cy="0"/>
          </a:xfrm>
          <a:prstGeom prst="line">
            <a:avLst/>
          </a:prstGeom>
          <a:noFill/>
          <a:ln w="9525">
            <a:solidFill>
              <a:srgbClr val="D4D4DA"/>
            </a:solidFill>
            <a:prstDash val="sysDot"/>
          </a:ln>
        </p:spPr>
      </p:sp>
      <p:sp>
        <p:nvSpPr>
          <p:cNvPr id="53" name="Text 51"/>
          <p:cNvSpPr txBox="1"/>
          <p:nvPr/>
        </p:nvSpPr>
        <p:spPr>
          <a:xfrm>
            <a:off x="502920" y="4099326"/>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CONFIRM</a:t>
            </a:r>
            <a:endParaRPr lang="en-US" sz="950" dirty="0"/>
          </a:p>
        </p:txBody>
      </p:sp>
      <p:sp>
        <p:nvSpPr>
          <p:cNvPr id="54" name="Shape 52"/>
          <p:cNvSpPr/>
          <p:nvPr/>
        </p:nvSpPr>
        <p:spPr>
          <a:xfrm>
            <a:off x="8020398" y="4233869"/>
            <a:ext cx="1467351" cy="0"/>
          </a:xfrm>
          <a:prstGeom prst="line">
            <a:avLst/>
          </a:prstGeom>
          <a:noFill/>
          <a:ln w="15875">
            <a:solidFill>
              <a:srgbClr val="1A1A1A"/>
            </a:solidFill>
            <a:prstDash val="solid"/>
            <a:tailEnd type="triangle"/>
          </a:ln>
        </p:spPr>
      </p:sp>
      <p:sp>
        <p:nvSpPr>
          <p:cNvPr id="55" name="Shape 53"/>
          <p:cNvSpPr/>
          <p:nvPr/>
        </p:nvSpPr>
        <p:spPr>
          <a:xfrm>
            <a:off x="7919814" y="4133285"/>
            <a:ext cx="201168" cy="201168"/>
          </a:xfrm>
          <a:prstGeom prst="ellipse">
            <a:avLst/>
          </a:prstGeom>
          <a:solidFill>
            <a:srgbClr val="00A9C0"/>
          </a:solidFill>
          <a:ln w="12700">
            <a:solidFill>
              <a:srgbClr val="00A9C0"/>
            </a:solidFill>
            <a:prstDash val="solid"/>
          </a:ln>
        </p:spPr>
      </p:sp>
      <p:sp>
        <p:nvSpPr>
          <p:cNvPr id="56" name="Text 54"/>
          <p:cNvSpPr txBox="1"/>
          <p:nvPr/>
        </p:nvSpPr>
        <p:spPr>
          <a:xfrm>
            <a:off x="7919814" y="4133285"/>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7</a:t>
            </a:r>
            <a:endParaRPr lang="en-US" sz="800" dirty="0"/>
          </a:p>
        </p:txBody>
      </p:sp>
      <p:sp>
        <p:nvSpPr>
          <p:cNvPr id="57" name="Text 55"/>
          <p:cNvSpPr txBox="1"/>
          <p:nvPr/>
        </p:nvSpPr>
        <p:spPr>
          <a:xfrm>
            <a:off x="8166702" y="3986981"/>
            <a:ext cx="1446581" cy="219456"/>
          </a:xfrm>
          <a:prstGeom prst="rect">
            <a:avLst/>
          </a:prstGeom>
          <a:noFill/>
          <a:ln/>
        </p:spPr>
        <p:txBody>
          <a:bodyPr wrap="square" lIns="0" tIns="0" rIns="0" bIns="0" rtlCol="0" anchor="b"/>
          <a:lstStyle/>
          <a:p>
            <a:pPr algn="ctr" indent="0" marL="0">
              <a:buNone/>
            </a:pPr>
            <a:r>
              <a:rPr lang="en-US" sz="1000" dirty="0">
                <a:solidFill>
                  <a:srgbClr val="000000"/>
                </a:solidFill>
              </a:rPr>
              <a:t>Registration event</a:t>
            </a:r>
            <a:endParaRPr lang="en-US" sz="1000" dirty="0"/>
          </a:p>
        </p:txBody>
      </p:sp>
      <p:sp>
        <p:nvSpPr>
          <p:cNvPr id="58" name="Shape 56"/>
          <p:cNvSpPr/>
          <p:nvPr/>
        </p:nvSpPr>
        <p:spPr>
          <a:xfrm>
            <a:off x="2150995" y="4520850"/>
            <a:ext cx="7336754" cy="0"/>
          </a:xfrm>
          <a:prstGeom prst="line">
            <a:avLst/>
          </a:prstGeom>
          <a:noFill/>
          <a:ln w="15875">
            <a:solidFill>
              <a:srgbClr val="6B7280"/>
            </a:solidFill>
            <a:prstDash val="dash"/>
            <a:headEnd type="triangle"/>
          </a:ln>
        </p:spPr>
      </p:sp>
      <p:sp>
        <p:nvSpPr>
          <p:cNvPr id="59" name="Shape 57"/>
          <p:cNvSpPr/>
          <p:nvPr/>
        </p:nvSpPr>
        <p:spPr>
          <a:xfrm>
            <a:off x="9387165" y="4420266"/>
            <a:ext cx="201168" cy="201168"/>
          </a:xfrm>
          <a:prstGeom prst="ellipse">
            <a:avLst/>
          </a:prstGeom>
          <a:solidFill>
            <a:srgbClr val="00A9C0"/>
          </a:solidFill>
          <a:ln w="12700">
            <a:solidFill>
              <a:srgbClr val="00A9C0"/>
            </a:solidFill>
            <a:prstDash val="solid"/>
          </a:ln>
        </p:spPr>
      </p:sp>
      <p:sp>
        <p:nvSpPr>
          <p:cNvPr id="60" name="Text 58"/>
          <p:cNvSpPr txBox="1"/>
          <p:nvPr/>
        </p:nvSpPr>
        <p:spPr>
          <a:xfrm>
            <a:off x="9387165" y="4420266"/>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8</a:t>
            </a:r>
            <a:endParaRPr lang="en-US" sz="800" dirty="0"/>
          </a:p>
        </p:txBody>
      </p:sp>
      <p:sp>
        <p:nvSpPr>
          <p:cNvPr id="61" name="Text 59"/>
          <p:cNvSpPr txBox="1"/>
          <p:nvPr/>
        </p:nvSpPr>
        <p:spPr>
          <a:xfrm>
            <a:off x="2187571" y="4273962"/>
            <a:ext cx="7153874" cy="219456"/>
          </a:xfrm>
          <a:prstGeom prst="rect">
            <a:avLst/>
          </a:prstGeom>
          <a:noFill/>
          <a:ln/>
        </p:spPr>
        <p:txBody>
          <a:bodyPr wrap="square" lIns="0" tIns="0" rIns="0" bIns="0" rtlCol="0" anchor="b"/>
          <a:lstStyle/>
          <a:p>
            <a:pPr algn="ctr" indent="0" marL="0">
              <a:buNone/>
            </a:pPr>
            <a:r>
              <a:rPr lang="en-US" sz="1000" dirty="0">
                <a:solidFill>
                  <a:srgbClr val="4D4D4D"/>
                </a:solidFill>
              </a:rPr>
              <a:t>Confirmation, QR code, calendar invite, reminders</a:t>
            </a:r>
            <a:endParaRPr lang="en-US" sz="1000" dirty="0"/>
          </a:p>
        </p:txBody>
      </p:sp>
      <p:sp>
        <p:nvSpPr>
          <p:cNvPr id="62" name="Shape 60"/>
          <p:cNvSpPr/>
          <p:nvPr/>
        </p:nvSpPr>
        <p:spPr>
          <a:xfrm>
            <a:off x="502920" y="4618423"/>
            <a:ext cx="11141835" cy="0"/>
          </a:xfrm>
          <a:prstGeom prst="line">
            <a:avLst/>
          </a:prstGeom>
          <a:noFill/>
          <a:ln w="9525">
            <a:solidFill>
              <a:srgbClr val="D4D4DA"/>
            </a:solidFill>
            <a:prstDash val="sysDot"/>
          </a:ln>
        </p:spPr>
      </p:sp>
      <p:sp>
        <p:nvSpPr>
          <p:cNvPr id="63" name="Text 61"/>
          <p:cNvSpPr txBox="1"/>
          <p:nvPr/>
        </p:nvSpPr>
        <p:spPr>
          <a:xfrm>
            <a:off x="502920" y="4673287"/>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ATTEND</a:t>
            </a:r>
            <a:endParaRPr lang="en-US" sz="950" dirty="0"/>
          </a:p>
        </p:txBody>
      </p:sp>
      <p:sp>
        <p:nvSpPr>
          <p:cNvPr id="64" name="Shape 62"/>
          <p:cNvSpPr/>
          <p:nvPr/>
        </p:nvSpPr>
        <p:spPr>
          <a:xfrm>
            <a:off x="8020398" y="4807831"/>
            <a:ext cx="2934701" cy="0"/>
          </a:xfrm>
          <a:prstGeom prst="line">
            <a:avLst/>
          </a:prstGeom>
          <a:noFill/>
          <a:ln w="15875">
            <a:solidFill>
              <a:srgbClr val="1A1A1A"/>
            </a:solidFill>
            <a:prstDash val="solid"/>
            <a:headEnd type="triangle"/>
          </a:ln>
        </p:spPr>
      </p:sp>
      <p:sp>
        <p:nvSpPr>
          <p:cNvPr id="65" name="Shape 63"/>
          <p:cNvSpPr/>
          <p:nvPr/>
        </p:nvSpPr>
        <p:spPr>
          <a:xfrm>
            <a:off x="10854516" y="4707247"/>
            <a:ext cx="201168" cy="201168"/>
          </a:xfrm>
          <a:prstGeom prst="ellipse">
            <a:avLst/>
          </a:prstGeom>
          <a:solidFill>
            <a:srgbClr val="00A9C0"/>
          </a:solidFill>
          <a:ln w="12700">
            <a:solidFill>
              <a:srgbClr val="00A9C0"/>
            </a:solidFill>
            <a:prstDash val="solid"/>
          </a:ln>
        </p:spPr>
      </p:sp>
      <p:sp>
        <p:nvSpPr>
          <p:cNvPr id="66" name="Text 64"/>
          <p:cNvSpPr txBox="1"/>
          <p:nvPr/>
        </p:nvSpPr>
        <p:spPr>
          <a:xfrm>
            <a:off x="10854516" y="4707247"/>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9</a:t>
            </a:r>
            <a:endParaRPr lang="en-US" sz="800" dirty="0"/>
          </a:p>
        </p:txBody>
      </p:sp>
      <p:sp>
        <p:nvSpPr>
          <p:cNvPr id="67" name="Text 65"/>
          <p:cNvSpPr txBox="1"/>
          <p:nvPr/>
        </p:nvSpPr>
        <p:spPr>
          <a:xfrm>
            <a:off x="8056974" y="4560943"/>
            <a:ext cx="2751821" cy="219456"/>
          </a:xfrm>
          <a:prstGeom prst="rect">
            <a:avLst/>
          </a:prstGeom>
          <a:noFill/>
          <a:ln/>
        </p:spPr>
        <p:txBody>
          <a:bodyPr wrap="square" lIns="0" tIns="0" rIns="0" bIns="0" rtlCol="0" anchor="b"/>
          <a:lstStyle/>
          <a:p>
            <a:pPr algn="ctr" indent="0" marL="0">
              <a:buNone/>
            </a:pPr>
            <a:r>
              <a:rPr lang="en-US" sz="1000" dirty="0">
                <a:solidFill>
                  <a:srgbClr val="000000"/>
                </a:solidFill>
              </a:rPr>
              <a:t>QR check-in at the door</a:t>
            </a:r>
            <a:endParaRPr lang="en-US" sz="1000" dirty="0"/>
          </a:p>
        </p:txBody>
      </p:sp>
      <p:sp>
        <p:nvSpPr>
          <p:cNvPr id="68" name="Shape 66"/>
          <p:cNvSpPr/>
          <p:nvPr/>
        </p:nvSpPr>
        <p:spPr>
          <a:xfrm>
            <a:off x="502920" y="4905404"/>
            <a:ext cx="11141835" cy="0"/>
          </a:xfrm>
          <a:prstGeom prst="line">
            <a:avLst/>
          </a:prstGeom>
          <a:noFill/>
          <a:ln w="9525">
            <a:solidFill>
              <a:srgbClr val="D4D4DA"/>
            </a:solidFill>
            <a:prstDash val="sysDot"/>
          </a:ln>
        </p:spPr>
      </p:sp>
      <p:sp>
        <p:nvSpPr>
          <p:cNvPr id="69" name="Text 67"/>
          <p:cNvSpPr txBox="1"/>
          <p:nvPr/>
        </p:nvSpPr>
        <p:spPr>
          <a:xfrm>
            <a:off x="502920" y="4960268"/>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ENGAGE</a:t>
            </a:r>
            <a:endParaRPr lang="en-US" sz="950" dirty="0"/>
          </a:p>
        </p:txBody>
      </p:sp>
      <p:sp>
        <p:nvSpPr>
          <p:cNvPr id="70" name="Shape 68"/>
          <p:cNvSpPr/>
          <p:nvPr/>
        </p:nvSpPr>
        <p:spPr>
          <a:xfrm>
            <a:off x="8020398" y="5094812"/>
            <a:ext cx="1467351" cy="0"/>
          </a:xfrm>
          <a:prstGeom prst="line">
            <a:avLst/>
          </a:prstGeom>
          <a:noFill/>
          <a:ln w="15875">
            <a:solidFill>
              <a:srgbClr val="1A1A1A"/>
            </a:solidFill>
            <a:prstDash val="solid"/>
            <a:tailEnd type="triangle"/>
          </a:ln>
        </p:spPr>
      </p:sp>
      <p:sp>
        <p:nvSpPr>
          <p:cNvPr id="71" name="Shape 69"/>
          <p:cNvSpPr/>
          <p:nvPr/>
        </p:nvSpPr>
        <p:spPr>
          <a:xfrm>
            <a:off x="7919814" y="4994228"/>
            <a:ext cx="201168" cy="201168"/>
          </a:xfrm>
          <a:prstGeom prst="ellipse">
            <a:avLst/>
          </a:prstGeom>
          <a:solidFill>
            <a:srgbClr val="00A9C0"/>
          </a:solidFill>
          <a:ln w="12700">
            <a:solidFill>
              <a:srgbClr val="00A9C0"/>
            </a:solidFill>
            <a:prstDash val="solid"/>
          </a:ln>
        </p:spPr>
      </p:sp>
      <p:sp>
        <p:nvSpPr>
          <p:cNvPr id="72" name="Text 70"/>
          <p:cNvSpPr txBox="1"/>
          <p:nvPr/>
        </p:nvSpPr>
        <p:spPr>
          <a:xfrm>
            <a:off x="7919814" y="4994228"/>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10</a:t>
            </a:r>
            <a:endParaRPr lang="en-US" sz="800" dirty="0"/>
          </a:p>
        </p:txBody>
      </p:sp>
      <p:sp>
        <p:nvSpPr>
          <p:cNvPr id="73" name="Text 71"/>
          <p:cNvSpPr txBox="1"/>
          <p:nvPr/>
        </p:nvSpPr>
        <p:spPr>
          <a:xfrm>
            <a:off x="8166702" y="4847924"/>
            <a:ext cx="1852574" cy="219456"/>
          </a:xfrm>
          <a:prstGeom prst="rect">
            <a:avLst/>
          </a:prstGeom>
          <a:noFill/>
          <a:ln/>
        </p:spPr>
        <p:txBody>
          <a:bodyPr wrap="square" lIns="0" tIns="0" rIns="0" bIns="0" rtlCol="0" anchor="b"/>
          <a:lstStyle/>
          <a:p>
            <a:pPr algn="ctr" indent="0" marL="0">
              <a:buNone/>
            </a:pPr>
            <a:r>
              <a:rPr lang="en-US" sz="1000" dirty="0">
                <a:solidFill>
                  <a:srgbClr val="000000"/>
                </a:solidFill>
              </a:rPr>
              <a:t>Attendance and interests</a:t>
            </a:r>
            <a:endParaRPr lang="en-US" sz="1000" dirty="0"/>
          </a:p>
        </p:txBody>
      </p:sp>
      <p:sp>
        <p:nvSpPr>
          <p:cNvPr id="74" name="Shape 72"/>
          <p:cNvSpPr/>
          <p:nvPr/>
        </p:nvSpPr>
        <p:spPr>
          <a:xfrm>
            <a:off x="2150995" y="5381793"/>
            <a:ext cx="7336754" cy="0"/>
          </a:xfrm>
          <a:prstGeom prst="line">
            <a:avLst/>
          </a:prstGeom>
          <a:noFill/>
          <a:ln w="15875">
            <a:solidFill>
              <a:srgbClr val="6B7280"/>
            </a:solidFill>
            <a:prstDash val="dash"/>
            <a:headEnd type="triangle"/>
          </a:ln>
        </p:spPr>
      </p:sp>
      <p:sp>
        <p:nvSpPr>
          <p:cNvPr id="75" name="Shape 73"/>
          <p:cNvSpPr/>
          <p:nvPr/>
        </p:nvSpPr>
        <p:spPr>
          <a:xfrm>
            <a:off x="9387165" y="5281209"/>
            <a:ext cx="201168" cy="201168"/>
          </a:xfrm>
          <a:prstGeom prst="ellipse">
            <a:avLst/>
          </a:prstGeom>
          <a:solidFill>
            <a:srgbClr val="00A9C0"/>
          </a:solidFill>
          <a:ln w="12700">
            <a:solidFill>
              <a:srgbClr val="00A9C0"/>
            </a:solidFill>
            <a:prstDash val="solid"/>
          </a:ln>
        </p:spPr>
      </p:sp>
      <p:sp>
        <p:nvSpPr>
          <p:cNvPr id="76" name="Text 74"/>
          <p:cNvSpPr txBox="1"/>
          <p:nvPr/>
        </p:nvSpPr>
        <p:spPr>
          <a:xfrm>
            <a:off x="9387165" y="528120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11</a:t>
            </a:r>
            <a:endParaRPr lang="en-US" sz="800" dirty="0"/>
          </a:p>
        </p:txBody>
      </p:sp>
      <p:sp>
        <p:nvSpPr>
          <p:cNvPr id="77" name="Text 75"/>
          <p:cNvSpPr txBox="1"/>
          <p:nvPr/>
        </p:nvSpPr>
        <p:spPr>
          <a:xfrm>
            <a:off x="2187571" y="5134905"/>
            <a:ext cx="7153874" cy="219456"/>
          </a:xfrm>
          <a:prstGeom prst="rect">
            <a:avLst/>
          </a:prstGeom>
          <a:noFill/>
          <a:ln/>
        </p:spPr>
        <p:txBody>
          <a:bodyPr wrap="square" lIns="0" tIns="0" rIns="0" bIns="0" rtlCol="0" anchor="b"/>
          <a:lstStyle/>
          <a:p>
            <a:pPr algn="ctr" indent="0" marL="0">
              <a:buNone/>
            </a:pPr>
            <a:r>
              <a:rPr lang="en-US" sz="1000" dirty="0">
                <a:solidFill>
                  <a:srgbClr val="4D4D4D"/>
                </a:solidFill>
              </a:rPr>
              <a:t>PEIs: thank you, next class, app, find a doctor</a:t>
            </a:r>
            <a:endParaRPr lang="en-US" sz="1000" dirty="0"/>
          </a:p>
        </p:txBody>
      </p:sp>
      <p:sp>
        <p:nvSpPr>
          <p:cNvPr id="78" name="Shape 76"/>
          <p:cNvSpPr/>
          <p:nvPr/>
        </p:nvSpPr>
        <p:spPr>
          <a:xfrm>
            <a:off x="502920" y="5479366"/>
            <a:ext cx="11141835" cy="0"/>
          </a:xfrm>
          <a:prstGeom prst="line">
            <a:avLst/>
          </a:prstGeom>
          <a:noFill/>
          <a:ln w="9525">
            <a:solidFill>
              <a:srgbClr val="D4D4DA"/>
            </a:solidFill>
            <a:prstDash val="sysDot"/>
          </a:ln>
        </p:spPr>
      </p:sp>
      <p:sp>
        <p:nvSpPr>
          <p:cNvPr id="79" name="Text 77"/>
          <p:cNvSpPr txBox="1"/>
          <p:nvPr/>
        </p:nvSpPr>
        <p:spPr>
          <a:xfrm>
            <a:off x="502920" y="5534230"/>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GROW</a:t>
            </a:r>
            <a:endParaRPr lang="en-US" sz="950" dirty="0"/>
          </a:p>
        </p:txBody>
      </p:sp>
      <p:sp>
        <p:nvSpPr>
          <p:cNvPr id="80" name="Shape 78"/>
          <p:cNvSpPr/>
          <p:nvPr/>
        </p:nvSpPr>
        <p:spPr>
          <a:xfrm>
            <a:off x="8020398" y="5668774"/>
            <a:ext cx="2934701" cy="0"/>
          </a:xfrm>
          <a:prstGeom prst="line">
            <a:avLst/>
          </a:prstGeom>
          <a:noFill/>
          <a:ln w="15875">
            <a:solidFill>
              <a:srgbClr val="6B7280"/>
            </a:solidFill>
            <a:prstDash val="dash"/>
            <a:tailEnd type="triangle"/>
          </a:ln>
        </p:spPr>
      </p:sp>
      <p:sp>
        <p:nvSpPr>
          <p:cNvPr id="81" name="Shape 79"/>
          <p:cNvSpPr/>
          <p:nvPr/>
        </p:nvSpPr>
        <p:spPr>
          <a:xfrm>
            <a:off x="7919814" y="5568190"/>
            <a:ext cx="201168" cy="201168"/>
          </a:xfrm>
          <a:prstGeom prst="ellipse">
            <a:avLst/>
          </a:prstGeom>
          <a:solidFill>
            <a:srgbClr val="00A9C0"/>
          </a:solidFill>
          <a:ln w="12700">
            <a:solidFill>
              <a:srgbClr val="00A9C0"/>
            </a:solidFill>
            <a:prstDash val="solid"/>
          </a:ln>
        </p:spPr>
      </p:sp>
      <p:sp>
        <p:nvSpPr>
          <p:cNvPr id="82" name="Text 80"/>
          <p:cNvSpPr txBox="1"/>
          <p:nvPr/>
        </p:nvSpPr>
        <p:spPr>
          <a:xfrm>
            <a:off x="7919814" y="5568190"/>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12</a:t>
            </a:r>
            <a:endParaRPr lang="en-US" sz="800" dirty="0"/>
          </a:p>
        </p:txBody>
      </p:sp>
      <p:sp>
        <p:nvSpPr>
          <p:cNvPr id="83" name="Text 81"/>
          <p:cNvSpPr txBox="1"/>
          <p:nvPr/>
        </p:nvSpPr>
        <p:spPr>
          <a:xfrm>
            <a:off x="8166702" y="5421886"/>
            <a:ext cx="2799893" cy="219456"/>
          </a:xfrm>
          <a:prstGeom prst="rect">
            <a:avLst/>
          </a:prstGeom>
          <a:noFill/>
          <a:ln/>
        </p:spPr>
        <p:txBody>
          <a:bodyPr wrap="square" lIns="0" tIns="0" rIns="0" bIns="0" rtlCol="0" anchor="b"/>
          <a:lstStyle/>
          <a:p>
            <a:pPr algn="ctr" indent="0" marL="0">
              <a:buNone/>
            </a:pPr>
            <a:r>
              <a:rPr lang="en-US" sz="1000" dirty="0">
                <a:solidFill>
                  <a:srgbClr val="4D4D4D"/>
                </a:solidFill>
              </a:rPr>
              <a:t>Dashboards, waitlist and demand alerts</a:t>
            </a:r>
            <a:endParaRPr lang="en-US" sz="1000" dirty="0"/>
          </a:p>
        </p:txBody>
      </p:sp>
      <p:sp>
        <p:nvSpPr>
          <p:cNvPr id="84" name="Shape 82"/>
          <p:cNvSpPr/>
          <p:nvPr/>
        </p:nvSpPr>
        <p:spPr>
          <a:xfrm>
            <a:off x="8020398" y="5955754"/>
            <a:ext cx="2934701" cy="0"/>
          </a:xfrm>
          <a:prstGeom prst="line">
            <a:avLst/>
          </a:prstGeom>
          <a:noFill/>
          <a:ln w="15875">
            <a:solidFill>
              <a:srgbClr val="1A1A1A"/>
            </a:solidFill>
            <a:prstDash val="solid"/>
            <a:headEnd type="triangle"/>
          </a:ln>
        </p:spPr>
      </p:sp>
      <p:sp>
        <p:nvSpPr>
          <p:cNvPr id="85" name="Shape 83"/>
          <p:cNvSpPr/>
          <p:nvPr/>
        </p:nvSpPr>
        <p:spPr>
          <a:xfrm>
            <a:off x="10854516" y="5855170"/>
            <a:ext cx="201168" cy="201168"/>
          </a:xfrm>
          <a:prstGeom prst="ellipse">
            <a:avLst/>
          </a:prstGeom>
          <a:solidFill>
            <a:srgbClr val="00A9C0"/>
          </a:solidFill>
          <a:ln w="12700">
            <a:solidFill>
              <a:srgbClr val="00A9C0"/>
            </a:solidFill>
            <a:prstDash val="solid"/>
          </a:ln>
        </p:spPr>
      </p:sp>
      <p:sp>
        <p:nvSpPr>
          <p:cNvPr id="86" name="Text 84"/>
          <p:cNvSpPr txBox="1"/>
          <p:nvPr/>
        </p:nvSpPr>
        <p:spPr>
          <a:xfrm>
            <a:off x="10854516" y="5855170"/>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13</a:t>
            </a:r>
            <a:endParaRPr lang="en-US" sz="800" dirty="0"/>
          </a:p>
        </p:txBody>
      </p:sp>
      <p:sp>
        <p:nvSpPr>
          <p:cNvPr id="87" name="Text 85"/>
          <p:cNvSpPr txBox="1"/>
          <p:nvPr/>
        </p:nvSpPr>
        <p:spPr>
          <a:xfrm>
            <a:off x="8056974" y="5708866"/>
            <a:ext cx="2751821" cy="219456"/>
          </a:xfrm>
          <a:prstGeom prst="rect">
            <a:avLst/>
          </a:prstGeom>
          <a:noFill/>
          <a:ln/>
        </p:spPr>
        <p:txBody>
          <a:bodyPr wrap="square" lIns="0" tIns="0" rIns="0" bIns="0" rtlCol="0" anchor="b"/>
          <a:lstStyle/>
          <a:p>
            <a:pPr algn="ctr" indent="0" marL="0">
              <a:buNone/>
            </a:pPr>
            <a:r>
              <a:rPr lang="en-US" sz="1000" dirty="0">
                <a:solidFill>
                  <a:srgbClr val="000000"/>
                </a:solidFill>
              </a:rPr>
              <a:t>Add a session in one click</a:t>
            </a:r>
            <a:endParaRPr lang="en-US" sz="1000" dirty="0"/>
          </a:p>
        </p:txBody>
      </p:sp>
      <p:sp>
        <p:nvSpPr>
          <p:cNvPr id="88" name="Text 86"/>
          <p:cNvSpPr txBox="1"/>
          <p:nvPr/>
        </p:nvSpPr>
        <p:spPr>
          <a:xfrm>
            <a:off x="502920" y="6108192"/>
            <a:ext cx="8229600" cy="237744"/>
          </a:xfrm>
          <a:prstGeom prst="rect">
            <a:avLst/>
          </a:prstGeom>
          <a:noFill/>
          <a:ln/>
        </p:spPr>
        <p:txBody>
          <a:bodyPr wrap="square" lIns="0" tIns="0" rIns="0" bIns="0" rtlCol="0" anchor="t"/>
          <a:lstStyle/>
          <a:p>
            <a:pPr indent="0" marL="0">
              <a:buNone/>
            </a:pPr>
            <a:r>
              <a:rPr lang="en-US" sz="1050" i="1" dirty="0">
                <a:solidFill>
                  <a:srgbClr val="4D4D4D"/>
                </a:solidFill>
              </a:rPr>
              <a:t>Classes and conferences share this flow; conferences add sessions, speakers and My Agenda.</a:t>
            </a:r>
            <a:endParaRPr lang="en-US" sz="10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Phase 1: conferences with full session management</a:t>
            </a:r>
            <a:endParaRPr lang="en-US" sz="3200" dirty="0"/>
          </a:p>
        </p:txBody>
      </p:sp>
      <p:pic>
        <p:nvPicPr>
          <p:cNvPr id="3" name="04-conference-agenda.png" descr="/home/user/presales_memorial-hermann/deck/mockups/png/04-conference-agenda.png">    </p:cNvPr>
          <p:cNvPicPr>
            <a:picLocks noChangeAspect="1"/>
          </p:cNvPicPr>
          <p:nvPr/>
        </p:nvPicPr>
        <p:blipFill>
          <a:blip r:embed="rId1"/>
          <a:stretch>
            <a:fillRect/>
          </a:stretch>
        </p:blipFill>
        <p:spPr>
          <a:xfrm>
            <a:off x="502920" y="1691640"/>
            <a:ext cx="6858000" cy="4288536"/>
          </a:xfrm>
          <a:prstGeom prst="rect">
            <a:avLst/>
          </a:prstGeom>
          <a:effectLst>
            <a:outerShdw sx="100000" sy="100000" kx="0" ky="0" algn="bl" rotWithShape="0" blurRad="101600" dist="25400" dir="5400000">
              <a:srgbClr val="000000">
                <a:alpha val="25000"/>
              </a:srgbClr>
            </a:outerShdw>
          </a:effectLst>
        </p:spPr>
      </p:pic>
      <p:sp>
        <p:nvSpPr>
          <p:cNvPr id="4" name="Text 1"/>
          <p:cNvSpPr txBox="1"/>
          <p:nvPr/>
        </p:nvSpPr>
        <p:spPr>
          <a:xfrm>
            <a:off x="7772400" y="1691640"/>
            <a:ext cx="3931920" cy="365760"/>
          </a:xfrm>
          <a:prstGeom prst="rect">
            <a:avLst/>
          </a:prstGeom>
          <a:noFill/>
          <a:ln/>
        </p:spPr>
        <p:txBody>
          <a:bodyPr wrap="square" lIns="0" tIns="0" rIns="0" bIns="0" rtlCol="0" anchor="t"/>
          <a:lstStyle/>
          <a:p>
            <a:pPr indent="0" marL="0">
              <a:buNone/>
            </a:pPr>
            <a:r>
              <a:rPr lang="en-US" sz="1800" b="1" dirty="0">
                <a:solidFill>
                  <a:schemeClr val="tx1"/>
                </a:solidFill>
              </a:rPr>
              <a:t>Replaces Certain</a:t>
            </a:r>
            <a:endParaRPr lang="en-US" sz="1800" dirty="0"/>
          </a:p>
        </p:txBody>
      </p:sp>
      <p:sp>
        <p:nvSpPr>
          <p:cNvPr id="5" name="Text 2"/>
          <p:cNvSpPr txBox="1"/>
          <p:nvPr/>
        </p:nvSpPr>
        <p:spPr>
          <a:xfrm>
            <a:off x="7772400" y="2194560"/>
            <a:ext cx="393192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Multi-day agenda with tracks and rooms</a:t>
            </a:r>
            <a:endParaRPr lang="en-US" sz="1400" dirty="0"/>
          </a:p>
          <a:p>
            <a:pPr marL="342900" indent="-342900">
              <a:spcAft>
                <a:spcPts val="600"/>
              </a:spcAft>
              <a:buSzPct val="100000"/>
              <a:buChar char="•"/>
            </a:pPr>
            <a:r>
              <a:rPr lang="en-US" sz="1400" dirty="0">
                <a:solidFill>
                  <a:srgbClr val="4D4D4D"/>
                </a:solidFill>
              </a:rPr>
              <a:t>Attendees build their own “My Agenda”</a:t>
            </a:r>
            <a:endParaRPr lang="en-US" sz="1400" dirty="0"/>
          </a:p>
          <a:p>
            <a:pPr marL="342900" indent="-342900">
              <a:spcAft>
                <a:spcPts val="600"/>
              </a:spcAft>
              <a:buSzPct val="100000"/>
              <a:buChar char="•"/>
            </a:pPr>
            <a:r>
              <a:rPr lang="en-US" sz="1400" dirty="0">
                <a:solidFill>
                  <a:srgbClr val="4D4D4D"/>
                </a:solidFill>
              </a:rPr>
              <a:t>Session capacity and waitlists</a:t>
            </a:r>
            <a:endParaRPr lang="en-US" sz="1400" dirty="0"/>
          </a:p>
          <a:p>
            <a:pPr marL="342900" indent="-342900">
              <a:spcAft>
                <a:spcPts val="600"/>
              </a:spcAft>
              <a:buSzPct val="100000"/>
              <a:buChar char="•"/>
            </a:pPr>
            <a:r>
              <a:rPr lang="en-US" sz="1400" dirty="0">
                <a:solidFill>
                  <a:srgbClr val="4D4D4D"/>
                </a:solidFill>
              </a:rPr>
              <a:t>Speaker profiles and assignments</a:t>
            </a:r>
            <a:endParaRPr lang="en-US" sz="1400" dirty="0"/>
          </a:p>
          <a:p>
            <a:pPr marL="342900" indent="-342900">
              <a:spcAft>
                <a:spcPts val="600"/>
              </a:spcAft>
              <a:buSzPct val="100000"/>
              <a:buChar char="•"/>
            </a:pPr>
            <a:r>
              <a:rPr lang="en-US" sz="1400" dirty="0">
                <a:solidFill>
                  <a:srgbClr val="4D4D4D"/>
                </a:solidFill>
              </a:rPr>
              <a:t>Ticket types for providers and guests</a:t>
            </a:r>
            <a:endParaRPr lang="en-US" sz="1400" dirty="0"/>
          </a:p>
          <a:p>
            <a:pPr marL="342900" indent="-342900">
              <a:spcAft>
                <a:spcPts val="600"/>
              </a:spcAft>
              <a:buSzPct val="100000"/>
              <a:buChar char="•"/>
            </a:pPr>
            <a:r>
              <a:rPr lang="en-US" sz="1400" dirty="0">
                <a:solidFill>
                  <a:srgbClr val="4D4D4D"/>
                </a:solidFill>
              </a:rPr>
              <a:t>Badges and CME credit tracking [to confirm]</a:t>
            </a:r>
            <a:endParaRPr lang="en-US" sz="14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Phase 2: today’s class registration, improved</a:t>
            </a:r>
            <a:endParaRPr lang="en-US" sz="3200" dirty="0"/>
          </a:p>
        </p:txBody>
      </p:sp>
      <p:pic>
        <p:nvPicPr>
          <p:cNvPr id="3" name="01-web-registration.png" descr="/home/user/presales_memorial-hermann/deck/mockups/png/01-web-registration.png">    </p:cNvPr>
          <p:cNvPicPr>
            <a:picLocks noChangeAspect="1"/>
          </p:cNvPicPr>
          <p:nvPr/>
        </p:nvPicPr>
        <p:blipFill>
          <a:blip r:embed="rId1"/>
          <a:stretch>
            <a:fillRect/>
          </a:stretch>
        </p:blipFill>
        <p:spPr>
          <a:xfrm>
            <a:off x="502920" y="1691640"/>
            <a:ext cx="5440680" cy="3401568"/>
          </a:xfrm>
          <a:prstGeom prst="rect">
            <a:avLst/>
          </a:prstGeom>
          <a:effectLst>
            <a:outerShdw sx="100000" sy="100000" kx="0" ky="0" algn="bl" rotWithShape="0" blurRad="101600" dist="25400" dir="5400000">
              <a:srgbClr val="000000">
                <a:alpha val="25000"/>
              </a:srgbClr>
            </a:outerShdw>
          </a:effectLst>
        </p:spPr>
      </p:pic>
      <p:pic>
        <p:nvPicPr>
          <p:cNvPr id="4" name="02-mobile-flow.png" descr="/home/user/presales_memorial-hermann/deck/mockups/png/02-mobile-flow.png">    </p:cNvPr>
          <p:cNvPicPr>
            <a:picLocks noChangeAspect="1"/>
          </p:cNvPicPr>
          <p:nvPr/>
        </p:nvPicPr>
        <p:blipFill>
          <a:blip r:embed="rId2"/>
          <a:stretch>
            <a:fillRect/>
          </a:stretch>
        </p:blipFill>
        <p:spPr>
          <a:xfrm>
            <a:off x="6245352" y="1691640"/>
            <a:ext cx="5440680" cy="3401568"/>
          </a:xfrm>
          <a:prstGeom prst="rect">
            <a:avLst/>
          </a:prstGeom>
          <a:effectLst>
            <a:outerShdw sx="100000" sy="100000" kx="0" ky="0" algn="bl" rotWithShape="0" blurRad="101600" dist="25400" dir="5400000">
              <a:srgbClr val="000000">
                <a:alpha val="25000"/>
              </a:srgbClr>
            </a:outerShdw>
          </a:effectLst>
        </p:spPr>
      </p:pic>
      <p:sp>
        <p:nvSpPr>
          <p:cNvPr id="5" name="Text 1"/>
          <p:cNvSpPr txBox="1"/>
          <p:nvPr/>
        </p:nvSpPr>
        <p:spPr>
          <a:xfrm>
            <a:off x="502920" y="5257800"/>
            <a:ext cx="5440680" cy="274320"/>
          </a:xfrm>
          <a:prstGeom prst="rect">
            <a:avLst/>
          </a:prstGeom>
          <a:noFill/>
          <a:ln/>
        </p:spPr>
        <p:txBody>
          <a:bodyPr wrap="square" lIns="0" tIns="0" rIns="0" bIns="0" rtlCol="0" anchor="t"/>
          <a:lstStyle/>
          <a:p>
            <a:pPr indent="0" marL="0">
              <a:buNone/>
            </a:pPr>
            <a:r>
              <a:rPr lang="en-US" sz="1500" b="1" dirty="0">
                <a:solidFill>
                  <a:schemeClr val="tx1"/>
                </a:solidFill>
              </a:rPr>
              <a:t>Website and Experience Cloud site</a:t>
            </a:r>
            <a:endParaRPr lang="en-US" sz="1500" dirty="0"/>
          </a:p>
        </p:txBody>
      </p:sp>
      <p:sp>
        <p:nvSpPr>
          <p:cNvPr id="6" name="Text 2"/>
          <p:cNvSpPr txBox="1"/>
          <p:nvPr/>
        </p:nvSpPr>
        <p:spPr>
          <a:xfrm>
            <a:off x="502920" y="5550408"/>
            <a:ext cx="5440680" cy="502920"/>
          </a:xfrm>
          <a:prstGeom prst="rect">
            <a:avLst/>
          </a:prstGeom>
          <a:noFill/>
          <a:ln/>
        </p:spPr>
        <p:txBody>
          <a:bodyPr wrap="square" lIns="0" tIns="0" rIns="0" bIns="0" rtlCol="0" anchor="t"/>
          <a:lstStyle/>
          <a:p>
            <a:pPr indent="0" marL="0">
              <a:buNone/>
            </a:pPr>
            <a:r>
              <a:rPr lang="en-US" sz="1300" dirty="0">
                <a:solidFill>
                  <a:srgbClr val="4D4D4D"/>
                </a:solidFill>
              </a:rPr>
              <a:t>Same listings and registration site, now with live seats, waitlists and instant confirmation.</a:t>
            </a:r>
            <a:endParaRPr lang="en-US" sz="1300" dirty="0"/>
          </a:p>
        </p:txBody>
      </p:sp>
      <p:sp>
        <p:nvSpPr>
          <p:cNvPr id="7" name="Text 3"/>
          <p:cNvSpPr txBox="1"/>
          <p:nvPr/>
        </p:nvSpPr>
        <p:spPr>
          <a:xfrm>
            <a:off x="6245352" y="5257800"/>
            <a:ext cx="5440680" cy="274320"/>
          </a:xfrm>
          <a:prstGeom prst="rect">
            <a:avLst/>
          </a:prstGeom>
          <a:noFill/>
          <a:ln/>
        </p:spPr>
        <p:txBody>
          <a:bodyPr wrap="square" lIns="0" tIns="0" rIns="0" bIns="0" rtlCol="0" anchor="t"/>
          <a:lstStyle/>
          <a:p>
            <a:pPr indent="0" marL="0">
              <a:buNone/>
            </a:pPr>
            <a:r>
              <a:rPr lang="en-US" sz="1500" b="1" dirty="0">
                <a:solidFill>
                  <a:schemeClr val="tx1"/>
                </a:solidFill>
              </a:rPr>
              <a:t>Existing mobile app</a:t>
            </a:r>
            <a:endParaRPr lang="en-US" sz="1500" dirty="0"/>
          </a:p>
        </p:txBody>
      </p:sp>
      <p:sp>
        <p:nvSpPr>
          <p:cNvPr id="8" name="Text 4"/>
          <p:cNvSpPr txBox="1"/>
          <p:nvPr/>
        </p:nvSpPr>
        <p:spPr>
          <a:xfrm>
            <a:off x="6245352" y="5550408"/>
            <a:ext cx="5440680" cy="502920"/>
          </a:xfrm>
          <a:prstGeom prst="rect">
            <a:avLst/>
          </a:prstGeom>
          <a:noFill/>
          <a:ln/>
        </p:spPr>
        <p:txBody>
          <a:bodyPr wrap="square" lIns="0" tIns="0" rIns="0" bIns="0" rtlCol="0" anchor="t"/>
          <a:lstStyle/>
          <a:p>
            <a:pPr indent="0" marL="0">
              <a:buNone/>
            </a:pPr>
            <a:r>
              <a:rPr lang="en-US" sz="1300" dirty="0">
                <a:solidFill>
                  <a:srgbClr val="4D4D4D"/>
                </a:solidFill>
              </a:rPr>
              <a:t>The app people already register in, connected to the same event model. No new app.</a:t>
            </a:r>
            <a:endParaRPr lang="en-US" sz="13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Staff run classes and conferences from one console</a:t>
            </a:r>
            <a:endParaRPr lang="en-US" sz="3200" dirty="0"/>
          </a:p>
        </p:txBody>
      </p:sp>
      <p:pic>
        <p:nvPicPr>
          <p:cNvPr id="3" name="03-salesforce-console.png" descr="/home/user/presales_memorial-hermann/deck/mockups/png/03-salesforce-console.png">    </p:cNvPr>
          <p:cNvPicPr>
            <a:picLocks noChangeAspect="1"/>
          </p:cNvPicPr>
          <p:nvPr/>
        </p:nvPicPr>
        <p:blipFill>
          <a:blip r:embed="rId1"/>
          <a:stretch>
            <a:fillRect/>
          </a:stretch>
        </p:blipFill>
        <p:spPr>
          <a:xfrm>
            <a:off x="502920" y="1783080"/>
            <a:ext cx="7863840" cy="3538728"/>
          </a:xfrm>
          <a:prstGeom prst="rect">
            <a:avLst/>
          </a:prstGeom>
          <a:effectLst>
            <a:outerShdw sx="100000" sy="100000" kx="0" ky="0" algn="bl" rotWithShape="0" blurRad="101600" dist="25400" dir="5400000">
              <a:srgbClr val="000000">
                <a:alpha val="25000"/>
              </a:srgbClr>
            </a:outerShdw>
          </a:effectLst>
        </p:spPr>
      </p:pic>
      <p:sp>
        <p:nvSpPr>
          <p:cNvPr id="4" name="Text 1"/>
          <p:cNvSpPr txBox="1"/>
          <p:nvPr/>
        </p:nvSpPr>
        <p:spPr>
          <a:xfrm>
            <a:off x="8732520" y="1783080"/>
            <a:ext cx="2971800" cy="365760"/>
          </a:xfrm>
          <a:prstGeom prst="rect">
            <a:avLst/>
          </a:prstGeom>
          <a:noFill/>
          <a:ln/>
        </p:spPr>
        <p:txBody>
          <a:bodyPr wrap="square" lIns="0" tIns="0" rIns="0" bIns="0" rtlCol="0" anchor="t"/>
          <a:lstStyle/>
          <a:p>
            <a:pPr indent="0" marL="0">
              <a:buNone/>
            </a:pPr>
            <a:r>
              <a:rPr lang="en-US" sz="1800" b="1" dirty="0">
                <a:solidFill>
                  <a:schemeClr val="tx1"/>
                </a:solidFill>
              </a:rPr>
              <a:t>What staff can do</a:t>
            </a:r>
            <a:endParaRPr lang="en-US" sz="1800" dirty="0"/>
          </a:p>
        </p:txBody>
      </p:sp>
      <p:sp>
        <p:nvSpPr>
          <p:cNvPr id="5" name="Text 2"/>
          <p:cNvSpPr txBox="1"/>
          <p:nvPr/>
        </p:nvSpPr>
        <p:spPr>
          <a:xfrm>
            <a:off x="8732520" y="2286000"/>
            <a:ext cx="297180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Set up a class once and repeat it as a series</a:t>
            </a:r>
            <a:endParaRPr lang="en-US" sz="1400" dirty="0"/>
          </a:p>
          <a:p>
            <a:pPr marL="342900" indent="-342900">
              <a:spcAft>
                <a:spcPts val="600"/>
              </a:spcAft>
              <a:buSzPct val="100000"/>
              <a:buChar char="•"/>
            </a:pPr>
            <a:r>
              <a:rPr lang="en-US" sz="1400" dirty="0">
                <a:solidFill>
                  <a:srgbClr val="4D4D4D"/>
                </a:solidFill>
              </a:rPr>
              <a:t>Watch capacity and waitlists fill in real time</a:t>
            </a:r>
            <a:endParaRPr lang="en-US" sz="1400" dirty="0"/>
          </a:p>
          <a:p>
            <a:pPr marL="342900" indent="-342900">
              <a:spcAft>
                <a:spcPts val="600"/>
              </a:spcAft>
              <a:buSzPct val="100000"/>
              <a:buChar char="•"/>
            </a:pPr>
            <a:r>
              <a:rPr lang="en-US" sz="1400" dirty="0">
                <a:solidFill>
                  <a:srgbClr val="4D4D4D"/>
                </a:solidFill>
              </a:rPr>
              <a:t>Match registrants to existing Health Cloud records</a:t>
            </a:r>
            <a:endParaRPr lang="en-US" sz="1400" dirty="0"/>
          </a:p>
          <a:p>
            <a:pPr marL="342900" indent="-342900">
              <a:spcAft>
                <a:spcPts val="600"/>
              </a:spcAft>
              <a:buSzPct val="100000"/>
              <a:buChar char="•"/>
            </a:pPr>
            <a:r>
              <a:rPr lang="en-US" sz="1400" dirty="0">
                <a:solidFill>
                  <a:srgbClr val="4D4D4D"/>
                </a:solidFill>
              </a:rPr>
              <a:t>Check people in with a QR scan</a:t>
            </a:r>
            <a:endParaRPr lang="en-US" sz="1400" dirty="0"/>
          </a:p>
          <a:p>
            <a:pPr marL="342900" indent="-342900">
              <a:spcAft>
                <a:spcPts val="600"/>
              </a:spcAft>
              <a:buSzPct val="100000"/>
              <a:buChar char="•"/>
            </a:pPr>
            <a:r>
              <a:rPr lang="en-US" sz="1400" dirty="0">
                <a:solidFill>
                  <a:srgbClr val="4D4D4D"/>
                </a:solidFill>
              </a:rPr>
              <a:t>Email attendees and track revenue</a:t>
            </a:r>
            <a:endParaRPr lang="en-US" sz="1400" dirty="0"/>
          </a:p>
        </p:txBody>
      </p:sp>
      <p:sp>
        <p:nvSpPr>
          <p:cNvPr id="6" name="Text 3"/>
          <p:cNvSpPr txBox="1"/>
          <p:nvPr/>
        </p:nvSpPr>
        <p:spPr>
          <a:xfrm>
            <a:off x="502920" y="5486400"/>
            <a:ext cx="4572000" cy="274320"/>
          </a:xfrm>
          <a:prstGeom prst="rect">
            <a:avLst/>
          </a:prstGeom>
          <a:noFill/>
          <a:ln/>
        </p:spPr>
        <p:txBody>
          <a:bodyPr wrap="square" lIns="0" tIns="0" rIns="0" bIns="0" rtlCol="0" anchor="t"/>
          <a:lstStyle/>
          <a:p>
            <a:pPr indent="0" marL="0">
              <a:buNone/>
            </a:pPr>
            <a:r>
              <a:rPr lang="en-US" sz="1100" i="1" dirty="0">
                <a:solidFill>
                  <a:srgbClr val="4D4D4D"/>
                </a:solidFill>
              </a:rPr>
              <a:t>Concept mockup, sample data</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Every seat filled, no interested person lost</a:t>
            </a:r>
            <a:endParaRPr lang="en-US" sz="3200" dirty="0"/>
          </a:p>
        </p:txBody>
      </p:sp>
      <p:sp>
        <p:nvSpPr>
          <p:cNvPr id="3" name="Text 1"/>
          <p:cNvSpPr txBox="1"/>
          <p:nvPr/>
        </p:nvSpPr>
        <p:spPr>
          <a:xfrm>
            <a:off x="502920" y="1325880"/>
            <a:ext cx="8229600" cy="320040"/>
          </a:xfrm>
          <a:prstGeom prst="rect">
            <a:avLst/>
          </a:prstGeom>
          <a:noFill/>
          <a:ln/>
        </p:spPr>
        <p:txBody>
          <a:bodyPr wrap="square" lIns="0" tIns="0" rIns="0" bIns="0" rtlCol="0" anchor="t"/>
          <a:lstStyle/>
          <a:p>
            <a:pPr indent="0" marL="0">
              <a:buNone/>
            </a:pPr>
            <a:r>
              <a:rPr lang="en-US" sz="1400" dirty="0">
                <a:solidFill>
                  <a:srgbClr val="BFBFBF"/>
                </a:solidFill>
              </a:rPr>
              <a:t>When interest outruns seats: a popular class or a conference opening</a:t>
            </a:r>
            <a:endParaRPr lang="en-US" sz="1400" dirty="0"/>
          </a:p>
        </p:txBody>
      </p:sp>
      <p:sp>
        <p:nvSpPr>
          <p:cNvPr id="4" name="step-1"/>
          <p:cNvSpPr/>
          <p:nvPr/>
        </p:nvSpPr>
        <p:spPr>
          <a:xfrm>
            <a:off x="502920" y="1874520"/>
            <a:ext cx="2011680" cy="1325880"/>
          </a:xfrm>
          <a:prstGeom prst="roundRect">
            <a:avLst>
              <a:gd name="adj" fmla="val 8276"/>
            </a:avLst>
          </a:prstGeom>
          <a:solidFill>
            <a:srgbClr val="111114"/>
          </a:solidFill>
          <a:ln w="19050">
            <a:solidFill>
              <a:srgbClr val="00D6F2"/>
            </a:solidFill>
            <a:prstDash val="solid"/>
          </a:ln>
        </p:spPr>
      </p:sp>
      <p:pic>
        <p:nvPicPr>
          <p:cNvPr id="5" name="Image 0" descr="preencoded.png">    </p:cNvPr>
          <p:cNvPicPr>
            <a:picLocks noChangeAspect="1"/>
          </p:cNvPicPr>
          <p:nvPr/>
        </p:nvPicPr>
        <p:blipFill>
          <a:blip r:embed="rId1"/>
          <a:stretch>
            <a:fillRect/>
          </a:stretch>
        </p:blipFill>
        <p:spPr>
          <a:xfrm>
            <a:off x="667512" y="2039112"/>
            <a:ext cx="292608" cy="292608"/>
          </a:xfrm>
          <a:prstGeom prst="rect">
            <a:avLst/>
          </a:prstGeom>
        </p:spPr>
      </p:pic>
      <p:sp>
        <p:nvSpPr>
          <p:cNvPr id="6" name="Text 3"/>
          <p:cNvSpPr txBox="1"/>
          <p:nvPr/>
        </p:nvSpPr>
        <p:spPr>
          <a:xfrm>
            <a:off x="2103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1</a:t>
            </a:r>
            <a:endParaRPr lang="en-US" sz="1200" dirty="0"/>
          </a:p>
        </p:txBody>
      </p:sp>
      <p:sp>
        <p:nvSpPr>
          <p:cNvPr id="7" name="Text 4"/>
          <p:cNvSpPr txBox="1"/>
          <p:nvPr/>
        </p:nvSpPr>
        <p:spPr>
          <a:xfrm>
            <a:off x="667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Edge protection</a:t>
            </a:r>
            <a:endParaRPr lang="en-US" sz="1400" dirty="0"/>
          </a:p>
        </p:txBody>
      </p:sp>
      <p:sp>
        <p:nvSpPr>
          <p:cNvPr id="8" name="Text 5"/>
          <p:cNvSpPr txBox="1"/>
          <p:nvPr/>
        </p:nvSpPr>
        <p:spPr>
          <a:xfrm>
            <a:off x="667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Cached pages, bot defense, rate limits</a:t>
            </a:r>
            <a:endParaRPr lang="en-US" sz="1100" dirty="0"/>
          </a:p>
        </p:txBody>
      </p:sp>
      <p:sp>
        <p:nvSpPr>
          <p:cNvPr id="9" name="Shape 6"/>
          <p:cNvSpPr/>
          <p:nvPr/>
        </p:nvSpPr>
        <p:spPr>
          <a:xfrm>
            <a:off x="2542032" y="2537460"/>
            <a:ext cx="219456" cy="0"/>
          </a:xfrm>
          <a:prstGeom prst="line">
            <a:avLst/>
          </a:prstGeom>
          <a:noFill/>
          <a:ln w="15875">
            <a:solidFill>
              <a:schemeClr val="bg1"/>
            </a:solidFill>
            <a:prstDash val="solid"/>
            <a:tailEnd type="triangle"/>
          </a:ln>
        </p:spPr>
      </p:sp>
      <p:sp>
        <p:nvSpPr>
          <p:cNvPr id="10" name="step-2"/>
          <p:cNvSpPr/>
          <p:nvPr/>
        </p:nvSpPr>
        <p:spPr>
          <a:xfrm>
            <a:off x="2788920" y="1874520"/>
            <a:ext cx="2011680" cy="1325880"/>
          </a:xfrm>
          <a:prstGeom prst="roundRect">
            <a:avLst>
              <a:gd name="adj" fmla="val 8276"/>
            </a:avLst>
          </a:prstGeom>
          <a:solidFill>
            <a:srgbClr val="111114"/>
          </a:solidFill>
          <a:ln w="19050">
            <a:solidFill>
              <a:srgbClr val="FED700"/>
            </a:solidFill>
            <a:prstDash val="solid"/>
          </a:ln>
        </p:spPr>
      </p:sp>
      <p:pic>
        <p:nvPicPr>
          <p:cNvPr id="11" name="Image 1" descr="preencoded.png">    </p:cNvPr>
          <p:cNvPicPr>
            <a:picLocks noChangeAspect="1"/>
          </p:cNvPicPr>
          <p:nvPr/>
        </p:nvPicPr>
        <p:blipFill>
          <a:blip r:embed="rId2"/>
          <a:stretch>
            <a:fillRect/>
          </a:stretch>
        </p:blipFill>
        <p:spPr>
          <a:xfrm>
            <a:off x="2953512" y="2039112"/>
            <a:ext cx="292608" cy="292608"/>
          </a:xfrm>
          <a:prstGeom prst="rect">
            <a:avLst/>
          </a:prstGeom>
        </p:spPr>
      </p:pic>
      <p:sp>
        <p:nvSpPr>
          <p:cNvPr id="12" name="Text 8"/>
          <p:cNvSpPr txBox="1"/>
          <p:nvPr/>
        </p:nvSpPr>
        <p:spPr>
          <a:xfrm>
            <a:off x="4389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2</a:t>
            </a:r>
            <a:endParaRPr lang="en-US" sz="1200" dirty="0"/>
          </a:p>
        </p:txBody>
      </p:sp>
      <p:sp>
        <p:nvSpPr>
          <p:cNvPr id="13" name="Text 9"/>
          <p:cNvSpPr txBox="1"/>
          <p:nvPr/>
        </p:nvSpPr>
        <p:spPr>
          <a:xfrm>
            <a:off x="2953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Fair waiting room</a:t>
            </a:r>
            <a:endParaRPr lang="en-US" sz="1400" dirty="0"/>
          </a:p>
        </p:txBody>
      </p:sp>
      <p:sp>
        <p:nvSpPr>
          <p:cNvPr id="14" name="Text 10"/>
          <p:cNvSpPr txBox="1"/>
          <p:nvPr/>
        </p:nvSpPr>
        <p:spPr>
          <a:xfrm>
            <a:off x="2953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Admits people in arrival order</a:t>
            </a:r>
            <a:endParaRPr lang="en-US" sz="1100" dirty="0"/>
          </a:p>
        </p:txBody>
      </p:sp>
      <p:sp>
        <p:nvSpPr>
          <p:cNvPr id="15" name="Shape 11"/>
          <p:cNvSpPr/>
          <p:nvPr/>
        </p:nvSpPr>
        <p:spPr>
          <a:xfrm>
            <a:off x="4828032" y="2537460"/>
            <a:ext cx="219456" cy="0"/>
          </a:xfrm>
          <a:prstGeom prst="line">
            <a:avLst/>
          </a:prstGeom>
          <a:noFill/>
          <a:ln w="15875">
            <a:solidFill>
              <a:schemeClr val="bg1"/>
            </a:solidFill>
            <a:prstDash val="solid"/>
            <a:tailEnd type="triangle"/>
          </a:ln>
        </p:spPr>
      </p:sp>
      <p:sp>
        <p:nvSpPr>
          <p:cNvPr id="16" name="step-3"/>
          <p:cNvSpPr/>
          <p:nvPr/>
        </p:nvSpPr>
        <p:spPr>
          <a:xfrm>
            <a:off x="5074920" y="1874520"/>
            <a:ext cx="2011680" cy="1325880"/>
          </a:xfrm>
          <a:prstGeom prst="roundRect">
            <a:avLst>
              <a:gd name="adj" fmla="val 8276"/>
            </a:avLst>
          </a:prstGeom>
          <a:solidFill>
            <a:srgbClr val="111114"/>
          </a:solidFill>
          <a:ln w="19050">
            <a:solidFill>
              <a:srgbClr val="FF0068"/>
            </a:solidFill>
            <a:prstDash val="solid"/>
          </a:ln>
        </p:spPr>
      </p:sp>
      <p:pic>
        <p:nvPicPr>
          <p:cNvPr id="17" name="Image 2" descr="preencoded.png">    </p:cNvPr>
          <p:cNvPicPr>
            <a:picLocks noChangeAspect="1"/>
          </p:cNvPicPr>
          <p:nvPr/>
        </p:nvPicPr>
        <p:blipFill>
          <a:blip r:embed="rId3"/>
          <a:stretch>
            <a:fillRect/>
          </a:stretch>
        </p:blipFill>
        <p:spPr>
          <a:xfrm>
            <a:off x="5239512" y="2039112"/>
            <a:ext cx="292608" cy="292608"/>
          </a:xfrm>
          <a:prstGeom prst="rect">
            <a:avLst/>
          </a:prstGeom>
        </p:spPr>
      </p:pic>
      <p:sp>
        <p:nvSpPr>
          <p:cNvPr id="18" name="Text 13"/>
          <p:cNvSpPr txBox="1"/>
          <p:nvPr/>
        </p:nvSpPr>
        <p:spPr>
          <a:xfrm>
            <a:off x="6675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3</a:t>
            </a:r>
            <a:endParaRPr lang="en-US" sz="1200" dirty="0"/>
          </a:p>
        </p:txBody>
      </p:sp>
      <p:sp>
        <p:nvSpPr>
          <p:cNvPr id="19" name="Text 14"/>
          <p:cNvSpPr txBox="1"/>
          <p:nvPr/>
        </p:nvSpPr>
        <p:spPr>
          <a:xfrm>
            <a:off x="5239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Seat hold</a:t>
            </a:r>
            <a:endParaRPr lang="en-US" sz="1400" dirty="0"/>
          </a:p>
        </p:txBody>
      </p:sp>
      <p:sp>
        <p:nvSpPr>
          <p:cNvPr id="20" name="Text 15"/>
          <p:cNvSpPr txBox="1"/>
          <p:nvPr/>
        </p:nvSpPr>
        <p:spPr>
          <a:xfrm>
            <a:off x="5239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10-minute hold; a seat can never be sold twice</a:t>
            </a:r>
            <a:endParaRPr lang="en-US" sz="1100" dirty="0"/>
          </a:p>
        </p:txBody>
      </p:sp>
      <p:sp>
        <p:nvSpPr>
          <p:cNvPr id="21" name="Shape 16"/>
          <p:cNvSpPr/>
          <p:nvPr/>
        </p:nvSpPr>
        <p:spPr>
          <a:xfrm>
            <a:off x="7114032" y="2537460"/>
            <a:ext cx="219456" cy="0"/>
          </a:xfrm>
          <a:prstGeom prst="line">
            <a:avLst/>
          </a:prstGeom>
          <a:noFill/>
          <a:ln w="15875">
            <a:solidFill>
              <a:schemeClr val="bg1"/>
            </a:solidFill>
            <a:prstDash val="solid"/>
            <a:tailEnd type="triangle"/>
          </a:ln>
        </p:spPr>
      </p:sp>
      <p:sp>
        <p:nvSpPr>
          <p:cNvPr id="22" name="step-4"/>
          <p:cNvSpPr/>
          <p:nvPr/>
        </p:nvSpPr>
        <p:spPr>
          <a:xfrm>
            <a:off x="7360920" y="1874520"/>
            <a:ext cx="2011680" cy="1325880"/>
          </a:xfrm>
          <a:prstGeom prst="roundRect">
            <a:avLst>
              <a:gd name="adj" fmla="val 8276"/>
            </a:avLst>
          </a:prstGeom>
          <a:solidFill>
            <a:srgbClr val="111114"/>
          </a:solidFill>
          <a:ln w="19050">
            <a:solidFill>
              <a:srgbClr val="FED700"/>
            </a:solidFill>
            <a:prstDash val="solid"/>
          </a:ln>
        </p:spPr>
      </p:sp>
      <p:pic>
        <p:nvPicPr>
          <p:cNvPr id="23" name="Image 3" descr="preencoded.png">    </p:cNvPr>
          <p:cNvPicPr>
            <a:picLocks noChangeAspect="1"/>
          </p:cNvPicPr>
          <p:nvPr/>
        </p:nvPicPr>
        <p:blipFill>
          <a:blip r:embed="rId4"/>
          <a:stretch>
            <a:fillRect/>
          </a:stretch>
        </p:blipFill>
        <p:spPr>
          <a:xfrm>
            <a:off x="7525512" y="2039112"/>
            <a:ext cx="292608" cy="292608"/>
          </a:xfrm>
          <a:prstGeom prst="rect">
            <a:avLst/>
          </a:prstGeom>
        </p:spPr>
      </p:pic>
      <p:sp>
        <p:nvSpPr>
          <p:cNvPr id="24" name="Text 18"/>
          <p:cNvSpPr txBox="1"/>
          <p:nvPr/>
        </p:nvSpPr>
        <p:spPr>
          <a:xfrm>
            <a:off x="8961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4</a:t>
            </a:r>
            <a:endParaRPr lang="en-US" sz="1200" dirty="0"/>
          </a:p>
        </p:txBody>
      </p:sp>
      <p:sp>
        <p:nvSpPr>
          <p:cNvPr id="25" name="Text 19"/>
          <p:cNvSpPr txBox="1"/>
          <p:nvPr/>
        </p:nvSpPr>
        <p:spPr>
          <a:xfrm>
            <a:off x="7525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Hosted payment</a:t>
            </a:r>
            <a:endParaRPr lang="en-US" sz="1400" dirty="0"/>
          </a:p>
        </p:txBody>
      </p:sp>
      <p:sp>
        <p:nvSpPr>
          <p:cNvPr id="26" name="Text 20"/>
          <p:cNvSpPr txBox="1"/>
          <p:nvPr/>
        </p:nvSpPr>
        <p:spPr>
          <a:xfrm>
            <a:off x="7525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Paid = confirmed; unpaid seats return</a:t>
            </a:r>
            <a:endParaRPr lang="en-US" sz="1100" dirty="0"/>
          </a:p>
        </p:txBody>
      </p:sp>
      <p:sp>
        <p:nvSpPr>
          <p:cNvPr id="27" name="Shape 21"/>
          <p:cNvSpPr/>
          <p:nvPr/>
        </p:nvSpPr>
        <p:spPr>
          <a:xfrm>
            <a:off x="9400032" y="2537460"/>
            <a:ext cx="219456" cy="0"/>
          </a:xfrm>
          <a:prstGeom prst="line">
            <a:avLst/>
          </a:prstGeom>
          <a:noFill/>
          <a:ln w="15875">
            <a:solidFill>
              <a:schemeClr val="bg1"/>
            </a:solidFill>
            <a:prstDash val="solid"/>
            <a:tailEnd type="triangle"/>
          </a:ln>
        </p:spPr>
      </p:sp>
      <p:sp>
        <p:nvSpPr>
          <p:cNvPr id="28" name="step-5"/>
          <p:cNvSpPr/>
          <p:nvPr/>
        </p:nvSpPr>
        <p:spPr>
          <a:xfrm>
            <a:off x="9646920" y="1874520"/>
            <a:ext cx="2011680" cy="1325880"/>
          </a:xfrm>
          <a:prstGeom prst="roundRect">
            <a:avLst>
              <a:gd name="adj" fmla="val 8276"/>
            </a:avLst>
          </a:prstGeom>
          <a:solidFill>
            <a:srgbClr val="111114"/>
          </a:solidFill>
          <a:ln w="19050">
            <a:solidFill>
              <a:srgbClr val="00D6F2"/>
            </a:solidFill>
            <a:prstDash val="solid"/>
          </a:ln>
        </p:spPr>
      </p:sp>
      <p:pic>
        <p:nvPicPr>
          <p:cNvPr id="29" name="Image 4" descr="preencoded.png">    </p:cNvPr>
          <p:cNvPicPr>
            <a:picLocks noChangeAspect="1"/>
          </p:cNvPicPr>
          <p:nvPr/>
        </p:nvPicPr>
        <p:blipFill>
          <a:blip r:embed="rId5"/>
          <a:stretch>
            <a:fillRect/>
          </a:stretch>
        </p:blipFill>
        <p:spPr>
          <a:xfrm>
            <a:off x="9811512" y="2039112"/>
            <a:ext cx="292608" cy="292608"/>
          </a:xfrm>
          <a:prstGeom prst="rect">
            <a:avLst/>
          </a:prstGeom>
        </p:spPr>
      </p:pic>
      <p:sp>
        <p:nvSpPr>
          <p:cNvPr id="30" name="Text 23"/>
          <p:cNvSpPr txBox="1"/>
          <p:nvPr/>
        </p:nvSpPr>
        <p:spPr>
          <a:xfrm>
            <a:off x="11247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5</a:t>
            </a:r>
            <a:endParaRPr lang="en-US" sz="1200" dirty="0"/>
          </a:p>
        </p:txBody>
      </p:sp>
      <p:sp>
        <p:nvSpPr>
          <p:cNvPr id="31" name="Text 24"/>
          <p:cNvSpPr txBox="1"/>
          <p:nvPr/>
        </p:nvSpPr>
        <p:spPr>
          <a:xfrm>
            <a:off x="9811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Salesforce</a:t>
            </a:r>
            <a:endParaRPr lang="en-US" sz="1400" dirty="0"/>
          </a:p>
        </p:txBody>
      </p:sp>
      <p:sp>
        <p:nvSpPr>
          <p:cNvPr id="32" name="Text 25"/>
          <p:cNvSpPr txBox="1"/>
          <p:nvPr/>
        </p:nvSpPr>
        <p:spPr>
          <a:xfrm>
            <a:off x="9811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Queued and retried; never lost</a:t>
            </a:r>
            <a:endParaRPr lang="en-US" sz="1100" dirty="0"/>
          </a:p>
        </p:txBody>
      </p:sp>
      <p:sp>
        <p:nvSpPr>
          <p:cNvPr id="33" name="Text 26"/>
          <p:cNvSpPr txBox="1"/>
          <p:nvPr/>
        </p:nvSpPr>
        <p:spPr>
          <a:xfrm>
            <a:off x="502920" y="3520440"/>
            <a:ext cx="5486400" cy="274320"/>
          </a:xfrm>
          <a:prstGeom prst="rect">
            <a:avLst/>
          </a:prstGeom>
          <a:noFill/>
          <a:ln/>
        </p:spPr>
        <p:txBody>
          <a:bodyPr wrap="square" lIns="0" tIns="0" rIns="0" bIns="0" rtlCol="0" anchor="t"/>
          <a:lstStyle/>
          <a:p>
            <a:pPr indent="0" marL="0">
              <a:buNone/>
            </a:pPr>
            <a:r>
              <a:rPr lang="en-US" sz="1000" b="1" spc="300" kern="0" dirty="0">
                <a:solidFill>
                  <a:schemeClr val="bg1"/>
                </a:solidFill>
              </a:rPr>
              <a:t>WHERE EVERY CLICK ENDS UP</a:t>
            </a:r>
            <a:endParaRPr lang="en-US" sz="1000" dirty="0"/>
          </a:p>
        </p:txBody>
      </p:sp>
      <p:sp>
        <p:nvSpPr>
          <p:cNvPr id="34" name="Shape 27"/>
          <p:cNvSpPr/>
          <p:nvPr/>
        </p:nvSpPr>
        <p:spPr>
          <a:xfrm>
            <a:off x="502920" y="3840480"/>
            <a:ext cx="2514600" cy="1783080"/>
          </a:xfrm>
          <a:prstGeom prst="roundRect">
            <a:avLst>
              <a:gd name="adj" fmla="val 6154"/>
            </a:avLst>
          </a:prstGeom>
          <a:solidFill>
            <a:srgbClr val="17171B"/>
          </a:solidFill>
          <a:ln w="12700">
            <a:solidFill>
              <a:srgbClr val="3A3A42"/>
            </a:solidFill>
            <a:prstDash val="solid"/>
          </a:ln>
        </p:spPr>
      </p:sp>
      <p:sp>
        <p:nvSpPr>
          <p:cNvPr id="35" name="Text 28"/>
          <p:cNvSpPr txBox="1"/>
          <p:nvPr/>
        </p:nvSpPr>
        <p:spPr>
          <a:xfrm>
            <a:off x="704088" y="3950208"/>
            <a:ext cx="2286000" cy="640080"/>
          </a:xfrm>
          <a:prstGeom prst="rect">
            <a:avLst/>
          </a:prstGeom>
          <a:noFill/>
          <a:ln/>
        </p:spPr>
        <p:txBody>
          <a:bodyPr wrap="square" lIns="0" tIns="0" rIns="0" bIns="0" rtlCol="0" anchor="t"/>
          <a:lstStyle/>
          <a:p>
            <a:pPr indent="0" marL="0">
              <a:buNone/>
            </a:pPr>
            <a:r>
              <a:rPr lang="en-US" sz="3200" dirty="0">
                <a:solidFill>
                  <a:srgbClr val="00D6F2"/>
                </a:solidFill>
                <a:latin typeface="Trenda IG Text Light" pitchFamily="34" charset="0"/>
                <a:ea typeface="Trenda IG Text Light" pitchFamily="34" charset="-122"/>
                <a:cs typeface="Trenda IG Text Light" pitchFamily="34" charset="-120"/>
              </a:rPr>
              <a:t>30</a:t>
            </a:r>
            <a:endParaRPr lang="en-US" sz="3200" dirty="0"/>
          </a:p>
        </p:txBody>
      </p:sp>
      <p:sp>
        <p:nvSpPr>
          <p:cNvPr id="36" name="Text 29"/>
          <p:cNvSpPr txBox="1"/>
          <p:nvPr/>
        </p:nvSpPr>
        <p:spPr>
          <a:xfrm>
            <a:off x="704088" y="4617720"/>
            <a:ext cx="2286000" cy="274320"/>
          </a:xfrm>
          <a:prstGeom prst="rect">
            <a:avLst/>
          </a:prstGeom>
          <a:noFill/>
          <a:ln/>
        </p:spPr>
        <p:txBody>
          <a:bodyPr wrap="square" lIns="0" tIns="0" rIns="0" bIns="0" rtlCol="0" anchor="t"/>
          <a:lstStyle/>
          <a:p>
            <a:pPr indent="0" marL="0">
              <a:buNone/>
            </a:pPr>
            <a:r>
              <a:rPr lang="en-US" sz="1400" b="1" dirty="0">
                <a:solidFill>
                  <a:schemeClr val="bg1"/>
                </a:solidFill>
              </a:rPr>
              <a:t>Confirmed seats</a:t>
            </a:r>
            <a:endParaRPr lang="en-US" sz="1400" dirty="0"/>
          </a:p>
        </p:txBody>
      </p:sp>
      <p:sp>
        <p:nvSpPr>
          <p:cNvPr id="37" name="Text 30"/>
          <p:cNvSpPr txBox="1"/>
          <p:nvPr/>
        </p:nvSpPr>
        <p:spPr>
          <a:xfrm>
            <a:off x="704088" y="4919472"/>
            <a:ext cx="2148840" cy="594360"/>
          </a:xfrm>
          <a:prstGeom prst="rect">
            <a:avLst/>
          </a:prstGeom>
          <a:noFill/>
          <a:ln/>
        </p:spPr>
        <p:txBody>
          <a:bodyPr wrap="square" lIns="0" tIns="0" rIns="0" bIns="0" rtlCol="0" anchor="t"/>
          <a:lstStyle/>
          <a:p>
            <a:pPr indent="0" marL="0">
              <a:buNone/>
            </a:pPr>
            <a:r>
              <a:rPr lang="en-US" sz="1100" dirty="0">
                <a:solidFill>
                  <a:srgbClr val="BFBFBF"/>
                </a:solidFill>
              </a:rPr>
              <a:t>Paid, ticketed, QR check-in sent</a:t>
            </a:r>
            <a:endParaRPr lang="en-US" sz="1100" dirty="0"/>
          </a:p>
        </p:txBody>
      </p:sp>
      <p:sp>
        <p:nvSpPr>
          <p:cNvPr id="38" name="Shape 31"/>
          <p:cNvSpPr/>
          <p:nvPr/>
        </p:nvSpPr>
        <p:spPr>
          <a:xfrm>
            <a:off x="3200400" y="3840480"/>
            <a:ext cx="2514600" cy="1783080"/>
          </a:xfrm>
          <a:prstGeom prst="roundRect">
            <a:avLst>
              <a:gd name="adj" fmla="val 6154"/>
            </a:avLst>
          </a:prstGeom>
          <a:solidFill>
            <a:srgbClr val="17171B"/>
          </a:solidFill>
          <a:ln w="12700">
            <a:solidFill>
              <a:srgbClr val="3A3A42"/>
            </a:solidFill>
            <a:prstDash val="solid"/>
          </a:ln>
        </p:spPr>
      </p:sp>
      <p:sp>
        <p:nvSpPr>
          <p:cNvPr id="39" name="Text 32"/>
          <p:cNvSpPr txBox="1"/>
          <p:nvPr/>
        </p:nvSpPr>
        <p:spPr>
          <a:xfrm>
            <a:off x="3401568" y="3950208"/>
            <a:ext cx="2286000" cy="640080"/>
          </a:xfrm>
          <a:prstGeom prst="rect">
            <a:avLst/>
          </a:prstGeom>
          <a:noFill/>
          <a:ln/>
        </p:spPr>
        <p:txBody>
          <a:bodyPr wrap="square" lIns="0" tIns="0" rIns="0" bIns="0" rtlCol="0" anchor="t"/>
          <a:lstStyle/>
          <a:p>
            <a:pPr indent="0" marL="0">
              <a:buNone/>
            </a:pPr>
            <a:r>
              <a:rPr lang="en-US" sz="3200" dirty="0">
                <a:solidFill>
                  <a:srgbClr val="FED700"/>
                </a:solidFill>
                <a:latin typeface="Trenda IG Text Light" pitchFamily="34" charset="0"/>
                <a:ea typeface="Trenda IG Text Light" pitchFamily="34" charset="-122"/>
                <a:cs typeface="Trenda IG Text Light" pitchFamily="34" charset="-120"/>
              </a:rPr>
              <a:t>60</a:t>
            </a:r>
            <a:endParaRPr lang="en-US" sz="3200" dirty="0"/>
          </a:p>
        </p:txBody>
      </p:sp>
      <p:sp>
        <p:nvSpPr>
          <p:cNvPr id="40" name="Text 33"/>
          <p:cNvSpPr txBox="1"/>
          <p:nvPr/>
        </p:nvSpPr>
        <p:spPr>
          <a:xfrm>
            <a:off x="3401568" y="4617720"/>
            <a:ext cx="2286000" cy="274320"/>
          </a:xfrm>
          <a:prstGeom prst="rect">
            <a:avLst/>
          </a:prstGeom>
          <a:noFill/>
          <a:ln/>
        </p:spPr>
        <p:txBody>
          <a:bodyPr wrap="square" lIns="0" tIns="0" rIns="0" bIns="0" rtlCol="0" anchor="t"/>
          <a:lstStyle/>
          <a:p>
            <a:pPr indent="0" marL="0">
              <a:buNone/>
            </a:pPr>
            <a:r>
              <a:rPr lang="en-US" sz="1400" b="1" dirty="0">
                <a:solidFill>
                  <a:schemeClr val="bg1"/>
                </a:solidFill>
              </a:rPr>
              <a:t>On the waitlist</a:t>
            </a:r>
            <a:endParaRPr lang="en-US" sz="1400" dirty="0"/>
          </a:p>
        </p:txBody>
      </p:sp>
      <p:sp>
        <p:nvSpPr>
          <p:cNvPr id="41" name="Text 34"/>
          <p:cNvSpPr txBox="1"/>
          <p:nvPr/>
        </p:nvSpPr>
        <p:spPr>
          <a:xfrm>
            <a:off x="3401568" y="4919472"/>
            <a:ext cx="2148840" cy="594360"/>
          </a:xfrm>
          <a:prstGeom prst="rect">
            <a:avLst/>
          </a:prstGeom>
          <a:noFill/>
          <a:ln/>
        </p:spPr>
        <p:txBody>
          <a:bodyPr wrap="square" lIns="0" tIns="0" rIns="0" bIns="0" rtlCol="0" anchor="t"/>
          <a:lstStyle/>
          <a:p>
            <a:pPr indent="0" marL="0">
              <a:buNone/>
            </a:pPr>
            <a:r>
              <a:rPr lang="en-US" sz="1100" dirty="0">
                <a:solidFill>
                  <a:srgbClr val="BFBFBF"/>
                </a:solidFill>
              </a:rPr>
              <a:t>Freed seats offered by SMS with a 2-hour claim window</a:t>
            </a:r>
            <a:endParaRPr lang="en-US" sz="1100" dirty="0"/>
          </a:p>
        </p:txBody>
      </p:sp>
      <p:sp>
        <p:nvSpPr>
          <p:cNvPr id="42" name="Shape 35"/>
          <p:cNvSpPr/>
          <p:nvPr/>
        </p:nvSpPr>
        <p:spPr>
          <a:xfrm>
            <a:off x="5897880" y="3840480"/>
            <a:ext cx="2514600" cy="1783080"/>
          </a:xfrm>
          <a:prstGeom prst="roundRect">
            <a:avLst>
              <a:gd name="adj" fmla="val 6154"/>
            </a:avLst>
          </a:prstGeom>
          <a:solidFill>
            <a:srgbClr val="17171B"/>
          </a:solidFill>
          <a:ln w="12700">
            <a:solidFill>
              <a:srgbClr val="3A3A42"/>
            </a:solidFill>
            <a:prstDash val="solid"/>
          </a:ln>
        </p:spPr>
      </p:sp>
      <p:sp>
        <p:nvSpPr>
          <p:cNvPr id="43" name="Text 36"/>
          <p:cNvSpPr txBox="1"/>
          <p:nvPr/>
        </p:nvSpPr>
        <p:spPr>
          <a:xfrm>
            <a:off x="6099048" y="3950208"/>
            <a:ext cx="2286000" cy="640080"/>
          </a:xfrm>
          <a:prstGeom prst="rect">
            <a:avLst/>
          </a:prstGeom>
          <a:noFill/>
          <a:ln/>
        </p:spPr>
        <p:txBody>
          <a:bodyPr wrap="square" lIns="0" tIns="0" rIns="0" bIns="0" rtlCol="0" anchor="t"/>
          <a:lstStyle/>
          <a:p>
            <a:pPr indent="0" marL="0">
              <a:buNone/>
            </a:pPr>
            <a:r>
              <a:rPr lang="en-US" sz="3200" dirty="0">
                <a:solidFill>
                  <a:srgbClr val="FF0068"/>
                </a:solidFill>
                <a:latin typeface="Trenda IG Text Light" pitchFamily="34" charset="0"/>
                <a:ea typeface="Trenda IG Text Light" pitchFamily="34" charset="-122"/>
                <a:cs typeface="Trenda IG Text Light" pitchFamily="34" charset="-120"/>
              </a:rPr>
              <a:t>All others</a:t>
            </a:r>
            <a:endParaRPr lang="en-US" sz="3200" dirty="0"/>
          </a:p>
        </p:txBody>
      </p:sp>
      <p:sp>
        <p:nvSpPr>
          <p:cNvPr id="44" name="Text 37"/>
          <p:cNvSpPr txBox="1"/>
          <p:nvPr/>
        </p:nvSpPr>
        <p:spPr>
          <a:xfrm>
            <a:off x="6099048" y="4617720"/>
            <a:ext cx="2286000" cy="274320"/>
          </a:xfrm>
          <a:prstGeom prst="rect">
            <a:avLst/>
          </a:prstGeom>
          <a:noFill/>
          <a:ln/>
        </p:spPr>
        <p:txBody>
          <a:bodyPr wrap="square" lIns="0" tIns="0" rIns="0" bIns="0" rtlCol="0" anchor="t"/>
          <a:lstStyle/>
          <a:p>
            <a:pPr indent="0" marL="0">
              <a:buNone/>
            </a:pPr>
            <a:r>
              <a:rPr lang="en-US" sz="1400" b="1" dirty="0">
                <a:solidFill>
                  <a:schemeClr val="bg1"/>
                </a:solidFill>
              </a:rPr>
              <a:t>On the interest list</a:t>
            </a:r>
            <a:endParaRPr lang="en-US" sz="1400" dirty="0"/>
          </a:p>
        </p:txBody>
      </p:sp>
      <p:sp>
        <p:nvSpPr>
          <p:cNvPr id="45" name="Text 38"/>
          <p:cNvSpPr txBox="1"/>
          <p:nvPr/>
        </p:nvSpPr>
        <p:spPr>
          <a:xfrm>
            <a:off x="6099048" y="4919472"/>
            <a:ext cx="2148840" cy="594360"/>
          </a:xfrm>
          <a:prstGeom prst="rect">
            <a:avLst/>
          </a:prstGeom>
          <a:noFill/>
          <a:ln/>
        </p:spPr>
        <p:txBody>
          <a:bodyPr wrap="square" lIns="0" tIns="0" rIns="0" bIns="0" rtlCol="0" anchor="t"/>
          <a:lstStyle/>
          <a:p>
            <a:pPr indent="0" marL="0">
              <a:buNone/>
            </a:pPr>
            <a:r>
              <a:rPr lang="en-US" sz="1100" dirty="0">
                <a:solidFill>
                  <a:srgbClr val="BFBFBF"/>
                </a:solidFill>
              </a:rPr>
              <a:t>Told the moment a new date opens</a:t>
            </a:r>
            <a:endParaRPr lang="en-US" sz="1100" dirty="0"/>
          </a:p>
        </p:txBody>
      </p:sp>
      <p:sp>
        <p:nvSpPr>
          <p:cNvPr id="46" name="Shape 39"/>
          <p:cNvSpPr/>
          <p:nvPr/>
        </p:nvSpPr>
        <p:spPr>
          <a:xfrm>
            <a:off x="8778240" y="3840480"/>
            <a:ext cx="2910535" cy="1783080"/>
          </a:xfrm>
          <a:prstGeom prst="roundRect">
            <a:avLst>
              <a:gd name="adj" fmla="val 6154"/>
            </a:avLst>
          </a:prstGeom>
          <a:ln w="19050">
            <a:solidFill>
              <a:srgbClr val="FF0068"/>
            </a:solidFill>
            <a:prstDash val="dash"/>
          </a:ln>
        </p:spPr>
      </p:sp>
      <p:pic>
        <p:nvPicPr>
          <p:cNvPr id="47" name="Image 5" descr="preencoded.png">    </p:cNvPr>
          <p:cNvPicPr>
            <a:picLocks noChangeAspect="1"/>
          </p:cNvPicPr>
          <p:nvPr/>
        </p:nvPicPr>
        <p:blipFill>
          <a:blip r:embed="rId6"/>
          <a:stretch>
            <a:fillRect/>
          </a:stretch>
        </p:blipFill>
        <p:spPr>
          <a:xfrm>
            <a:off x="8961120" y="3986784"/>
            <a:ext cx="274320" cy="274320"/>
          </a:xfrm>
          <a:prstGeom prst="rect">
            <a:avLst/>
          </a:prstGeom>
        </p:spPr>
      </p:pic>
      <p:sp>
        <p:nvSpPr>
          <p:cNvPr id="48" name="Text 40"/>
          <p:cNvSpPr txBox="1"/>
          <p:nvPr/>
        </p:nvSpPr>
        <p:spPr>
          <a:xfrm>
            <a:off x="9326880" y="3968496"/>
            <a:ext cx="2224735" cy="310896"/>
          </a:xfrm>
          <a:prstGeom prst="rect">
            <a:avLst/>
          </a:prstGeom>
          <a:noFill/>
          <a:ln/>
        </p:spPr>
        <p:txBody>
          <a:bodyPr wrap="square" lIns="0" tIns="0" rIns="0" bIns="0" rtlCol="0" anchor="t"/>
          <a:lstStyle/>
          <a:p>
            <a:pPr indent="0" marL="0">
              <a:buNone/>
            </a:pPr>
            <a:r>
              <a:rPr lang="en-US" sz="1300" b="1" dirty="0">
                <a:solidFill>
                  <a:schemeClr val="bg1"/>
                </a:solidFill>
              </a:rPr>
              <a:t>Turn overflow into sessions</a:t>
            </a:r>
            <a:endParaRPr lang="en-US" sz="1300" dirty="0"/>
          </a:p>
        </p:txBody>
      </p:sp>
      <p:sp>
        <p:nvSpPr>
          <p:cNvPr id="49" name="Text 41"/>
          <p:cNvSpPr txBox="1"/>
          <p:nvPr/>
        </p:nvSpPr>
        <p:spPr>
          <a:xfrm>
            <a:off x="8961120" y="4370832"/>
            <a:ext cx="2590495" cy="118872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BFBFBF"/>
                </a:solidFill>
              </a:rPr>
              <a:t>Demand passes 3× the seats</a:t>
            </a:r>
            <a:endParaRPr lang="en-US" sz="1100" dirty="0"/>
          </a:p>
          <a:p>
            <a:pPr marL="342900" indent="-342900">
              <a:spcAft>
                <a:spcPts val="400"/>
              </a:spcAft>
              <a:buSzPct val="100000"/>
              <a:buFont typeface="+mj-lt"/>
              <a:buAutoNum type="arabicPeriod" startAt="1"/>
            </a:pPr>
            <a:r>
              <a:rPr lang="en-US" sz="1100" dirty="0">
                <a:solidFill>
                  <a:srgbClr val="BFBFBF"/>
                </a:solidFill>
              </a:rPr>
              <a:t>Staff add a session in one click</a:t>
            </a:r>
            <a:endParaRPr lang="en-US" sz="1100" dirty="0"/>
          </a:p>
          <a:p>
            <a:pPr marL="342900" indent="-342900">
              <a:spcAft>
                <a:spcPts val="400"/>
              </a:spcAft>
              <a:buSzPct val="100000"/>
              <a:buFont typeface="+mj-lt"/>
              <a:buAutoNum type="arabicPeriod" startAt="1"/>
            </a:pPr>
            <a:r>
              <a:rPr lang="en-US" sz="1100" dirty="0">
                <a:solidFill>
                  <a:srgbClr val="BFBFBF"/>
                </a:solidFill>
              </a:rPr>
              <a:t>Waitlist offered first, then the interest list</a:t>
            </a:r>
            <a:endParaRPr lang="en-US" sz="1100" dirty="0"/>
          </a:p>
        </p:txBody>
      </p:sp>
      <p:sp>
        <p:nvSpPr>
          <p:cNvPr id="50" name="Shape 42"/>
          <p:cNvSpPr/>
          <p:nvPr/>
        </p:nvSpPr>
        <p:spPr>
          <a:xfrm>
            <a:off x="8430768" y="4727448"/>
            <a:ext cx="320040" cy="0"/>
          </a:xfrm>
          <a:prstGeom prst="line">
            <a:avLst/>
          </a:prstGeom>
          <a:noFill/>
          <a:ln w="15875">
            <a:solidFill>
              <a:srgbClr val="FF0068"/>
            </a:solidFill>
            <a:prstDash val="dash"/>
            <a:tailEnd type="triangle"/>
          </a:ln>
        </p:spPr>
      </p:sp>
      <p:sp>
        <p:nvSpPr>
          <p:cNvPr id="51" name="Text 43"/>
          <p:cNvSpPr txBox="1"/>
          <p:nvPr/>
        </p:nvSpPr>
        <p:spPr>
          <a:xfrm>
            <a:off x="502920" y="5806440"/>
            <a:ext cx="11155680" cy="320040"/>
          </a:xfrm>
          <a:prstGeom prst="rect">
            <a:avLst/>
          </a:prstGeom>
          <a:noFill/>
          <a:ln/>
        </p:spPr>
        <p:txBody>
          <a:bodyPr wrap="square" lIns="0" tIns="0" rIns="0" bIns="0" rtlCol="0" anchor="t"/>
          <a:lstStyle/>
          <a:p>
            <a:pPr indent="0" marL="0">
              <a:buNone/>
            </a:pPr>
            <a:r>
              <a:rPr lang="en-US" sz="1100" i="1" dirty="0">
                <a:solidFill>
                  <a:schemeClr val="accent1"/>
                </a:solidFill>
              </a:rPr>
              <a:t>Reliable: queued, idempotent writes and auto-released holds.   Scalable: only admitted traffic reaches Salesforce.   Secure: bot defense on every hot event.</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Design detail: registration and seat flow</a:t>
            </a:r>
            <a:endParaRPr lang="en-US" sz="3200" dirty="0"/>
          </a:p>
        </p:txBody>
      </p:sp>
      <p:sp>
        <p:nvSpPr>
          <p:cNvPr id="3" name="participant-p"/>
          <p:cNvSpPr/>
          <p:nvPr/>
        </p:nvSpPr>
        <p:spPr>
          <a:xfrm>
            <a:off x="557784" y="1463040"/>
            <a:ext cx="1488251" cy="475488"/>
          </a:xfrm>
          <a:prstGeom prst="roundRect">
            <a:avLst>
              <a:gd name="adj" fmla="val 15385"/>
            </a:avLst>
          </a:prstGeom>
          <a:solidFill>
            <a:srgbClr val="F2F2F2"/>
          </a:solidFill>
          <a:ln w="15875">
            <a:solidFill>
              <a:srgbClr val="B8B8C0"/>
            </a:solidFill>
            <a:prstDash val="solid"/>
          </a:ln>
        </p:spPr>
      </p:sp>
      <p:sp>
        <p:nvSpPr>
          <p:cNvPr id="4" name="Text 2"/>
          <p:cNvSpPr txBox="1"/>
          <p:nvPr/>
        </p:nvSpPr>
        <p:spPr>
          <a:xfrm>
            <a:off x="594360"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Registrant</a:t>
            </a:r>
            <a:endParaRPr lang="en-US" sz="1050" dirty="0"/>
          </a:p>
        </p:txBody>
      </p:sp>
      <p:sp>
        <p:nvSpPr>
          <p:cNvPr id="5" name="Shape 3"/>
          <p:cNvSpPr/>
          <p:nvPr/>
        </p:nvSpPr>
        <p:spPr>
          <a:xfrm>
            <a:off x="1301910" y="1938528"/>
            <a:ext cx="0" cy="4233672"/>
          </a:xfrm>
          <a:prstGeom prst="line">
            <a:avLst/>
          </a:prstGeom>
          <a:noFill/>
          <a:ln w="12700">
            <a:solidFill>
              <a:srgbClr val="B0B0B8"/>
            </a:solidFill>
            <a:prstDash val="dash"/>
          </a:ln>
        </p:spPr>
      </p:sp>
      <p:sp>
        <p:nvSpPr>
          <p:cNvPr id="6" name="participant-edge"/>
          <p:cNvSpPr/>
          <p:nvPr/>
        </p:nvSpPr>
        <p:spPr>
          <a:xfrm>
            <a:off x="2155763" y="1463040"/>
            <a:ext cx="1488251" cy="475488"/>
          </a:xfrm>
          <a:prstGeom prst="roundRect">
            <a:avLst>
              <a:gd name="adj" fmla="val 15385"/>
            </a:avLst>
          </a:prstGeom>
          <a:solidFill>
            <a:srgbClr val="F2F2F2"/>
          </a:solidFill>
          <a:ln w="22225">
            <a:solidFill>
              <a:srgbClr val="00A9C0"/>
            </a:solidFill>
            <a:prstDash val="solid"/>
          </a:ln>
        </p:spPr>
      </p:sp>
      <p:sp>
        <p:nvSpPr>
          <p:cNvPr id="7" name="Text 5"/>
          <p:cNvSpPr txBox="1"/>
          <p:nvPr/>
        </p:nvSpPr>
        <p:spPr>
          <a:xfrm>
            <a:off x="2192339"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Edge and waiting room</a:t>
            </a:r>
            <a:endParaRPr lang="en-US" sz="1050" dirty="0"/>
          </a:p>
        </p:txBody>
      </p:sp>
      <p:sp>
        <p:nvSpPr>
          <p:cNvPr id="8" name="Shape 6"/>
          <p:cNvSpPr/>
          <p:nvPr/>
        </p:nvSpPr>
        <p:spPr>
          <a:xfrm>
            <a:off x="2899889" y="1938528"/>
            <a:ext cx="0" cy="4233672"/>
          </a:xfrm>
          <a:prstGeom prst="line">
            <a:avLst/>
          </a:prstGeom>
          <a:noFill/>
          <a:ln w="12700">
            <a:solidFill>
              <a:srgbClr val="B0B0B8"/>
            </a:solidFill>
            <a:prstDash val="dash"/>
          </a:ln>
        </p:spPr>
      </p:sp>
      <p:sp>
        <p:nvSpPr>
          <p:cNvPr id="9" name="participant-reg"/>
          <p:cNvSpPr/>
          <p:nvPr/>
        </p:nvSpPr>
        <p:spPr>
          <a:xfrm>
            <a:off x="3753743" y="1463040"/>
            <a:ext cx="1488251" cy="475488"/>
          </a:xfrm>
          <a:prstGeom prst="roundRect">
            <a:avLst>
              <a:gd name="adj" fmla="val 15385"/>
            </a:avLst>
          </a:prstGeom>
          <a:solidFill>
            <a:srgbClr val="F2F2F2"/>
          </a:solidFill>
          <a:ln w="22225">
            <a:solidFill>
              <a:srgbClr val="D9B200"/>
            </a:solidFill>
            <a:prstDash val="solid"/>
          </a:ln>
        </p:spPr>
      </p:sp>
      <p:sp>
        <p:nvSpPr>
          <p:cNvPr id="10" name="Text 8"/>
          <p:cNvSpPr txBox="1"/>
          <p:nvPr/>
        </p:nvSpPr>
        <p:spPr>
          <a:xfrm>
            <a:off x="3790319"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Registration service</a:t>
            </a:r>
            <a:endParaRPr lang="en-US" sz="1050" dirty="0"/>
          </a:p>
        </p:txBody>
      </p:sp>
      <p:sp>
        <p:nvSpPr>
          <p:cNvPr id="11" name="Shape 9"/>
          <p:cNvSpPr/>
          <p:nvPr/>
        </p:nvSpPr>
        <p:spPr>
          <a:xfrm>
            <a:off x="4497868" y="1938528"/>
            <a:ext cx="0" cy="4233672"/>
          </a:xfrm>
          <a:prstGeom prst="line">
            <a:avLst/>
          </a:prstGeom>
          <a:noFill/>
          <a:ln w="12700">
            <a:solidFill>
              <a:srgbClr val="B0B0B8"/>
            </a:solidFill>
            <a:prstDash val="dash"/>
          </a:ln>
        </p:spPr>
      </p:sp>
      <p:sp>
        <p:nvSpPr>
          <p:cNvPr id="12" name="participant-inv"/>
          <p:cNvSpPr/>
          <p:nvPr/>
        </p:nvSpPr>
        <p:spPr>
          <a:xfrm>
            <a:off x="5351722" y="1463040"/>
            <a:ext cx="1488251" cy="475488"/>
          </a:xfrm>
          <a:prstGeom prst="roundRect">
            <a:avLst>
              <a:gd name="adj" fmla="val 15385"/>
            </a:avLst>
          </a:prstGeom>
          <a:solidFill>
            <a:srgbClr val="F2F2F2"/>
          </a:solidFill>
          <a:ln w="22225">
            <a:solidFill>
              <a:srgbClr val="D9B200"/>
            </a:solidFill>
            <a:prstDash val="solid"/>
          </a:ln>
        </p:spPr>
      </p:sp>
      <p:sp>
        <p:nvSpPr>
          <p:cNvPr id="13" name="Text 11"/>
          <p:cNvSpPr txBox="1"/>
          <p:nvPr/>
        </p:nvSpPr>
        <p:spPr>
          <a:xfrm>
            <a:off x="5388298"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Seat inventory</a:t>
            </a:r>
            <a:endParaRPr lang="en-US" sz="1050" dirty="0"/>
          </a:p>
        </p:txBody>
      </p:sp>
      <p:sp>
        <p:nvSpPr>
          <p:cNvPr id="14" name="Shape 12"/>
          <p:cNvSpPr/>
          <p:nvPr/>
        </p:nvSpPr>
        <p:spPr>
          <a:xfrm>
            <a:off x="6095848" y="1938528"/>
            <a:ext cx="0" cy="4233672"/>
          </a:xfrm>
          <a:prstGeom prst="line">
            <a:avLst/>
          </a:prstGeom>
          <a:noFill/>
          <a:ln w="12700">
            <a:solidFill>
              <a:srgbClr val="B0B0B8"/>
            </a:solidFill>
            <a:prstDash val="dash"/>
          </a:ln>
        </p:spPr>
      </p:sp>
      <p:sp>
        <p:nvSpPr>
          <p:cNvPr id="15" name="participant-pay"/>
          <p:cNvSpPr/>
          <p:nvPr/>
        </p:nvSpPr>
        <p:spPr>
          <a:xfrm>
            <a:off x="6949701" y="1463040"/>
            <a:ext cx="1488251" cy="475488"/>
          </a:xfrm>
          <a:prstGeom prst="roundRect">
            <a:avLst>
              <a:gd name="adj" fmla="val 15385"/>
            </a:avLst>
          </a:prstGeom>
          <a:solidFill>
            <a:srgbClr val="F2F2F2"/>
          </a:solidFill>
          <a:ln w="15875">
            <a:solidFill>
              <a:srgbClr val="B8B8C0"/>
            </a:solidFill>
            <a:prstDash val="solid"/>
          </a:ln>
        </p:spPr>
      </p:sp>
      <p:sp>
        <p:nvSpPr>
          <p:cNvPr id="16" name="Text 14"/>
          <p:cNvSpPr txBox="1"/>
          <p:nvPr/>
        </p:nvSpPr>
        <p:spPr>
          <a:xfrm>
            <a:off x="6986277"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Payment page</a:t>
            </a:r>
            <a:endParaRPr lang="en-US" sz="1050" dirty="0"/>
          </a:p>
        </p:txBody>
      </p:sp>
      <p:sp>
        <p:nvSpPr>
          <p:cNvPr id="17" name="Shape 15"/>
          <p:cNvSpPr/>
          <p:nvPr/>
        </p:nvSpPr>
        <p:spPr>
          <a:xfrm>
            <a:off x="7693827" y="1938528"/>
            <a:ext cx="0" cy="4233672"/>
          </a:xfrm>
          <a:prstGeom prst="line">
            <a:avLst/>
          </a:prstGeom>
          <a:noFill/>
          <a:ln w="12700">
            <a:solidFill>
              <a:srgbClr val="B0B0B8"/>
            </a:solidFill>
            <a:prstDash val="dash"/>
          </a:ln>
        </p:spPr>
      </p:sp>
      <p:sp>
        <p:nvSpPr>
          <p:cNvPr id="18" name="participant-sf"/>
          <p:cNvSpPr/>
          <p:nvPr/>
        </p:nvSpPr>
        <p:spPr>
          <a:xfrm>
            <a:off x="8547681" y="1463040"/>
            <a:ext cx="1488251" cy="475488"/>
          </a:xfrm>
          <a:prstGeom prst="roundRect">
            <a:avLst>
              <a:gd name="adj" fmla="val 15385"/>
            </a:avLst>
          </a:prstGeom>
          <a:solidFill>
            <a:srgbClr val="F2F2F2"/>
          </a:solidFill>
          <a:ln w="22225">
            <a:solidFill>
              <a:srgbClr val="00A9C0"/>
            </a:solidFill>
            <a:prstDash val="solid"/>
          </a:ln>
        </p:spPr>
      </p:sp>
      <p:sp>
        <p:nvSpPr>
          <p:cNvPr id="19" name="Text 17"/>
          <p:cNvSpPr txBox="1"/>
          <p:nvPr/>
        </p:nvSpPr>
        <p:spPr>
          <a:xfrm>
            <a:off x="8584257"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Salesforce</a:t>
            </a:r>
            <a:endParaRPr lang="en-US" sz="1050" dirty="0"/>
          </a:p>
        </p:txBody>
      </p:sp>
      <p:sp>
        <p:nvSpPr>
          <p:cNvPr id="20" name="Shape 18"/>
          <p:cNvSpPr/>
          <p:nvPr/>
        </p:nvSpPr>
        <p:spPr>
          <a:xfrm>
            <a:off x="9291806" y="1938528"/>
            <a:ext cx="0" cy="4233672"/>
          </a:xfrm>
          <a:prstGeom prst="line">
            <a:avLst/>
          </a:prstGeom>
          <a:noFill/>
          <a:ln w="12700">
            <a:solidFill>
              <a:srgbClr val="B0B0B8"/>
            </a:solidFill>
            <a:prstDash val="dash"/>
          </a:ln>
        </p:spPr>
      </p:sp>
      <p:sp>
        <p:nvSpPr>
          <p:cNvPr id="21" name="participant-mc"/>
          <p:cNvSpPr/>
          <p:nvPr/>
        </p:nvSpPr>
        <p:spPr>
          <a:xfrm>
            <a:off x="10145660" y="1463040"/>
            <a:ext cx="1488251" cy="475488"/>
          </a:xfrm>
          <a:prstGeom prst="roundRect">
            <a:avLst>
              <a:gd name="adj" fmla="val 15385"/>
            </a:avLst>
          </a:prstGeom>
          <a:solidFill>
            <a:srgbClr val="F2F2F2"/>
          </a:solidFill>
          <a:ln w="22225">
            <a:solidFill>
              <a:srgbClr val="FF0068"/>
            </a:solidFill>
            <a:prstDash val="solid"/>
          </a:ln>
        </p:spPr>
      </p:sp>
      <p:sp>
        <p:nvSpPr>
          <p:cNvPr id="22" name="Text 20"/>
          <p:cNvSpPr txBox="1"/>
          <p:nvPr/>
        </p:nvSpPr>
        <p:spPr>
          <a:xfrm>
            <a:off x="10182236"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Marketing Cloud</a:t>
            </a:r>
            <a:endParaRPr lang="en-US" sz="1050" dirty="0"/>
          </a:p>
        </p:txBody>
      </p:sp>
      <p:sp>
        <p:nvSpPr>
          <p:cNvPr id="23" name="Shape 21"/>
          <p:cNvSpPr/>
          <p:nvPr/>
        </p:nvSpPr>
        <p:spPr>
          <a:xfrm>
            <a:off x="10889786" y="1938528"/>
            <a:ext cx="0" cy="4233672"/>
          </a:xfrm>
          <a:prstGeom prst="line">
            <a:avLst/>
          </a:prstGeom>
          <a:noFill/>
          <a:ln w="12700">
            <a:solidFill>
              <a:srgbClr val="B0B0B8"/>
            </a:solidFill>
            <a:prstDash val="dash"/>
          </a:ln>
        </p:spPr>
      </p:sp>
      <p:sp>
        <p:nvSpPr>
          <p:cNvPr id="24" name="Shape 22"/>
          <p:cNvSpPr/>
          <p:nvPr/>
        </p:nvSpPr>
        <p:spPr>
          <a:xfrm>
            <a:off x="1301910" y="2192216"/>
            <a:ext cx="1597979" cy="0"/>
          </a:xfrm>
          <a:prstGeom prst="line">
            <a:avLst/>
          </a:prstGeom>
          <a:noFill/>
          <a:ln w="15875">
            <a:solidFill>
              <a:srgbClr val="1A1A1A"/>
            </a:solidFill>
            <a:prstDash val="solid"/>
            <a:tailEnd type="triangle"/>
          </a:ln>
        </p:spPr>
      </p:sp>
      <p:sp>
        <p:nvSpPr>
          <p:cNvPr id="25" name="Shape 23"/>
          <p:cNvSpPr/>
          <p:nvPr/>
        </p:nvSpPr>
        <p:spPr>
          <a:xfrm>
            <a:off x="1201326" y="2091632"/>
            <a:ext cx="201168" cy="201168"/>
          </a:xfrm>
          <a:prstGeom prst="ellipse">
            <a:avLst/>
          </a:prstGeom>
          <a:solidFill>
            <a:srgbClr val="00A9C0"/>
          </a:solidFill>
          <a:ln w="12700">
            <a:solidFill>
              <a:srgbClr val="00A9C0"/>
            </a:solidFill>
            <a:prstDash val="solid"/>
          </a:ln>
        </p:spPr>
      </p:sp>
      <p:sp>
        <p:nvSpPr>
          <p:cNvPr id="26" name="Text 24"/>
          <p:cNvSpPr txBox="1"/>
          <p:nvPr/>
        </p:nvSpPr>
        <p:spPr>
          <a:xfrm>
            <a:off x="1201326" y="209163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a:t>
            </a:r>
            <a:endParaRPr lang="en-US" sz="800" dirty="0"/>
          </a:p>
        </p:txBody>
      </p:sp>
      <p:sp>
        <p:nvSpPr>
          <p:cNvPr id="27" name="Text 25"/>
          <p:cNvSpPr txBox="1"/>
          <p:nvPr/>
        </p:nvSpPr>
        <p:spPr>
          <a:xfrm>
            <a:off x="1448214" y="1945328"/>
            <a:ext cx="1415099" cy="219456"/>
          </a:xfrm>
          <a:prstGeom prst="rect">
            <a:avLst/>
          </a:prstGeom>
          <a:noFill/>
          <a:ln/>
        </p:spPr>
        <p:txBody>
          <a:bodyPr wrap="square" lIns="0" tIns="0" rIns="0" bIns="0" rtlCol="0" anchor="b"/>
          <a:lstStyle/>
          <a:p>
            <a:pPr algn="ctr" indent="0" marL="0">
              <a:buNone/>
            </a:pPr>
            <a:r>
              <a:rPr lang="en-US" sz="1000" dirty="0">
                <a:solidFill>
                  <a:srgbClr val="000000"/>
                </a:solidFill>
              </a:rPr>
              <a:t>Click Register</a:t>
            </a:r>
            <a:endParaRPr lang="en-US" sz="1000" dirty="0"/>
          </a:p>
        </p:txBody>
      </p:sp>
      <p:sp>
        <p:nvSpPr>
          <p:cNvPr id="28" name="Shape 26"/>
          <p:cNvSpPr/>
          <p:nvPr/>
        </p:nvSpPr>
        <p:spPr>
          <a:xfrm>
            <a:off x="1301910" y="2438045"/>
            <a:ext cx="1597979" cy="0"/>
          </a:xfrm>
          <a:prstGeom prst="line">
            <a:avLst/>
          </a:prstGeom>
          <a:noFill/>
          <a:ln w="15875">
            <a:solidFill>
              <a:srgbClr val="6B7280"/>
            </a:solidFill>
            <a:prstDash val="dash"/>
            <a:headEnd type="triangle"/>
          </a:ln>
        </p:spPr>
      </p:sp>
      <p:sp>
        <p:nvSpPr>
          <p:cNvPr id="29" name="Shape 27"/>
          <p:cNvSpPr/>
          <p:nvPr/>
        </p:nvSpPr>
        <p:spPr>
          <a:xfrm>
            <a:off x="2799305" y="2337461"/>
            <a:ext cx="201168" cy="201168"/>
          </a:xfrm>
          <a:prstGeom prst="ellipse">
            <a:avLst/>
          </a:prstGeom>
          <a:solidFill>
            <a:srgbClr val="00A9C0"/>
          </a:solidFill>
          <a:ln w="12700">
            <a:solidFill>
              <a:srgbClr val="00A9C0"/>
            </a:solidFill>
            <a:prstDash val="solid"/>
          </a:ln>
        </p:spPr>
      </p:sp>
      <p:sp>
        <p:nvSpPr>
          <p:cNvPr id="30" name="Text 28"/>
          <p:cNvSpPr txBox="1"/>
          <p:nvPr/>
        </p:nvSpPr>
        <p:spPr>
          <a:xfrm>
            <a:off x="2799305" y="233746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2</a:t>
            </a:r>
            <a:endParaRPr lang="en-US" sz="800" dirty="0"/>
          </a:p>
        </p:txBody>
      </p:sp>
      <p:sp>
        <p:nvSpPr>
          <p:cNvPr id="31" name="Text 29"/>
          <p:cNvSpPr txBox="1"/>
          <p:nvPr/>
        </p:nvSpPr>
        <p:spPr>
          <a:xfrm>
            <a:off x="1239339" y="2191157"/>
            <a:ext cx="1514246" cy="219456"/>
          </a:xfrm>
          <a:prstGeom prst="rect">
            <a:avLst/>
          </a:prstGeom>
          <a:noFill/>
          <a:ln/>
        </p:spPr>
        <p:txBody>
          <a:bodyPr wrap="square" lIns="0" tIns="0" rIns="0" bIns="0" rtlCol="0" anchor="b"/>
          <a:lstStyle/>
          <a:p>
            <a:pPr algn="ctr" indent="0" marL="0">
              <a:buNone/>
            </a:pPr>
            <a:r>
              <a:rPr lang="en-US" sz="1000" dirty="0">
                <a:solidFill>
                  <a:srgbClr val="4D4D4D"/>
                </a:solidFill>
              </a:rPr>
              <a:t>Place in line shown</a:t>
            </a:r>
            <a:endParaRPr lang="en-US" sz="1000" dirty="0"/>
          </a:p>
        </p:txBody>
      </p:sp>
      <p:sp>
        <p:nvSpPr>
          <p:cNvPr id="32" name="Shape 30"/>
          <p:cNvSpPr/>
          <p:nvPr/>
        </p:nvSpPr>
        <p:spPr>
          <a:xfrm>
            <a:off x="2899889" y="2683875"/>
            <a:ext cx="1597979" cy="0"/>
          </a:xfrm>
          <a:prstGeom prst="line">
            <a:avLst/>
          </a:prstGeom>
          <a:noFill/>
          <a:ln w="15875">
            <a:solidFill>
              <a:srgbClr val="1A1A1A"/>
            </a:solidFill>
            <a:prstDash val="solid"/>
            <a:tailEnd type="triangle"/>
          </a:ln>
        </p:spPr>
      </p:sp>
      <p:sp>
        <p:nvSpPr>
          <p:cNvPr id="33" name="Shape 31"/>
          <p:cNvSpPr/>
          <p:nvPr/>
        </p:nvSpPr>
        <p:spPr>
          <a:xfrm>
            <a:off x="2799305" y="2583291"/>
            <a:ext cx="201168" cy="201168"/>
          </a:xfrm>
          <a:prstGeom prst="ellipse">
            <a:avLst/>
          </a:prstGeom>
          <a:solidFill>
            <a:srgbClr val="00A9C0"/>
          </a:solidFill>
          <a:ln w="12700">
            <a:solidFill>
              <a:srgbClr val="00A9C0"/>
            </a:solidFill>
            <a:prstDash val="solid"/>
          </a:ln>
        </p:spPr>
      </p:sp>
      <p:sp>
        <p:nvSpPr>
          <p:cNvPr id="34" name="Text 32"/>
          <p:cNvSpPr txBox="1"/>
          <p:nvPr/>
        </p:nvSpPr>
        <p:spPr>
          <a:xfrm>
            <a:off x="2799305" y="258329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3</a:t>
            </a:r>
            <a:endParaRPr lang="en-US" sz="800" dirty="0"/>
          </a:p>
        </p:txBody>
      </p:sp>
      <p:sp>
        <p:nvSpPr>
          <p:cNvPr id="35" name="Text 33"/>
          <p:cNvSpPr txBox="1"/>
          <p:nvPr/>
        </p:nvSpPr>
        <p:spPr>
          <a:xfrm>
            <a:off x="3046193" y="2436987"/>
            <a:ext cx="1581912" cy="219456"/>
          </a:xfrm>
          <a:prstGeom prst="rect">
            <a:avLst/>
          </a:prstGeom>
          <a:noFill/>
          <a:ln/>
        </p:spPr>
        <p:txBody>
          <a:bodyPr wrap="square" lIns="0" tIns="0" rIns="0" bIns="0" rtlCol="0" anchor="b"/>
          <a:lstStyle/>
          <a:p>
            <a:pPr algn="ctr" indent="0" marL="0">
              <a:buNone/>
            </a:pPr>
            <a:r>
              <a:rPr lang="en-US" sz="1000" dirty="0">
                <a:solidFill>
                  <a:srgbClr val="000000"/>
                </a:solidFill>
              </a:rPr>
              <a:t>Admit at a safe rate</a:t>
            </a:r>
            <a:endParaRPr lang="en-US" sz="1000" dirty="0"/>
          </a:p>
        </p:txBody>
      </p:sp>
      <p:sp>
        <p:nvSpPr>
          <p:cNvPr id="36" name="Shape 34"/>
          <p:cNvSpPr/>
          <p:nvPr/>
        </p:nvSpPr>
        <p:spPr>
          <a:xfrm>
            <a:off x="4497868" y="2929705"/>
            <a:ext cx="1597979" cy="0"/>
          </a:xfrm>
          <a:prstGeom prst="line">
            <a:avLst/>
          </a:prstGeom>
          <a:noFill/>
          <a:ln w="15875">
            <a:solidFill>
              <a:srgbClr val="1A1A1A"/>
            </a:solidFill>
            <a:prstDash val="solid"/>
            <a:tailEnd type="triangle"/>
          </a:ln>
        </p:spPr>
      </p:sp>
      <p:sp>
        <p:nvSpPr>
          <p:cNvPr id="37" name="Shape 35"/>
          <p:cNvSpPr/>
          <p:nvPr/>
        </p:nvSpPr>
        <p:spPr>
          <a:xfrm>
            <a:off x="4397284" y="2829121"/>
            <a:ext cx="201168" cy="201168"/>
          </a:xfrm>
          <a:prstGeom prst="ellipse">
            <a:avLst/>
          </a:prstGeom>
          <a:solidFill>
            <a:srgbClr val="00A9C0"/>
          </a:solidFill>
          <a:ln w="12700">
            <a:solidFill>
              <a:srgbClr val="00A9C0"/>
            </a:solidFill>
            <a:prstDash val="solid"/>
          </a:ln>
        </p:spPr>
      </p:sp>
      <p:sp>
        <p:nvSpPr>
          <p:cNvPr id="38" name="Text 36"/>
          <p:cNvSpPr txBox="1"/>
          <p:nvPr/>
        </p:nvSpPr>
        <p:spPr>
          <a:xfrm>
            <a:off x="4397284" y="282912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4</a:t>
            </a:r>
            <a:endParaRPr lang="en-US" sz="800" dirty="0"/>
          </a:p>
        </p:txBody>
      </p:sp>
      <p:sp>
        <p:nvSpPr>
          <p:cNvPr id="39" name="Text 37"/>
          <p:cNvSpPr txBox="1"/>
          <p:nvPr/>
        </p:nvSpPr>
        <p:spPr>
          <a:xfrm>
            <a:off x="4644172" y="2682817"/>
            <a:ext cx="1717243" cy="219456"/>
          </a:xfrm>
          <a:prstGeom prst="rect">
            <a:avLst/>
          </a:prstGeom>
          <a:noFill/>
          <a:ln/>
        </p:spPr>
        <p:txBody>
          <a:bodyPr wrap="square" lIns="0" tIns="0" rIns="0" bIns="0" rtlCol="0" anchor="b"/>
          <a:lstStyle/>
          <a:p>
            <a:pPr algn="ctr" indent="0" marL="0">
              <a:buNone/>
            </a:pPr>
            <a:r>
              <a:rPr lang="en-US" sz="1000" dirty="0">
                <a:solidFill>
                  <a:srgbClr val="000000"/>
                </a:solidFill>
              </a:rPr>
              <a:t>Hold one seat (atomic)</a:t>
            </a:r>
            <a:endParaRPr lang="en-US" sz="1000" dirty="0"/>
          </a:p>
        </p:txBody>
      </p:sp>
      <p:sp>
        <p:nvSpPr>
          <p:cNvPr id="40" name="Shape 38"/>
          <p:cNvSpPr/>
          <p:nvPr/>
        </p:nvSpPr>
        <p:spPr>
          <a:xfrm>
            <a:off x="605723" y="2995745"/>
            <a:ext cx="1783080" cy="219456"/>
          </a:xfrm>
          <a:prstGeom prst="roundRect">
            <a:avLst>
              <a:gd name="adj" fmla="val 20833"/>
            </a:avLst>
          </a:prstGeom>
          <a:solidFill>
            <a:srgbClr val="FFF6CC"/>
          </a:solidFill>
          <a:ln w="12700">
            <a:solidFill>
              <a:srgbClr val="D9B200"/>
            </a:solidFill>
            <a:prstDash val="solid"/>
          </a:ln>
        </p:spPr>
      </p:sp>
      <p:sp>
        <p:nvSpPr>
          <p:cNvPr id="41" name="Text 39"/>
          <p:cNvSpPr txBox="1"/>
          <p:nvPr/>
        </p:nvSpPr>
        <p:spPr>
          <a:xfrm>
            <a:off x="605723" y="2995745"/>
            <a:ext cx="1783080" cy="219456"/>
          </a:xfrm>
          <a:prstGeom prst="rect">
            <a:avLst/>
          </a:prstGeom>
          <a:noFill/>
          <a:ln/>
        </p:spPr>
        <p:txBody>
          <a:bodyPr wrap="square" lIns="0" tIns="0" rIns="0" bIns="0" rtlCol="0" anchor="ctr"/>
          <a:lstStyle/>
          <a:p>
            <a:pPr algn="ctr" indent="0" marL="0">
              <a:buNone/>
            </a:pPr>
            <a:r>
              <a:rPr lang="en-US" sz="950" b="1" dirty="0">
                <a:solidFill>
                  <a:srgbClr val="6B5600"/>
                </a:solidFill>
              </a:rPr>
              <a:t>If a seat is available</a:t>
            </a:r>
            <a:endParaRPr lang="en-US" sz="950" dirty="0"/>
          </a:p>
        </p:txBody>
      </p:sp>
      <p:sp>
        <p:nvSpPr>
          <p:cNvPr id="42" name="Shape 40"/>
          <p:cNvSpPr/>
          <p:nvPr/>
        </p:nvSpPr>
        <p:spPr>
          <a:xfrm>
            <a:off x="4497868" y="3359907"/>
            <a:ext cx="1597979" cy="0"/>
          </a:xfrm>
          <a:prstGeom prst="line">
            <a:avLst/>
          </a:prstGeom>
          <a:noFill/>
          <a:ln w="15875">
            <a:solidFill>
              <a:srgbClr val="6B7280"/>
            </a:solidFill>
            <a:prstDash val="dash"/>
            <a:headEnd type="triangle"/>
          </a:ln>
        </p:spPr>
      </p:sp>
      <p:sp>
        <p:nvSpPr>
          <p:cNvPr id="43" name="Shape 41"/>
          <p:cNvSpPr/>
          <p:nvPr/>
        </p:nvSpPr>
        <p:spPr>
          <a:xfrm>
            <a:off x="5995264" y="3259323"/>
            <a:ext cx="201168" cy="201168"/>
          </a:xfrm>
          <a:prstGeom prst="ellipse">
            <a:avLst/>
          </a:prstGeom>
          <a:solidFill>
            <a:srgbClr val="00A9C0"/>
          </a:solidFill>
          <a:ln w="12700">
            <a:solidFill>
              <a:srgbClr val="00A9C0"/>
            </a:solidFill>
            <a:prstDash val="solid"/>
          </a:ln>
        </p:spPr>
      </p:sp>
      <p:sp>
        <p:nvSpPr>
          <p:cNvPr id="44" name="Text 42"/>
          <p:cNvSpPr txBox="1"/>
          <p:nvPr/>
        </p:nvSpPr>
        <p:spPr>
          <a:xfrm>
            <a:off x="5995264" y="325932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5</a:t>
            </a:r>
            <a:endParaRPr lang="en-US" sz="800" dirty="0"/>
          </a:p>
        </p:txBody>
      </p:sp>
      <p:sp>
        <p:nvSpPr>
          <p:cNvPr id="45" name="Text 43"/>
          <p:cNvSpPr txBox="1"/>
          <p:nvPr/>
        </p:nvSpPr>
        <p:spPr>
          <a:xfrm>
            <a:off x="4096969" y="3113019"/>
            <a:ext cx="1852574" cy="219456"/>
          </a:xfrm>
          <a:prstGeom prst="rect">
            <a:avLst/>
          </a:prstGeom>
          <a:noFill/>
          <a:ln/>
        </p:spPr>
        <p:txBody>
          <a:bodyPr wrap="square" lIns="0" tIns="0" rIns="0" bIns="0" rtlCol="0" anchor="b"/>
          <a:lstStyle/>
          <a:p>
            <a:pPr algn="ctr" indent="0" marL="0">
              <a:buNone/>
            </a:pPr>
            <a:r>
              <a:rPr lang="en-US" sz="1000" dirty="0">
                <a:solidFill>
                  <a:srgbClr val="4D4D4D"/>
                </a:solidFill>
              </a:rPr>
              <a:t>Hold granted, 10 minutes</a:t>
            </a:r>
            <a:endParaRPr lang="en-US" sz="1000" dirty="0"/>
          </a:p>
        </p:txBody>
      </p:sp>
      <p:sp>
        <p:nvSpPr>
          <p:cNvPr id="46" name="Shape 44"/>
          <p:cNvSpPr/>
          <p:nvPr/>
        </p:nvSpPr>
        <p:spPr>
          <a:xfrm>
            <a:off x="1301910" y="3605737"/>
            <a:ext cx="3195959" cy="0"/>
          </a:xfrm>
          <a:prstGeom prst="line">
            <a:avLst/>
          </a:prstGeom>
          <a:noFill/>
          <a:ln w="15875">
            <a:solidFill>
              <a:srgbClr val="6B7280"/>
            </a:solidFill>
            <a:prstDash val="dash"/>
            <a:headEnd type="triangle"/>
          </a:ln>
        </p:spPr>
      </p:sp>
      <p:sp>
        <p:nvSpPr>
          <p:cNvPr id="47" name="Shape 45"/>
          <p:cNvSpPr/>
          <p:nvPr/>
        </p:nvSpPr>
        <p:spPr>
          <a:xfrm>
            <a:off x="4397284" y="3505153"/>
            <a:ext cx="201168" cy="201168"/>
          </a:xfrm>
          <a:prstGeom prst="ellipse">
            <a:avLst/>
          </a:prstGeom>
          <a:solidFill>
            <a:srgbClr val="00A9C0"/>
          </a:solidFill>
          <a:ln w="12700">
            <a:solidFill>
              <a:srgbClr val="00A9C0"/>
            </a:solidFill>
            <a:prstDash val="solid"/>
          </a:ln>
        </p:spPr>
      </p:sp>
      <p:sp>
        <p:nvSpPr>
          <p:cNvPr id="48" name="Text 46"/>
          <p:cNvSpPr txBox="1"/>
          <p:nvPr/>
        </p:nvSpPr>
        <p:spPr>
          <a:xfrm>
            <a:off x="4397284" y="350515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6</a:t>
            </a:r>
            <a:endParaRPr lang="en-US" sz="800" dirty="0"/>
          </a:p>
        </p:txBody>
      </p:sp>
      <p:sp>
        <p:nvSpPr>
          <p:cNvPr id="49" name="Text 47"/>
          <p:cNvSpPr txBox="1"/>
          <p:nvPr/>
        </p:nvSpPr>
        <p:spPr>
          <a:xfrm>
            <a:off x="1338486" y="3358849"/>
            <a:ext cx="3013079" cy="219456"/>
          </a:xfrm>
          <a:prstGeom prst="rect">
            <a:avLst/>
          </a:prstGeom>
          <a:noFill/>
          <a:ln/>
        </p:spPr>
        <p:txBody>
          <a:bodyPr wrap="square" lIns="0" tIns="0" rIns="0" bIns="0" rtlCol="0" anchor="b"/>
          <a:lstStyle/>
          <a:p>
            <a:pPr algn="ctr" indent="0" marL="0">
              <a:buNone/>
            </a:pPr>
            <a:r>
              <a:rPr lang="en-US" sz="1000" dirty="0">
                <a:solidFill>
                  <a:srgbClr val="4D4D4D"/>
                </a:solidFill>
              </a:rPr>
              <a:t>Your seat is held, pay now</a:t>
            </a:r>
            <a:endParaRPr lang="en-US" sz="1000" dirty="0"/>
          </a:p>
        </p:txBody>
      </p:sp>
      <p:sp>
        <p:nvSpPr>
          <p:cNvPr id="50" name="Shape 48"/>
          <p:cNvSpPr/>
          <p:nvPr/>
        </p:nvSpPr>
        <p:spPr>
          <a:xfrm>
            <a:off x="1301910" y="3851567"/>
            <a:ext cx="6391917" cy="0"/>
          </a:xfrm>
          <a:prstGeom prst="line">
            <a:avLst/>
          </a:prstGeom>
          <a:noFill/>
          <a:ln w="15875">
            <a:solidFill>
              <a:srgbClr val="1A1A1A"/>
            </a:solidFill>
            <a:prstDash val="solid"/>
            <a:tailEnd type="triangle"/>
          </a:ln>
        </p:spPr>
      </p:sp>
      <p:sp>
        <p:nvSpPr>
          <p:cNvPr id="51" name="Shape 49"/>
          <p:cNvSpPr/>
          <p:nvPr/>
        </p:nvSpPr>
        <p:spPr>
          <a:xfrm>
            <a:off x="1201326" y="3750983"/>
            <a:ext cx="201168" cy="201168"/>
          </a:xfrm>
          <a:prstGeom prst="ellipse">
            <a:avLst/>
          </a:prstGeom>
          <a:solidFill>
            <a:srgbClr val="00A9C0"/>
          </a:solidFill>
          <a:ln w="12700">
            <a:solidFill>
              <a:srgbClr val="00A9C0"/>
            </a:solidFill>
            <a:prstDash val="solid"/>
          </a:ln>
        </p:spPr>
      </p:sp>
      <p:sp>
        <p:nvSpPr>
          <p:cNvPr id="52" name="Text 50"/>
          <p:cNvSpPr txBox="1"/>
          <p:nvPr/>
        </p:nvSpPr>
        <p:spPr>
          <a:xfrm>
            <a:off x="1201326" y="375098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7</a:t>
            </a:r>
            <a:endParaRPr lang="en-US" sz="800" dirty="0"/>
          </a:p>
        </p:txBody>
      </p:sp>
      <p:sp>
        <p:nvSpPr>
          <p:cNvPr id="53" name="Text 51"/>
          <p:cNvSpPr txBox="1"/>
          <p:nvPr/>
        </p:nvSpPr>
        <p:spPr>
          <a:xfrm>
            <a:off x="1448214" y="3604679"/>
            <a:ext cx="6209037" cy="219456"/>
          </a:xfrm>
          <a:prstGeom prst="rect">
            <a:avLst/>
          </a:prstGeom>
          <a:noFill/>
          <a:ln/>
        </p:spPr>
        <p:txBody>
          <a:bodyPr wrap="square" lIns="0" tIns="0" rIns="0" bIns="0" rtlCol="0" anchor="b"/>
          <a:lstStyle/>
          <a:p>
            <a:pPr algn="ctr" indent="0" marL="0">
              <a:buNone/>
            </a:pPr>
            <a:r>
              <a:rPr lang="en-US" sz="1000" dirty="0">
                <a:solidFill>
                  <a:srgbClr val="000000"/>
                </a:solidFill>
              </a:rPr>
              <a:t>Pay on hosted page</a:t>
            </a:r>
            <a:endParaRPr lang="en-US" sz="1000" dirty="0"/>
          </a:p>
        </p:txBody>
      </p:sp>
      <p:sp>
        <p:nvSpPr>
          <p:cNvPr id="54" name="Shape 52"/>
          <p:cNvSpPr/>
          <p:nvPr/>
        </p:nvSpPr>
        <p:spPr>
          <a:xfrm>
            <a:off x="4497868" y="4097397"/>
            <a:ext cx="3195959" cy="0"/>
          </a:xfrm>
          <a:prstGeom prst="line">
            <a:avLst/>
          </a:prstGeom>
          <a:noFill/>
          <a:ln w="15875">
            <a:solidFill>
              <a:srgbClr val="6B7280"/>
            </a:solidFill>
            <a:prstDash val="dash"/>
            <a:headEnd type="triangle"/>
          </a:ln>
        </p:spPr>
      </p:sp>
      <p:sp>
        <p:nvSpPr>
          <p:cNvPr id="55" name="Shape 53"/>
          <p:cNvSpPr/>
          <p:nvPr/>
        </p:nvSpPr>
        <p:spPr>
          <a:xfrm>
            <a:off x="7593243" y="3996813"/>
            <a:ext cx="201168" cy="201168"/>
          </a:xfrm>
          <a:prstGeom prst="ellipse">
            <a:avLst/>
          </a:prstGeom>
          <a:solidFill>
            <a:srgbClr val="00A9C0"/>
          </a:solidFill>
          <a:ln w="12700">
            <a:solidFill>
              <a:srgbClr val="00A9C0"/>
            </a:solidFill>
            <a:prstDash val="solid"/>
          </a:ln>
        </p:spPr>
      </p:sp>
      <p:sp>
        <p:nvSpPr>
          <p:cNvPr id="56" name="Text 54"/>
          <p:cNvSpPr txBox="1"/>
          <p:nvPr/>
        </p:nvSpPr>
        <p:spPr>
          <a:xfrm>
            <a:off x="7593243" y="399681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8</a:t>
            </a:r>
            <a:endParaRPr lang="en-US" sz="800" dirty="0"/>
          </a:p>
        </p:txBody>
      </p:sp>
      <p:sp>
        <p:nvSpPr>
          <p:cNvPr id="57" name="Text 55"/>
          <p:cNvSpPr txBox="1"/>
          <p:nvPr/>
        </p:nvSpPr>
        <p:spPr>
          <a:xfrm>
            <a:off x="4534444" y="3850509"/>
            <a:ext cx="3013079" cy="219456"/>
          </a:xfrm>
          <a:prstGeom prst="rect">
            <a:avLst/>
          </a:prstGeom>
          <a:noFill/>
          <a:ln/>
        </p:spPr>
        <p:txBody>
          <a:bodyPr wrap="square" lIns="0" tIns="0" rIns="0" bIns="0" rtlCol="0" anchor="b"/>
          <a:lstStyle/>
          <a:p>
            <a:pPr algn="ctr" indent="0" marL="0">
              <a:buNone/>
            </a:pPr>
            <a:r>
              <a:rPr lang="en-US" sz="1000" dirty="0">
                <a:solidFill>
                  <a:srgbClr val="4D4D4D"/>
                </a:solidFill>
              </a:rPr>
              <a:t>Signed payment webhook</a:t>
            </a:r>
            <a:endParaRPr lang="en-US" sz="1000" dirty="0"/>
          </a:p>
        </p:txBody>
      </p:sp>
      <p:sp>
        <p:nvSpPr>
          <p:cNvPr id="58" name="Shape 56"/>
          <p:cNvSpPr/>
          <p:nvPr/>
        </p:nvSpPr>
        <p:spPr>
          <a:xfrm>
            <a:off x="4497868" y="4343226"/>
            <a:ext cx="4793938" cy="0"/>
          </a:xfrm>
          <a:prstGeom prst="line">
            <a:avLst/>
          </a:prstGeom>
          <a:noFill/>
          <a:ln w="15875">
            <a:solidFill>
              <a:srgbClr val="1A1A1A"/>
            </a:solidFill>
            <a:prstDash val="solid"/>
            <a:tailEnd type="triangle"/>
          </a:ln>
        </p:spPr>
      </p:sp>
      <p:sp>
        <p:nvSpPr>
          <p:cNvPr id="59" name="Shape 57"/>
          <p:cNvSpPr/>
          <p:nvPr/>
        </p:nvSpPr>
        <p:spPr>
          <a:xfrm>
            <a:off x="4397284" y="4242642"/>
            <a:ext cx="201168" cy="201168"/>
          </a:xfrm>
          <a:prstGeom prst="ellipse">
            <a:avLst/>
          </a:prstGeom>
          <a:solidFill>
            <a:srgbClr val="00A9C0"/>
          </a:solidFill>
          <a:ln w="12700">
            <a:solidFill>
              <a:srgbClr val="00A9C0"/>
            </a:solidFill>
            <a:prstDash val="solid"/>
          </a:ln>
        </p:spPr>
      </p:sp>
      <p:sp>
        <p:nvSpPr>
          <p:cNvPr id="60" name="Text 58"/>
          <p:cNvSpPr txBox="1"/>
          <p:nvPr/>
        </p:nvSpPr>
        <p:spPr>
          <a:xfrm>
            <a:off x="4397284" y="424264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9</a:t>
            </a:r>
            <a:endParaRPr lang="en-US" sz="800" dirty="0"/>
          </a:p>
        </p:txBody>
      </p:sp>
      <p:sp>
        <p:nvSpPr>
          <p:cNvPr id="61" name="Text 59"/>
          <p:cNvSpPr txBox="1"/>
          <p:nvPr/>
        </p:nvSpPr>
        <p:spPr>
          <a:xfrm>
            <a:off x="4644172" y="4096338"/>
            <a:ext cx="4611058" cy="219456"/>
          </a:xfrm>
          <a:prstGeom prst="rect">
            <a:avLst/>
          </a:prstGeom>
          <a:noFill/>
          <a:ln/>
        </p:spPr>
        <p:txBody>
          <a:bodyPr wrap="square" lIns="0" tIns="0" rIns="0" bIns="0" rtlCol="0" anchor="b"/>
          <a:lstStyle/>
          <a:p>
            <a:pPr algn="ctr" indent="0" marL="0">
              <a:buNone/>
            </a:pPr>
            <a:r>
              <a:rPr lang="en-US" sz="1000" dirty="0">
                <a:solidFill>
                  <a:srgbClr val="000000"/>
                </a:solidFill>
              </a:rPr>
              <a:t>Create registration (idempotent, via queue)</a:t>
            </a:r>
            <a:endParaRPr lang="en-US" sz="1000" dirty="0"/>
          </a:p>
        </p:txBody>
      </p:sp>
      <p:sp>
        <p:nvSpPr>
          <p:cNvPr id="62" name="Shape 60"/>
          <p:cNvSpPr/>
          <p:nvPr/>
        </p:nvSpPr>
        <p:spPr>
          <a:xfrm>
            <a:off x="9291806" y="4589056"/>
            <a:ext cx="1597979" cy="0"/>
          </a:xfrm>
          <a:prstGeom prst="line">
            <a:avLst/>
          </a:prstGeom>
          <a:noFill/>
          <a:ln w="15875">
            <a:solidFill>
              <a:srgbClr val="1A1A1A"/>
            </a:solidFill>
            <a:prstDash val="solid"/>
            <a:tailEnd type="triangle"/>
          </a:ln>
        </p:spPr>
      </p:sp>
      <p:sp>
        <p:nvSpPr>
          <p:cNvPr id="63" name="Shape 61"/>
          <p:cNvSpPr/>
          <p:nvPr/>
        </p:nvSpPr>
        <p:spPr>
          <a:xfrm>
            <a:off x="9191222" y="4488472"/>
            <a:ext cx="201168" cy="201168"/>
          </a:xfrm>
          <a:prstGeom prst="ellipse">
            <a:avLst/>
          </a:prstGeom>
          <a:solidFill>
            <a:srgbClr val="00A9C0"/>
          </a:solidFill>
          <a:ln w="12700">
            <a:solidFill>
              <a:srgbClr val="00A9C0"/>
            </a:solidFill>
            <a:prstDash val="solid"/>
          </a:ln>
        </p:spPr>
      </p:sp>
      <p:sp>
        <p:nvSpPr>
          <p:cNvPr id="64" name="Text 62"/>
          <p:cNvSpPr txBox="1"/>
          <p:nvPr/>
        </p:nvSpPr>
        <p:spPr>
          <a:xfrm>
            <a:off x="9191222" y="448847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10</a:t>
            </a:r>
            <a:endParaRPr lang="en-US" sz="800" dirty="0"/>
          </a:p>
        </p:txBody>
      </p:sp>
      <p:sp>
        <p:nvSpPr>
          <p:cNvPr id="65" name="Text 63"/>
          <p:cNvSpPr txBox="1"/>
          <p:nvPr/>
        </p:nvSpPr>
        <p:spPr>
          <a:xfrm>
            <a:off x="9438110" y="4342168"/>
            <a:ext cx="1446581" cy="219456"/>
          </a:xfrm>
          <a:prstGeom prst="rect">
            <a:avLst/>
          </a:prstGeom>
          <a:noFill/>
          <a:ln/>
        </p:spPr>
        <p:txBody>
          <a:bodyPr wrap="square" lIns="0" tIns="0" rIns="0" bIns="0" rtlCol="0" anchor="b"/>
          <a:lstStyle/>
          <a:p>
            <a:pPr algn="ctr" indent="0" marL="0">
              <a:buNone/>
            </a:pPr>
            <a:r>
              <a:rPr lang="en-US" sz="1000" dirty="0">
                <a:solidFill>
                  <a:srgbClr val="000000"/>
                </a:solidFill>
              </a:rPr>
              <a:t>Registration event</a:t>
            </a:r>
            <a:endParaRPr lang="en-US" sz="1000" dirty="0"/>
          </a:p>
        </p:txBody>
      </p:sp>
      <p:sp>
        <p:nvSpPr>
          <p:cNvPr id="66" name="Shape 64"/>
          <p:cNvSpPr/>
          <p:nvPr/>
        </p:nvSpPr>
        <p:spPr>
          <a:xfrm>
            <a:off x="1301910" y="4834886"/>
            <a:ext cx="9587876" cy="0"/>
          </a:xfrm>
          <a:prstGeom prst="line">
            <a:avLst/>
          </a:prstGeom>
          <a:noFill/>
          <a:ln w="15875">
            <a:solidFill>
              <a:srgbClr val="6B7280"/>
            </a:solidFill>
            <a:prstDash val="dash"/>
            <a:headEnd type="triangle"/>
          </a:ln>
        </p:spPr>
      </p:sp>
      <p:sp>
        <p:nvSpPr>
          <p:cNvPr id="67" name="Shape 65"/>
          <p:cNvSpPr/>
          <p:nvPr/>
        </p:nvSpPr>
        <p:spPr>
          <a:xfrm>
            <a:off x="10789202" y="4734302"/>
            <a:ext cx="201168" cy="201168"/>
          </a:xfrm>
          <a:prstGeom prst="ellipse">
            <a:avLst/>
          </a:prstGeom>
          <a:solidFill>
            <a:srgbClr val="00A9C0"/>
          </a:solidFill>
          <a:ln w="12700">
            <a:solidFill>
              <a:srgbClr val="00A9C0"/>
            </a:solidFill>
            <a:prstDash val="solid"/>
          </a:ln>
        </p:spPr>
      </p:sp>
      <p:sp>
        <p:nvSpPr>
          <p:cNvPr id="68" name="Text 66"/>
          <p:cNvSpPr txBox="1"/>
          <p:nvPr/>
        </p:nvSpPr>
        <p:spPr>
          <a:xfrm>
            <a:off x="10789202" y="473430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11</a:t>
            </a:r>
            <a:endParaRPr lang="en-US" sz="800" dirty="0"/>
          </a:p>
        </p:txBody>
      </p:sp>
      <p:sp>
        <p:nvSpPr>
          <p:cNvPr id="69" name="Text 67"/>
          <p:cNvSpPr txBox="1"/>
          <p:nvPr/>
        </p:nvSpPr>
        <p:spPr>
          <a:xfrm>
            <a:off x="1338486" y="4587998"/>
            <a:ext cx="9404996" cy="219456"/>
          </a:xfrm>
          <a:prstGeom prst="rect">
            <a:avLst/>
          </a:prstGeom>
          <a:noFill/>
          <a:ln/>
        </p:spPr>
        <p:txBody>
          <a:bodyPr wrap="square" lIns="0" tIns="0" rIns="0" bIns="0" rtlCol="0" anchor="b"/>
          <a:lstStyle/>
          <a:p>
            <a:pPr algn="ctr" indent="0" marL="0">
              <a:buNone/>
            </a:pPr>
            <a:r>
              <a:rPr lang="en-US" sz="1000" dirty="0">
                <a:solidFill>
                  <a:srgbClr val="4D4D4D"/>
                </a:solidFill>
              </a:rPr>
              <a:t>Confirmation, QR code, calendar invite</a:t>
            </a:r>
            <a:endParaRPr lang="en-US" sz="1000" dirty="0"/>
          </a:p>
        </p:txBody>
      </p:sp>
      <p:sp>
        <p:nvSpPr>
          <p:cNvPr id="70" name="Shape 68"/>
          <p:cNvSpPr/>
          <p:nvPr/>
        </p:nvSpPr>
        <p:spPr>
          <a:xfrm>
            <a:off x="550859" y="4955044"/>
            <a:ext cx="11089976" cy="0"/>
          </a:xfrm>
          <a:prstGeom prst="line">
            <a:avLst/>
          </a:prstGeom>
          <a:noFill/>
          <a:ln w="12700">
            <a:solidFill>
              <a:srgbClr val="9A9AA2"/>
            </a:solidFill>
            <a:prstDash val="dash"/>
          </a:ln>
        </p:spPr>
      </p:sp>
      <p:sp>
        <p:nvSpPr>
          <p:cNvPr id="71" name="Shape 69"/>
          <p:cNvSpPr/>
          <p:nvPr/>
        </p:nvSpPr>
        <p:spPr>
          <a:xfrm>
            <a:off x="605723" y="4919214"/>
            <a:ext cx="1280160" cy="219456"/>
          </a:xfrm>
          <a:prstGeom prst="roundRect">
            <a:avLst>
              <a:gd name="adj" fmla="val 20833"/>
            </a:avLst>
          </a:prstGeom>
          <a:solidFill>
            <a:srgbClr val="FFF6CC"/>
          </a:solidFill>
          <a:ln w="12700">
            <a:solidFill>
              <a:srgbClr val="D9B200"/>
            </a:solidFill>
            <a:prstDash val="solid"/>
          </a:ln>
        </p:spPr>
      </p:sp>
      <p:sp>
        <p:nvSpPr>
          <p:cNvPr id="72" name="Text 70"/>
          <p:cNvSpPr txBox="1"/>
          <p:nvPr/>
        </p:nvSpPr>
        <p:spPr>
          <a:xfrm>
            <a:off x="605723" y="4919214"/>
            <a:ext cx="1280160" cy="219456"/>
          </a:xfrm>
          <a:prstGeom prst="rect">
            <a:avLst/>
          </a:prstGeom>
          <a:noFill/>
          <a:ln/>
        </p:spPr>
        <p:txBody>
          <a:bodyPr wrap="square" lIns="0" tIns="0" rIns="0" bIns="0" rtlCol="0" anchor="ctr"/>
          <a:lstStyle/>
          <a:p>
            <a:pPr algn="ctr" indent="0" marL="0">
              <a:buNone/>
            </a:pPr>
            <a:r>
              <a:rPr lang="en-US" sz="950" b="1" dirty="0">
                <a:solidFill>
                  <a:srgbClr val="6B5600"/>
                </a:solidFill>
              </a:rPr>
              <a:t>If sold out</a:t>
            </a:r>
            <a:endParaRPr lang="en-US" sz="950" dirty="0"/>
          </a:p>
        </p:txBody>
      </p:sp>
      <p:sp>
        <p:nvSpPr>
          <p:cNvPr id="73" name="Shape 71"/>
          <p:cNvSpPr/>
          <p:nvPr/>
        </p:nvSpPr>
        <p:spPr>
          <a:xfrm>
            <a:off x="4497868" y="5265088"/>
            <a:ext cx="1597979" cy="0"/>
          </a:xfrm>
          <a:prstGeom prst="line">
            <a:avLst/>
          </a:prstGeom>
          <a:noFill/>
          <a:ln w="15875">
            <a:solidFill>
              <a:srgbClr val="6B7280"/>
            </a:solidFill>
            <a:prstDash val="dash"/>
            <a:headEnd type="triangle"/>
          </a:ln>
        </p:spPr>
      </p:sp>
      <p:sp>
        <p:nvSpPr>
          <p:cNvPr id="74" name="Shape 72"/>
          <p:cNvSpPr/>
          <p:nvPr/>
        </p:nvSpPr>
        <p:spPr>
          <a:xfrm>
            <a:off x="5995264" y="5164504"/>
            <a:ext cx="201168" cy="201168"/>
          </a:xfrm>
          <a:prstGeom prst="ellipse">
            <a:avLst/>
          </a:prstGeom>
          <a:solidFill>
            <a:srgbClr val="00A9C0"/>
          </a:solidFill>
          <a:ln w="12700">
            <a:solidFill>
              <a:srgbClr val="00A9C0"/>
            </a:solidFill>
            <a:prstDash val="solid"/>
          </a:ln>
        </p:spPr>
      </p:sp>
      <p:sp>
        <p:nvSpPr>
          <p:cNvPr id="75" name="Text 73"/>
          <p:cNvSpPr txBox="1"/>
          <p:nvPr/>
        </p:nvSpPr>
        <p:spPr>
          <a:xfrm>
            <a:off x="5995264" y="5164504"/>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12</a:t>
            </a:r>
            <a:endParaRPr lang="en-US" sz="800" dirty="0"/>
          </a:p>
        </p:txBody>
      </p:sp>
      <p:sp>
        <p:nvSpPr>
          <p:cNvPr id="76" name="Text 74"/>
          <p:cNvSpPr txBox="1"/>
          <p:nvPr/>
        </p:nvSpPr>
        <p:spPr>
          <a:xfrm>
            <a:off x="4534444" y="5018200"/>
            <a:ext cx="1415099" cy="219456"/>
          </a:xfrm>
          <a:prstGeom prst="rect">
            <a:avLst/>
          </a:prstGeom>
          <a:noFill/>
          <a:ln/>
        </p:spPr>
        <p:txBody>
          <a:bodyPr wrap="square" lIns="0" tIns="0" rIns="0" bIns="0" rtlCol="0" anchor="b"/>
          <a:lstStyle/>
          <a:p>
            <a:pPr algn="ctr" indent="0" marL="0">
              <a:buNone/>
            </a:pPr>
            <a:r>
              <a:rPr lang="en-US" sz="1000" dirty="0">
                <a:solidFill>
                  <a:srgbClr val="4D4D4D"/>
                </a:solidFill>
              </a:rPr>
              <a:t>No seats left</a:t>
            </a:r>
            <a:endParaRPr lang="en-US" sz="1000" dirty="0"/>
          </a:p>
        </p:txBody>
      </p:sp>
      <p:sp>
        <p:nvSpPr>
          <p:cNvPr id="77" name="Shape 75"/>
          <p:cNvSpPr/>
          <p:nvPr/>
        </p:nvSpPr>
        <p:spPr>
          <a:xfrm>
            <a:off x="1301910" y="5510918"/>
            <a:ext cx="3195959" cy="0"/>
          </a:xfrm>
          <a:prstGeom prst="line">
            <a:avLst/>
          </a:prstGeom>
          <a:noFill/>
          <a:ln w="15875">
            <a:solidFill>
              <a:srgbClr val="6B7280"/>
            </a:solidFill>
            <a:prstDash val="dash"/>
            <a:headEnd type="triangle"/>
          </a:ln>
        </p:spPr>
      </p:sp>
      <p:sp>
        <p:nvSpPr>
          <p:cNvPr id="78" name="Shape 76"/>
          <p:cNvSpPr/>
          <p:nvPr/>
        </p:nvSpPr>
        <p:spPr>
          <a:xfrm>
            <a:off x="4397284" y="5410334"/>
            <a:ext cx="201168" cy="201168"/>
          </a:xfrm>
          <a:prstGeom prst="ellipse">
            <a:avLst/>
          </a:prstGeom>
          <a:solidFill>
            <a:srgbClr val="00A9C0"/>
          </a:solidFill>
          <a:ln w="12700">
            <a:solidFill>
              <a:srgbClr val="00A9C0"/>
            </a:solidFill>
            <a:prstDash val="solid"/>
          </a:ln>
        </p:spPr>
      </p:sp>
      <p:sp>
        <p:nvSpPr>
          <p:cNvPr id="79" name="Text 77"/>
          <p:cNvSpPr txBox="1"/>
          <p:nvPr/>
        </p:nvSpPr>
        <p:spPr>
          <a:xfrm>
            <a:off x="4397284" y="5410334"/>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13</a:t>
            </a:r>
            <a:endParaRPr lang="en-US" sz="800" dirty="0"/>
          </a:p>
        </p:txBody>
      </p:sp>
      <p:sp>
        <p:nvSpPr>
          <p:cNvPr id="80" name="Text 78"/>
          <p:cNvSpPr txBox="1"/>
          <p:nvPr/>
        </p:nvSpPr>
        <p:spPr>
          <a:xfrm>
            <a:off x="1281009" y="5264030"/>
            <a:ext cx="3070555" cy="219456"/>
          </a:xfrm>
          <a:prstGeom prst="rect">
            <a:avLst/>
          </a:prstGeom>
          <a:noFill/>
          <a:ln/>
        </p:spPr>
        <p:txBody>
          <a:bodyPr wrap="square" lIns="0" tIns="0" rIns="0" bIns="0" rtlCol="0" anchor="b"/>
          <a:lstStyle/>
          <a:p>
            <a:pPr algn="ctr" indent="0" marL="0">
              <a:buNone/>
            </a:pPr>
            <a:r>
              <a:rPr lang="en-US" sz="1000" dirty="0">
                <a:solidFill>
                  <a:srgbClr val="4D4D4D"/>
                </a:solidFill>
              </a:rPr>
              <a:t>Join waitlist or get notified of new dates</a:t>
            </a:r>
            <a:endParaRPr lang="en-US" sz="1000" dirty="0"/>
          </a:p>
        </p:txBody>
      </p:sp>
      <p:sp>
        <p:nvSpPr>
          <p:cNvPr id="81" name="Shape 79"/>
          <p:cNvSpPr/>
          <p:nvPr/>
        </p:nvSpPr>
        <p:spPr>
          <a:xfrm>
            <a:off x="4497868" y="5756748"/>
            <a:ext cx="4793938" cy="0"/>
          </a:xfrm>
          <a:prstGeom prst="line">
            <a:avLst/>
          </a:prstGeom>
          <a:noFill/>
          <a:ln w="15875">
            <a:solidFill>
              <a:srgbClr val="1A1A1A"/>
            </a:solidFill>
            <a:prstDash val="solid"/>
            <a:tailEnd type="triangle"/>
          </a:ln>
        </p:spPr>
      </p:sp>
      <p:sp>
        <p:nvSpPr>
          <p:cNvPr id="82" name="Shape 80"/>
          <p:cNvSpPr/>
          <p:nvPr/>
        </p:nvSpPr>
        <p:spPr>
          <a:xfrm>
            <a:off x="4397284" y="5656164"/>
            <a:ext cx="201168" cy="201168"/>
          </a:xfrm>
          <a:prstGeom prst="ellipse">
            <a:avLst/>
          </a:prstGeom>
          <a:solidFill>
            <a:srgbClr val="00A9C0"/>
          </a:solidFill>
          <a:ln w="12700">
            <a:solidFill>
              <a:srgbClr val="00A9C0"/>
            </a:solidFill>
            <a:prstDash val="solid"/>
          </a:ln>
        </p:spPr>
      </p:sp>
      <p:sp>
        <p:nvSpPr>
          <p:cNvPr id="83" name="Text 81"/>
          <p:cNvSpPr txBox="1"/>
          <p:nvPr/>
        </p:nvSpPr>
        <p:spPr>
          <a:xfrm>
            <a:off x="4397284" y="5656164"/>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14</a:t>
            </a:r>
            <a:endParaRPr lang="en-US" sz="800" dirty="0"/>
          </a:p>
        </p:txBody>
      </p:sp>
      <p:sp>
        <p:nvSpPr>
          <p:cNvPr id="84" name="Text 82"/>
          <p:cNvSpPr txBox="1"/>
          <p:nvPr/>
        </p:nvSpPr>
        <p:spPr>
          <a:xfrm>
            <a:off x="4644172" y="5509860"/>
            <a:ext cx="4611058" cy="219456"/>
          </a:xfrm>
          <a:prstGeom prst="rect">
            <a:avLst/>
          </a:prstGeom>
          <a:noFill/>
          <a:ln/>
        </p:spPr>
        <p:txBody>
          <a:bodyPr wrap="square" lIns="0" tIns="0" rIns="0" bIns="0" rtlCol="0" anchor="b"/>
          <a:lstStyle/>
          <a:p>
            <a:pPr algn="ctr" indent="0" marL="0">
              <a:buNone/>
            </a:pPr>
            <a:r>
              <a:rPr lang="en-US" sz="1000" dirty="0">
                <a:solidFill>
                  <a:srgbClr val="000000"/>
                </a:solidFill>
              </a:rPr>
              <a:t>Waitlist or interest record</a:t>
            </a:r>
            <a:endParaRPr lang="en-US" sz="1000" dirty="0"/>
          </a:p>
        </p:txBody>
      </p:sp>
      <p:sp>
        <p:nvSpPr>
          <p:cNvPr id="85" name="Shape 83"/>
          <p:cNvSpPr/>
          <p:nvPr/>
        </p:nvSpPr>
        <p:spPr>
          <a:xfrm>
            <a:off x="550859" y="3049863"/>
            <a:ext cx="11089976" cy="2833487"/>
          </a:xfrm>
          <a:prstGeom prst="rect">
            <a:avLst/>
          </a:prstGeom>
          <a:ln w="12700">
            <a:solidFill>
              <a:srgbClr val="9A9AA2"/>
            </a:solidFill>
            <a:prstDash val="dash"/>
          </a:ln>
        </p:spPr>
      </p:sp>
      <p:sp>
        <p:nvSpPr>
          <p:cNvPr id="86" name="Shape 84"/>
          <p:cNvSpPr/>
          <p:nvPr/>
        </p:nvSpPr>
        <p:spPr>
          <a:xfrm>
            <a:off x="3778778" y="5963245"/>
            <a:ext cx="3036161" cy="172081"/>
          </a:xfrm>
          <a:prstGeom prst="rect">
            <a:avLst/>
          </a:prstGeom>
          <a:solidFill>
            <a:srgbClr val="FED700"/>
          </a:solidFill>
          <a:ln w="12700">
            <a:solidFill>
              <a:srgbClr val="FED700"/>
            </a:solidFill>
            <a:prstDash val="solid"/>
          </a:ln>
        </p:spPr>
      </p:sp>
      <p:sp>
        <p:nvSpPr>
          <p:cNvPr id="87" name="Text 85"/>
          <p:cNvSpPr txBox="1"/>
          <p:nvPr/>
        </p:nvSpPr>
        <p:spPr>
          <a:xfrm>
            <a:off x="3851930" y="5963245"/>
            <a:ext cx="2889857" cy="172081"/>
          </a:xfrm>
          <a:prstGeom prst="rect">
            <a:avLst/>
          </a:prstGeom>
          <a:noFill/>
          <a:ln/>
        </p:spPr>
        <p:txBody>
          <a:bodyPr wrap="square" lIns="0" tIns="0" rIns="0" bIns="0" rtlCol="0" anchor="ctr"/>
          <a:lstStyle/>
          <a:p>
            <a:pPr algn="ctr" indent="0" marL="0">
              <a:buNone/>
            </a:pPr>
            <a:r>
              <a:rPr lang="en-US" sz="1000" b="1" dirty="0">
                <a:solidFill>
                  <a:srgbClr val="000000"/>
                </a:solidFill>
              </a:rPr>
              <a:t>Unpaid holds expire and return to the pool</a:t>
            </a:r>
            <a:endParaRPr lang="en-US" sz="10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Payments and data security by design</a:t>
            </a:r>
            <a:endParaRPr lang="en-US" sz="3200" dirty="0"/>
          </a:p>
        </p:txBody>
      </p:sp>
      <p:sp>
        <p:nvSpPr>
          <p:cNvPr id="3" name="Text 1"/>
          <p:cNvSpPr txBox="1"/>
          <p:nvPr/>
        </p:nvSpPr>
        <p:spPr>
          <a:xfrm>
            <a:off x="502920" y="1463040"/>
            <a:ext cx="5303520" cy="365760"/>
          </a:xfrm>
          <a:prstGeom prst="rect">
            <a:avLst/>
          </a:prstGeom>
          <a:noFill/>
          <a:ln/>
        </p:spPr>
        <p:txBody>
          <a:bodyPr wrap="square" lIns="0" tIns="0" rIns="0" bIns="0" rtlCol="0" anchor="t"/>
          <a:lstStyle/>
          <a:p>
            <a:pPr indent="0" marL="0">
              <a:buNone/>
            </a:pPr>
            <a:r>
              <a:rPr lang="en-US" sz="1700" b="1" dirty="0">
                <a:solidFill>
                  <a:schemeClr val="tx1"/>
                </a:solidFill>
              </a:rPr>
              <a:t>Card data never enters our systems</a:t>
            </a:r>
            <a:endParaRPr lang="en-US" sz="1700" dirty="0"/>
          </a:p>
        </p:txBody>
      </p:sp>
      <p:sp>
        <p:nvSpPr>
          <p:cNvPr id="4" name="Shape 2"/>
          <p:cNvSpPr/>
          <p:nvPr/>
        </p:nvSpPr>
        <p:spPr>
          <a:xfrm>
            <a:off x="502920" y="1965960"/>
            <a:ext cx="3383280" cy="2011680"/>
          </a:xfrm>
          <a:prstGeom prst="roundRect">
            <a:avLst>
              <a:gd name="adj" fmla="val 4545"/>
            </a:avLst>
          </a:prstGeom>
          <a:ln w="15875">
            <a:solidFill>
              <a:srgbClr val="FF0068"/>
            </a:solidFill>
            <a:prstDash val="dash"/>
          </a:ln>
        </p:spPr>
      </p:sp>
      <p:sp>
        <p:nvSpPr>
          <p:cNvPr id="5" name="Shape 3"/>
          <p:cNvSpPr/>
          <p:nvPr/>
        </p:nvSpPr>
        <p:spPr>
          <a:xfrm>
            <a:off x="731520" y="2103120"/>
            <a:ext cx="2926080" cy="731520"/>
          </a:xfrm>
          <a:prstGeom prst="roundRect">
            <a:avLst>
              <a:gd name="adj" fmla="val 10000"/>
            </a:avLst>
          </a:prstGeom>
          <a:solidFill>
            <a:srgbClr val="F2F2F2"/>
          </a:solidFill>
          <a:ln w="12700">
            <a:solidFill>
              <a:srgbClr val="D0D0D6"/>
            </a:solidFill>
            <a:prstDash val="solid"/>
          </a:ln>
        </p:spPr>
      </p:sp>
      <p:pic>
        <p:nvPicPr>
          <p:cNvPr id="6" name="Image 0" descr="preencoded.png">    </p:cNvPr>
          <p:cNvPicPr>
            <a:picLocks noChangeAspect="1"/>
          </p:cNvPicPr>
          <p:nvPr/>
        </p:nvPicPr>
        <p:blipFill>
          <a:blip r:embed="rId1"/>
          <a:stretch>
            <a:fillRect/>
          </a:stretch>
        </p:blipFill>
        <p:spPr>
          <a:xfrm>
            <a:off x="868680" y="2331720"/>
            <a:ext cx="274320" cy="274320"/>
          </a:xfrm>
          <a:prstGeom prst="rect">
            <a:avLst/>
          </a:prstGeom>
        </p:spPr>
      </p:pic>
      <p:sp>
        <p:nvSpPr>
          <p:cNvPr id="7" name="Text 4"/>
          <p:cNvSpPr txBox="1"/>
          <p:nvPr/>
        </p:nvSpPr>
        <p:spPr>
          <a:xfrm>
            <a:off x="1261872" y="2185416"/>
            <a:ext cx="2304288" cy="256032"/>
          </a:xfrm>
          <a:prstGeom prst="rect">
            <a:avLst/>
          </a:prstGeom>
          <a:noFill/>
          <a:ln/>
        </p:spPr>
        <p:txBody>
          <a:bodyPr wrap="square" lIns="0" tIns="0" rIns="0" bIns="0" rtlCol="0" anchor="t"/>
          <a:lstStyle/>
          <a:p>
            <a:pPr indent="0" marL="0">
              <a:buNone/>
            </a:pPr>
            <a:r>
              <a:rPr lang="en-US" sz="1200" b="1" dirty="0">
                <a:solidFill>
                  <a:schemeClr val="tx1"/>
                </a:solidFill>
              </a:rPr>
              <a:t>Registrant</a:t>
            </a:r>
            <a:endParaRPr lang="en-US" sz="1200" dirty="0"/>
          </a:p>
        </p:txBody>
      </p:sp>
      <p:sp>
        <p:nvSpPr>
          <p:cNvPr id="8" name="Text 5"/>
          <p:cNvSpPr txBox="1"/>
          <p:nvPr/>
        </p:nvSpPr>
        <p:spPr>
          <a:xfrm>
            <a:off x="1261872" y="2441448"/>
            <a:ext cx="2304288" cy="365760"/>
          </a:xfrm>
          <a:prstGeom prst="rect">
            <a:avLst/>
          </a:prstGeom>
          <a:noFill/>
          <a:ln/>
        </p:spPr>
        <p:txBody>
          <a:bodyPr wrap="square" lIns="0" tIns="0" rIns="0" bIns="0" rtlCol="0" anchor="t"/>
          <a:lstStyle/>
          <a:p>
            <a:pPr indent="0" marL="0">
              <a:buNone/>
            </a:pPr>
            <a:r>
              <a:rPr lang="en-US" sz="1050" dirty="0">
                <a:solidFill>
                  <a:srgbClr val="4D4D4D"/>
                </a:solidFill>
              </a:rPr>
              <a:t>Website, Experience Cloud or app</a:t>
            </a:r>
            <a:endParaRPr lang="en-US" sz="1050" dirty="0"/>
          </a:p>
        </p:txBody>
      </p:sp>
      <p:sp>
        <p:nvSpPr>
          <p:cNvPr id="9" name="Shape 6"/>
          <p:cNvSpPr/>
          <p:nvPr/>
        </p:nvSpPr>
        <p:spPr>
          <a:xfrm>
            <a:off x="2194560" y="2852928"/>
            <a:ext cx="0" cy="237744"/>
          </a:xfrm>
          <a:prstGeom prst="line">
            <a:avLst/>
          </a:prstGeom>
          <a:noFill/>
          <a:ln w="15875">
            <a:solidFill>
              <a:srgbClr val="000000"/>
            </a:solidFill>
            <a:prstDash val="solid"/>
            <a:tailEnd type="triangle"/>
          </a:ln>
        </p:spPr>
      </p:sp>
      <p:sp>
        <p:nvSpPr>
          <p:cNvPr id="10" name="Shape 7"/>
          <p:cNvSpPr/>
          <p:nvPr/>
        </p:nvSpPr>
        <p:spPr>
          <a:xfrm>
            <a:off x="731520" y="3108960"/>
            <a:ext cx="2926080" cy="731520"/>
          </a:xfrm>
          <a:prstGeom prst="roundRect">
            <a:avLst>
              <a:gd name="adj" fmla="val 10000"/>
            </a:avLst>
          </a:prstGeom>
          <a:solidFill>
            <a:srgbClr val="F2F2F2"/>
          </a:solidFill>
          <a:ln w="12700">
            <a:solidFill>
              <a:srgbClr val="D0D0D6"/>
            </a:solidFill>
            <a:prstDash val="solid"/>
          </a:ln>
        </p:spPr>
      </p:sp>
      <p:pic>
        <p:nvPicPr>
          <p:cNvPr id="11" name="Image 1" descr="preencoded.png">    </p:cNvPr>
          <p:cNvPicPr>
            <a:picLocks noChangeAspect="1"/>
          </p:cNvPicPr>
          <p:nvPr/>
        </p:nvPicPr>
        <p:blipFill>
          <a:blip r:embed="rId2"/>
          <a:stretch>
            <a:fillRect/>
          </a:stretch>
        </p:blipFill>
        <p:spPr>
          <a:xfrm>
            <a:off x="868680" y="3337560"/>
            <a:ext cx="274320" cy="274320"/>
          </a:xfrm>
          <a:prstGeom prst="rect">
            <a:avLst/>
          </a:prstGeom>
        </p:spPr>
      </p:pic>
      <p:sp>
        <p:nvSpPr>
          <p:cNvPr id="12" name="Text 8"/>
          <p:cNvSpPr txBox="1"/>
          <p:nvPr/>
        </p:nvSpPr>
        <p:spPr>
          <a:xfrm>
            <a:off x="1261872" y="3191256"/>
            <a:ext cx="2304288" cy="256032"/>
          </a:xfrm>
          <a:prstGeom prst="rect">
            <a:avLst/>
          </a:prstGeom>
          <a:noFill/>
          <a:ln/>
        </p:spPr>
        <p:txBody>
          <a:bodyPr wrap="square" lIns="0" tIns="0" rIns="0" bIns="0" rtlCol="0" anchor="t"/>
          <a:lstStyle/>
          <a:p>
            <a:pPr indent="0" marL="0">
              <a:buNone/>
            </a:pPr>
            <a:r>
              <a:rPr lang="en-US" sz="1200" b="1" dirty="0">
                <a:solidFill>
                  <a:schemeClr val="tx1"/>
                </a:solidFill>
              </a:rPr>
              <a:t>Gateway hosted page</a:t>
            </a:r>
            <a:endParaRPr lang="en-US" sz="1200" dirty="0"/>
          </a:p>
        </p:txBody>
      </p:sp>
      <p:sp>
        <p:nvSpPr>
          <p:cNvPr id="13" name="Text 9"/>
          <p:cNvSpPr txBox="1"/>
          <p:nvPr/>
        </p:nvSpPr>
        <p:spPr>
          <a:xfrm>
            <a:off x="1261872" y="3447288"/>
            <a:ext cx="2304288" cy="365760"/>
          </a:xfrm>
          <a:prstGeom prst="rect">
            <a:avLst/>
          </a:prstGeom>
          <a:noFill/>
          <a:ln/>
        </p:spPr>
        <p:txBody>
          <a:bodyPr wrap="square" lIns="0" tIns="0" rIns="0" bIns="0" rtlCol="0" anchor="t"/>
          <a:lstStyle/>
          <a:p>
            <a:pPr indent="0" marL="0">
              <a:buNone/>
            </a:pPr>
            <a:r>
              <a:rPr lang="en-US" sz="1050" dirty="0">
                <a:solidFill>
                  <a:srgbClr val="4D4D4D"/>
                </a:solidFill>
              </a:rPr>
              <a:t>Card typed here (Chase or Authorize.net)</a:t>
            </a:r>
            <a:endParaRPr lang="en-US" sz="1050" dirty="0"/>
          </a:p>
        </p:txBody>
      </p:sp>
      <p:sp>
        <p:nvSpPr>
          <p:cNvPr id="14" name="Shape 10"/>
          <p:cNvSpPr/>
          <p:nvPr/>
        </p:nvSpPr>
        <p:spPr>
          <a:xfrm>
            <a:off x="2194560" y="3858768"/>
            <a:ext cx="0" cy="347472"/>
          </a:xfrm>
          <a:prstGeom prst="line">
            <a:avLst/>
          </a:prstGeom>
          <a:noFill/>
          <a:ln w="15875">
            <a:solidFill>
              <a:srgbClr val="000000"/>
            </a:solidFill>
            <a:prstDash val="solid"/>
            <a:tailEnd type="triangle"/>
          </a:ln>
        </p:spPr>
      </p:sp>
      <p:sp>
        <p:nvSpPr>
          <p:cNvPr id="15" name="Shape 11"/>
          <p:cNvSpPr/>
          <p:nvPr/>
        </p:nvSpPr>
        <p:spPr>
          <a:xfrm>
            <a:off x="731520" y="4224528"/>
            <a:ext cx="2926080" cy="731520"/>
          </a:xfrm>
          <a:prstGeom prst="roundRect">
            <a:avLst>
              <a:gd name="adj" fmla="val 10000"/>
            </a:avLst>
          </a:prstGeom>
          <a:solidFill>
            <a:srgbClr val="F2F2F2"/>
          </a:solidFill>
          <a:ln w="12700">
            <a:solidFill>
              <a:srgbClr val="D0D0D6"/>
            </a:solidFill>
            <a:prstDash val="solid"/>
          </a:ln>
        </p:spPr>
      </p:sp>
      <p:pic>
        <p:nvPicPr>
          <p:cNvPr id="16" name="Image 2" descr="preencoded.png">    </p:cNvPr>
          <p:cNvPicPr>
            <a:picLocks noChangeAspect="1"/>
          </p:cNvPicPr>
          <p:nvPr/>
        </p:nvPicPr>
        <p:blipFill>
          <a:blip r:embed="rId3"/>
          <a:stretch>
            <a:fillRect/>
          </a:stretch>
        </p:blipFill>
        <p:spPr>
          <a:xfrm>
            <a:off x="868680" y="4453128"/>
            <a:ext cx="274320" cy="274320"/>
          </a:xfrm>
          <a:prstGeom prst="rect">
            <a:avLst/>
          </a:prstGeom>
        </p:spPr>
      </p:pic>
      <p:sp>
        <p:nvSpPr>
          <p:cNvPr id="17" name="Text 12"/>
          <p:cNvSpPr txBox="1"/>
          <p:nvPr/>
        </p:nvSpPr>
        <p:spPr>
          <a:xfrm>
            <a:off x="1261872" y="4306824"/>
            <a:ext cx="2304288" cy="256032"/>
          </a:xfrm>
          <a:prstGeom prst="rect">
            <a:avLst/>
          </a:prstGeom>
          <a:noFill/>
          <a:ln/>
        </p:spPr>
        <p:txBody>
          <a:bodyPr wrap="square" lIns="0" tIns="0" rIns="0" bIns="0" rtlCol="0" anchor="t"/>
          <a:lstStyle/>
          <a:p>
            <a:pPr indent="0" marL="0">
              <a:buNone/>
            </a:pPr>
            <a:r>
              <a:rPr lang="en-US" sz="1200" b="1" dirty="0">
                <a:solidFill>
                  <a:schemeClr val="tx1"/>
                </a:solidFill>
              </a:rPr>
              <a:t>Signed webhook</a:t>
            </a:r>
            <a:endParaRPr lang="en-US" sz="1200" dirty="0"/>
          </a:p>
        </p:txBody>
      </p:sp>
      <p:sp>
        <p:nvSpPr>
          <p:cNvPr id="18" name="Text 13"/>
          <p:cNvSpPr txBox="1"/>
          <p:nvPr/>
        </p:nvSpPr>
        <p:spPr>
          <a:xfrm>
            <a:off x="1261872" y="4562856"/>
            <a:ext cx="2304288" cy="365760"/>
          </a:xfrm>
          <a:prstGeom prst="rect">
            <a:avLst/>
          </a:prstGeom>
          <a:noFill/>
          <a:ln/>
        </p:spPr>
        <p:txBody>
          <a:bodyPr wrap="square" lIns="0" tIns="0" rIns="0" bIns="0" rtlCol="0" anchor="t"/>
          <a:lstStyle/>
          <a:p>
            <a:pPr indent="0" marL="0">
              <a:buNone/>
            </a:pPr>
            <a:r>
              <a:rPr lang="en-US" sz="1050" dirty="0">
                <a:solidFill>
                  <a:srgbClr val="4D4D4D"/>
                </a:solidFill>
              </a:rPr>
              <a:t>Token, last 4 digits, approval code</a:t>
            </a:r>
            <a:endParaRPr lang="en-US" sz="1050" dirty="0"/>
          </a:p>
        </p:txBody>
      </p:sp>
      <p:sp>
        <p:nvSpPr>
          <p:cNvPr id="19" name="Shape 14"/>
          <p:cNvSpPr/>
          <p:nvPr/>
        </p:nvSpPr>
        <p:spPr>
          <a:xfrm>
            <a:off x="2194560" y="4974336"/>
            <a:ext cx="0" cy="237744"/>
          </a:xfrm>
          <a:prstGeom prst="line">
            <a:avLst/>
          </a:prstGeom>
          <a:noFill/>
          <a:ln w="15875">
            <a:solidFill>
              <a:srgbClr val="000000"/>
            </a:solidFill>
            <a:prstDash val="solid"/>
            <a:tailEnd type="triangle"/>
          </a:ln>
        </p:spPr>
      </p:sp>
      <p:sp>
        <p:nvSpPr>
          <p:cNvPr id="20" name="Shape 15"/>
          <p:cNvSpPr/>
          <p:nvPr/>
        </p:nvSpPr>
        <p:spPr>
          <a:xfrm>
            <a:off x="731520" y="5230368"/>
            <a:ext cx="2926080" cy="731520"/>
          </a:xfrm>
          <a:prstGeom prst="roundRect">
            <a:avLst>
              <a:gd name="adj" fmla="val 10000"/>
            </a:avLst>
          </a:prstGeom>
          <a:solidFill>
            <a:srgbClr val="F2F2F2"/>
          </a:solidFill>
          <a:ln w="12700">
            <a:solidFill>
              <a:srgbClr val="D0D0D6"/>
            </a:solidFill>
            <a:prstDash val="solid"/>
          </a:ln>
        </p:spPr>
      </p:sp>
      <p:pic>
        <p:nvPicPr>
          <p:cNvPr id="21" name="Image 3" descr="preencoded.png">    </p:cNvPr>
          <p:cNvPicPr>
            <a:picLocks noChangeAspect="1"/>
          </p:cNvPicPr>
          <p:nvPr/>
        </p:nvPicPr>
        <p:blipFill>
          <a:blip r:embed="rId4"/>
          <a:stretch>
            <a:fillRect/>
          </a:stretch>
        </p:blipFill>
        <p:spPr>
          <a:xfrm>
            <a:off x="868680" y="5458968"/>
            <a:ext cx="274320" cy="274320"/>
          </a:xfrm>
          <a:prstGeom prst="rect">
            <a:avLst/>
          </a:prstGeom>
        </p:spPr>
      </p:pic>
      <p:sp>
        <p:nvSpPr>
          <p:cNvPr id="22" name="Text 16"/>
          <p:cNvSpPr txBox="1"/>
          <p:nvPr/>
        </p:nvSpPr>
        <p:spPr>
          <a:xfrm>
            <a:off x="1261872" y="5312664"/>
            <a:ext cx="2304288" cy="256032"/>
          </a:xfrm>
          <a:prstGeom prst="rect">
            <a:avLst/>
          </a:prstGeom>
          <a:noFill/>
          <a:ln/>
        </p:spPr>
        <p:txBody>
          <a:bodyPr wrap="square" lIns="0" tIns="0" rIns="0" bIns="0" rtlCol="0" anchor="t"/>
          <a:lstStyle/>
          <a:p>
            <a:pPr indent="0" marL="0">
              <a:buNone/>
            </a:pPr>
            <a:r>
              <a:rPr lang="en-US" sz="1200" b="1" dirty="0">
                <a:solidFill>
                  <a:schemeClr val="tx1"/>
                </a:solidFill>
              </a:rPr>
              <a:t>Salesforce payment record</a:t>
            </a:r>
            <a:endParaRPr lang="en-US" sz="1200" dirty="0"/>
          </a:p>
        </p:txBody>
      </p:sp>
      <p:sp>
        <p:nvSpPr>
          <p:cNvPr id="23" name="Text 17"/>
          <p:cNvSpPr txBox="1"/>
          <p:nvPr/>
        </p:nvSpPr>
        <p:spPr>
          <a:xfrm>
            <a:off x="1261872" y="5568696"/>
            <a:ext cx="2304288" cy="365760"/>
          </a:xfrm>
          <a:prstGeom prst="rect">
            <a:avLst/>
          </a:prstGeom>
          <a:noFill/>
          <a:ln/>
        </p:spPr>
        <p:txBody>
          <a:bodyPr wrap="square" lIns="0" tIns="0" rIns="0" bIns="0" rtlCol="0" anchor="t"/>
          <a:lstStyle/>
          <a:p>
            <a:pPr indent="0" marL="0">
              <a:buNone/>
            </a:pPr>
            <a:r>
              <a:rPr lang="en-US" sz="1050" dirty="0">
                <a:solidFill>
                  <a:srgbClr val="4D4D4D"/>
                </a:solidFill>
              </a:rPr>
              <a:t>Token reference, last 4, amount, status</a:t>
            </a:r>
            <a:endParaRPr lang="en-US" sz="1050" dirty="0"/>
          </a:p>
        </p:txBody>
      </p:sp>
      <p:sp>
        <p:nvSpPr>
          <p:cNvPr id="24" name="Text 18"/>
          <p:cNvSpPr txBox="1"/>
          <p:nvPr/>
        </p:nvSpPr>
        <p:spPr>
          <a:xfrm>
            <a:off x="4069080" y="2103120"/>
            <a:ext cx="1920240" cy="274320"/>
          </a:xfrm>
          <a:prstGeom prst="rect">
            <a:avLst/>
          </a:prstGeom>
          <a:noFill/>
          <a:ln/>
        </p:spPr>
        <p:txBody>
          <a:bodyPr wrap="square" lIns="0" tIns="0" rIns="0" bIns="0" rtlCol="0" anchor="t"/>
          <a:lstStyle/>
          <a:p>
            <a:pPr indent="0" marL="0">
              <a:buNone/>
            </a:pPr>
            <a:r>
              <a:rPr lang="en-US" sz="900" b="1" spc="200" kern="0" dirty="0">
                <a:solidFill>
                  <a:srgbClr val="C8005A"/>
                </a:solidFill>
              </a:rPr>
              <a:t>CARD DATA ZONE</a:t>
            </a:r>
            <a:endParaRPr lang="en-US" sz="900" dirty="0"/>
          </a:p>
        </p:txBody>
      </p:sp>
      <p:sp>
        <p:nvSpPr>
          <p:cNvPr id="25" name="Text 19"/>
          <p:cNvSpPr txBox="1"/>
          <p:nvPr/>
        </p:nvSpPr>
        <p:spPr>
          <a:xfrm>
            <a:off x="4069080" y="2377440"/>
            <a:ext cx="1920240" cy="1280160"/>
          </a:xfrm>
          <a:prstGeom prst="rect">
            <a:avLst/>
          </a:prstGeom>
          <a:noFill/>
          <a:ln/>
        </p:spPr>
        <p:txBody>
          <a:bodyPr wrap="square" lIns="0" tIns="0" rIns="0" bIns="0" rtlCol="0" anchor="t"/>
          <a:lstStyle/>
          <a:p>
            <a:pPr indent="0" marL="0">
              <a:buNone/>
            </a:pPr>
            <a:r>
              <a:rPr lang="en-US" sz="1100" dirty="0">
                <a:solidFill>
                  <a:srgbClr val="4D4D4D"/>
                </a:solidFill>
              </a:rPr>
              <a:t>Card numbers go straight to the payment gateway. PCI scope stays at the simplest level (SAQ A) [to confirm].</a:t>
            </a:r>
            <a:endParaRPr lang="en-US" sz="1100" dirty="0"/>
          </a:p>
        </p:txBody>
      </p:sp>
      <p:sp>
        <p:nvSpPr>
          <p:cNvPr id="26" name="Text 20"/>
          <p:cNvSpPr txBox="1"/>
          <p:nvPr/>
        </p:nvSpPr>
        <p:spPr>
          <a:xfrm>
            <a:off x="4069080" y="4206240"/>
            <a:ext cx="1920240" cy="274320"/>
          </a:xfrm>
          <a:prstGeom prst="rect">
            <a:avLst/>
          </a:prstGeom>
          <a:noFill/>
          <a:ln/>
        </p:spPr>
        <p:txBody>
          <a:bodyPr wrap="square" lIns="0" tIns="0" rIns="0" bIns="0" rtlCol="0" anchor="t"/>
          <a:lstStyle/>
          <a:p>
            <a:pPr indent="0" marL="0">
              <a:buNone/>
            </a:pPr>
            <a:r>
              <a:rPr lang="en-US" sz="900" b="1" spc="200" kern="0" dirty="0">
                <a:solidFill>
                  <a:schemeClr val="tx1"/>
                </a:solidFill>
              </a:rPr>
              <a:t>OUR SYSTEMS</a:t>
            </a:r>
            <a:endParaRPr lang="en-US" sz="900" dirty="0"/>
          </a:p>
        </p:txBody>
      </p:sp>
      <p:sp>
        <p:nvSpPr>
          <p:cNvPr id="27" name="Text 21"/>
          <p:cNvSpPr txBox="1"/>
          <p:nvPr/>
        </p:nvSpPr>
        <p:spPr>
          <a:xfrm>
            <a:off x="4069080" y="4480560"/>
            <a:ext cx="1920240" cy="1280160"/>
          </a:xfrm>
          <a:prstGeom prst="rect">
            <a:avLst/>
          </a:prstGeom>
          <a:noFill/>
          <a:ln/>
        </p:spPr>
        <p:txBody>
          <a:bodyPr wrap="square" lIns="0" tIns="0" rIns="0" bIns="0" rtlCol="0" anchor="t"/>
          <a:lstStyle/>
          <a:p>
            <a:pPr indent="0" marL="0">
              <a:buNone/>
            </a:pPr>
            <a:r>
              <a:rPr lang="en-US" sz="1100" dirty="0">
                <a:solidFill>
                  <a:srgbClr val="4D4D4D"/>
                </a:solidFill>
              </a:rPr>
              <a:t>No card number, CVV or expiry stored. Refunds by token. Signed, idempotent webhooks. Daily reconciliation.</a:t>
            </a:r>
            <a:endParaRPr lang="en-US" sz="1100" dirty="0"/>
          </a:p>
        </p:txBody>
      </p:sp>
      <p:sp>
        <p:nvSpPr>
          <p:cNvPr id="28" name="Text 22"/>
          <p:cNvSpPr txBox="1"/>
          <p:nvPr/>
        </p:nvSpPr>
        <p:spPr>
          <a:xfrm>
            <a:off x="6263640" y="1463040"/>
            <a:ext cx="5422392" cy="365760"/>
          </a:xfrm>
          <a:prstGeom prst="rect">
            <a:avLst/>
          </a:prstGeom>
          <a:noFill/>
          <a:ln/>
        </p:spPr>
        <p:txBody>
          <a:bodyPr wrap="square" lIns="0" tIns="0" rIns="0" bIns="0" rtlCol="0" anchor="t"/>
          <a:lstStyle/>
          <a:p>
            <a:pPr indent="0" marL="0">
              <a:buNone/>
            </a:pPr>
            <a:r>
              <a:rPr lang="en-US" sz="1700" b="1" dirty="0">
                <a:solidFill>
                  <a:schemeClr val="tx1"/>
                </a:solidFill>
              </a:rPr>
              <a:t>Registrant and patient data, protected in layers</a:t>
            </a:r>
            <a:endParaRPr lang="en-US" sz="1700" dirty="0"/>
          </a:p>
        </p:txBody>
      </p:sp>
      <p:sp>
        <p:nvSpPr>
          <p:cNvPr id="29" name="layer-Edge"/>
          <p:cNvSpPr/>
          <p:nvPr/>
        </p:nvSpPr>
        <p:spPr>
          <a:xfrm>
            <a:off x="6263640" y="1920240"/>
            <a:ext cx="5422392" cy="676656"/>
          </a:xfrm>
          <a:prstGeom prst="roundRect">
            <a:avLst>
              <a:gd name="adj" fmla="val 13514"/>
            </a:avLst>
          </a:prstGeom>
          <a:solidFill>
            <a:srgbClr val="F2F2F2"/>
          </a:solidFill>
          <a:ln w="12700">
            <a:solidFill>
              <a:srgbClr val="D0D0D6"/>
            </a:solidFill>
            <a:prstDash val="solid"/>
          </a:ln>
        </p:spPr>
      </p:sp>
      <p:sp>
        <p:nvSpPr>
          <p:cNvPr id="30" name="Shape 24"/>
          <p:cNvSpPr/>
          <p:nvPr/>
        </p:nvSpPr>
        <p:spPr>
          <a:xfrm>
            <a:off x="6409944" y="2057400"/>
            <a:ext cx="402336" cy="402336"/>
          </a:xfrm>
          <a:prstGeom prst="ellipse">
            <a:avLst/>
          </a:prstGeom>
          <a:solidFill>
            <a:srgbClr val="FFFFFF"/>
          </a:solidFill>
          <a:ln w="12700">
            <a:solidFill>
              <a:srgbClr val="C8C8CE"/>
            </a:solidFill>
            <a:prstDash val="solid"/>
          </a:ln>
        </p:spPr>
      </p:sp>
      <p:pic>
        <p:nvPicPr>
          <p:cNvPr id="31" name="Image 4" descr="preencoded.png">    </p:cNvPr>
          <p:cNvPicPr>
            <a:picLocks noChangeAspect="1"/>
          </p:cNvPicPr>
          <p:nvPr/>
        </p:nvPicPr>
        <p:blipFill>
          <a:blip r:embed="rId5"/>
          <a:stretch>
            <a:fillRect/>
          </a:stretch>
        </p:blipFill>
        <p:spPr>
          <a:xfrm>
            <a:off x="6510528" y="2157984"/>
            <a:ext cx="201168" cy="201168"/>
          </a:xfrm>
          <a:prstGeom prst="rect">
            <a:avLst/>
          </a:prstGeom>
        </p:spPr>
      </p:pic>
      <p:sp>
        <p:nvSpPr>
          <p:cNvPr id="32" name="Text 25"/>
          <p:cNvSpPr txBox="1"/>
          <p:nvPr/>
        </p:nvSpPr>
        <p:spPr>
          <a:xfrm>
            <a:off x="6949440" y="2011680"/>
            <a:ext cx="1280160" cy="274320"/>
          </a:xfrm>
          <a:prstGeom prst="rect">
            <a:avLst/>
          </a:prstGeom>
          <a:noFill/>
          <a:ln/>
        </p:spPr>
        <p:txBody>
          <a:bodyPr wrap="square" lIns="0" tIns="0" rIns="0" bIns="0" rtlCol="0" anchor="t"/>
          <a:lstStyle/>
          <a:p>
            <a:pPr indent="0" marL="0">
              <a:buNone/>
            </a:pPr>
            <a:r>
              <a:rPr lang="en-US" sz="1300" b="1" dirty="0">
                <a:solidFill>
                  <a:srgbClr val="000000"/>
                </a:solidFill>
              </a:rPr>
              <a:t>Edge</a:t>
            </a:r>
            <a:endParaRPr lang="en-US" sz="1300" dirty="0"/>
          </a:p>
        </p:txBody>
      </p:sp>
      <p:sp>
        <p:nvSpPr>
          <p:cNvPr id="33" name="Text 26"/>
          <p:cNvSpPr txBox="1"/>
          <p:nvPr/>
        </p:nvSpPr>
        <p:spPr>
          <a:xfrm>
            <a:off x="6949440" y="2267712"/>
            <a:ext cx="4599432" cy="292608"/>
          </a:xfrm>
          <a:prstGeom prst="rect">
            <a:avLst/>
          </a:prstGeom>
          <a:noFill/>
          <a:ln/>
        </p:spPr>
        <p:txBody>
          <a:bodyPr wrap="square" lIns="0" tIns="0" rIns="0" bIns="0" rtlCol="0" anchor="t"/>
          <a:lstStyle/>
          <a:p>
            <a:pPr indent="0" marL="0">
              <a:buNone/>
            </a:pPr>
            <a:r>
              <a:rPr lang="en-US" sz="1100" dirty="0">
                <a:solidFill>
                  <a:srgbClr val="4D4D4D"/>
                </a:solidFill>
              </a:rPr>
              <a:t>TLS 1.2+, web application firewall, bot defense, rate limits</a:t>
            </a:r>
            <a:endParaRPr lang="en-US" sz="1100" dirty="0"/>
          </a:p>
        </p:txBody>
      </p:sp>
      <p:sp>
        <p:nvSpPr>
          <p:cNvPr id="34" name="layer-Access"/>
          <p:cNvSpPr/>
          <p:nvPr/>
        </p:nvSpPr>
        <p:spPr>
          <a:xfrm>
            <a:off x="6373368" y="2688336"/>
            <a:ext cx="5312664" cy="676656"/>
          </a:xfrm>
          <a:prstGeom prst="roundRect">
            <a:avLst>
              <a:gd name="adj" fmla="val 13514"/>
            </a:avLst>
          </a:prstGeom>
          <a:solidFill>
            <a:srgbClr val="F2F2F2"/>
          </a:solidFill>
          <a:ln w="12700">
            <a:solidFill>
              <a:srgbClr val="D0D0D6"/>
            </a:solidFill>
            <a:prstDash val="solid"/>
          </a:ln>
        </p:spPr>
      </p:sp>
      <p:sp>
        <p:nvSpPr>
          <p:cNvPr id="35" name="Shape 28"/>
          <p:cNvSpPr/>
          <p:nvPr/>
        </p:nvSpPr>
        <p:spPr>
          <a:xfrm>
            <a:off x="6519672" y="2825496"/>
            <a:ext cx="402336" cy="402336"/>
          </a:xfrm>
          <a:prstGeom prst="ellipse">
            <a:avLst/>
          </a:prstGeom>
          <a:solidFill>
            <a:srgbClr val="FFFFFF"/>
          </a:solidFill>
          <a:ln w="12700">
            <a:solidFill>
              <a:srgbClr val="C8C8CE"/>
            </a:solidFill>
            <a:prstDash val="solid"/>
          </a:ln>
        </p:spPr>
      </p:sp>
      <p:pic>
        <p:nvPicPr>
          <p:cNvPr id="36" name="Image 5" descr="preencoded.png">    </p:cNvPr>
          <p:cNvPicPr>
            <a:picLocks noChangeAspect="1"/>
          </p:cNvPicPr>
          <p:nvPr/>
        </p:nvPicPr>
        <p:blipFill>
          <a:blip r:embed="rId6"/>
          <a:stretch>
            <a:fillRect/>
          </a:stretch>
        </p:blipFill>
        <p:spPr>
          <a:xfrm>
            <a:off x="6620256" y="2926080"/>
            <a:ext cx="201168" cy="201168"/>
          </a:xfrm>
          <a:prstGeom prst="rect">
            <a:avLst/>
          </a:prstGeom>
        </p:spPr>
      </p:pic>
      <p:sp>
        <p:nvSpPr>
          <p:cNvPr id="37" name="Text 29"/>
          <p:cNvSpPr txBox="1"/>
          <p:nvPr/>
        </p:nvSpPr>
        <p:spPr>
          <a:xfrm>
            <a:off x="7059168" y="2779776"/>
            <a:ext cx="1280160" cy="274320"/>
          </a:xfrm>
          <a:prstGeom prst="rect">
            <a:avLst/>
          </a:prstGeom>
          <a:noFill/>
          <a:ln/>
        </p:spPr>
        <p:txBody>
          <a:bodyPr wrap="square" lIns="0" tIns="0" rIns="0" bIns="0" rtlCol="0" anchor="t"/>
          <a:lstStyle/>
          <a:p>
            <a:pPr indent="0" marL="0">
              <a:buNone/>
            </a:pPr>
            <a:r>
              <a:rPr lang="en-US" sz="1300" b="1" dirty="0">
                <a:solidFill>
                  <a:srgbClr val="000000"/>
                </a:solidFill>
              </a:rPr>
              <a:t>Access</a:t>
            </a:r>
            <a:endParaRPr lang="en-US" sz="1300" dirty="0"/>
          </a:p>
        </p:txBody>
      </p:sp>
      <p:sp>
        <p:nvSpPr>
          <p:cNvPr id="38" name="Text 30"/>
          <p:cNvSpPr txBox="1"/>
          <p:nvPr/>
        </p:nvSpPr>
        <p:spPr>
          <a:xfrm>
            <a:off x="7059168" y="3035808"/>
            <a:ext cx="4489704" cy="292608"/>
          </a:xfrm>
          <a:prstGeom prst="rect">
            <a:avLst/>
          </a:prstGeom>
          <a:noFill/>
          <a:ln/>
        </p:spPr>
        <p:txBody>
          <a:bodyPr wrap="square" lIns="0" tIns="0" rIns="0" bIns="0" rtlCol="0" anchor="t"/>
          <a:lstStyle/>
          <a:p>
            <a:pPr indent="0" marL="0">
              <a:buNone/>
            </a:pPr>
            <a:r>
              <a:rPr lang="en-US" sz="1100" dirty="0">
                <a:solidFill>
                  <a:srgbClr val="4D4D4D"/>
                </a:solidFill>
              </a:rPr>
              <a:t>SSO with MFA for staff; least-privilege permission sets</a:t>
            </a:r>
            <a:endParaRPr lang="en-US" sz="1100" dirty="0"/>
          </a:p>
        </p:txBody>
      </p:sp>
      <p:sp>
        <p:nvSpPr>
          <p:cNvPr id="39" name="layer-Data"/>
          <p:cNvSpPr/>
          <p:nvPr/>
        </p:nvSpPr>
        <p:spPr>
          <a:xfrm>
            <a:off x="6483096" y="3456432"/>
            <a:ext cx="5202936" cy="676656"/>
          </a:xfrm>
          <a:prstGeom prst="roundRect">
            <a:avLst>
              <a:gd name="adj" fmla="val 13514"/>
            </a:avLst>
          </a:prstGeom>
          <a:solidFill>
            <a:srgbClr val="000000"/>
          </a:solidFill>
          <a:ln w="12700">
            <a:solidFill>
              <a:srgbClr val="D0D0D6"/>
            </a:solidFill>
            <a:prstDash val="solid"/>
          </a:ln>
        </p:spPr>
      </p:sp>
      <p:sp>
        <p:nvSpPr>
          <p:cNvPr id="40" name="Shape 32"/>
          <p:cNvSpPr/>
          <p:nvPr/>
        </p:nvSpPr>
        <p:spPr>
          <a:xfrm>
            <a:off x="6629400" y="3593592"/>
            <a:ext cx="402336" cy="402336"/>
          </a:xfrm>
          <a:prstGeom prst="ellipse">
            <a:avLst/>
          </a:prstGeom>
          <a:solidFill>
            <a:srgbClr val="00D6F2"/>
          </a:solidFill>
          <a:ln w="12700">
            <a:solidFill>
              <a:srgbClr val="00D6F2"/>
            </a:solidFill>
            <a:prstDash val="solid"/>
          </a:ln>
        </p:spPr>
      </p:sp>
      <p:pic>
        <p:nvPicPr>
          <p:cNvPr id="41" name="Image 6" descr="preencoded.png">    </p:cNvPr>
          <p:cNvPicPr>
            <a:picLocks noChangeAspect="1"/>
          </p:cNvPicPr>
          <p:nvPr/>
        </p:nvPicPr>
        <p:blipFill>
          <a:blip r:embed="rId7"/>
          <a:stretch>
            <a:fillRect/>
          </a:stretch>
        </p:blipFill>
        <p:spPr>
          <a:xfrm>
            <a:off x="6729984" y="3694176"/>
            <a:ext cx="201168" cy="201168"/>
          </a:xfrm>
          <a:prstGeom prst="rect">
            <a:avLst/>
          </a:prstGeom>
        </p:spPr>
      </p:pic>
      <p:sp>
        <p:nvSpPr>
          <p:cNvPr id="42" name="Text 33"/>
          <p:cNvSpPr txBox="1"/>
          <p:nvPr/>
        </p:nvSpPr>
        <p:spPr>
          <a:xfrm>
            <a:off x="7168896" y="3547872"/>
            <a:ext cx="1280160" cy="274320"/>
          </a:xfrm>
          <a:prstGeom prst="rect">
            <a:avLst/>
          </a:prstGeom>
          <a:noFill/>
          <a:ln/>
        </p:spPr>
        <p:txBody>
          <a:bodyPr wrap="square" lIns="0" tIns="0" rIns="0" bIns="0" rtlCol="0" anchor="t"/>
          <a:lstStyle/>
          <a:p>
            <a:pPr indent="0" marL="0">
              <a:buNone/>
            </a:pPr>
            <a:r>
              <a:rPr lang="en-US" sz="1300" b="1" dirty="0">
                <a:solidFill>
                  <a:srgbClr val="FFFFFF"/>
                </a:solidFill>
              </a:rPr>
              <a:t>Data</a:t>
            </a:r>
            <a:endParaRPr lang="en-US" sz="1300" dirty="0"/>
          </a:p>
        </p:txBody>
      </p:sp>
      <p:sp>
        <p:nvSpPr>
          <p:cNvPr id="43" name="Text 34"/>
          <p:cNvSpPr txBox="1"/>
          <p:nvPr/>
        </p:nvSpPr>
        <p:spPr>
          <a:xfrm>
            <a:off x="7168896" y="3803904"/>
            <a:ext cx="4379976" cy="292608"/>
          </a:xfrm>
          <a:prstGeom prst="rect">
            <a:avLst/>
          </a:prstGeom>
          <a:noFill/>
          <a:ln/>
        </p:spPr>
        <p:txBody>
          <a:bodyPr wrap="square" lIns="0" tIns="0" rIns="0" bIns="0" rtlCol="0" anchor="t"/>
          <a:lstStyle/>
          <a:p>
            <a:pPr indent="0" marL="0">
              <a:buNone/>
            </a:pPr>
            <a:r>
              <a:rPr lang="en-US" sz="1100" dirty="0">
                <a:solidFill>
                  <a:srgbClr val="D9D9D9"/>
                </a:solidFill>
              </a:rPr>
              <a:t>Shield Platform Encryption on sensitive fields; field-level security</a:t>
            </a:r>
            <a:endParaRPr lang="en-US" sz="1100" dirty="0"/>
          </a:p>
        </p:txBody>
      </p:sp>
      <p:sp>
        <p:nvSpPr>
          <p:cNvPr id="44" name="layer-Monitoring"/>
          <p:cNvSpPr/>
          <p:nvPr/>
        </p:nvSpPr>
        <p:spPr>
          <a:xfrm>
            <a:off x="6592824" y="4224528"/>
            <a:ext cx="5093208" cy="676656"/>
          </a:xfrm>
          <a:prstGeom prst="roundRect">
            <a:avLst>
              <a:gd name="adj" fmla="val 13514"/>
            </a:avLst>
          </a:prstGeom>
          <a:solidFill>
            <a:srgbClr val="F2F2F2"/>
          </a:solidFill>
          <a:ln w="12700">
            <a:solidFill>
              <a:srgbClr val="D0D0D6"/>
            </a:solidFill>
            <a:prstDash val="solid"/>
          </a:ln>
        </p:spPr>
      </p:sp>
      <p:sp>
        <p:nvSpPr>
          <p:cNvPr id="45" name="Shape 36"/>
          <p:cNvSpPr/>
          <p:nvPr/>
        </p:nvSpPr>
        <p:spPr>
          <a:xfrm>
            <a:off x="6739128" y="4361688"/>
            <a:ext cx="402336" cy="402336"/>
          </a:xfrm>
          <a:prstGeom prst="ellipse">
            <a:avLst/>
          </a:prstGeom>
          <a:solidFill>
            <a:srgbClr val="FFFFFF"/>
          </a:solidFill>
          <a:ln w="12700">
            <a:solidFill>
              <a:srgbClr val="C8C8CE"/>
            </a:solidFill>
            <a:prstDash val="solid"/>
          </a:ln>
        </p:spPr>
      </p:sp>
      <p:pic>
        <p:nvPicPr>
          <p:cNvPr id="46" name="Image 7" descr="preencoded.png">    </p:cNvPr>
          <p:cNvPicPr>
            <a:picLocks noChangeAspect="1"/>
          </p:cNvPicPr>
          <p:nvPr/>
        </p:nvPicPr>
        <p:blipFill>
          <a:blip r:embed="rId8"/>
          <a:stretch>
            <a:fillRect/>
          </a:stretch>
        </p:blipFill>
        <p:spPr>
          <a:xfrm>
            <a:off x="6839712" y="4462272"/>
            <a:ext cx="201168" cy="201168"/>
          </a:xfrm>
          <a:prstGeom prst="rect">
            <a:avLst/>
          </a:prstGeom>
        </p:spPr>
      </p:pic>
      <p:sp>
        <p:nvSpPr>
          <p:cNvPr id="47" name="Text 37"/>
          <p:cNvSpPr txBox="1"/>
          <p:nvPr/>
        </p:nvSpPr>
        <p:spPr>
          <a:xfrm>
            <a:off x="7278624" y="4315968"/>
            <a:ext cx="1280160" cy="274320"/>
          </a:xfrm>
          <a:prstGeom prst="rect">
            <a:avLst/>
          </a:prstGeom>
          <a:noFill/>
          <a:ln/>
        </p:spPr>
        <p:txBody>
          <a:bodyPr wrap="square" lIns="0" tIns="0" rIns="0" bIns="0" rtlCol="0" anchor="t"/>
          <a:lstStyle/>
          <a:p>
            <a:pPr indent="0" marL="0">
              <a:buNone/>
            </a:pPr>
            <a:r>
              <a:rPr lang="en-US" sz="1300" b="1" dirty="0">
                <a:solidFill>
                  <a:srgbClr val="000000"/>
                </a:solidFill>
              </a:rPr>
              <a:t>Monitoring</a:t>
            </a:r>
            <a:endParaRPr lang="en-US" sz="1300" dirty="0"/>
          </a:p>
        </p:txBody>
      </p:sp>
      <p:sp>
        <p:nvSpPr>
          <p:cNvPr id="48" name="Text 38"/>
          <p:cNvSpPr txBox="1"/>
          <p:nvPr/>
        </p:nvSpPr>
        <p:spPr>
          <a:xfrm>
            <a:off x="7278624" y="4572000"/>
            <a:ext cx="4270248" cy="292608"/>
          </a:xfrm>
          <a:prstGeom prst="rect">
            <a:avLst/>
          </a:prstGeom>
          <a:noFill/>
          <a:ln/>
        </p:spPr>
        <p:txBody>
          <a:bodyPr wrap="square" lIns="0" tIns="0" rIns="0" bIns="0" rtlCol="0" anchor="t"/>
          <a:lstStyle/>
          <a:p>
            <a:pPr indent="0" marL="0">
              <a:buNone/>
            </a:pPr>
            <a:r>
              <a:rPr lang="en-US" sz="1100" dirty="0">
                <a:solidFill>
                  <a:srgbClr val="4D4D4D"/>
                </a:solidFill>
              </a:rPr>
              <a:t>Event Monitoring, Field Audit Trail, real-time alerts</a:t>
            </a:r>
            <a:endParaRPr lang="en-US" sz="1100" dirty="0"/>
          </a:p>
        </p:txBody>
      </p:sp>
      <p:sp>
        <p:nvSpPr>
          <p:cNvPr id="49" name="layer-Governance"/>
          <p:cNvSpPr/>
          <p:nvPr/>
        </p:nvSpPr>
        <p:spPr>
          <a:xfrm>
            <a:off x="6702552" y="4992624"/>
            <a:ext cx="4983480" cy="676656"/>
          </a:xfrm>
          <a:prstGeom prst="roundRect">
            <a:avLst>
              <a:gd name="adj" fmla="val 13514"/>
            </a:avLst>
          </a:prstGeom>
          <a:solidFill>
            <a:srgbClr val="F2F2F2"/>
          </a:solidFill>
          <a:ln w="12700">
            <a:solidFill>
              <a:srgbClr val="D0D0D6"/>
            </a:solidFill>
            <a:prstDash val="solid"/>
          </a:ln>
        </p:spPr>
      </p:sp>
      <p:sp>
        <p:nvSpPr>
          <p:cNvPr id="50" name="Shape 40"/>
          <p:cNvSpPr/>
          <p:nvPr/>
        </p:nvSpPr>
        <p:spPr>
          <a:xfrm>
            <a:off x="6848856" y="5129784"/>
            <a:ext cx="402336" cy="402336"/>
          </a:xfrm>
          <a:prstGeom prst="ellipse">
            <a:avLst/>
          </a:prstGeom>
          <a:solidFill>
            <a:srgbClr val="FFFFFF"/>
          </a:solidFill>
          <a:ln w="12700">
            <a:solidFill>
              <a:srgbClr val="C8C8CE"/>
            </a:solidFill>
            <a:prstDash val="solid"/>
          </a:ln>
        </p:spPr>
      </p:sp>
      <p:pic>
        <p:nvPicPr>
          <p:cNvPr id="51" name="Image 8" descr="preencoded.png">    </p:cNvPr>
          <p:cNvPicPr>
            <a:picLocks noChangeAspect="1"/>
          </p:cNvPicPr>
          <p:nvPr/>
        </p:nvPicPr>
        <p:blipFill>
          <a:blip r:embed="rId9"/>
          <a:stretch>
            <a:fillRect/>
          </a:stretch>
        </p:blipFill>
        <p:spPr>
          <a:xfrm>
            <a:off x="6949440" y="5230368"/>
            <a:ext cx="201168" cy="201168"/>
          </a:xfrm>
          <a:prstGeom prst="rect">
            <a:avLst/>
          </a:prstGeom>
        </p:spPr>
      </p:pic>
      <p:sp>
        <p:nvSpPr>
          <p:cNvPr id="52" name="Text 41"/>
          <p:cNvSpPr txBox="1"/>
          <p:nvPr/>
        </p:nvSpPr>
        <p:spPr>
          <a:xfrm>
            <a:off x="7388352" y="5084064"/>
            <a:ext cx="1280160" cy="274320"/>
          </a:xfrm>
          <a:prstGeom prst="rect">
            <a:avLst/>
          </a:prstGeom>
          <a:noFill/>
          <a:ln/>
        </p:spPr>
        <p:txBody>
          <a:bodyPr wrap="square" lIns="0" tIns="0" rIns="0" bIns="0" rtlCol="0" anchor="t"/>
          <a:lstStyle/>
          <a:p>
            <a:pPr indent="0" marL="0">
              <a:buNone/>
            </a:pPr>
            <a:r>
              <a:rPr lang="en-US" sz="1300" b="1" dirty="0">
                <a:solidFill>
                  <a:srgbClr val="000000"/>
                </a:solidFill>
              </a:rPr>
              <a:t>Governance</a:t>
            </a:r>
            <a:endParaRPr lang="en-US" sz="1300" dirty="0"/>
          </a:p>
        </p:txBody>
      </p:sp>
      <p:sp>
        <p:nvSpPr>
          <p:cNvPr id="53" name="Text 42"/>
          <p:cNvSpPr txBox="1"/>
          <p:nvPr/>
        </p:nvSpPr>
        <p:spPr>
          <a:xfrm>
            <a:off x="7388352" y="5340096"/>
            <a:ext cx="4160520" cy="292608"/>
          </a:xfrm>
          <a:prstGeom prst="rect">
            <a:avLst/>
          </a:prstGeom>
          <a:noFill/>
          <a:ln/>
        </p:spPr>
        <p:txBody>
          <a:bodyPr wrap="square" lIns="0" tIns="0" rIns="0" bIns="0" rtlCol="0" anchor="t"/>
          <a:lstStyle/>
          <a:p>
            <a:pPr indent="0" marL="0">
              <a:buNone/>
            </a:pPr>
            <a:r>
              <a:rPr lang="en-US" sz="1100" dirty="0">
                <a:solidFill>
                  <a:srgbClr val="4D4D4D"/>
                </a:solidFill>
              </a:rPr>
              <a:t>BAA [to confirm], data retention, no tracking pixels, pen tests</a:t>
            </a:r>
            <a:endParaRPr lang="en-US" sz="1100" dirty="0"/>
          </a:p>
        </p:txBody>
      </p:sp>
      <p:sp>
        <p:nvSpPr>
          <p:cNvPr id="54" name="Text 43"/>
          <p:cNvSpPr txBox="1"/>
          <p:nvPr/>
        </p:nvSpPr>
        <p:spPr>
          <a:xfrm>
            <a:off x="6263640" y="5852160"/>
            <a:ext cx="5422392" cy="274320"/>
          </a:xfrm>
          <a:prstGeom prst="rect">
            <a:avLst/>
          </a:prstGeom>
          <a:noFill/>
          <a:ln/>
        </p:spPr>
        <p:txBody>
          <a:bodyPr wrap="square" lIns="0" tIns="0" rIns="0" bIns="0" rtlCol="0" anchor="t"/>
          <a:lstStyle/>
          <a:p>
            <a:pPr indent="0" marL="0">
              <a:buNone/>
            </a:pPr>
            <a:r>
              <a:rPr lang="en-US" sz="1100" i="1" dirty="0">
                <a:solidFill>
                  <a:srgbClr val="4D4D4D"/>
                </a:solidFill>
              </a:rPr>
              <a:t>Class topics are treated as sensitive: signing up for a diabetes class implies a health condition.</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Design detail: payment sequence</a:t>
            </a:r>
            <a:endParaRPr lang="en-US" sz="3200" dirty="0"/>
          </a:p>
        </p:txBody>
      </p:sp>
      <p:sp>
        <p:nvSpPr>
          <p:cNvPr id="3" name="participant-p"/>
          <p:cNvSpPr/>
          <p:nvPr/>
        </p:nvSpPr>
        <p:spPr>
          <a:xfrm>
            <a:off x="557784" y="1508760"/>
            <a:ext cx="1764792" cy="475488"/>
          </a:xfrm>
          <a:prstGeom prst="roundRect">
            <a:avLst>
              <a:gd name="adj" fmla="val 15385"/>
            </a:avLst>
          </a:prstGeom>
          <a:solidFill>
            <a:srgbClr val="F2F2F2"/>
          </a:solidFill>
          <a:ln w="15875">
            <a:solidFill>
              <a:srgbClr val="B8B8C0"/>
            </a:solidFill>
            <a:prstDash val="solid"/>
          </a:ln>
        </p:spPr>
      </p:sp>
      <p:sp>
        <p:nvSpPr>
          <p:cNvPr id="4" name="Text 2"/>
          <p:cNvSpPr txBox="1"/>
          <p:nvPr/>
        </p:nvSpPr>
        <p:spPr>
          <a:xfrm>
            <a:off x="594360" y="1508760"/>
            <a:ext cx="1691640"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Registrant (web or app)</a:t>
            </a:r>
            <a:endParaRPr lang="en-US" sz="1050" dirty="0"/>
          </a:p>
        </p:txBody>
      </p:sp>
      <p:sp>
        <p:nvSpPr>
          <p:cNvPr id="5" name="Shape 3"/>
          <p:cNvSpPr/>
          <p:nvPr/>
        </p:nvSpPr>
        <p:spPr>
          <a:xfrm>
            <a:off x="1440180" y="1984248"/>
            <a:ext cx="0" cy="4050792"/>
          </a:xfrm>
          <a:prstGeom prst="line">
            <a:avLst/>
          </a:prstGeom>
          <a:noFill/>
          <a:ln w="12700">
            <a:solidFill>
              <a:srgbClr val="B0B0B8"/>
            </a:solidFill>
            <a:prstDash val="dash"/>
          </a:ln>
        </p:spPr>
      </p:sp>
      <p:sp>
        <p:nvSpPr>
          <p:cNvPr id="6" name="participant-reg"/>
          <p:cNvSpPr/>
          <p:nvPr/>
        </p:nvSpPr>
        <p:spPr>
          <a:xfrm>
            <a:off x="2432304" y="1508760"/>
            <a:ext cx="1764792" cy="475488"/>
          </a:xfrm>
          <a:prstGeom prst="roundRect">
            <a:avLst>
              <a:gd name="adj" fmla="val 15385"/>
            </a:avLst>
          </a:prstGeom>
          <a:solidFill>
            <a:srgbClr val="F2F2F2"/>
          </a:solidFill>
          <a:ln w="22225">
            <a:solidFill>
              <a:srgbClr val="D9B200"/>
            </a:solidFill>
            <a:prstDash val="solid"/>
          </a:ln>
        </p:spPr>
      </p:sp>
      <p:sp>
        <p:nvSpPr>
          <p:cNvPr id="7" name="Text 5"/>
          <p:cNvSpPr txBox="1"/>
          <p:nvPr/>
        </p:nvSpPr>
        <p:spPr>
          <a:xfrm>
            <a:off x="2468880" y="1508760"/>
            <a:ext cx="1691640"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Registration service</a:t>
            </a:r>
            <a:endParaRPr lang="en-US" sz="1050" dirty="0"/>
          </a:p>
        </p:txBody>
      </p:sp>
      <p:sp>
        <p:nvSpPr>
          <p:cNvPr id="8" name="Shape 6"/>
          <p:cNvSpPr/>
          <p:nvPr/>
        </p:nvSpPr>
        <p:spPr>
          <a:xfrm>
            <a:off x="3314700" y="1984248"/>
            <a:ext cx="0" cy="4050792"/>
          </a:xfrm>
          <a:prstGeom prst="line">
            <a:avLst/>
          </a:prstGeom>
          <a:noFill/>
          <a:ln w="12700">
            <a:solidFill>
              <a:srgbClr val="B0B0B8"/>
            </a:solidFill>
            <a:prstDash val="dash"/>
          </a:ln>
        </p:spPr>
      </p:sp>
      <p:sp>
        <p:nvSpPr>
          <p:cNvPr id="9" name="participant-gw"/>
          <p:cNvSpPr/>
          <p:nvPr/>
        </p:nvSpPr>
        <p:spPr>
          <a:xfrm>
            <a:off x="4306824" y="1508760"/>
            <a:ext cx="1764792" cy="475488"/>
          </a:xfrm>
          <a:prstGeom prst="roundRect">
            <a:avLst>
              <a:gd name="adj" fmla="val 15385"/>
            </a:avLst>
          </a:prstGeom>
          <a:solidFill>
            <a:srgbClr val="F2F2F2"/>
          </a:solidFill>
          <a:ln w="22225">
            <a:solidFill>
              <a:srgbClr val="FF0068"/>
            </a:solidFill>
            <a:prstDash val="solid"/>
          </a:ln>
        </p:spPr>
      </p:sp>
      <p:sp>
        <p:nvSpPr>
          <p:cNvPr id="10" name="Text 8"/>
          <p:cNvSpPr txBox="1"/>
          <p:nvPr/>
        </p:nvSpPr>
        <p:spPr>
          <a:xfrm>
            <a:off x="4343400" y="1508760"/>
            <a:ext cx="1691640" cy="475488"/>
          </a:xfrm>
          <a:prstGeom prst="rect">
            <a:avLst/>
          </a:prstGeom>
          <a:noFill/>
          <a:ln/>
        </p:spPr>
        <p:txBody>
          <a:bodyPr wrap="square" lIns="0" tIns="0" rIns="0" bIns="0" rtlCol="0" anchor="ctr"/>
          <a:lstStyle/>
          <a:p>
            <a:pPr algn="ctr" indent="0" marL="0">
              <a:buNone/>
            </a:pPr>
            <a:r>
              <a:rPr lang="en-US" sz="1050" b="1" dirty="0">
                <a:solidFill>
                  <a:srgbClr val="000000"/>
                </a:solidFill>
              </a:rPr>
              <a:t>Gateway hosted page</a:t>
            </a:r>
            <a:endParaRPr lang="en-US" sz="1050" dirty="0"/>
          </a:p>
        </p:txBody>
      </p:sp>
      <p:sp>
        <p:nvSpPr>
          <p:cNvPr id="11" name="Shape 9"/>
          <p:cNvSpPr/>
          <p:nvPr/>
        </p:nvSpPr>
        <p:spPr>
          <a:xfrm>
            <a:off x="5189220" y="1984248"/>
            <a:ext cx="0" cy="4050792"/>
          </a:xfrm>
          <a:prstGeom prst="line">
            <a:avLst/>
          </a:prstGeom>
          <a:noFill/>
          <a:ln w="12700">
            <a:solidFill>
              <a:srgbClr val="B0B0B8"/>
            </a:solidFill>
            <a:prstDash val="dash"/>
          </a:ln>
        </p:spPr>
      </p:sp>
      <p:sp>
        <p:nvSpPr>
          <p:cNvPr id="12" name="participant-sf"/>
          <p:cNvSpPr/>
          <p:nvPr/>
        </p:nvSpPr>
        <p:spPr>
          <a:xfrm>
            <a:off x="6181344" y="1508760"/>
            <a:ext cx="1764792" cy="475488"/>
          </a:xfrm>
          <a:prstGeom prst="roundRect">
            <a:avLst>
              <a:gd name="adj" fmla="val 15385"/>
            </a:avLst>
          </a:prstGeom>
          <a:solidFill>
            <a:srgbClr val="F2F2F2"/>
          </a:solidFill>
          <a:ln w="22225">
            <a:solidFill>
              <a:srgbClr val="00A9C0"/>
            </a:solidFill>
            <a:prstDash val="solid"/>
          </a:ln>
        </p:spPr>
      </p:sp>
      <p:sp>
        <p:nvSpPr>
          <p:cNvPr id="13" name="Text 11"/>
          <p:cNvSpPr txBox="1"/>
          <p:nvPr/>
        </p:nvSpPr>
        <p:spPr>
          <a:xfrm>
            <a:off x="6217920" y="1508760"/>
            <a:ext cx="1691640" cy="475488"/>
          </a:xfrm>
          <a:prstGeom prst="rect">
            <a:avLst/>
          </a:prstGeom>
          <a:noFill/>
          <a:ln/>
        </p:spPr>
        <p:txBody>
          <a:bodyPr wrap="square" lIns="0" tIns="0" rIns="0" bIns="0" rtlCol="0" anchor="ctr"/>
          <a:lstStyle/>
          <a:p>
            <a:pPr algn="ctr" indent="0" marL="0">
              <a:buNone/>
            </a:pPr>
            <a:r>
              <a:rPr lang="en-US" sz="1050" b="1" dirty="0">
                <a:solidFill>
                  <a:srgbClr val="000000"/>
                </a:solidFill>
              </a:rPr>
              <a:t>Salesforce</a:t>
            </a:r>
            <a:endParaRPr lang="en-US" sz="1050" dirty="0"/>
          </a:p>
        </p:txBody>
      </p:sp>
      <p:sp>
        <p:nvSpPr>
          <p:cNvPr id="14" name="Shape 12"/>
          <p:cNvSpPr/>
          <p:nvPr/>
        </p:nvSpPr>
        <p:spPr>
          <a:xfrm>
            <a:off x="7063740" y="1984248"/>
            <a:ext cx="0" cy="4050792"/>
          </a:xfrm>
          <a:prstGeom prst="line">
            <a:avLst/>
          </a:prstGeom>
          <a:noFill/>
          <a:ln w="12700">
            <a:solidFill>
              <a:srgbClr val="B0B0B8"/>
            </a:solidFill>
            <a:prstDash val="dash"/>
          </a:ln>
        </p:spPr>
      </p:sp>
      <p:sp>
        <p:nvSpPr>
          <p:cNvPr id="15" name="Shape 13"/>
          <p:cNvSpPr/>
          <p:nvPr/>
        </p:nvSpPr>
        <p:spPr>
          <a:xfrm>
            <a:off x="3314700" y="2358193"/>
            <a:ext cx="1874520" cy="0"/>
          </a:xfrm>
          <a:prstGeom prst="line">
            <a:avLst/>
          </a:prstGeom>
          <a:noFill/>
          <a:ln w="15875">
            <a:solidFill>
              <a:srgbClr val="1A1A1A"/>
            </a:solidFill>
            <a:prstDash val="solid"/>
            <a:tailEnd type="triangle"/>
          </a:ln>
        </p:spPr>
      </p:sp>
      <p:sp>
        <p:nvSpPr>
          <p:cNvPr id="16" name="Shape 14"/>
          <p:cNvSpPr/>
          <p:nvPr/>
        </p:nvSpPr>
        <p:spPr>
          <a:xfrm>
            <a:off x="3214116" y="2257609"/>
            <a:ext cx="201168" cy="201168"/>
          </a:xfrm>
          <a:prstGeom prst="ellipse">
            <a:avLst/>
          </a:prstGeom>
          <a:solidFill>
            <a:srgbClr val="00A9C0"/>
          </a:solidFill>
          <a:ln w="12700">
            <a:solidFill>
              <a:srgbClr val="00A9C0"/>
            </a:solidFill>
            <a:prstDash val="solid"/>
          </a:ln>
        </p:spPr>
      </p:sp>
      <p:sp>
        <p:nvSpPr>
          <p:cNvPr id="17" name="Text 15"/>
          <p:cNvSpPr txBox="1"/>
          <p:nvPr/>
        </p:nvSpPr>
        <p:spPr>
          <a:xfrm>
            <a:off x="3214116" y="225760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a:t>
            </a:r>
            <a:endParaRPr lang="en-US" sz="800" dirty="0"/>
          </a:p>
        </p:txBody>
      </p:sp>
      <p:sp>
        <p:nvSpPr>
          <p:cNvPr id="18" name="Text 16"/>
          <p:cNvSpPr txBox="1"/>
          <p:nvPr/>
        </p:nvSpPr>
        <p:spPr>
          <a:xfrm>
            <a:off x="3461004" y="2111305"/>
            <a:ext cx="3070555" cy="219456"/>
          </a:xfrm>
          <a:prstGeom prst="rect">
            <a:avLst/>
          </a:prstGeom>
          <a:noFill/>
          <a:ln/>
        </p:spPr>
        <p:txBody>
          <a:bodyPr wrap="square" lIns="0" tIns="0" rIns="0" bIns="0" rtlCol="0" anchor="b"/>
          <a:lstStyle/>
          <a:p>
            <a:pPr algn="ctr" indent="0" marL="0">
              <a:buNone/>
            </a:pPr>
            <a:r>
              <a:rPr lang="en-US" sz="1000" dirty="0">
                <a:solidFill>
                  <a:srgbClr val="000000"/>
                </a:solidFill>
              </a:rPr>
              <a:t>Create payment session (amount, reference)</a:t>
            </a:r>
            <a:endParaRPr lang="en-US" sz="1000" dirty="0"/>
          </a:p>
        </p:txBody>
      </p:sp>
      <p:sp>
        <p:nvSpPr>
          <p:cNvPr id="19" name="Shape 17"/>
          <p:cNvSpPr/>
          <p:nvPr/>
        </p:nvSpPr>
        <p:spPr>
          <a:xfrm>
            <a:off x="3314700" y="2786231"/>
            <a:ext cx="1874520" cy="0"/>
          </a:xfrm>
          <a:prstGeom prst="line">
            <a:avLst/>
          </a:prstGeom>
          <a:noFill/>
          <a:ln w="15875">
            <a:solidFill>
              <a:srgbClr val="6B7280"/>
            </a:solidFill>
            <a:prstDash val="dash"/>
            <a:headEnd type="triangle"/>
          </a:ln>
        </p:spPr>
      </p:sp>
      <p:sp>
        <p:nvSpPr>
          <p:cNvPr id="20" name="Shape 18"/>
          <p:cNvSpPr/>
          <p:nvPr/>
        </p:nvSpPr>
        <p:spPr>
          <a:xfrm>
            <a:off x="5088636" y="2685647"/>
            <a:ext cx="201168" cy="201168"/>
          </a:xfrm>
          <a:prstGeom prst="ellipse">
            <a:avLst/>
          </a:prstGeom>
          <a:solidFill>
            <a:srgbClr val="00A9C0"/>
          </a:solidFill>
          <a:ln w="12700">
            <a:solidFill>
              <a:srgbClr val="00A9C0"/>
            </a:solidFill>
            <a:prstDash val="solid"/>
          </a:ln>
        </p:spPr>
      </p:sp>
      <p:sp>
        <p:nvSpPr>
          <p:cNvPr id="21" name="Text 19"/>
          <p:cNvSpPr txBox="1"/>
          <p:nvPr/>
        </p:nvSpPr>
        <p:spPr>
          <a:xfrm>
            <a:off x="5088636" y="2685647"/>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2</a:t>
            </a:r>
            <a:endParaRPr lang="en-US" sz="800" dirty="0"/>
          </a:p>
        </p:txBody>
      </p:sp>
      <p:sp>
        <p:nvSpPr>
          <p:cNvPr id="22" name="Text 20"/>
          <p:cNvSpPr txBox="1"/>
          <p:nvPr/>
        </p:nvSpPr>
        <p:spPr>
          <a:xfrm>
            <a:off x="3351276" y="2539343"/>
            <a:ext cx="1691640" cy="219456"/>
          </a:xfrm>
          <a:prstGeom prst="rect">
            <a:avLst/>
          </a:prstGeom>
          <a:noFill/>
          <a:ln/>
        </p:spPr>
        <p:txBody>
          <a:bodyPr wrap="square" lIns="0" tIns="0" rIns="0" bIns="0" rtlCol="0" anchor="b"/>
          <a:lstStyle/>
          <a:p>
            <a:pPr algn="ctr" indent="0" marL="0">
              <a:buNone/>
            </a:pPr>
            <a:r>
              <a:rPr lang="en-US" sz="1000" dirty="0">
                <a:solidFill>
                  <a:srgbClr val="4D4D4D"/>
                </a:solidFill>
              </a:rPr>
              <a:t>Session token</a:t>
            </a:r>
            <a:endParaRPr lang="en-US" sz="1000" dirty="0"/>
          </a:p>
        </p:txBody>
      </p:sp>
      <p:sp>
        <p:nvSpPr>
          <p:cNvPr id="23" name="Shape 21"/>
          <p:cNvSpPr/>
          <p:nvPr/>
        </p:nvSpPr>
        <p:spPr>
          <a:xfrm>
            <a:off x="1440180" y="3214269"/>
            <a:ext cx="1874520" cy="0"/>
          </a:xfrm>
          <a:prstGeom prst="line">
            <a:avLst/>
          </a:prstGeom>
          <a:noFill/>
          <a:ln w="15875">
            <a:solidFill>
              <a:srgbClr val="6B7280"/>
            </a:solidFill>
            <a:prstDash val="dash"/>
            <a:headEnd type="triangle"/>
          </a:ln>
        </p:spPr>
      </p:sp>
      <p:sp>
        <p:nvSpPr>
          <p:cNvPr id="24" name="Shape 22"/>
          <p:cNvSpPr/>
          <p:nvPr/>
        </p:nvSpPr>
        <p:spPr>
          <a:xfrm>
            <a:off x="3214116" y="3113685"/>
            <a:ext cx="201168" cy="201168"/>
          </a:xfrm>
          <a:prstGeom prst="ellipse">
            <a:avLst/>
          </a:prstGeom>
          <a:solidFill>
            <a:srgbClr val="00A9C0"/>
          </a:solidFill>
          <a:ln w="12700">
            <a:solidFill>
              <a:srgbClr val="00A9C0"/>
            </a:solidFill>
            <a:prstDash val="solid"/>
          </a:ln>
        </p:spPr>
      </p:sp>
      <p:sp>
        <p:nvSpPr>
          <p:cNvPr id="25" name="Text 23"/>
          <p:cNvSpPr txBox="1"/>
          <p:nvPr/>
        </p:nvSpPr>
        <p:spPr>
          <a:xfrm>
            <a:off x="3214116" y="3113685"/>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3</a:t>
            </a:r>
            <a:endParaRPr lang="en-US" sz="800" dirty="0"/>
          </a:p>
        </p:txBody>
      </p:sp>
      <p:sp>
        <p:nvSpPr>
          <p:cNvPr id="26" name="Text 24"/>
          <p:cNvSpPr txBox="1"/>
          <p:nvPr/>
        </p:nvSpPr>
        <p:spPr>
          <a:xfrm>
            <a:off x="1315822" y="2967381"/>
            <a:ext cx="1852574" cy="219456"/>
          </a:xfrm>
          <a:prstGeom prst="rect">
            <a:avLst/>
          </a:prstGeom>
          <a:noFill/>
          <a:ln/>
        </p:spPr>
        <p:txBody>
          <a:bodyPr wrap="square" lIns="0" tIns="0" rIns="0" bIns="0" rtlCol="0" anchor="b"/>
          <a:lstStyle/>
          <a:p>
            <a:pPr algn="ctr" indent="0" marL="0">
              <a:buNone/>
            </a:pPr>
            <a:r>
              <a:rPr lang="en-US" sz="1000" dirty="0">
                <a:solidFill>
                  <a:srgbClr val="4D4D4D"/>
                </a:solidFill>
              </a:rPr>
              <a:t>Open hosted payment page</a:t>
            </a:r>
            <a:endParaRPr lang="en-US" sz="1000" dirty="0"/>
          </a:p>
        </p:txBody>
      </p:sp>
      <p:sp>
        <p:nvSpPr>
          <p:cNvPr id="27" name="Shape 25"/>
          <p:cNvSpPr/>
          <p:nvPr/>
        </p:nvSpPr>
        <p:spPr>
          <a:xfrm>
            <a:off x="1440180" y="3642307"/>
            <a:ext cx="3749040" cy="0"/>
          </a:xfrm>
          <a:prstGeom prst="line">
            <a:avLst/>
          </a:prstGeom>
          <a:noFill/>
          <a:ln w="15875">
            <a:solidFill>
              <a:srgbClr val="1A1A1A"/>
            </a:solidFill>
            <a:prstDash val="solid"/>
            <a:tailEnd type="triangle"/>
          </a:ln>
        </p:spPr>
      </p:sp>
      <p:sp>
        <p:nvSpPr>
          <p:cNvPr id="28" name="Shape 26"/>
          <p:cNvSpPr/>
          <p:nvPr/>
        </p:nvSpPr>
        <p:spPr>
          <a:xfrm>
            <a:off x="1339596" y="3541723"/>
            <a:ext cx="201168" cy="201168"/>
          </a:xfrm>
          <a:prstGeom prst="ellipse">
            <a:avLst/>
          </a:prstGeom>
          <a:solidFill>
            <a:srgbClr val="00A9C0"/>
          </a:solidFill>
          <a:ln w="12700">
            <a:solidFill>
              <a:srgbClr val="00A9C0"/>
            </a:solidFill>
            <a:prstDash val="solid"/>
          </a:ln>
        </p:spPr>
      </p:sp>
      <p:sp>
        <p:nvSpPr>
          <p:cNvPr id="29" name="Text 27"/>
          <p:cNvSpPr txBox="1"/>
          <p:nvPr/>
        </p:nvSpPr>
        <p:spPr>
          <a:xfrm>
            <a:off x="1339596" y="354172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4</a:t>
            </a:r>
            <a:endParaRPr lang="en-US" sz="800" dirty="0"/>
          </a:p>
        </p:txBody>
      </p:sp>
      <p:sp>
        <p:nvSpPr>
          <p:cNvPr id="30" name="Text 28"/>
          <p:cNvSpPr txBox="1"/>
          <p:nvPr/>
        </p:nvSpPr>
        <p:spPr>
          <a:xfrm>
            <a:off x="1586484" y="3395419"/>
            <a:ext cx="3566160" cy="219456"/>
          </a:xfrm>
          <a:prstGeom prst="rect">
            <a:avLst/>
          </a:prstGeom>
          <a:noFill/>
          <a:ln/>
        </p:spPr>
        <p:txBody>
          <a:bodyPr wrap="square" lIns="0" tIns="0" rIns="0" bIns="0" rtlCol="0" anchor="b"/>
          <a:lstStyle/>
          <a:p>
            <a:pPr algn="ctr" indent="0" marL="0">
              <a:buNone/>
            </a:pPr>
            <a:r>
              <a:rPr lang="en-US" sz="1000" dirty="0">
                <a:solidFill>
                  <a:srgbClr val="000000"/>
                </a:solidFill>
              </a:rPr>
              <a:t>Card details typed into the gateway page</a:t>
            </a:r>
            <a:endParaRPr lang="en-US" sz="1000" dirty="0"/>
          </a:p>
        </p:txBody>
      </p:sp>
      <p:sp>
        <p:nvSpPr>
          <p:cNvPr id="31" name="Shape 29"/>
          <p:cNvSpPr/>
          <p:nvPr/>
        </p:nvSpPr>
        <p:spPr>
          <a:xfrm>
            <a:off x="1440180" y="4070345"/>
            <a:ext cx="3749040" cy="0"/>
          </a:xfrm>
          <a:prstGeom prst="line">
            <a:avLst/>
          </a:prstGeom>
          <a:noFill/>
          <a:ln w="15875">
            <a:solidFill>
              <a:srgbClr val="6B7280"/>
            </a:solidFill>
            <a:prstDash val="dash"/>
            <a:headEnd type="triangle"/>
          </a:ln>
        </p:spPr>
      </p:sp>
      <p:sp>
        <p:nvSpPr>
          <p:cNvPr id="32" name="Shape 30"/>
          <p:cNvSpPr/>
          <p:nvPr/>
        </p:nvSpPr>
        <p:spPr>
          <a:xfrm>
            <a:off x="5088636" y="3969761"/>
            <a:ext cx="201168" cy="201168"/>
          </a:xfrm>
          <a:prstGeom prst="ellipse">
            <a:avLst/>
          </a:prstGeom>
          <a:solidFill>
            <a:srgbClr val="00A9C0"/>
          </a:solidFill>
          <a:ln w="12700">
            <a:solidFill>
              <a:srgbClr val="00A9C0"/>
            </a:solidFill>
            <a:prstDash val="solid"/>
          </a:ln>
        </p:spPr>
      </p:sp>
      <p:sp>
        <p:nvSpPr>
          <p:cNvPr id="33" name="Text 31"/>
          <p:cNvSpPr txBox="1"/>
          <p:nvPr/>
        </p:nvSpPr>
        <p:spPr>
          <a:xfrm>
            <a:off x="5088636" y="396976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5</a:t>
            </a:r>
            <a:endParaRPr lang="en-US" sz="800" dirty="0"/>
          </a:p>
        </p:txBody>
      </p:sp>
      <p:sp>
        <p:nvSpPr>
          <p:cNvPr id="34" name="Text 32"/>
          <p:cNvSpPr txBox="1"/>
          <p:nvPr/>
        </p:nvSpPr>
        <p:spPr>
          <a:xfrm>
            <a:off x="1476756" y="3823457"/>
            <a:ext cx="3566160" cy="219456"/>
          </a:xfrm>
          <a:prstGeom prst="rect">
            <a:avLst/>
          </a:prstGeom>
          <a:noFill/>
          <a:ln/>
        </p:spPr>
        <p:txBody>
          <a:bodyPr wrap="square" lIns="0" tIns="0" rIns="0" bIns="0" rtlCol="0" anchor="b"/>
          <a:lstStyle/>
          <a:p>
            <a:pPr algn="ctr" indent="0" marL="0">
              <a:buNone/>
            </a:pPr>
            <a:r>
              <a:rPr lang="en-US" sz="1000" dirty="0">
                <a:solidFill>
                  <a:srgbClr val="4D4D4D"/>
                </a:solidFill>
              </a:rPr>
              <a:t>Approved</a:t>
            </a:r>
            <a:endParaRPr lang="en-US" sz="1000" dirty="0"/>
          </a:p>
        </p:txBody>
      </p:sp>
      <p:sp>
        <p:nvSpPr>
          <p:cNvPr id="35" name="Shape 33"/>
          <p:cNvSpPr/>
          <p:nvPr/>
        </p:nvSpPr>
        <p:spPr>
          <a:xfrm>
            <a:off x="3314700" y="4498383"/>
            <a:ext cx="1874520" cy="0"/>
          </a:xfrm>
          <a:prstGeom prst="line">
            <a:avLst/>
          </a:prstGeom>
          <a:noFill/>
          <a:ln w="15875">
            <a:solidFill>
              <a:srgbClr val="1A1A1A"/>
            </a:solidFill>
            <a:prstDash val="solid"/>
            <a:headEnd type="triangle"/>
          </a:ln>
        </p:spPr>
      </p:sp>
      <p:sp>
        <p:nvSpPr>
          <p:cNvPr id="36" name="Shape 34"/>
          <p:cNvSpPr/>
          <p:nvPr/>
        </p:nvSpPr>
        <p:spPr>
          <a:xfrm>
            <a:off x="5088636" y="4397799"/>
            <a:ext cx="201168" cy="201168"/>
          </a:xfrm>
          <a:prstGeom prst="ellipse">
            <a:avLst/>
          </a:prstGeom>
          <a:solidFill>
            <a:srgbClr val="00A9C0"/>
          </a:solidFill>
          <a:ln w="12700">
            <a:solidFill>
              <a:srgbClr val="00A9C0"/>
            </a:solidFill>
            <a:prstDash val="solid"/>
          </a:ln>
        </p:spPr>
      </p:sp>
      <p:sp>
        <p:nvSpPr>
          <p:cNvPr id="37" name="Text 35"/>
          <p:cNvSpPr txBox="1"/>
          <p:nvPr/>
        </p:nvSpPr>
        <p:spPr>
          <a:xfrm>
            <a:off x="5088636" y="439779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6</a:t>
            </a:r>
            <a:endParaRPr lang="en-US" sz="800" dirty="0"/>
          </a:p>
        </p:txBody>
      </p:sp>
      <p:sp>
        <p:nvSpPr>
          <p:cNvPr id="38" name="Text 36"/>
          <p:cNvSpPr txBox="1"/>
          <p:nvPr/>
        </p:nvSpPr>
        <p:spPr>
          <a:xfrm>
            <a:off x="1769364" y="4251495"/>
            <a:ext cx="3273552" cy="219456"/>
          </a:xfrm>
          <a:prstGeom prst="rect">
            <a:avLst/>
          </a:prstGeom>
          <a:noFill/>
          <a:ln/>
        </p:spPr>
        <p:txBody>
          <a:bodyPr wrap="square" lIns="0" tIns="0" rIns="0" bIns="0" rtlCol="0" anchor="b"/>
          <a:lstStyle/>
          <a:p>
            <a:pPr algn="ctr" indent="0" marL="0">
              <a:buNone/>
            </a:pPr>
            <a:r>
              <a:rPr lang="en-US" sz="1000" dirty="0">
                <a:solidFill>
                  <a:srgbClr val="000000"/>
                </a:solidFill>
              </a:rPr>
              <a:t>Signed webhook (token, last 4, approval code)</a:t>
            </a:r>
            <a:endParaRPr lang="en-US" sz="1000" dirty="0"/>
          </a:p>
        </p:txBody>
      </p:sp>
      <p:sp>
        <p:nvSpPr>
          <p:cNvPr id="39" name="Shape 37"/>
          <p:cNvSpPr/>
          <p:nvPr/>
        </p:nvSpPr>
        <p:spPr>
          <a:xfrm>
            <a:off x="3314700" y="4831183"/>
            <a:ext cx="320040" cy="0"/>
          </a:xfrm>
          <a:prstGeom prst="line">
            <a:avLst/>
          </a:prstGeom>
          <a:noFill/>
          <a:ln w="15875">
            <a:solidFill>
              <a:srgbClr val="1A1A1A"/>
            </a:solidFill>
            <a:prstDash val="solid"/>
          </a:ln>
        </p:spPr>
      </p:sp>
      <p:sp>
        <p:nvSpPr>
          <p:cNvPr id="40" name="Shape 38"/>
          <p:cNvSpPr/>
          <p:nvPr/>
        </p:nvSpPr>
        <p:spPr>
          <a:xfrm>
            <a:off x="3634740" y="4831183"/>
            <a:ext cx="0" cy="240771"/>
          </a:xfrm>
          <a:prstGeom prst="line">
            <a:avLst/>
          </a:prstGeom>
          <a:noFill/>
          <a:ln w="15875">
            <a:solidFill>
              <a:srgbClr val="1A1A1A"/>
            </a:solidFill>
            <a:prstDash val="solid"/>
          </a:ln>
        </p:spPr>
      </p:sp>
      <p:sp>
        <p:nvSpPr>
          <p:cNvPr id="41" name="Shape 39"/>
          <p:cNvSpPr/>
          <p:nvPr/>
        </p:nvSpPr>
        <p:spPr>
          <a:xfrm>
            <a:off x="3314700" y="5071954"/>
            <a:ext cx="320040" cy="0"/>
          </a:xfrm>
          <a:prstGeom prst="line">
            <a:avLst/>
          </a:prstGeom>
          <a:noFill/>
          <a:ln w="15875">
            <a:solidFill>
              <a:srgbClr val="1A1A1A"/>
            </a:solidFill>
            <a:prstDash val="solid"/>
            <a:headEnd type="triangle"/>
          </a:ln>
        </p:spPr>
      </p:sp>
      <p:sp>
        <p:nvSpPr>
          <p:cNvPr id="42" name="Shape 40"/>
          <p:cNvSpPr/>
          <p:nvPr/>
        </p:nvSpPr>
        <p:spPr>
          <a:xfrm>
            <a:off x="3214116" y="4730599"/>
            <a:ext cx="201168" cy="201168"/>
          </a:xfrm>
          <a:prstGeom prst="ellipse">
            <a:avLst/>
          </a:prstGeom>
          <a:solidFill>
            <a:srgbClr val="00A9C0"/>
          </a:solidFill>
          <a:ln w="12700">
            <a:solidFill>
              <a:srgbClr val="00A9C0"/>
            </a:solidFill>
            <a:prstDash val="solid"/>
          </a:ln>
        </p:spPr>
      </p:sp>
      <p:sp>
        <p:nvSpPr>
          <p:cNvPr id="43" name="Text 41"/>
          <p:cNvSpPr txBox="1"/>
          <p:nvPr/>
        </p:nvSpPr>
        <p:spPr>
          <a:xfrm>
            <a:off x="3214116" y="473059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7</a:t>
            </a:r>
            <a:endParaRPr lang="en-US" sz="800" dirty="0"/>
          </a:p>
        </p:txBody>
      </p:sp>
      <p:sp>
        <p:nvSpPr>
          <p:cNvPr id="44" name="Text 42"/>
          <p:cNvSpPr txBox="1"/>
          <p:nvPr/>
        </p:nvSpPr>
        <p:spPr>
          <a:xfrm>
            <a:off x="3753612" y="4812895"/>
            <a:ext cx="2377440" cy="277347"/>
          </a:xfrm>
          <a:prstGeom prst="rect">
            <a:avLst/>
          </a:prstGeom>
          <a:noFill/>
          <a:ln/>
        </p:spPr>
        <p:txBody>
          <a:bodyPr wrap="square" lIns="0" tIns="0" rIns="0" bIns="0" rtlCol="0" anchor="ctr"/>
          <a:lstStyle/>
          <a:p>
            <a:pPr indent="0" marL="0">
              <a:buNone/>
            </a:pPr>
            <a:r>
              <a:rPr lang="en-US" sz="1000" dirty="0">
                <a:solidFill>
                  <a:srgbClr val="000000"/>
                </a:solidFill>
              </a:rPr>
              <a:t>Verify signature, idempotency check</a:t>
            </a:r>
            <a:endParaRPr lang="en-US" sz="1000" dirty="0"/>
          </a:p>
        </p:txBody>
      </p:sp>
      <p:sp>
        <p:nvSpPr>
          <p:cNvPr id="45" name="Shape 43"/>
          <p:cNvSpPr/>
          <p:nvPr/>
        </p:nvSpPr>
        <p:spPr>
          <a:xfrm>
            <a:off x="3314700" y="5461469"/>
            <a:ext cx="3749040" cy="0"/>
          </a:xfrm>
          <a:prstGeom prst="line">
            <a:avLst/>
          </a:prstGeom>
          <a:noFill/>
          <a:ln w="15875">
            <a:solidFill>
              <a:srgbClr val="1A1A1A"/>
            </a:solidFill>
            <a:prstDash val="solid"/>
            <a:tailEnd type="triangle"/>
          </a:ln>
        </p:spPr>
      </p:sp>
      <p:sp>
        <p:nvSpPr>
          <p:cNvPr id="46" name="Shape 44"/>
          <p:cNvSpPr/>
          <p:nvPr/>
        </p:nvSpPr>
        <p:spPr>
          <a:xfrm>
            <a:off x="3214116" y="5360885"/>
            <a:ext cx="201168" cy="201168"/>
          </a:xfrm>
          <a:prstGeom prst="ellipse">
            <a:avLst/>
          </a:prstGeom>
          <a:solidFill>
            <a:srgbClr val="00A9C0"/>
          </a:solidFill>
          <a:ln w="12700">
            <a:solidFill>
              <a:srgbClr val="00A9C0"/>
            </a:solidFill>
            <a:prstDash val="solid"/>
          </a:ln>
        </p:spPr>
      </p:sp>
      <p:sp>
        <p:nvSpPr>
          <p:cNvPr id="47" name="Text 45"/>
          <p:cNvSpPr txBox="1"/>
          <p:nvPr/>
        </p:nvSpPr>
        <p:spPr>
          <a:xfrm>
            <a:off x="3214116" y="5360885"/>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8</a:t>
            </a:r>
            <a:endParaRPr lang="en-US" sz="800" dirty="0"/>
          </a:p>
        </p:txBody>
      </p:sp>
      <p:sp>
        <p:nvSpPr>
          <p:cNvPr id="48" name="Text 46"/>
          <p:cNvSpPr txBox="1"/>
          <p:nvPr/>
        </p:nvSpPr>
        <p:spPr>
          <a:xfrm>
            <a:off x="3461004" y="5214581"/>
            <a:ext cx="3566160" cy="219456"/>
          </a:xfrm>
          <a:prstGeom prst="rect">
            <a:avLst/>
          </a:prstGeom>
          <a:noFill/>
          <a:ln/>
        </p:spPr>
        <p:txBody>
          <a:bodyPr wrap="square" lIns="0" tIns="0" rIns="0" bIns="0" rtlCol="0" anchor="b"/>
          <a:lstStyle/>
          <a:p>
            <a:pPr algn="ctr" indent="0" marL="0">
              <a:buNone/>
            </a:pPr>
            <a:r>
              <a:rPr lang="en-US" sz="1000" dirty="0">
                <a:solidFill>
                  <a:srgbClr val="000000"/>
                </a:solidFill>
              </a:rPr>
              <a:t>Payment record: token, last 4, amount, status</a:t>
            </a:r>
            <a:endParaRPr lang="en-US" sz="1000" dirty="0"/>
          </a:p>
        </p:txBody>
      </p:sp>
      <p:sp>
        <p:nvSpPr>
          <p:cNvPr id="49" name="Shape 47"/>
          <p:cNvSpPr/>
          <p:nvPr/>
        </p:nvSpPr>
        <p:spPr>
          <a:xfrm>
            <a:off x="4345686" y="5671208"/>
            <a:ext cx="3561588" cy="299627"/>
          </a:xfrm>
          <a:prstGeom prst="rect">
            <a:avLst/>
          </a:prstGeom>
          <a:solidFill>
            <a:srgbClr val="FED700"/>
          </a:solidFill>
          <a:ln w="12700">
            <a:solidFill>
              <a:srgbClr val="FED700"/>
            </a:solidFill>
            <a:prstDash val="solid"/>
          </a:ln>
        </p:spPr>
      </p:sp>
      <p:sp>
        <p:nvSpPr>
          <p:cNvPr id="50" name="Text 48"/>
          <p:cNvSpPr txBox="1"/>
          <p:nvPr/>
        </p:nvSpPr>
        <p:spPr>
          <a:xfrm>
            <a:off x="4418838" y="5671208"/>
            <a:ext cx="3415284" cy="299627"/>
          </a:xfrm>
          <a:prstGeom prst="rect">
            <a:avLst/>
          </a:prstGeom>
          <a:noFill/>
          <a:ln/>
        </p:spPr>
        <p:txBody>
          <a:bodyPr wrap="square" lIns="0" tIns="0" rIns="0" bIns="0" rtlCol="0" anchor="ctr"/>
          <a:lstStyle/>
          <a:p>
            <a:pPr algn="ctr" indent="0" marL="0">
              <a:buNone/>
            </a:pPr>
            <a:r>
              <a:rPr lang="en-US" sz="1000" b="1" dirty="0">
                <a:solidFill>
                  <a:srgbClr val="000000"/>
                </a:solidFill>
              </a:rPr>
              <a:t>No card number, CVV or expiry is ever stored</a:t>
            </a:r>
            <a:endParaRPr lang="en-US" sz="1000" dirty="0"/>
          </a:p>
        </p:txBody>
      </p:sp>
      <p:sp>
        <p:nvSpPr>
          <p:cNvPr id="51" name="Text 49"/>
          <p:cNvSpPr txBox="1"/>
          <p:nvPr/>
        </p:nvSpPr>
        <p:spPr>
          <a:xfrm>
            <a:off x="8412480" y="1554480"/>
            <a:ext cx="3273552" cy="320040"/>
          </a:xfrm>
          <a:prstGeom prst="rect">
            <a:avLst/>
          </a:prstGeom>
          <a:noFill/>
          <a:ln/>
        </p:spPr>
        <p:txBody>
          <a:bodyPr wrap="square" lIns="0" tIns="0" rIns="0" bIns="0" rtlCol="0" anchor="t"/>
          <a:lstStyle/>
          <a:p>
            <a:pPr indent="0" marL="0">
              <a:buNone/>
            </a:pPr>
            <a:r>
              <a:rPr lang="en-US" sz="1600" b="1" dirty="0">
                <a:solidFill>
                  <a:schemeClr val="tx1"/>
                </a:solidFill>
              </a:rPr>
              <a:t>Gateway choice</a:t>
            </a:r>
            <a:endParaRPr lang="en-US" sz="1600" dirty="0"/>
          </a:p>
        </p:txBody>
      </p:sp>
      <p:sp>
        <p:nvSpPr>
          <p:cNvPr id="52" name="Shape 50"/>
          <p:cNvSpPr/>
          <p:nvPr/>
        </p:nvSpPr>
        <p:spPr>
          <a:xfrm>
            <a:off x="8412480" y="1965960"/>
            <a:ext cx="3273552" cy="1078992"/>
          </a:xfrm>
          <a:prstGeom prst="roundRect">
            <a:avLst>
              <a:gd name="adj" fmla="val 8475"/>
            </a:avLst>
          </a:prstGeom>
          <a:solidFill>
            <a:srgbClr val="F2F2F2"/>
          </a:solidFill>
          <a:ln w="12700">
            <a:solidFill>
              <a:srgbClr val="D0D0D6"/>
            </a:solidFill>
            <a:prstDash val="solid"/>
          </a:ln>
        </p:spPr>
      </p:sp>
      <p:sp>
        <p:nvSpPr>
          <p:cNvPr id="53" name="Text 51"/>
          <p:cNvSpPr txBox="1"/>
          <p:nvPr/>
        </p:nvSpPr>
        <p:spPr>
          <a:xfrm>
            <a:off x="8595360" y="2075688"/>
            <a:ext cx="2907792" cy="201168"/>
          </a:xfrm>
          <a:prstGeom prst="rect">
            <a:avLst/>
          </a:prstGeom>
          <a:noFill/>
          <a:ln/>
        </p:spPr>
        <p:txBody>
          <a:bodyPr wrap="square" lIns="0" tIns="0" rIns="0" bIns="0" rtlCol="0" anchor="t"/>
          <a:lstStyle/>
          <a:p>
            <a:pPr indent="0" marL="0">
              <a:buNone/>
            </a:pPr>
            <a:r>
              <a:rPr lang="en-US" sz="900" b="1" spc="200" kern="0" dirty="0">
                <a:solidFill>
                  <a:srgbClr val="007C8C"/>
                </a:solidFill>
              </a:rPr>
              <a:t>OPTION A</a:t>
            </a:r>
            <a:endParaRPr lang="en-US" sz="900" dirty="0"/>
          </a:p>
        </p:txBody>
      </p:sp>
      <p:sp>
        <p:nvSpPr>
          <p:cNvPr id="54" name="Text 52"/>
          <p:cNvSpPr txBox="1"/>
          <p:nvPr/>
        </p:nvSpPr>
        <p:spPr>
          <a:xfrm>
            <a:off x="8595360" y="2295144"/>
            <a:ext cx="2907792" cy="274320"/>
          </a:xfrm>
          <a:prstGeom prst="rect">
            <a:avLst/>
          </a:prstGeom>
          <a:noFill/>
          <a:ln/>
        </p:spPr>
        <p:txBody>
          <a:bodyPr wrap="square" lIns="0" tIns="0" rIns="0" bIns="0" rtlCol="0" anchor="t"/>
          <a:lstStyle/>
          <a:p>
            <a:pPr indent="0" marL="0">
              <a:buNone/>
            </a:pPr>
            <a:r>
              <a:rPr lang="en-US" sz="1300" b="1" dirty="0">
                <a:solidFill>
                  <a:schemeClr val="tx1"/>
                </a:solidFill>
              </a:rPr>
              <a:t>Keep both</a:t>
            </a:r>
            <a:endParaRPr lang="en-US" sz="1300" dirty="0"/>
          </a:p>
        </p:txBody>
      </p:sp>
      <p:sp>
        <p:nvSpPr>
          <p:cNvPr id="55" name="Text 53"/>
          <p:cNvSpPr txBox="1"/>
          <p:nvPr/>
        </p:nvSpPr>
        <p:spPr>
          <a:xfrm>
            <a:off x="8595360" y="2587752"/>
            <a:ext cx="2907792" cy="411480"/>
          </a:xfrm>
          <a:prstGeom prst="rect">
            <a:avLst/>
          </a:prstGeom>
          <a:noFill/>
          <a:ln/>
        </p:spPr>
        <p:txBody>
          <a:bodyPr wrap="square" lIns="0" tIns="0" rIns="0" bIns="0" rtlCol="0" anchor="t"/>
          <a:lstStyle/>
          <a:p>
            <a:pPr indent="0" marL="0">
              <a:buNone/>
            </a:pPr>
            <a:r>
              <a:rPr lang="en-US" sz="1100" dirty="0">
                <a:solidFill>
                  <a:srgbClr val="4D4D4D"/>
                </a:solidFill>
              </a:rPr>
              <a:t>Chase for classes, Authorize.net for conferences</a:t>
            </a:r>
            <a:endParaRPr lang="en-US" sz="1100" dirty="0"/>
          </a:p>
        </p:txBody>
      </p:sp>
      <p:sp>
        <p:nvSpPr>
          <p:cNvPr id="56" name="Shape 54"/>
          <p:cNvSpPr/>
          <p:nvPr/>
        </p:nvSpPr>
        <p:spPr>
          <a:xfrm>
            <a:off x="8412480" y="3172968"/>
            <a:ext cx="3273552" cy="1078992"/>
          </a:xfrm>
          <a:prstGeom prst="roundRect">
            <a:avLst>
              <a:gd name="adj" fmla="val 8475"/>
            </a:avLst>
          </a:prstGeom>
          <a:solidFill>
            <a:srgbClr val="F2F2F2"/>
          </a:solidFill>
          <a:ln w="12700">
            <a:solidFill>
              <a:srgbClr val="D0D0D6"/>
            </a:solidFill>
            <a:prstDash val="solid"/>
          </a:ln>
        </p:spPr>
      </p:sp>
      <p:sp>
        <p:nvSpPr>
          <p:cNvPr id="57" name="Text 55"/>
          <p:cNvSpPr txBox="1"/>
          <p:nvPr/>
        </p:nvSpPr>
        <p:spPr>
          <a:xfrm>
            <a:off x="8595360" y="3282696"/>
            <a:ext cx="2907792" cy="201168"/>
          </a:xfrm>
          <a:prstGeom prst="rect">
            <a:avLst/>
          </a:prstGeom>
          <a:noFill/>
          <a:ln/>
        </p:spPr>
        <p:txBody>
          <a:bodyPr wrap="square" lIns="0" tIns="0" rIns="0" bIns="0" rtlCol="0" anchor="t"/>
          <a:lstStyle/>
          <a:p>
            <a:pPr indent="0" marL="0">
              <a:buNone/>
            </a:pPr>
            <a:r>
              <a:rPr lang="en-US" sz="900" b="1" spc="200" kern="0" dirty="0">
                <a:solidFill>
                  <a:srgbClr val="C8005A"/>
                </a:solidFill>
              </a:rPr>
              <a:t>OPTION B</a:t>
            </a:r>
            <a:endParaRPr lang="en-US" sz="900" dirty="0"/>
          </a:p>
        </p:txBody>
      </p:sp>
      <p:sp>
        <p:nvSpPr>
          <p:cNvPr id="58" name="Text 56"/>
          <p:cNvSpPr txBox="1"/>
          <p:nvPr/>
        </p:nvSpPr>
        <p:spPr>
          <a:xfrm>
            <a:off x="8595360" y="3502152"/>
            <a:ext cx="2907792" cy="274320"/>
          </a:xfrm>
          <a:prstGeom prst="rect">
            <a:avLst/>
          </a:prstGeom>
          <a:noFill/>
          <a:ln/>
        </p:spPr>
        <p:txBody>
          <a:bodyPr wrap="square" lIns="0" tIns="0" rIns="0" bIns="0" rtlCol="0" anchor="t"/>
          <a:lstStyle/>
          <a:p>
            <a:pPr indent="0" marL="0">
              <a:buNone/>
            </a:pPr>
            <a:r>
              <a:rPr lang="en-US" sz="1300" b="1" dirty="0">
                <a:solidFill>
                  <a:schemeClr val="tx1"/>
                </a:solidFill>
              </a:rPr>
              <a:t>Consolidate on one</a:t>
            </a:r>
            <a:endParaRPr lang="en-US" sz="1300" dirty="0"/>
          </a:p>
        </p:txBody>
      </p:sp>
      <p:sp>
        <p:nvSpPr>
          <p:cNvPr id="59" name="Text 57"/>
          <p:cNvSpPr txBox="1"/>
          <p:nvPr/>
        </p:nvSpPr>
        <p:spPr>
          <a:xfrm>
            <a:off x="8595360" y="3794760"/>
            <a:ext cx="2907792" cy="411480"/>
          </a:xfrm>
          <a:prstGeom prst="rect">
            <a:avLst/>
          </a:prstGeom>
          <a:noFill/>
          <a:ln/>
        </p:spPr>
        <p:txBody>
          <a:bodyPr wrap="square" lIns="0" tIns="0" rIns="0" bIns="0" rtlCol="0" anchor="t"/>
          <a:lstStyle/>
          <a:p>
            <a:pPr indent="0" marL="0">
              <a:buNone/>
            </a:pPr>
            <a:r>
              <a:rPr lang="en-US" sz="1100" dirty="0">
                <a:solidFill>
                  <a:srgbClr val="4D4D4D"/>
                </a:solidFill>
              </a:rPr>
              <a:t>One gateway for every event; simpler reconciliation</a:t>
            </a:r>
            <a:endParaRPr lang="en-US" sz="1100" dirty="0"/>
          </a:p>
        </p:txBody>
      </p:sp>
      <p:sp>
        <p:nvSpPr>
          <p:cNvPr id="60" name="Text 58"/>
          <p:cNvSpPr txBox="1"/>
          <p:nvPr/>
        </p:nvSpPr>
        <p:spPr>
          <a:xfrm>
            <a:off x="8412480" y="4526280"/>
            <a:ext cx="3273552" cy="320040"/>
          </a:xfrm>
          <a:prstGeom prst="rect">
            <a:avLst/>
          </a:prstGeom>
          <a:noFill/>
          <a:ln/>
        </p:spPr>
        <p:txBody>
          <a:bodyPr wrap="square" lIns="0" tIns="0" rIns="0" bIns="0" rtlCol="0" anchor="t"/>
          <a:lstStyle/>
          <a:p>
            <a:pPr indent="0" marL="0">
              <a:buNone/>
            </a:pPr>
            <a:r>
              <a:rPr lang="en-US" sz="1600" b="1" dirty="0">
                <a:solidFill>
                  <a:schemeClr val="tx1"/>
                </a:solidFill>
              </a:rPr>
              <a:t>After payment</a:t>
            </a:r>
            <a:endParaRPr lang="en-US" sz="1600" dirty="0"/>
          </a:p>
        </p:txBody>
      </p:sp>
      <p:sp>
        <p:nvSpPr>
          <p:cNvPr id="61" name="Text 59"/>
          <p:cNvSpPr txBox="1"/>
          <p:nvPr/>
        </p:nvSpPr>
        <p:spPr>
          <a:xfrm>
            <a:off x="8412480" y="4892040"/>
            <a:ext cx="3273552"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D4D4D"/>
                </a:solidFill>
              </a:rPr>
              <a:t>Full and partial refunds by token from Salesforce</a:t>
            </a:r>
            <a:endParaRPr lang="en-US" sz="1200" dirty="0"/>
          </a:p>
          <a:p>
            <a:pPr marL="342900" indent="-342900">
              <a:spcAft>
                <a:spcPts val="400"/>
              </a:spcAft>
              <a:buSzPct val="100000"/>
              <a:buChar char="•"/>
            </a:pPr>
            <a:r>
              <a:rPr lang="en-US" sz="1200" dirty="0">
                <a:solidFill>
                  <a:srgbClr val="4D4D4D"/>
                </a:solidFill>
              </a:rPr>
              <a:t>Automatic receipts</a:t>
            </a:r>
            <a:endParaRPr lang="en-US" sz="1200" dirty="0"/>
          </a:p>
          <a:p>
            <a:pPr marL="342900" indent="-342900">
              <a:spcAft>
                <a:spcPts val="400"/>
              </a:spcAft>
              <a:buSzPct val="100000"/>
              <a:buChar char="•"/>
            </a:pPr>
            <a:r>
              <a:rPr lang="en-US" sz="1200" dirty="0">
                <a:solidFill>
                  <a:srgbClr val="4D4D4D"/>
                </a:solidFill>
              </a:rPr>
              <a:t>Daily settlement reconciliation</a:t>
            </a:r>
            <a:endParaRPr lang="en-US" sz="1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lIns="0" tIns="0" rIns="0" bIns="0" rtlCol="0" anchor="ctr"/>
          <a:lstStyle/>
          <a:p>
            <a:pPr algn="ctr" indent="0" marL="0">
              <a:buNone/>
            </a:pPr>
            <a:r>
              <a:rPr lang="en-US" sz="4400" spc="600" kern="0" dirty="0">
                <a:solidFill>
                  <a:schemeClr val="bg1"/>
                </a:solidFill>
                <a:latin typeface="Trenda IG Text Light" pitchFamily="34" charset="0"/>
                <a:ea typeface="Trenda IG Text Light" pitchFamily="34" charset="-122"/>
                <a:cs typeface="Trenda IG Text Light" pitchFamily="34" charset="-120"/>
              </a:rPr>
              <a:t>02  DELIVERY PLAN</a:t>
            </a: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lIns="0" tIns="0" rIns="0" bIns="0" rtlCol="0"/>
          <a:lstStyle/>
          <a:p>
            <a:pPr algn="ctr" indent="0" marL="0">
              <a:buNone/>
            </a:pPr>
            <a:r>
              <a:rPr lang="en-US" sz="1800" dirty="0">
                <a:solidFill>
                  <a:schemeClr val="bg1"/>
                </a:solidFill>
              </a:rPr>
              <a:t>Ten sprints: conferences live at week 12, classes improved by week 20</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Delivery timeline</a:t>
            </a:r>
            <a:endParaRPr lang="en-US" sz="3200" dirty="0"/>
          </a:p>
        </p:txBody>
      </p:sp>
      <p:sp>
        <p:nvSpPr>
          <p:cNvPr id="3" name="Text 1"/>
          <p:cNvSpPr txBox="1"/>
          <p:nvPr/>
        </p:nvSpPr>
        <p:spPr>
          <a:xfrm>
            <a:off x="502920" y="1325880"/>
            <a:ext cx="7315200" cy="320040"/>
          </a:xfrm>
          <a:prstGeom prst="rect">
            <a:avLst/>
          </a:prstGeom>
          <a:noFill/>
          <a:ln/>
        </p:spPr>
        <p:txBody>
          <a:bodyPr wrap="square" lIns="0" tIns="0" rIns="0" bIns="0" rtlCol="0" anchor="t"/>
          <a:lstStyle/>
          <a:p>
            <a:pPr indent="0" marL="0">
              <a:buNone/>
            </a:pPr>
            <a:r>
              <a:rPr lang="en-US" sz="1400" dirty="0">
                <a:solidFill>
                  <a:srgbClr val="BFBFBF"/>
                </a:solidFill>
              </a:rPr>
              <a:t>Indicative; confirmed after the current-state walkthrough</a:t>
            </a:r>
            <a:endParaRPr lang="en-US" sz="1400" dirty="0"/>
          </a:p>
        </p:txBody>
      </p:sp>
      <p:sp>
        <p:nvSpPr>
          <p:cNvPr id="4" name="Shape 2"/>
          <p:cNvSpPr/>
          <p:nvPr/>
        </p:nvSpPr>
        <p:spPr>
          <a:xfrm>
            <a:off x="621792" y="3611880"/>
            <a:ext cx="10948111" cy="0"/>
          </a:xfrm>
          <a:prstGeom prst="line">
            <a:avLst/>
          </a:prstGeom>
          <a:noFill/>
          <a:ln w="38100">
            <a:solidFill>
              <a:schemeClr val="bg1"/>
            </a:solidFill>
            <a:prstDash val="solid"/>
          </a:ln>
        </p:spPr>
      </p:sp>
      <p:sp>
        <p:nvSpPr>
          <p:cNvPr id="5" name="Shape 3"/>
          <p:cNvSpPr/>
          <p:nvPr/>
        </p:nvSpPr>
        <p:spPr>
          <a:xfrm>
            <a:off x="502920" y="3493008"/>
            <a:ext cx="237744" cy="237744"/>
          </a:xfrm>
          <a:prstGeom prst="ellipse">
            <a:avLst/>
          </a:prstGeom>
          <a:solidFill>
            <a:schemeClr val="bg1"/>
          </a:solidFill>
          <a:ln w="12700">
            <a:solidFill>
              <a:schemeClr val="bg1"/>
            </a:solidFill>
            <a:prstDash val="solid"/>
          </a:ln>
        </p:spPr>
      </p:sp>
      <p:sp>
        <p:nvSpPr>
          <p:cNvPr id="6" name="Shape 4"/>
          <p:cNvSpPr/>
          <p:nvPr/>
        </p:nvSpPr>
        <p:spPr>
          <a:xfrm>
            <a:off x="11451031" y="3493008"/>
            <a:ext cx="237744" cy="237744"/>
          </a:xfrm>
          <a:prstGeom prst="ellipse">
            <a:avLst/>
          </a:prstGeom>
          <a:solidFill>
            <a:schemeClr val="bg1"/>
          </a:solidFill>
          <a:ln w="12700">
            <a:solidFill>
              <a:schemeClr val="bg1"/>
            </a:solidFill>
            <a:prstDash val="solid"/>
          </a:ln>
        </p:spPr>
      </p:sp>
      <p:sp>
        <p:nvSpPr>
          <p:cNvPr id="7" name="Shape 5"/>
          <p:cNvSpPr/>
          <p:nvPr/>
        </p:nvSpPr>
        <p:spPr>
          <a:xfrm>
            <a:off x="1051560" y="3840480"/>
            <a:ext cx="0" cy="1143000"/>
          </a:xfrm>
          <a:prstGeom prst="line">
            <a:avLst/>
          </a:prstGeom>
          <a:noFill/>
          <a:ln w="15875">
            <a:solidFill>
              <a:schemeClr val="bg1"/>
            </a:solidFill>
            <a:prstDash val="sysDot"/>
          </a:ln>
        </p:spPr>
      </p:sp>
      <p:sp>
        <p:nvSpPr>
          <p:cNvPr id="8" name="Text 6"/>
          <p:cNvSpPr txBox="1"/>
          <p:nvPr/>
        </p:nvSpPr>
        <p:spPr>
          <a:xfrm>
            <a:off x="1234440" y="3840480"/>
            <a:ext cx="3017520" cy="292608"/>
          </a:xfrm>
          <a:prstGeom prst="rect">
            <a:avLst/>
          </a:prstGeom>
          <a:noFill/>
          <a:ln/>
        </p:spPr>
        <p:txBody>
          <a:bodyPr wrap="square" lIns="0" tIns="0" rIns="0" bIns="0" rtlCol="0" anchor="t"/>
          <a:lstStyle/>
          <a:p>
            <a:pPr indent="0" marL="0">
              <a:buNone/>
            </a:pPr>
            <a:r>
              <a:rPr lang="en-US" sz="1300" b="1" dirty="0">
                <a:solidFill>
                  <a:schemeClr val="bg1"/>
                </a:solidFill>
              </a:rPr>
              <a:t>Weeks 1-2  ·  Assess and design</a:t>
            </a:r>
            <a:endParaRPr lang="en-US" sz="1300" dirty="0"/>
          </a:p>
        </p:txBody>
      </p:sp>
      <p:sp>
        <p:nvSpPr>
          <p:cNvPr id="9" name="Text 7"/>
          <p:cNvSpPr txBox="1"/>
          <p:nvPr/>
        </p:nvSpPr>
        <p:spPr>
          <a:xfrm>
            <a:off x="1234440" y="4206240"/>
            <a:ext cx="3017520" cy="777240"/>
          </a:xfrm>
          <a:prstGeom prst="rect">
            <a:avLst/>
          </a:prstGeom>
          <a:noFill/>
          <a:ln/>
        </p:spPr>
        <p:txBody>
          <a:bodyPr wrap="square" lIns="0" tIns="0" rIns="0" bIns="0" rtlCol="0" anchor="t"/>
          <a:lstStyle/>
          <a:p>
            <a:pPr indent="0" marL="0">
              <a:buNone/>
            </a:pPr>
            <a:r>
              <a:rPr lang="en-US" sz="1200" dirty="0">
                <a:solidFill>
                  <a:schemeClr val="bg1"/>
                </a:solidFill>
              </a:rPr>
              <a:t>Review today’s Experience Cloud site, the app and Certain; shared event model; payment decision</a:t>
            </a:r>
            <a:endParaRPr lang="en-US" sz="1200" dirty="0"/>
          </a:p>
        </p:txBody>
      </p:sp>
      <p:sp>
        <p:nvSpPr>
          <p:cNvPr id="10" name="Shape 8"/>
          <p:cNvSpPr/>
          <p:nvPr/>
        </p:nvSpPr>
        <p:spPr>
          <a:xfrm>
            <a:off x="969264" y="3529584"/>
            <a:ext cx="164592" cy="164592"/>
          </a:xfrm>
          <a:prstGeom prst="ellipse">
            <a:avLst/>
          </a:prstGeom>
          <a:solidFill>
            <a:schemeClr val="accent2"/>
          </a:solidFill>
          <a:ln w="12700">
            <a:solidFill>
              <a:schemeClr val="accent2"/>
            </a:solidFill>
            <a:prstDash val="solid"/>
          </a:ln>
        </p:spPr>
      </p:sp>
      <p:sp>
        <p:nvSpPr>
          <p:cNvPr id="11" name="Shape 9"/>
          <p:cNvSpPr/>
          <p:nvPr/>
        </p:nvSpPr>
        <p:spPr>
          <a:xfrm>
            <a:off x="3520440" y="2240280"/>
            <a:ext cx="0" cy="1143000"/>
          </a:xfrm>
          <a:prstGeom prst="line">
            <a:avLst/>
          </a:prstGeom>
          <a:noFill/>
          <a:ln w="15875">
            <a:solidFill>
              <a:schemeClr val="bg1"/>
            </a:solidFill>
            <a:prstDash val="sysDot"/>
          </a:ln>
        </p:spPr>
      </p:sp>
      <p:sp>
        <p:nvSpPr>
          <p:cNvPr id="12" name="Text 10"/>
          <p:cNvSpPr txBox="1"/>
          <p:nvPr/>
        </p:nvSpPr>
        <p:spPr>
          <a:xfrm>
            <a:off x="3703320" y="2240280"/>
            <a:ext cx="3017520" cy="292608"/>
          </a:xfrm>
          <a:prstGeom prst="rect">
            <a:avLst/>
          </a:prstGeom>
          <a:noFill/>
          <a:ln/>
        </p:spPr>
        <p:txBody>
          <a:bodyPr wrap="square" lIns="0" tIns="0" rIns="0" bIns="0" rtlCol="0" anchor="t"/>
          <a:lstStyle/>
          <a:p>
            <a:pPr indent="0" marL="0">
              <a:buNone/>
            </a:pPr>
            <a:r>
              <a:rPr lang="en-US" sz="1300" b="1" dirty="0">
                <a:solidFill>
                  <a:schemeClr val="bg1"/>
                </a:solidFill>
              </a:rPr>
              <a:t>Weeks 3-12  ·  Phase 1 live</a:t>
            </a:r>
            <a:endParaRPr lang="en-US" sz="1300" dirty="0"/>
          </a:p>
        </p:txBody>
      </p:sp>
      <p:sp>
        <p:nvSpPr>
          <p:cNvPr id="13" name="Text 11"/>
          <p:cNvSpPr txBox="1"/>
          <p:nvPr/>
        </p:nvSpPr>
        <p:spPr>
          <a:xfrm>
            <a:off x="3703320" y="2606040"/>
            <a:ext cx="3017520" cy="777240"/>
          </a:xfrm>
          <a:prstGeom prst="rect">
            <a:avLst/>
          </a:prstGeom>
          <a:noFill/>
          <a:ln/>
        </p:spPr>
        <p:txBody>
          <a:bodyPr wrap="square" lIns="0" tIns="0" rIns="0" bIns="0" rtlCol="0" anchor="t"/>
          <a:lstStyle/>
          <a:p>
            <a:pPr indent="0" marL="0">
              <a:buNone/>
            </a:pPr>
            <a:r>
              <a:rPr lang="en-US" sz="1200" dirty="0">
                <a:solidFill>
                  <a:schemeClr val="bg1"/>
                </a:solidFill>
              </a:rPr>
              <a:t>Conferences: sessions, speakers, My Agenda, badges. Certain retired</a:t>
            </a:r>
            <a:endParaRPr lang="en-US" sz="1200" dirty="0"/>
          </a:p>
        </p:txBody>
      </p:sp>
      <p:sp>
        <p:nvSpPr>
          <p:cNvPr id="14" name="Shape 12"/>
          <p:cNvSpPr/>
          <p:nvPr/>
        </p:nvSpPr>
        <p:spPr>
          <a:xfrm>
            <a:off x="3438144" y="3529584"/>
            <a:ext cx="164592" cy="164592"/>
          </a:xfrm>
          <a:prstGeom prst="ellipse">
            <a:avLst/>
          </a:prstGeom>
          <a:solidFill>
            <a:schemeClr val="accent2"/>
          </a:solidFill>
          <a:ln w="12700">
            <a:solidFill>
              <a:schemeClr val="accent2"/>
            </a:solidFill>
            <a:prstDash val="solid"/>
          </a:ln>
        </p:spPr>
      </p:sp>
      <p:sp>
        <p:nvSpPr>
          <p:cNvPr id="15" name="Shape 13"/>
          <p:cNvSpPr/>
          <p:nvPr/>
        </p:nvSpPr>
        <p:spPr>
          <a:xfrm>
            <a:off x="6355080" y="3840480"/>
            <a:ext cx="0" cy="1143000"/>
          </a:xfrm>
          <a:prstGeom prst="line">
            <a:avLst/>
          </a:prstGeom>
          <a:noFill/>
          <a:ln w="15875">
            <a:solidFill>
              <a:schemeClr val="bg1"/>
            </a:solidFill>
            <a:prstDash val="sysDot"/>
          </a:ln>
        </p:spPr>
      </p:sp>
      <p:sp>
        <p:nvSpPr>
          <p:cNvPr id="16" name="Text 14"/>
          <p:cNvSpPr txBox="1"/>
          <p:nvPr/>
        </p:nvSpPr>
        <p:spPr>
          <a:xfrm>
            <a:off x="6537960" y="3840480"/>
            <a:ext cx="3017520" cy="292608"/>
          </a:xfrm>
          <a:prstGeom prst="rect">
            <a:avLst/>
          </a:prstGeom>
          <a:noFill/>
          <a:ln/>
        </p:spPr>
        <p:txBody>
          <a:bodyPr wrap="square" lIns="0" tIns="0" rIns="0" bIns="0" rtlCol="0" anchor="t"/>
          <a:lstStyle/>
          <a:p>
            <a:pPr indent="0" marL="0">
              <a:buNone/>
            </a:pPr>
            <a:r>
              <a:rPr lang="en-US" sz="1300" b="1" dirty="0">
                <a:solidFill>
                  <a:schemeClr val="bg1"/>
                </a:solidFill>
              </a:rPr>
              <a:t>Weeks 13-20  ·  Phase 2 live</a:t>
            </a:r>
            <a:endParaRPr lang="en-US" sz="1300" dirty="0"/>
          </a:p>
        </p:txBody>
      </p:sp>
      <p:sp>
        <p:nvSpPr>
          <p:cNvPr id="17" name="Text 15"/>
          <p:cNvSpPr txBox="1"/>
          <p:nvPr/>
        </p:nvSpPr>
        <p:spPr>
          <a:xfrm>
            <a:off x="6537960" y="4206240"/>
            <a:ext cx="3017520" cy="777240"/>
          </a:xfrm>
          <a:prstGeom prst="rect">
            <a:avLst/>
          </a:prstGeom>
          <a:noFill/>
          <a:ln/>
        </p:spPr>
        <p:txBody>
          <a:bodyPr wrap="square" lIns="0" tIns="0" rIns="0" bIns="0" rtlCol="0" anchor="t"/>
          <a:lstStyle/>
          <a:p>
            <a:pPr indent="0" marL="0">
              <a:buNone/>
            </a:pPr>
            <a:r>
              <a:rPr lang="en-US" sz="1200" dirty="0">
                <a:solidFill>
                  <a:schemeClr val="bg1"/>
                </a:solidFill>
              </a:rPr>
              <a:t>Classes on the shared model: instant confirmation, waitlists, check-in, reporting</a:t>
            </a:r>
            <a:endParaRPr lang="en-US" sz="1200" dirty="0"/>
          </a:p>
        </p:txBody>
      </p:sp>
      <p:sp>
        <p:nvSpPr>
          <p:cNvPr id="18" name="Shape 16"/>
          <p:cNvSpPr/>
          <p:nvPr/>
        </p:nvSpPr>
        <p:spPr>
          <a:xfrm>
            <a:off x="6272784" y="3529584"/>
            <a:ext cx="164592" cy="164592"/>
          </a:xfrm>
          <a:prstGeom prst="ellipse">
            <a:avLst/>
          </a:prstGeom>
          <a:solidFill>
            <a:schemeClr val="accent2"/>
          </a:solidFill>
          <a:ln w="12700">
            <a:solidFill>
              <a:schemeClr val="accent2"/>
            </a:solidFill>
            <a:prstDash val="solid"/>
          </a:ln>
        </p:spPr>
      </p:sp>
      <p:sp>
        <p:nvSpPr>
          <p:cNvPr id="19" name="Shape 17"/>
          <p:cNvSpPr/>
          <p:nvPr/>
        </p:nvSpPr>
        <p:spPr>
          <a:xfrm>
            <a:off x="8869680" y="2240280"/>
            <a:ext cx="0" cy="1143000"/>
          </a:xfrm>
          <a:prstGeom prst="line">
            <a:avLst/>
          </a:prstGeom>
          <a:noFill/>
          <a:ln w="15875">
            <a:solidFill>
              <a:schemeClr val="bg1"/>
            </a:solidFill>
            <a:prstDash val="sysDot"/>
          </a:ln>
        </p:spPr>
      </p:sp>
      <p:sp>
        <p:nvSpPr>
          <p:cNvPr id="20" name="Text 18"/>
          <p:cNvSpPr txBox="1"/>
          <p:nvPr/>
        </p:nvSpPr>
        <p:spPr>
          <a:xfrm>
            <a:off x="9052560" y="2240280"/>
            <a:ext cx="2651760" cy="292608"/>
          </a:xfrm>
          <a:prstGeom prst="rect">
            <a:avLst/>
          </a:prstGeom>
          <a:noFill/>
          <a:ln/>
        </p:spPr>
        <p:txBody>
          <a:bodyPr wrap="square" lIns="0" tIns="0" rIns="0" bIns="0" rtlCol="0" anchor="t"/>
          <a:lstStyle/>
          <a:p>
            <a:pPr indent="0" marL="0">
              <a:buNone/>
            </a:pPr>
            <a:r>
              <a:rPr lang="en-US" sz="1300" b="1" dirty="0">
                <a:solidFill>
                  <a:schemeClr val="bg1"/>
                </a:solidFill>
              </a:rPr>
              <a:t>Week 21+  ·  Grow</a:t>
            </a:r>
            <a:endParaRPr lang="en-US" sz="1300" dirty="0"/>
          </a:p>
        </p:txBody>
      </p:sp>
      <p:sp>
        <p:nvSpPr>
          <p:cNvPr id="21" name="Text 19"/>
          <p:cNvSpPr txBox="1"/>
          <p:nvPr/>
        </p:nvSpPr>
        <p:spPr>
          <a:xfrm>
            <a:off x="9052560" y="2606040"/>
            <a:ext cx="2651760" cy="777240"/>
          </a:xfrm>
          <a:prstGeom prst="rect">
            <a:avLst/>
          </a:prstGeom>
          <a:noFill/>
          <a:ln/>
        </p:spPr>
        <p:txBody>
          <a:bodyPr wrap="square" lIns="0" tIns="0" rIns="0" bIns="0" rtlCol="0" anchor="t"/>
          <a:lstStyle/>
          <a:p>
            <a:pPr indent="0" marL="0">
              <a:buNone/>
            </a:pPr>
            <a:r>
              <a:rPr lang="en-US" sz="1200" dirty="0">
                <a:solidFill>
                  <a:schemeClr val="bg1"/>
                </a:solidFill>
              </a:rPr>
              <a:t>Patient engagement initiatives, app adoption, AI agents in a controlled harness</a:t>
            </a:r>
            <a:endParaRPr lang="en-US" sz="1200" dirty="0"/>
          </a:p>
        </p:txBody>
      </p:sp>
      <p:sp>
        <p:nvSpPr>
          <p:cNvPr id="22" name="Shape 20"/>
          <p:cNvSpPr/>
          <p:nvPr/>
        </p:nvSpPr>
        <p:spPr>
          <a:xfrm>
            <a:off x="8787384" y="3529584"/>
            <a:ext cx="164592" cy="164592"/>
          </a:xfrm>
          <a:prstGeom prst="ellipse">
            <a:avLst/>
          </a:prstGeom>
          <a:solidFill>
            <a:schemeClr val="accent2"/>
          </a:solidFill>
          <a:ln w="12700">
            <a:solidFill>
              <a:schemeClr val="accent2"/>
            </a:solidFill>
            <a:prstDash val="solid"/>
          </a:ln>
        </p:spPr>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Delivery plan: 10 two-week sprints</a:t>
            </a:r>
            <a:endParaRPr lang="en-US" sz="3200" dirty="0"/>
          </a:p>
        </p:txBody>
      </p:sp>
      <p:sp>
        <p:nvSpPr>
          <p:cNvPr id="3" name="Text 1"/>
          <p:cNvSpPr txBox="1"/>
          <p:nvPr/>
        </p:nvSpPr>
        <p:spPr>
          <a:xfrm>
            <a:off x="502920" y="1298448"/>
            <a:ext cx="8686800" cy="292608"/>
          </a:xfrm>
          <a:prstGeom prst="rect">
            <a:avLst/>
          </a:prstGeom>
          <a:noFill/>
          <a:ln/>
        </p:spPr>
        <p:txBody>
          <a:bodyPr wrap="square" lIns="0" tIns="0" rIns="0" bIns="0" rtlCol="0" anchor="t"/>
          <a:lstStyle/>
          <a:p>
            <a:pPr indent="0" marL="0">
              <a:buNone/>
            </a:pPr>
            <a:r>
              <a:rPr lang="en-US" sz="1400" dirty="0">
                <a:solidFill>
                  <a:srgbClr val="4D4D4D"/>
                </a:solidFill>
              </a:rPr>
              <a:t>A working demo and a milestone sign-off with Memorial Hermann at the end of every sprint</a:t>
            </a:r>
            <a:endParaRPr lang="en-US" sz="1400" dirty="0"/>
          </a:p>
        </p:txBody>
      </p:sp>
      <p:sp>
        <p:nvSpPr>
          <p:cNvPr id="4" name="Shape 2"/>
          <p:cNvSpPr/>
          <p:nvPr/>
        </p:nvSpPr>
        <p:spPr>
          <a:xfrm>
            <a:off x="502920" y="1737360"/>
            <a:ext cx="292608" cy="146304"/>
          </a:xfrm>
          <a:prstGeom prst="roundRect">
            <a:avLst>
              <a:gd name="adj" fmla="val 50000"/>
            </a:avLst>
          </a:prstGeom>
          <a:solidFill>
            <a:srgbClr val="00A9C0"/>
          </a:solidFill>
          <a:ln w="12700">
            <a:solidFill>
              <a:srgbClr val="00A9C0"/>
            </a:solidFill>
            <a:prstDash val="solid"/>
          </a:ln>
        </p:spPr>
      </p:sp>
      <p:sp>
        <p:nvSpPr>
          <p:cNvPr id="5" name="Text 3"/>
          <p:cNvSpPr txBox="1"/>
          <p:nvPr/>
        </p:nvSpPr>
        <p:spPr>
          <a:xfrm>
            <a:off x="886968" y="1682496"/>
            <a:ext cx="1504188" cy="256032"/>
          </a:xfrm>
          <a:prstGeom prst="rect">
            <a:avLst/>
          </a:prstGeom>
          <a:noFill/>
          <a:ln/>
        </p:spPr>
        <p:txBody>
          <a:bodyPr wrap="square" lIns="0" tIns="0" rIns="0" bIns="0" rtlCol="0" anchor="ctr"/>
          <a:lstStyle/>
          <a:p>
            <a:pPr indent="0" marL="0">
              <a:buNone/>
            </a:pPr>
            <a:r>
              <a:rPr lang="en-US" sz="1100" b="1" dirty="0">
                <a:solidFill>
                  <a:srgbClr val="007C8C"/>
                </a:solidFill>
              </a:rPr>
              <a:t>Assess and design</a:t>
            </a:r>
            <a:endParaRPr lang="en-US" sz="1100" dirty="0"/>
          </a:p>
        </p:txBody>
      </p:sp>
      <p:sp>
        <p:nvSpPr>
          <p:cNvPr id="6" name="Shape 4"/>
          <p:cNvSpPr/>
          <p:nvPr/>
        </p:nvSpPr>
        <p:spPr>
          <a:xfrm>
            <a:off x="2711196" y="1737360"/>
            <a:ext cx="292608" cy="146304"/>
          </a:xfrm>
          <a:prstGeom prst="roundRect">
            <a:avLst>
              <a:gd name="adj" fmla="val 50000"/>
            </a:avLst>
          </a:prstGeom>
          <a:solidFill>
            <a:srgbClr val="FF0068"/>
          </a:solidFill>
          <a:ln w="12700">
            <a:solidFill>
              <a:srgbClr val="FF0068"/>
            </a:solidFill>
            <a:prstDash val="solid"/>
          </a:ln>
        </p:spPr>
      </p:sp>
      <p:sp>
        <p:nvSpPr>
          <p:cNvPr id="7" name="Text 5"/>
          <p:cNvSpPr txBox="1"/>
          <p:nvPr/>
        </p:nvSpPr>
        <p:spPr>
          <a:xfrm>
            <a:off x="3095244" y="1682496"/>
            <a:ext cx="1815084" cy="256032"/>
          </a:xfrm>
          <a:prstGeom prst="rect">
            <a:avLst/>
          </a:prstGeom>
          <a:noFill/>
          <a:ln/>
        </p:spPr>
        <p:txBody>
          <a:bodyPr wrap="square" lIns="0" tIns="0" rIns="0" bIns="0" rtlCol="0" anchor="ctr"/>
          <a:lstStyle/>
          <a:p>
            <a:pPr indent="0" marL="0">
              <a:buNone/>
            </a:pPr>
            <a:r>
              <a:rPr lang="en-US" sz="1100" b="1" dirty="0">
                <a:solidFill>
                  <a:srgbClr val="C8005A"/>
                </a:solidFill>
              </a:rPr>
              <a:t>Phase 1 · Conferences</a:t>
            </a:r>
            <a:endParaRPr lang="en-US" sz="1100" dirty="0"/>
          </a:p>
        </p:txBody>
      </p:sp>
      <p:sp>
        <p:nvSpPr>
          <p:cNvPr id="8" name="Shape 6"/>
          <p:cNvSpPr/>
          <p:nvPr/>
        </p:nvSpPr>
        <p:spPr>
          <a:xfrm>
            <a:off x="5230368" y="1737360"/>
            <a:ext cx="292608" cy="146304"/>
          </a:xfrm>
          <a:prstGeom prst="roundRect">
            <a:avLst>
              <a:gd name="adj" fmla="val 50000"/>
            </a:avLst>
          </a:prstGeom>
          <a:solidFill>
            <a:srgbClr val="D9B200"/>
          </a:solidFill>
          <a:ln w="12700">
            <a:solidFill>
              <a:srgbClr val="D9B200"/>
            </a:solidFill>
            <a:prstDash val="solid"/>
          </a:ln>
        </p:spPr>
      </p:sp>
      <p:sp>
        <p:nvSpPr>
          <p:cNvPr id="9" name="Text 7"/>
          <p:cNvSpPr txBox="1"/>
          <p:nvPr/>
        </p:nvSpPr>
        <p:spPr>
          <a:xfrm>
            <a:off x="5614416" y="1682496"/>
            <a:ext cx="1504188" cy="256032"/>
          </a:xfrm>
          <a:prstGeom prst="rect">
            <a:avLst/>
          </a:prstGeom>
          <a:noFill/>
          <a:ln/>
        </p:spPr>
        <p:txBody>
          <a:bodyPr wrap="square" lIns="0" tIns="0" rIns="0" bIns="0" rtlCol="0" anchor="ctr"/>
          <a:lstStyle/>
          <a:p>
            <a:pPr indent="0" marL="0">
              <a:buNone/>
            </a:pPr>
            <a:r>
              <a:rPr lang="en-US" sz="1100" b="1" dirty="0">
                <a:solidFill>
                  <a:srgbClr val="7A6100"/>
                </a:solidFill>
              </a:rPr>
              <a:t>Phase 2 · Classes</a:t>
            </a:r>
            <a:endParaRPr lang="en-US" sz="1100" dirty="0"/>
          </a:p>
        </p:txBody>
      </p:sp>
      <p:sp>
        <p:nvSpPr>
          <p:cNvPr id="10" name="Shape 8"/>
          <p:cNvSpPr/>
          <p:nvPr/>
        </p:nvSpPr>
        <p:spPr>
          <a:xfrm>
            <a:off x="9905695" y="1728216"/>
            <a:ext cx="164592" cy="164592"/>
          </a:xfrm>
          <a:prstGeom prst="diamond">
            <a:avLst/>
          </a:prstGeom>
          <a:solidFill>
            <a:srgbClr val="000000"/>
          </a:solidFill>
          <a:ln w="12700">
            <a:solidFill>
              <a:srgbClr val="000000"/>
            </a:solidFill>
            <a:prstDash val="solid"/>
          </a:ln>
        </p:spPr>
      </p:sp>
      <p:sp>
        <p:nvSpPr>
          <p:cNvPr id="11" name="Text 9"/>
          <p:cNvSpPr txBox="1"/>
          <p:nvPr/>
        </p:nvSpPr>
        <p:spPr>
          <a:xfrm>
            <a:off x="10134295" y="1682496"/>
            <a:ext cx="1554480" cy="256032"/>
          </a:xfrm>
          <a:prstGeom prst="rect">
            <a:avLst/>
          </a:prstGeom>
          <a:noFill/>
          <a:ln/>
        </p:spPr>
        <p:txBody>
          <a:bodyPr wrap="square" lIns="0" tIns="0" rIns="0" bIns="0" rtlCol="0" anchor="ctr"/>
          <a:lstStyle/>
          <a:p>
            <a:pPr indent="0" marL="0">
              <a:buNone/>
            </a:pPr>
            <a:r>
              <a:rPr lang="en-US" sz="1100" dirty="0">
                <a:solidFill>
                  <a:srgbClr val="4D4D4D"/>
                </a:solidFill>
              </a:rPr>
              <a:t>Sprint-end milestone</a:t>
            </a:r>
            <a:endParaRPr lang="en-US" sz="1100" dirty="0"/>
          </a:p>
        </p:txBody>
      </p:sp>
      <p:sp>
        <p:nvSpPr>
          <p:cNvPr id="12" name="sprint-1"/>
          <p:cNvSpPr/>
          <p:nvPr/>
        </p:nvSpPr>
        <p:spPr>
          <a:xfrm>
            <a:off x="502920" y="2103120"/>
            <a:ext cx="2134758" cy="1901952"/>
          </a:xfrm>
          <a:prstGeom prst="roundRect">
            <a:avLst>
              <a:gd name="adj" fmla="val 4808"/>
            </a:avLst>
          </a:prstGeom>
          <a:solidFill>
            <a:srgbClr val="F2F2F2"/>
          </a:solidFill>
          <a:ln w="22225">
            <a:solidFill>
              <a:srgbClr val="00A9C0"/>
            </a:solidFill>
            <a:prstDash val="solid"/>
          </a:ln>
        </p:spPr>
      </p:sp>
      <p:sp>
        <p:nvSpPr>
          <p:cNvPr id="13" name="Text 11"/>
          <p:cNvSpPr txBox="1"/>
          <p:nvPr/>
        </p:nvSpPr>
        <p:spPr>
          <a:xfrm>
            <a:off x="640080" y="2221992"/>
            <a:ext cx="1860438" cy="219456"/>
          </a:xfrm>
          <a:prstGeom prst="rect">
            <a:avLst/>
          </a:prstGeom>
          <a:noFill/>
          <a:ln/>
        </p:spPr>
        <p:txBody>
          <a:bodyPr wrap="square" lIns="0" tIns="0" rIns="0" bIns="0" rtlCol="0" anchor="t"/>
          <a:lstStyle/>
          <a:p>
            <a:pPr indent="0" marL="0">
              <a:buNone/>
            </a:pPr>
            <a:r>
              <a:rPr lang="en-US" sz="1100" b="1" spc="200" kern="0" dirty="0">
                <a:solidFill>
                  <a:srgbClr val="007C8C"/>
                </a:solidFill>
              </a:rPr>
              <a:t>SPRINT 1</a:t>
            </a:r>
            <a:endParaRPr lang="en-US" sz="1100" dirty="0"/>
          </a:p>
        </p:txBody>
      </p:sp>
      <p:sp>
        <p:nvSpPr>
          <p:cNvPr id="14" name="Text 12"/>
          <p:cNvSpPr txBox="1"/>
          <p:nvPr/>
        </p:nvSpPr>
        <p:spPr>
          <a:xfrm>
            <a:off x="640080"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1-2</a:t>
            </a:r>
            <a:endParaRPr lang="en-US" sz="1000" dirty="0"/>
          </a:p>
        </p:txBody>
      </p:sp>
      <p:sp>
        <p:nvSpPr>
          <p:cNvPr id="15" name="Text 13"/>
          <p:cNvSpPr txBox="1"/>
          <p:nvPr/>
        </p:nvSpPr>
        <p:spPr>
          <a:xfrm>
            <a:off x="640080"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Review today’s Experience Cloud site, app and Certain; design</a:t>
            </a:r>
            <a:endParaRPr lang="en-US" sz="1100" dirty="0"/>
          </a:p>
        </p:txBody>
      </p:sp>
      <p:sp>
        <p:nvSpPr>
          <p:cNvPr id="16" name="Shape 14"/>
          <p:cNvSpPr/>
          <p:nvPr/>
        </p:nvSpPr>
        <p:spPr>
          <a:xfrm>
            <a:off x="640080" y="3383280"/>
            <a:ext cx="1860438" cy="0"/>
          </a:xfrm>
          <a:prstGeom prst="line">
            <a:avLst/>
          </a:prstGeom>
          <a:noFill/>
          <a:ln w="9525">
            <a:solidFill>
              <a:srgbClr val="D0D0D6"/>
            </a:solidFill>
            <a:prstDash val="solid"/>
          </a:ln>
        </p:spPr>
      </p:sp>
      <p:sp>
        <p:nvSpPr>
          <p:cNvPr id="17" name="Shape 15"/>
          <p:cNvSpPr/>
          <p:nvPr/>
        </p:nvSpPr>
        <p:spPr>
          <a:xfrm>
            <a:off x="640080" y="3520440"/>
            <a:ext cx="155448" cy="155448"/>
          </a:xfrm>
          <a:prstGeom prst="diamond">
            <a:avLst/>
          </a:prstGeom>
          <a:solidFill>
            <a:srgbClr val="000000"/>
          </a:solidFill>
          <a:ln w="12700">
            <a:solidFill>
              <a:srgbClr val="000000"/>
            </a:solidFill>
            <a:prstDash val="solid"/>
          </a:ln>
        </p:spPr>
      </p:sp>
      <p:sp>
        <p:nvSpPr>
          <p:cNvPr id="18" name="Text 16"/>
          <p:cNvSpPr txBox="1"/>
          <p:nvPr/>
        </p:nvSpPr>
        <p:spPr>
          <a:xfrm>
            <a:off x="886968" y="3456432"/>
            <a:ext cx="1631838" cy="457200"/>
          </a:xfrm>
          <a:prstGeom prst="rect">
            <a:avLst/>
          </a:prstGeom>
          <a:noFill/>
          <a:ln/>
        </p:spPr>
        <p:txBody>
          <a:bodyPr wrap="square" lIns="0" tIns="0" rIns="0" bIns="0" rtlCol="0" anchor="t"/>
          <a:lstStyle/>
          <a:p>
            <a:pPr indent="0" marL="0">
              <a:buNone/>
            </a:pPr>
            <a:r>
              <a:rPr lang="en-US" sz="1050" b="1" dirty="0">
                <a:solidFill>
                  <a:srgbClr val="000000"/>
                </a:solidFill>
              </a:rPr>
              <a:t>Design sign-off</a:t>
            </a:r>
            <a:endParaRPr lang="en-US" sz="1050" dirty="0"/>
          </a:p>
        </p:txBody>
      </p:sp>
      <p:sp>
        <p:nvSpPr>
          <p:cNvPr id="19" name="sprint-2"/>
          <p:cNvSpPr/>
          <p:nvPr/>
        </p:nvSpPr>
        <p:spPr>
          <a:xfrm>
            <a:off x="2765694" y="2103120"/>
            <a:ext cx="2134758" cy="1901952"/>
          </a:xfrm>
          <a:prstGeom prst="roundRect">
            <a:avLst>
              <a:gd name="adj" fmla="val 4808"/>
            </a:avLst>
          </a:prstGeom>
          <a:solidFill>
            <a:srgbClr val="F2F2F2"/>
          </a:solidFill>
          <a:ln w="22225">
            <a:solidFill>
              <a:srgbClr val="FF0068"/>
            </a:solidFill>
            <a:prstDash val="solid"/>
          </a:ln>
        </p:spPr>
      </p:sp>
      <p:sp>
        <p:nvSpPr>
          <p:cNvPr id="20" name="Text 18"/>
          <p:cNvSpPr txBox="1"/>
          <p:nvPr/>
        </p:nvSpPr>
        <p:spPr>
          <a:xfrm>
            <a:off x="2902854" y="2221992"/>
            <a:ext cx="1860438" cy="219456"/>
          </a:xfrm>
          <a:prstGeom prst="rect">
            <a:avLst/>
          </a:prstGeom>
          <a:noFill/>
          <a:ln/>
        </p:spPr>
        <p:txBody>
          <a:bodyPr wrap="square" lIns="0" tIns="0" rIns="0" bIns="0" rtlCol="0" anchor="t"/>
          <a:lstStyle/>
          <a:p>
            <a:pPr indent="0" marL="0">
              <a:buNone/>
            </a:pPr>
            <a:r>
              <a:rPr lang="en-US" sz="1100" b="1" spc="200" kern="0" dirty="0">
                <a:solidFill>
                  <a:srgbClr val="C8005A"/>
                </a:solidFill>
              </a:rPr>
              <a:t>SPRINT 2</a:t>
            </a:r>
            <a:endParaRPr lang="en-US" sz="1100" dirty="0"/>
          </a:p>
        </p:txBody>
      </p:sp>
      <p:sp>
        <p:nvSpPr>
          <p:cNvPr id="21" name="Text 19"/>
          <p:cNvSpPr txBox="1"/>
          <p:nvPr/>
        </p:nvSpPr>
        <p:spPr>
          <a:xfrm>
            <a:off x="2902854"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3-4</a:t>
            </a:r>
            <a:endParaRPr lang="en-US" sz="1000" dirty="0"/>
          </a:p>
        </p:txBody>
      </p:sp>
      <p:sp>
        <p:nvSpPr>
          <p:cNvPr id="22" name="Text 20"/>
          <p:cNvSpPr txBox="1"/>
          <p:nvPr/>
        </p:nvSpPr>
        <p:spPr>
          <a:xfrm>
            <a:off x="2902854"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Shared event model; sessions, tracks, rooms, speakers</a:t>
            </a:r>
            <a:endParaRPr lang="en-US" sz="1100" dirty="0"/>
          </a:p>
        </p:txBody>
      </p:sp>
      <p:sp>
        <p:nvSpPr>
          <p:cNvPr id="23" name="Shape 21"/>
          <p:cNvSpPr/>
          <p:nvPr/>
        </p:nvSpPr>
        <p:spPr>
          <a:xfrm>
            <a:off x="2902854" y="3383280"/>
            <a:ext cx="1860438" cy="0"/>
          </a:xfrm>
          <a:prstGeom prst="line">
            <a:avLst/>
          </a:prstGeom>
          <a:noFill/>
          <a:ln w="9525">
            <a:solidFill>
              <a:srgbClr val="D0D0D6"/>
            </a:solidFill>
            <a:prstDash val="solid"/>
          </a:ln>
        </p:spPr>
      </p:sp>
      <p:sp>
        <p:nvSpPr>
          <p:cNvPr id="24" name="Shape 22"/>
          <p:cNvSpPr/>
          <p:nvPr/>
        </p:nvSpPr>
        <p:spPr>
          <a:xfrm>
            <a:off x="2902854" y="3520440"/>
            <a:ext cx="155448" cy="155448"/>
          </a:xfrm>
          <a:prstGeom prst="diamond">
            <a:avLst/>
          </a:prstGeom>
          <a:solidFill>
            <a:srgbClr val="000000"/>
          </a:solidFill>
          <a:ln w="12700">
            <a:solidFill>
              <a:srgbClr val="000000"/>
            </a:solidFill>
            <a:prstDash val="solid"/>
          </a:ln>
        </p:spPr>
      </p:sp>
      <p:sp>
        <p:nvSpPr>
          <p:cNvPr id="25" name="Text 23"/>
          <p:cNvSpPr txBox="1"/>
          <p:nvPr/>
        </p:nvSpPr>
        <p:spPr>
          <a:xfrm>
            <a:off x="3149742" y="3456432"/>
            <a:ext cx="1631838" cy="457200"/>
          </a:xfrm>
          <a:prstGeom prst="rect">
            <a:avLst/>
          </a:prstGeom>
          <a:noFill/>
          <a:ln/>
        </p:spPr>
        <p:txBody>
          <a:bodyPr wrap="square" lIns="0" tIns="0" rIns="0" bIns="0" rtlCol="0" anchor="t"/>
          <a:lstStyle/>
          <a:p>
            <a:pPr indent="0" marL="0">
              <a:buNone/>
            </a:pPr>
            <a:r>
              <a:rPr lang="en-US" sz="1050" b="1" dirty="0">
                <a:solidFill>
                  <a:srgbClr val="000000"/>
                </a:solidFill>
              </a:rPr>
              <a:t>Conference model demo</a:t>
            </a:r>
            <a:endParaRPr lang="en-US" sz="1050" dirty="0"/>
          </a:p>
        </p:txBody>
      </p:sp>
      <p:sp>
        <p:nvSpPr>
          <p:cNvPr id="26" name="sprint-3"/>
          <p:cNvSpPr/>
          <p:nvPr/>
        </p:nvSpPr>
        <p:spPr>
          <a:xfrm>
            <a:off x="5028468" y="2103120"/>
            <a:ext cx="2134758" cy="1901952"/>
          </a:xfrm>
          <a:prstGeom prst="roundRect">
            <a:avLst>
              <a:gd name="adj" fmla="val 4808"/>
            </a:avLst>
          </a:prstGeom>
          <a:solidFill>
            <a:srgbClr val="F2F2F2"/>
          </a:solidFill>
          <a:ln w="22225">
            <a:solidFill>
              <a:srgbClr val="FF0068"/>
            </a:solidFill>
            <a:prstDash val="solid"/>
          </a:ln>
        </p:spPr>
      </p:sp>
      <p:sp>
        <p:nvSpPr>
          <p:cNvPr id="27" name="Text 25"/>
          <p:cNvSpPr txBox="1"/>
          <p:nvPr/>
        </p:nvSpPr>
        <p:spPr>
          <a:xfrm>
            <a:off x="5165628" y="2221992"/>
            <a:ext cx="1860438" cy="219456"/>
          </a:xfrm>
          <a:prstGeom prst="rect">
            <a:avLst/>
          </a:prstGeom>
          <a:noFill/>
          <a:ln/>
        </p:spPr>
        <p:txBody>
          <a:bodyPr wrap="square" lIns="0" tIns="0" rIns="0" bIns="0" rtlCol="0" anchor="t"/>
          <a:lstStyle/>
          <a:p>
            <a:pPr indent="0" marL="0">
              <a:buNone/>
            </a:pPr>
            <a:r>
              <a:rPr lang="en-US" sz="1100" b="1" spc="200" kern="0" dirty="0">
                <a:solidFill>
                  <a:srgbClr val="C8005A"/>
                </a:solidFill>
              </a:rPr>
              <a:t>SPRINT 3</a:t>
            </a:r>
            <a:endParaRPr lang="en-US" sz="1100" dirty="0"/>
          </a:p>
        </p:txBody>
      </p:sp>
      <p:sp>
        <p:nvSpPr>
          <p:cNvPr id="28" name="Text 26"/>
          <p:cNvSpPr txBox="1"/>
          <p:nvPr/>
        </p:nvSpPr>
        <p:spPr>
          <a:xfrm>
            <a:off x="5165628"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5-6</a:t>
            </a:r>
            <a:endParaRPr lang="en-US" sz="1000" dirty="0"/>
          </a:p>
        </p:txBody>
      </p:sp>
      <p:sp>
        <p:nvSpPr>
          <p:cNvPr id="29" name="Text 27"/>
          <p:cNvSpPr txBox="1"/>
          <p:nvPr/>
        </p:nvSpPr>
        <p:spPr>
          <a:xfrm>
            <a:off x="5165628"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My Agenda portal on Experience Cloud; ticket types</a:t>
            </a:r>
            <a:endParaRPr lang="en-US" sz="1100" dirty="0"/>
          </a:p>
        </p:txBody>
      </p:sp>
      <p:sp>
        <p:nvSpPr>
          <p:cNvPr id="30" name="Shape 28"/>
          <p:cNvSpPr/>
          <p:nvPr/>
        </p:nvSpPr>
        <p:spPr>
          <a:xfrm>
            <a:off x="5165628" y="3383280"/>
            <a:ext cx="1860438" cy="0"/>
          </a:xfrm>
          <a:prstGeom prst="line">
            <a:avLst/>
          </a:prstGeom>
          <a:noFill/>
          <a:ln w="9525">
            <a:solidFill>
              <a:srgbClr val="D0D0D6"/>
            </a:solidFill>
            <a:prstDash val="solid"/>
          </a:ln>
        </p:spPr>
      </p:sp>
      <p:sp>
        <p:nvSpPr>
          <p:cNvPr id="31" name="Shape 29"/>
          <p:cNvSpPr/>
          <p:nvPr/>
        </p:nvSpPr>
        <p:spPr>
          <a:xfrm>
            <a:off x="5165628" y="3520440"/>
            <a:ext cx="155448" cy="155448"/>
          </a:xfrm>
          <a:prstGeom prst="diamond">
            <a:avLst/>
          </a:prstGeom>
          <a:solidFill>
            <a:srgbClr val="000000"/>
          </a:solidFill>
          <a:ln w="12700">
            <a:solidFill>
              <a:srgbClr val="000000"/>
            </a:solidFill>
            <a:prstDash val="solid"/>
          </a:ln>
        </p:spPr>
      </p:sp>
      <p:sp>
        <p:nvSpPr>
          <p:cNvPr id="32" name="Text 30"/>
          <p:cNvSpPr txBox="1"/>
          <p:nvPr/>
        </p:nvSpPr>
        <p:spPr>
          <a:xfrm>
            <a:off x="5412516" y="3456432"/>
            <a:ext cx="1631838" cy="457200"/>
          </a:xfrm>
          <a:prstGeom prst="rect">
            <a:avLst/>
          </a:prstGeom>
          <a:noFill/>
          <a:ln/>
        </p:spPr>
        <p:txBody>
          <a:bodyPr wrap="square" lIns="0" tIns="0" rIns="0" bIns="0" rtlCol="0" anchor="t"/>
          <a:lstStyle/>
          <a:p>
            <a:pPr indent="0" marL="0">
              <a:buNone/>
            </a:pPr>
            <a:r>
              <a:rPr lang="en-US" sz="1050" b="1" dirty="0">
                <a:solidFill>
                  <a:srgbClr val="000000"/>
                </a:solidFill>
              </a:rPr>
              <a:t>Attendee portal demo</a:t>
            </a:r>
            <a:endParaRPr lang="en-US" sz="1050" dirty="0"/>
          </a:p>
        </p:txBody>
      </p:sp>
      <p:sp>
        <p:nvSpPr>
          <p:cNvPr id="33" name="sprint-4"/>
          <p:cNvSpPr/>
          <p:nvPr/>
        </p:nvSpPr>
        <p:spPr>
          <a:xfrm>
            <a:off x="7291243" y="2103120"/>
            <a:ext cx="2134758" cy="1901952"/>
          </a:xfrm>
          <a:prstGeom prst="roundRect">
            <a:avLst>
              <a:gd name="adj" fmla="val 4808"/>
            </a:avLst>
          </a:prstGeom>
          <a:solidFill>
            <a:srgbClr val="F2F2F2"/>
          </a:solidFill>
          <a:ln w="22225">
            <a:solidFill>
              <a:srgbClr val="FF0068"/>
            </a:solidFill>
            <a:prstDash val="solid"/>
          </a:ln>
        </p:spPr>
      </p:sp>
      <p:sp>
        <p:nvSpPr>
          <p:cNvPr id="34" name="Text 32"/>
          <p:cNvSpPr txBox="1"/>
          <p:nvPr/>
        </p:nvSpPr>
        <p:spPr>
          <a:xfrm>
            <a:off x="7428403" y="2221992"/>
            <a:ext cx="1860438" cy="219456"/>
          </a:xfrm>
          <a:prstGeom prst="rect">
            <a:avLst/>
          </a:prstGeom>
          <a:noFill/>
          <a:ln/>
        </p:spPr>
        <p:txBody>
          <a:bodyPr wrap="square" lIns="0" tIns="0" rIns="0" bIns="0" rtlCol="0" anchor="t"/>
          <a:lstStyle/>
          <a:p>
            <a:pPr indent="0" marL="0">
              <a:buNone/>
            </a:pPr>
            <a:r>
              <a:rPr lang="en-US" sz="1100" b="1" spc="200" kern="0" dirty="0">
                <a:solidFill>
                  <a:srgbClr val="C8005A"/>
                </a:solidFill>
              </a:rPr>
              <a:t>SPRINT 4</a:t>
            </a:r>
            <a:endParaRPr lang="en-US" sz="1100" dirty="0"/>
          </a:p>
        </p:txBody>
      </p:sp>
      <p:sp>
        <p:nvSpPr>
          <p:cNvPr id="35" name="Text 33"/>
          <p:cNvSpPr txBox="1"/>
          <p:nvPr/>
        </p:nvSpPr>
        <p:spPr>
          <a:xfrm>
            <a:off x="7428403"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7-8</a:t>
            </a:r>
            <a:endParaRPr lang="en-US" sz="1000" dirty="0"/>
          </a:p>
        </p:txBody>
      </p:sp>
      <p:sp>
        <p:nvSpPr>
          <p:cNvPr id="36" name="Text 34"/>
          <p:cNvSpPr txBox="1"/>
          <p:nvPr/>
        </p:nvSpPr>
        <p:spPr>
          <a:xfrm>
            <a:off x="7428403"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Authorize.net checkout; badges; CME [to confirm]</a:t>
            </a:r>
            <a:endParaRPr lang="en-US" sz="1100" dirty="0"/>
          </a:p>
        </p:txBody>
      </p:sp>
      <p:sp>
        <p:nvSpPr>
          <p:cNvPr id="37" name="Shape 35"/>
          <p:cNvSpPr/>
          <p:nvPr/>
        </p:nvSpPr>
        <p:spPr>
          <a:xfrm>
            <a:off x="7428403" y="3383280"/>
            <a:ext cx="1860438" cy="0"/>
          </a:xfrm>
          <a:prstGeom prst="line">
            <a:avLst/>
          </a:prstGeom>
          <a:noFill/>
          <a:ln w="9525">
            <a:solidFill>
              <a:srgbClr val="D0D0D6"/>
            </a:solidFill>
            <a:prstDash val="solid"/>
          </a:ln>
        </p:spPr>
      </p:sp>
      <p:sp>
        <p:nvSpPr>
          <p:cNvPr id="38" name="Shape 36"/>
          <p:cNvSpPr/>
          <p:nvPr/>
        </p:nvSpPr>
        <p:spPr>
          <a:xfrm>
            <a:off x="7428403" y="3520440"/>
            <a:ext cx="155448" cy="155448"/>
          </a:xfrm>
          <a:prstGeom prst="diamond">
            <a:avLst/>
          </a:prstGeom>
          <a:solidFill>
            <a:srgbClr val="000000"/>
          </a:solidFill>
          <a:ln w="12700">
            <a:solidFill>
              <a:srgbClr val="000000"/>
            </a:solidFill>
            <a:prstDash val="solid"/>
          </a:ln>
        </p:spPr>
      </p:sp>
      <p:sp>
        <p:nvSpPr>
          <p:cNvPr id="39" name="Text 37"/>
          <p:cNvSpPr txBox="1"/>
          <p:nvPr/>
        </p:nvSpPr>
        <p:spPr>
          <a:xfrm>
            <a:off x="7675291" y="3456432"/>
            <a:ext cx="1631838" cy="457200"/>
          </a:xfrm>
          <a:prstGeom prst="rect">
            <a:avLst/>
          </a:prstGeom>
          <a:noFill/>
          <a:ln/>
        </p:spPr>
        <p:txBody>
          <a:bodyPr wrap="square" lIns="0" tIns="0" rIns="0" bIns="0" rtlCol="0" anchor="t"/>
          <a:lstStyle/>
          <a:p>
            <a:pPr indent="0" marL="0">
              <a:buNone/>
            </a:pPr>
            <a:r>
              <a:rPr lang="en-US" sz="1050" b="1" dirty="0">
                <a:solidFill>
                  <a:srgbClr val="000000"/>
                </a:solidFill>
              </a:rPr>
              <a:t>Pay and badge end to end</a:t>
            </a:r>
            <a:endParaRPr lang="en-US" sz="1050" dirty="0"/>
          </a:p>
        </p:txBody>
      </p:sp>
      <p:sp>
        <p:nvSpPr>
          <p:cNvPr id="40" name="sprint-5"/>
          <p:cNvSpPr/>
          <p:nvPr/>
        </p:nvSpPr>
        <p:spPr>
          <a:xfrm>
            <a:off x="9554017" y="2103120"/>
            <a:ext cx="2134758" cy="1901952"/>
          </a:xfrm>
          <a:prstGeom prst="roundRect">
            <a:avLst>
              <a:gd name="adj" fmla="val 4808"/>
            </a:avLst>
          </a:prstGeom>
          <a:solidFill>
            <a:srgbClr val="F2F2F2"/>
          </a:solidFill>
          <a:ln w="22225">
            <a:solidFill>
              <a:srgbClr val="FF0068"/>
            </a:solidFill>
            <a:prstDash val="solid"/>
          </a:ln>
        </p:spPr>
      </p:sp>
      <p:sp>
        <p:nvSpPr>
          <p:cNvPr id="41" name="Text 39"/>
          <p:cNvSpPr txBox="1"/>
          <p:nvPr/>
        </p:nvSpPr>
        <p:spPr>
          <a:xfrm>
            <a:off x="9691177" y="2221992"/>
            <a:ext cx="1860438" cy="219456"/>
          </a:xfrm>
          <a:prstGeom prst="rect">
            <a:avLst/>
          </a:prstGeom>
          <a:noFill/>
          <a:ln/>
        </p:spPr>
        <p:txBody>
          <a:bodyPr wrap="square" lIns="0" tIns="0" rIns="0" bIns="0" rtlCol="0" anchor="t"/>
          <a:lstStyle/>
          <a:p>
            <a:pPr indent="0" marL="0">
              <a:buNone/>
            </a:pPr>
            <a:r>
              <a:rPr lang="en-US" sz="1100" b="1" spc="200" kern="0" dirty="0">
                <a:solidFill>
                  <a:srgbClr val="C8005A"/>
                </a:solidFill>
              </a:rPr>
              <a:t>SPRINT 5</a:t>
            </a:r>
            <a:endParaRPr lang="en-US" sz="1100" dirty="0"/>
          </a:p>
        </p:txBody>
      </p:sp>
      <p:sp>
        <p:nvSpPr>
          <p:cNvPr id="42" name="Text 40"/>
          <p:cNvSpPr txBox="1"/>
          <p:nvPr/>
        </p:nvSpPr>
        <p:spPr>
          <a:xfrm>
            <a:off x="9691177"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9-10</a:t>
            </a:r>
            <a:endParaRPr lang="en-US" sz="1000" dirty="0"/>
          </a:p>
        </p:txBody>
      </p:sp>
      <p:sp>
        <p:nvSpPr>
          <p:cNvPr id="43" name="Text 41"/>
          <p:cNvSpPr txBox="1"/>
          <p:nvPr/>
        </p:nvSpPr>
        <p:spPr>
          <a:xfrm>
            <a:off x="9691177"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Certain data migration, load test, user testing</a:t>
            </a:r>
            <a:endParaRPr lang="en-US" sz="1100" dirty="0"/>
          </a:p>
        </p:txBody>
      </p:sp>
      <p:sp>
        <p:nvSpPr>
          <p:cNvPr id="44" name="Shape 42"/>
          <p:cNvSpPr/>
          <p:nvPr/>
        </p:nvSpPr>
        <p:spPr>
          <a:xfrm>
            <a:off x="9691177" y="3383280"/>
            <a:ext cx="1860438" cy="0"/>
          </a:xfrm>
          <a:prstGeom prst="line">
            <a:avLst/>
          </a:prstGeom>
          <a:noFill/>
          <a:ln w="9525">
            <a:solidFill>
              <a:srgbClr val="D0D0D6"/>
            </a:solidFill>
            <a:prstDash val="solid"/>
          </a:ln>
        </p:spPr>
      </p:sp>
      <p:sp>
        <p:nvSpPr>
          <p:cNvPr id="45" name="Shape 43"/>
          <p:cNvSpPr/>
          <p:nvPr/>
        </p:nvSpPr>
        <p:spPr>
          <a:xfrm>
            <a:off x="9691177" y="3520440"/>
            <a:ext cx="155448" cy="155448"/>
          </a:xfrm>
          <a:prstGeom prst="diamond">
            <a:avLst/>
          </a:prstGeom>
          <a:solidFill>
            <a:srgbClr val="000000"/>
          </a:solidFill>
          <a:ln w="12700">
            <a:solidFill>
              <a:srgbClr val="000000"/>
            </a:solidFill>
            <a:prstDash val="solid"/>
          </a:ln>
        </p:spPr>
      </p:sp>
      <p:sp>
        <p:nvSpPr>
          <p:cNvPr id="46" name="Text 44"/>
          <p:cNvSpPr txBox="1"/>
          <p:nvPr/>
        </p:nvSpPr>
        <p:spPr>
          <a:xfrm>
            <a:off x="9938065" y="3456432"/>
            <a:ext cx="1631838" cy="457200"/>
          </a:xfrm>
          <a:prstGeom prst="rect">
            <a:avLst/>
          </a:prstGeom>
          <a:noFill/>
          <a:ln/>
        </p:spPr>
        <p:txBody>
          <a:bodyPr wrap="square" lIns="0" tIns="0" rIns="0" bIns="0" rtlCol="0" anchor="t"/>
          <a:lstStyle/>
          <a:p>
            <a:pPr indent="0" marL="0">
              <a:buNone/>
            </a:pPr>
            <a:r>
              <a:rPr lang="en-US" sz="1050" b="1" dirty="0">
                <a:solidFill>
                  <a:srgbClr val="000000"/>
                </a:solidFill>
              </a:rPr>
              <a:t>Testing sign-off</a:t>
            </a:r>
            <a:endParaRPr lang="en-US" sz="1050" dirty="0"/>
          </a:p>
        </p:txBody>
      </p:sp>
      <p:sp>
        <p:nvSpPr>
          <p:cNvPr id="47" name="sprint-6"/>
          <p:cNvSpPr/>
          <p:nvPr/>
        </p:nvSpPr>
        <p:spPr>
          <a:xfrm>
            <a:off x="502920" y="4151376"/>
            <a:ext cx="2134758" cy="1901952"/>
          </a:xfrm>
          <a:prstGeom prst="roundRect">
            <a:avLst>
              <a:gd name="adj" fmla="val 4808"/>
            </a:avLst>
          </a:prstGeom>
          <a:solidFill>
            <a:srgbClr val="000000"/>
          </a:solidFill>
          <a:ln w="22225">
            <a:solidFill>
              <a:srgbClr val="FF0068"/>
            </a:solidFill>
            <a:prstDash val="solid"/>
          </a:ln>
        </p:spPr>
      </p:sp>
      <p:sp>
        <p:nvSpPr>
          <p:cNvPr id="48" name="Text 46"/>
          <p:cNvSpPr txBox="1"/>
          <p:nvPr/>
        </p:nvSpPr>
        <p:spPr>
          <a:xfrm>
            <a:off x="640080" y="4270248"/>
            <a:ext cx="1860438" cy="219456"/>
          </a:xfrm>
          <a:prstGeom prst="rect">
            <a:avLst/>
          </a:prstGeom>
          <a:noFill/>
          <a:ln/>
        </p:spPr>
        <p:txBody>
          <a:bodyPr wrap="square" lIns="0" tIns="0" rIns="0" bIns="0" rtlCol="0" anchor="t"/>
          <a:lstStyle/>
          <a:p>
            <a:pPr indent="0" marL="0">
              <a:buNone/>
            </a:pPr>
            <a:r>
              <a:rPr lang="en-US" sz="1100" b="1" spc="200" kern="0" dirty="0">
                <a:solidFill>
                  <a:srgbClr val="FF0068"/>
                </a:solidFill>
              </a:rPr>
              <a:t>SPRINT 6</a:t>
            </a:r>
            <a:endParaRPr lang="en-US" sz="1100" dirty="0"/>
          </a:p>
        </p:txBody>
      </p:sp>
      <p:sp>
        <p:nvSpPr>
          <p:cNvPr id="49" name="Text 47"/>
          <p:cNvSpPr txBox="1"/>
          <p:nvPr/>
        </p:nvSpPr>
        <p:spPr>
          <a:xfrm>
            <a:off x="640080" y="4498848"/>
            <a:ext cx="1860438" cy="201168"/>
          </a:xfrm>
          <a:prstGeom prst="rect">
            <a:avLst/>
          </a:prstGeom>
          <a:noFill/>
          <a:ln/>
        </p:spPr>
        <p:txBody>
          <a:bodyPr wrap="square" lIns="0" tIns="0" rIns="0" bIns="0" rtlCol="0" anchor="t"/>
          <a:lstStyle/>
          <a:p>
            <a:pPr indent="0" marL="0">
              <a:buNone/>
            </a:pPr>
            <a:r>
              <a:rPr lang="en-US" sz="1000" dirty="0">
                <a:solidFill>
                  <a:srgbClr val="D9D9D9"/>
                </a:solidFill>
              </a:rPr>
              <a:t>Weeks 11-12</a:t>
            </a:r>
            <a:endParaRPr lang="en-US" sz="1000" dirty="0"/>
          </a:p>
        </p:txBody>
      </p:sp>
      <p:sp>
        <p:nvSpPr>
          <p:cNvPr id="50" name="Text 48"/>
          <p:cNvSpPr txBox="1"/>
          <p:nvPr/>
        </p:nvSpPr>
        <p:spPr>
          <a:xfrm>
            <a:off x="640080" y="4754880"/>
            <a:ext cx="1860438" cy="603504"/>
          </a:xfrm>
          <a:prstGeom prst="rect">
            <a:avLst/>
          </a:prstGeom>
          <a:noFill/>
          <a:ln/>
        </p:spPr>
        <p:txBody>
          <a:bodyPr wrap="square" lIns="0" tIns="0" rIns="0" bIns="0" rtlCol="0" anchor="t"/>
          <a:lstStyle/>
          <a:p>
            <a:pPr indent="0" marL="0">
              <a:buNone/>
            </a:pPr>
            <a:r>
              <a:rPr lang="en-US" sz="1100" dirty="0">
                <a:solidFill>
                  <a:srgbClr val="FFFFFF"/>
                </a:solidFill>
              </a:rPr>
              <a:t>Conference go-live and hypercare</a:t>
            </a:r>
            <a:endParaRPr lang="en-US" sz="1100" dirty="0"/>
          </a:p>
        </p:txBody>
      </p:sp>
      <p:sp>
        <p:nvSpPr>
          <p:cNvPr id="51" name="Shape 49"/>
          <p:cNvSpPr/>
          <p:nvPr/>
        </p:nvSpPr>
        <p:spPr>
          <a:xfrm>
            <a:off x="640080" y="5431536"/>
            <a:ext cx="1860438" cy="0"/>
          </a:xfrm>
          <a:prstGeom prst="line">
            <a:avLst/>
          </a:prstGeom>
          <a:noFill/>
          <a:ln w="9525">
            <a:solidFill>
              <a:srgbClr val="555555"/>
            </a:solidFill>
            <a:prstDash val="solid"/>
          </a:ln>
        </p:spPr>
      </p:sp>
      <p:sp>
        <p:nvSpPr>
          <p:cNvPr id="52" name="Shape 50"/>
          <p:cNvSpPr/>
          <p:nvPr/>
        </p:nvSpPr>
        <p:spPr>
          <a:xfrm>
            <a:off x="640080" y="5568696"/>
            <a:ext cx="155448" cy="155448"/>
          </a:xfrm>
          <a:prstGeom prst="diamond">
            <a:avLst/>
          </a:prstGeom>
          <a:solidFill>
            <a:srgbClr val="FF0068"/>
          </a:solidFill>
          <a:ln w="12700">
            <a:solidFill>
              <a:srgbClr val="FF0068"/>
            </a:solidFill>
            <a:prstDash val="solid"/>
          </a:ln>
        </p:spPr>
      </p:sp>
      <p:sp>
        <p:nvSpPr>
          <p:cNvPr id="53" name="Text 51"/>
          <p:cNvSpPr txBox="1"/>
          <p:nvPr/>
        </p:nvSpPr>
        <p:spPr>
          <a:xfrm>
            <a:off x="886968" y="5504688"/>
            <a:ext cx="1631838" cy="457200"/>
          </a:xfrm>
          <a:prstGeom prst="rect">
            <a:avLst/>
          </a:prstGeom>
          <a:noFill/>
          <a:ln/>
        </p:spPr>
        <p:txBody>
          <a:bodyPr wrap="square" lIns="0" tIns="0" rIns="0" bIns="0" rtlCol="0" anchor="t"/>
          <a:lstStyle/>
          <a:p>
            <a:pPr indent="0" marL="0">
              <a:buNone/>
            </a:pPr>
            <a:r>
              <a:rPr lang="en-US" sz="1050" b="1" dirty="0">
                <a:solidFill>
                  <a:srgbClr val="FFFFFF"/>
                </a:solidFill>
              </a:rPr>
              <a:t>Phase 1 live, Certain retired</a:t>
            </a:r>
            <a:endParaRPr lang="en-US" sz="1050" dirty="0"/>
          </a:p>
        </p:txBody>
      </p:sp>
      <p:sp>
        <p:nvSpPr>
          <p:cNvPr id="54" name="sprint-7"/>
          <p:cNvSpPr/>
          <p:nvPr/>
        </p:nvSpPr>
        <p:spPr>
          <a:xfrm>
            <a:off x="2765694" y="4151376"/>
            <a:ext cx="2134758" cy="1901952"/>
          </a:xfrm>
          <a:prstGeom prst="roundRect">
            <a:avLst>
              <a:gd name="adj" fmla="val 4808"/>
            </a:avLst>
          </a:prstGeom>
          <a:solidFill>
            <a:srgbClr val="F2F2F2"/>
          </a:solidFill>
          <a:ln w="22225">
            <a:solidFill>
              <a:srgbClr val="D9B200"/>
            </a:solidFill>
            <a:prstDash val="solid"/>
          </a:ln>
        </p:spPr>
      </p:sp>
      <p:sp>
        <p:nvSpPr>
          <p:cNvPr id="55" name="Text 53"/>
          <p:cNvSpPr txBox="1"/>
          <p:nvPr/>
        </p:nvSpPr>
        <p:spPr>
          <a:xfrm>
            <a:off x="2902854" y="4270248"/>
            <a:ext cx="1860438" cy="219456"/>
          </a:xfrm>
          <a:prstGeom prst="rect">
            <a:avLst/>
          </a:prstGeom>
          <a:noFill/>
          <a:ln/>
        </p:spPr>
        <p:txBody>
          <a:bodyPr wrap="square" lIns="0" tIns="0" rIns="0" bIns="0" rtlCol="0" anchor="t"/>
          <a:lstStyle/>
          <a:p>
            <a:pPr indent="0" marL="0">
              <a:buNone/>
            </a:pPr>
            <a:r>
              <a:rPr lang="en-US" sz="1100" b="1" spc="200" kern="0" dirty="0">
                <a:solidFill>
                  <a:srgbClr val="7A6100"/>
                </a:solidFill>
              </a:rPr>
              <a:t>SPRINT 7</a:t>
            </a:r>
            <a:endParaRPr lang="en-US" sz="1100" dirty="0"/>
          </a:p>
        </p:txBody>
      </p:sp>
      <p:sp>
        <p:nvSpPr>
          <p:cNvPr id="56" name="Text 54"/>
          <p:cNvSpPr txBox="1"/>
          <p:nvPr/>
        </p:nvSpPr>
        <p:spPr>
          <a:xfrm>
            <a:off x="2902854" y="4498848"/>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13-14</a:t>
            </a:r>
            <a:endParaRPr lang="en-US" sz="1000" dirty="0"/>
          </a:p>
        </p:txBody>
      </p:sp>
      <p:sp>
        <p:nvSpPr>
          <p:cNvPr id="57" name="Text 55"/>
          <p:cNvSpPr txBox="1"/>
          <p:nvPr/>
        </p:nvSpPr>
        <p:spPr>
          <a:xfrm>
            <a:off x="2902854" y="4754880"/>
            <a:ext cx="1860438" cy="603504"/>
          </a:xfrm>
          <a:prstGeom prst="rect">
            <a:avLst/>
          </a:prstGeom>
          <a:noFill/>
          <a:ln/>
        </p:spPr>
        <p:txBody>
          <a:bodyPr wrap="square" lIns="0" tIns="0" rIns="0" bIns="0" rtlCol="0" anchor="t"/>
          <a:lstStyle/>
          <a:p>
            <a:pPr indent="0" marL="0">
              <a:buNone/>
            </a:pPr>
            <a:r>
              <a:rPr lang="en-US" sz="1100" dirty="0">
                <a:solidFill>
                  <a:srgbClr val="000000"/>
                </a:solidFill>
              </a:rPr>
              <a:t>Move classes onto the shared model; keep current pages</a:t>
            </a:r>
            <a:endParaRPr lang="en-US" sz="1100" dirty="0"/>
          </a:p>
        </p:txBody>
      </p:sp>
      <p:sp>
        <p:nvSpPr>
          <p:cNvPr id="58" name="Shape 56"/>
          <p:cNvSpPr/>
          <p:nvPr/>
        </p:nvSpPr>
        <p:spPr>
          <a:xfrm>
            <a:off x="2902854" y="5431536"/>
            <a:ext cx="1860438" cy="0"/>
          </a:xfrm>
          <a:prstGeom prst="line">
            <a:avLst/>
          </a:prstGeom>
          <a:noFill/>
          <a:ln w="9525">
            <a:solidFill>
              <a:srgbClr val="D0D0D6"/>
            </a:solidFill>
            <a:prstDash val="solid"/>
          </a:ln>
        </p:spPr>
      </p:sp>
      <p:sp>
        <p:nvSpPr>
          <p:cNvPr id="59" name="Shape 57"/>
          <p:cNvSpPr/>
          <p:nvPr/>
        </p:nvSpPr>
        <p:spPr>
          <a:xfrm>
            <a:off x="2902854" y="5568696"/>
            <a:ext cx="155448" cy="155448"/>
          </a:xfrm>
          <a:prstGeom prst="diamond">
            <a:avLst/>
          </a:prstGeom>
          <a:solidFill>
            <a:srgbClr val="000000"/>
          </a:solidFill>
          <a:ln w="12700">
            <a:solidFill>
              <a:srgbClr val="000000"/>
            </a:solidFill>
            <a:prstDash val="solid"/>
          </a:ln>
        </p:spPr>
      </p:sp>
      <p:sp>
        <p:nvSpPr>
          <p:cNvPr id="60" name="Text 58"/>
          <p:cNvSpPr txBox="1"/>
          <p:nvPr/>
        </p:nvSpPr>
        <p:spPr>
          <a:xfrm>
            <a:off x="3149742" y="5504688"/>
            <a:ext cx="1631838" cy="457200"/>
          </a:xfrm>
          <a:prstGeom prst="rect">
            <a:avLst/>
          </a:prstGeom>
          <a:noFill/>
          <a:ln/>
        </p:spPr>
        <p:txBody>
          <a:bodyPr wrap="square" lIns="0" tIns="0" rIns="0" bIns="0" rtlCol="0" anchor="t"/>
          <a:lstStyle/>
          <a:p>
            <a:pPr indent="0" marL="0">
              <a:buNone/>
            </a:pPr>
            <a:r>
              <a:rPr lang="en-US" sz="1050" b="1" dirty="0">
                <a:solidFill>
                  <a:srgbClr val="000000"/>
                </a:solidFill>
              </a:rPr>
              <a:t>Classes on shared model</a:t>
            </a:r>
            <a:endParaRPr lang="en-US" sz="1050" dirty="0"/>
          </a:p>
        </p:txBody>
      </p:sp>
      <p:sp>
        <p:nvSpPr>
          <p:cNvPr id="61" name="sprint-8"/>
          <p:cNvSpPr/>
          <p:nvPr/>
        </p:nvSpPr>
        <p:spPr>
          <a:xfrm>
            <a:off x="5028468" y="4151376"/>
            <a:ext cx="2134758" cy="1901952"/>
          </a:xfrm>
          <a:prstGeom prst="roundRect">
            <a:avLst>
              <a:gd name="adj" fmla="val 4808"/>
            </a:avLst>
          </a:prstGeom>
          <a:solidFill>
            <a:srgbClr val="F2F2F2"/>
          </a:solidFill>
          <a:ln w="22225">
            <a:solidFill>
              <a:srgbClr val="D9B200"/>
            </a:solidFill>
            <a:prstDash val="solid"/>
          </a:ln>
        </p:spPr>
      </p:sp>
      <p:sp>
        <p:nvSpPr>
          <p:cNvPr id="62" name="Text 60"/>
          <p:cNvSpPr txBox="1"/>
          <p:nvPr/>
        </p:nvSpPr>
        <p:spPr>
          <a:xfrm>
            <a:off x="5165628" y="4270248"/>
            <a:ext cx="1860438" cy="219456"/>
          </a:xfrm>
          <a:prstGeom prst="rect">
            <a:avLst/>
          </a:prstGeom>
          <a:noFill/>
          <a:ln/>
        </p:spPr>
        <p:txBody>
          <a:bodyPr wrap="square" lIns="0" tIns="0" rIns="0" bIns="0" rtlCol="0" anchor="t"/>
          <a:lstStyle/>
          <a:p>
            <a:pPr indent="0" marL="0">
              <a:buNone/>
            </a:pPr>
            <a:r>
              <a:rPr lang="en-US" sz="1100" b="1" spc="200" kern="0" dirty="0">
                <a:solidFill>
                  <a:srgbClr val="7A6100"/>
                </a:solidFill>
              </a:rPr>
              <a:t>SPRINT 8</a:t>
            </a:r>
            <a:endParaRPr lang="en-US" sz="1100" dirty="0"/>
          </a:p>
        </p:txBody>
      </p:sp>
      <p:sp>
        <p:nvSpPr>
          <p:cNvPr id="63" name="Text 61"/>
          <p:cNvSpPr txBox="1"/>
          <p:nvPr/>
        </p:nvSpPr>
        <p:spPr>
          <a:xfrm>
            <a:off x="5165628" y="4498848"/>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15-16</a:t>
            </a:r>
            <a:endParaRPr lang="en-US" sz="1000" dirty="0"/>
          </a:p>
        </p:txBody>
      </p:sp>
      <p:sp>
        <p:nvSpPr>
          <p:cNvPr id="64" name="Text 62"/>
          <p:cNvSpPr txBox="1"/>
          <p:nvPr/>
        </p:nvSpPr>
        <p:spPr>
          <a:xfrm>
            <a:off x="5165628" y="4754880"/>
            <a:ext cx="1860438" cy="603504"/>
          </a:xfrm>
          <a:prstGeom prst="rect">
            <a:avLst/>
          </a:prstGeom>
          <a:noFill/>
          <a:ln/>
        </p:spPr>
        <p:txBody>
          <a:bodyPr wrap="square" lIns="0" tIns="0" rIns="0" bIns="0" rtlCol="0" anchor="t"/>
          <a:lstStyle/>
          <a:p>
            <a:pPr indent="0" marL="0">
              <a:buNone/>
            </a:pPr>
            <a:r>
              <a:rPr lang="en-US" sz="1100" dirty="0">
                <a:solidFill>
                  <a:srgbClr val="000000"/>
                </a:solidFill>
              </a:rPr>
              <a:t>Instant confirmation, safe payment retries, waitlists</a:t>
            </a:r>
            <a:endParaRPr lang="en-US" sz="1100" dirty="0"/>
          </a:p>
        </p:txBody>
      </p:sp>
      <p:sp>
        <p:nvSpPr>
          <p:cNvPr id="65" name="Shape 63"/>
          <p:cNvSpPr/>
          <p:nvPr/>
        </p:nvSpPr>
        <p:spPr>
          <a:xfrm>
            <a:off x="5165628" y="5431536"/>
            <a:ext cx="1860438" cy="0"/>
          </a:xfrm>
          <a:prstGeom prst="line">
            <a:avLst/>
          </a:prstGeom>
          <a:noFill/>
          <a:ln w="9525">
            <a:solidFill>
              <a:srgbClr val="D0D0D6"/>
            </a:solidFill>
            <a:prstDash val="solid"/>
          </a:ln>
        </p:spPr>
      </p:sp>
      <p:sp>
        <p:nvSpPr>
          <p:cNvPr id="66" name="Shape 64"/>
          <p:cNvSpPr/>
          <p:nvPr/>
        </p:nvSpPr>
        <p:spPr>
          <a:xfrm>
            <a:off x="5165628" y="5568696"/>
            <a:ext cx="155448" cy="155448"/>
          </a:xfrm>
          <a:prstGeom prst="diamond">
            <a:avLst/>
          </a:prstGeom>
          <a:solidFill>
            <a:srgbClr val="000000"/>
          </a:solidFill>
          <a:ln w="12700">
            <a:solidFill>
              <a:srgbClr val="000000"/>
            </a:solidFill>
            <a:prstDash val="solid"/>
          </a:ln>
        </p:spPr>
      </p:sp>
      <p:sp>
        <p:nvSpPr>
          <p:cNvPr id="67" name="Text 65"/>
          <p:cNvSpPr txBox="1"/>
          <p:nvPr/>
        </p:nvSpPr>
        <p:spPr>
          <a:xfrm>
            <a:off x="5412516" y="5504688"/>
            <a:ext cx="1631838" cy="457200"/>
          </a:xfrm>
          <a:prstGeom prst="rect">
            <a:avLst/>
          </a:prstGeom>
          <a:noFill/>
          <a:ln/>
        </p:spPr>
        <p:txBody>
          <a:bodyPr wrap="square" lIns="0" tIns="0" rIns="0" bIns="0" rtlCol="0" anchor="t"/>
          <a:lstStyle/>
          <a:p>
            <a:pPr indent="0" marL="0">
              <a:buNone/>
            </a:pPr>
            <a:r>
              <a:rPr lang="en-US" sz="1050" b="1" dirty="0">
                <a:solidFill>
                  <a:srgbClr val="000000"/>
                </a:solidFill>
              </a:rPr>
              <a:t>Registration improvements demo</a:t>
            </a:r>
            <a:endParaRPr lang="en-US" sz="1050" dirty="0"/>
          </a:p>
        </p:txBody>
      </p:sp>
      <p:sp>
        <p:nvSpPr>
          <p:cNvPr id="68" name="sprint-9"/>
          <p:cNvSpPr/>
          <p:nvPr/>
        </p:nvSpPr>
        <p:spPr>
          <a:xfrm>
            <a:off x="7291243" y="4151376"/>
            <a:ext cx="2134758" cy="1901952"/>
          </a:xfrm>
          <a:prstGeom prst="roundRect">
            <a:avLst>
              <a:gd name="adj" fmla="val 4808"/>
            </a:avLst>
          </a:prstGeom>
          <a:solidFill>
            <a:srgbClr val="F2F2F2"/>
          </a:solidFill>
          <a:ln w="22225">
            <a:solidFill>
              <a:srgbClr val="D9B200"/>
            </a:solidFill>
            <a:prstDash val="solid"/>
          </a:ln>
        </p:spPr>
      </p:sp>
      <p:sp>
        <p:nvSpPr>
          <p:cNvPr id="69" name="Text 67"/>
          <p:cNvSpPr txBox="1"/>
          <p:nvPr/>
        </p:nvSpPr>
        <p:spPr>
          <a:xfrm>
            <a:off x="7428403" y="4270248"/>
            <a:ext cx="1860438" cy="219456"/>
          </a:xfrm>
          <a:prstGeom prst="rect">
            <a:avLst/>
          </a:prstGeom>
          <a:noFill/>
          <a:ln/>
        </p:spPr>
        <p:txBody>
          <a:bodyPr wrap="square" lIns="0" tIns="0" rIns="0" bIns="0" rtlCol="0" anchor="t"/>
          <a:lstStyle/>
          <a:p>
            <a:pPr indent="0" marL="0">
              <a:buNone/>
            </a:pPr>
            <a:r>
              <a:rPr lang="en-US" sz="1100" b="1" spc="200" kern="0" dirty="0">
                <a:solidFill>
                  <a:srgbClr val="7A6100"/>
                </a:solidFill>
              </a:rPr>
              <a:t>SPRINT 9</a:t>
            </a:r>
            <a:endParaRPr lang="en-US" sz="1100" dirty="0"/>
          </a:p>
        </p:txBody>
      </p:sp>
      <p:sp>
        <p:nvSpPr>
          <p:cNvPr id="70" name="Text 68"/>
          <p:cNvSpPr txBox="1"/>
          <p:nvPr/>
        </p:nvSpPr>
        <p:spPr>
          <a:xfrm>
            <a:off x="7428403" y="4498848"/>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17-18</a:t>
            </a:r>
            <a:endParaRPr lang="en-US" sz="1000" dirty="0"/>
          </a:p>
        </p:txBody>
      </p:sp>
      <p:sp>
        <p:nvSpPr>
          <p:cNvPr id="71" name="Text 69"/>
          <p:cNvSpPr txBox="1"/>
          <p:nvPr/>
        </p:nvSpPr>
        <p:spPr>
          <a:xfrm>
            <a:off x="7428403" y="4754880"/>
            <a:ext cx="1860438" cy="603504"/>
          </a:xfrm>
          <a:prstGeom prst="rect">
            <a:avLst/>
          </a:prstGeom>
          <a:noFill/>
          <a:ln/>
        </p:spPr>
        <p:txBody>
          <a:bodyPr wrap="square" lIns="0" tIns="0" rIns="0" bIns="0" rtlCol="0" anchor="t"/>
          <a:lstStyle/>
          <a:p>
            <a:pPr indent="0" marL="0">
              <a:buNone/>
            </a:pPr>
            <a:r>
              <a:rPr lang="en-US" sz="1100" dirty="0">
                <a:solidFill>
                  <a:srgbClr val="000000"/>
                </a:solidFill>
              </a:rPr>
              <a:t>QR check-in, reporting, app connected, PEI journeys</a:t>
            </a:r>
            <a:endParaRPr lang="en-US" sz="1100" dirty="0"/>
          </a:p>
        </p:txBody>
      </p:sp>
      <p:sp>
        <p:nvSpPr>
          <p:cNvPr id="72" name="Shape 70"/>
          <p:cNvSpPr/>
          <p:nvPr/>
        </p:nvSpPr>
        <p:spPr>
          <a:xfrm>
            <a:off x="7428403" y="5431536"/>
            <a:ext cx="1860438" cy="0"/>
          </a:xfrm>
          <a:prstGeom prst="line">
            <a:avLst/>
          </a:prstGeom>
          <a:noFill/>
          <a:ln w="9525">
            <a:solidFill>
              <a:srgbClr val="D0D0D6"/>
            </a:solidFill>
            <a:prstDash val="solid"/>
          </a:ln>
        </p:spPr>
      </p:sp>
      <p:sp>
        <p:nvSpPr>
          <p:cNvPr id="73" name="Shape 71"/>
          <p:cNvSpPr/>
          <p:nvPr/>
        </p:nvSpPr>
        <p:spPr>
          <a:xfrm>
            <a:off x="7428403" y="5568696"/>
            <a:ext cx="155448" cy="155448"/>
          </a:xfrm>
          <a:prstGeom prst="diamond">
            <a:avLst/>
          </a:prstGeom>
          <a:solidFill>
            <a:srgbClr val="000000"/>
          </a:solidFill>
          <a:ln w="12700">
            <a:solidFill>
              <a:srgbClr val="000000"/>
            </a:solidFill>
            <a:prstDash val="solid"/>
          </a:ln>
        </p:spPr>
      </p:sp>
      <p:sp>
        <p:nvSpPr>
          <p:cNvPr id="74" name="Text 72"/>
          <p:cNvSpPr txBox="1"/>
          <p:nvPr/>
        </p:nvSpPr>
        <p:spPr>
          <a:xfrm>
            <a:off x="7675291" y="5504688"/>
            <a:ext cx="1631838" cy="457200"/>
          </a:xfrm>
          <a:prstGeom prst="rect">
            <a:avLst/>
          </a:prstGeom>
          <a:noFill/>
          <a:ln/>
        </p:spPr>
        <p:txBody>
          <a:bodyPr wrap="square" lIns="0" tIns="0" rIns="0" bIns="0" rtlCol="0" anchor="t"/>
          <a:lstStyle/>
          <a:p>
            <a:pPr indent="0" marL="0">
              <a:buNone/>
            </a:pPr>
            <a:r>
              <a:rPr lang="en-US" sz="1050" b="1" dirty="0">
                <a:solidFill>
                  <a:srgbClr val="000000"/>
                </a:solidFill>
              </a:rPr>
              <a:t>User testing starts</a:t>
            </a:r>
            <a:endParaRPr lang="en-US" sz="1050" dirty="0"/>
          </a:p>
        </p:txBody>
      </p:sp>
      <p:sp>
        <p:nvSpPr>
          <p:cNvPr id="75" name="sprint-10"/>
          <p:cNvSpPr/>
          <p:nvPr/>
        </p:nvSpPr>
        <p:spPr>
          <a:xfrm>
            <a:off x="9554017" y="4151376"/>
            <a:ext cx="2134758" cy="1901952"/>
          </a:xfrm>
          <a:prstGeom prst="roundRect">
            <a:avLst>
              <a:gd name="adj" fmla="val 4808"/>
            </a:avLst>
          </a:prstGeom>
          <a:solidFill>
            <a:srgbClr val="000000"/>
          </a:solidFill>
          <a:ln w="22225">
            <a:solidFill>
              <a:srgbClr val="D9B200"/>
            </a:solidFill>
            <a:prstDash val="solid"/>
          </a:ln>
        </p:spPr>
      </p:sp>
      <p:sp>
        <p:nvSpPr>
          <p:cNvPr id="76" name="Text 74"/>
          <p:cNvSpPr txBox="1"/>
          <p:nvPr/>
        </p:nvSpPr>
        <p:spPr>
          <a:xfrm>
            <a:off x="9691177" y="4270248"/>
            <a:ext cx="1860438" cy="219456"/>
          </a:xfrm>
          <a:prstGeom prst="rect">
            <a:avLst/>
          </a:prstGeom>
          <a:noFill/>
          <a:ln/>
        </p:spPr>
        <p:txBody>
          <a:bodyPr wrap="square" lIns="0" tIns="0" rIns="0" bIns="0" rtlCol="0" anchor="t"/>
          <a:lstStyle/>
          <a:p>
            <a:pPr indent="0" marL="0">
              <a:buNone/>
            </a:pPr>
            <a:r>
              <a:rPr lang="en-US" sz="1100" b="1" spc="200" kern="0" dirty="0">
                <a:solidFill>
                  <a:srgbClr val="D9B200"/>
                </a:solidFill>
              </a:rPr>
              <a:t>SPRINT 10</a:t>
            </a:r>
            <a:endParaRPr lang="en-US" sz="1100" dirty="0"/>
          </a:p>
        </p:txBody>
      </p:sp>
      <p:sp>
        <p:nvSpPr>
          <p:cNvPr id="77" name="Text 75"/>
          <p:cNvSpPr txBox="1"/>
          <p:nvPr/>
        </p:nvSpPr>
        <p:spPr>
          <a:xfrm>
            <a:off x="9691177" y="4498848"/>
            <a:ext cx="1860438" cy="201168"/>
          </a:xfrm>
          <a:prstGeom prst="rect">
            <a:avLst/>
          </a:prstGeom>
          <a:noFill/>
          <a:ln/>
        </p:spPr>
        <p:txBody>
          <a:bodyPr wrap="square" lIns="0" tIns="0" rIns="0" bIns="0" rtlCol="0" anchor="t"/>
          <a:lstStyle/>
          <a:p>
            <a:pPr indent="0" marL="0">
              <a:buNone/>
            </a:pPr>
            <a:r>
              <a:rPr lang="en-US" sz="1000" dirty="0">
                <a:solidFill>
                  <a:srgbClr val="D9D9D9"/>
                </a:solidFill>
              </a:rPr>
              <a:t>Weeks 19-20</a:t>
            </a:r>
            <a:endParaRPr lang="en-US" sz="1000" dirty="0"/>
          </a:p>
        </p:txBody>
      </p:sp>
      <p:sp>
        <p:nvSpPr>
          <p:cNvPr id="78" name="Text 76"/>
          <p:cNvSpPr txBox="1"/>
          <p:nvPr/>
        </p:nvSpPr>
        <p:spPr>
          <a:xfrm>
            <a:off x="9691177" y="4754880"/>
            <a:ext cx="1860438" cy="603504"/>
          </a:xfrm>
          <a:prstGeom prst="rect">
            <a:avLst/>
          </a:prstGeom>
          <a:noFill/>
          <a:ln/>
        </p:spPr>
        <p:txBody>
          <a:bodyPr wrap="square" lIns="0" tIns="0" rIns="0" bIns="0" rtlCol="0" anchor="t"/>
          <a:lstStyle/>
          <a:p>
            <a:pPr indent="0" marL="0">
              <a:buNone/>
            </a:pPr>
            <a:r>
              <a:rPr lang="en-US" sz="1100" dirty="0">
                <a:solidFill>
                  <a:srgbClr val="FFFFFF"/>
                </a:solidFill>
              </a:rPr>
              <a:t>User testing, go-live, knowledge transfer</a:t>
            </a:r>
            <a:endParaRPr lang="en-US" sz="1100" dirty="0"/>
          </a:p>
        </p:txBody>
      </p:sp>
      <p:sp>
        <p:nvSpPr>
          <p:cNvPr id="79" name="Shape 77"/>
          <p:cNvSpPr/>
          <p:nvPr/>
        </p:nvSpPr>
        <p:spPr>
          <a:xfrm>
            <a:off x="9691177" y="5431536"/>
            <a:ext cx="1860438" cy="0"/>
          </a:xfrm>
          <a:prstGeom prst="line">
            <a:avLst/>
          </a:prstGeom>
          <a:noFill/>
          <a:ln w="9525">
            <a:solidFill>
              <a:srgbClr val="555555"/>
            </a:solidFill>
            <a:prstDash val="solid"/>
          </a:ln>
        </p:spPr>
      </p:sp>
      <p:sp>
        <p:nvSpPr>
          <p:cNvPr id="80" name="Shape 78"/>
          <p:cNvSpPr/>
          <p:nvPr/>
        </p:nvSpPr>
        <p:spPr>
          <a:xfrm>
            <a:off x="9691177" y="5568696"/>
            <a:ext cx="155448" cy="155448"/>
          </a:xfrm>
          <a:prstGeom prst="diamond">
            <a:avLst/>
          </a:prstGeom>
          <a:solidFill>
            <a:srgbClr val="D9B200"/>
          </a:solidFill>
          <a:ln w="12700">
            <a:solidFill>
              <a:srgbClr val="D9B200"/>
            </a:solidFill>
            <a:prstDash val="solid"/>
          </a:ln>
        </p:spPr>
      </p:sp>
      <p:sp>
        <p:nvSpPr>
          <p:cNvPr id="81" name="Text 79"/>
          <p:cNvSpPr txBox="1"/>
          <p:nvPr/>
        </p:nvSpPr>
        <p:spPr>
          <a:xfrm>
            <a:off x="9938065" y="5504688"/>
            <a:ext cx="1631838" cy="457200"/>
          </a:xfrm>
          <a:prstGeom prst="rect">
            <a:avLst/>
          </a:prstGeom>
          <a:noFill/>
          <a:ln/>
        </p:spPr>
        <p:txBody>
          <a:bodyPr wrap="square" lIns="0" tIns="0" rIns="0" bIns="0" rtlCol="0" anchor="t"/>
          <a:lstStyle/>
          <a:p>
            <a:pPr indent="0" marL="0">
              <a:buNone/>
            </a:pPr>
            <a:r>
              <a:rPr lang="en-US" sz="1050" b="1" dirty="0">
                <a:solidFill>
                  <a:srgbClr val="FFFFFF"/>
                </a:solidFill>
              </a:rPr>
              <a:t>Phase 2 live</a:t>
            </a:r>
            <a:endParaRPr lang="en-US" sz="10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A dedicated five-person delivery pod</a:t>
            </a:r>
            <a:endParaRPr lang="en-US" sz="3200" dirty="0"/>
          </a:p>
        </p:txBody>
      </p:sp>
      <p:sp>
        <p:nvSpPr>
          <p:cNvPr id="3" name="Shape 1"/>
          <p:cNvSpPr/>
          <p:nvPr/>
        </p:nvSpPr>
        <p:spPr>
          <a:xfrm>
            <a:off x="502920" y="1691640"/>
            <a:ext cx="4023360" cy="4069080"/>
          </a:xfrm>
          <a:prstGeom prst="triangle">
            <a:avLst/>
          </a:prstGeom>
          <a:solidFill>
            <a:srgbClr val="FF0068"/>
          </a:solidFill>
          <a:ln w="12700">
            <a:solidFill>
              <a:srgbClr val="FF0068"/>
            </a:solidFill>
            <a:prstDash val="solid"/>
          </a:ln>
        </p:spPr>
      </p:sp>
      <p:sp>
        <p:nvSpPr>
          <p:cNvPr id="4" name="Shape 2"/>
          <p:cNvSpPr/>
          <p:nvPr/>
        </p:nvSpPr>
        <p:spPr>
          <a:xfrm>
            <a:off x="1173480" y="1691640"/>
            <a:ext cx="2682240" cy="2712720"/>
          </a:xfrm>
          <a:prstGeom prst="triangle">
            <a:avLst/>
          </a:prstGeom>
          <a:solidFill>
            <a:srgbClr val="D9B200"/>
          </a:solidFill>
          <a:ln w="12700">
            <a:solidFill>
              <a:srgbClr val="D9B200"/>
            </a:solidFill>
            <a:prstDash val="solid"/>
          </a:ln>
        </p:spPr>
      </p:sp>
      <p:sp>
        <p:nvSpPr>
          <p:cNvPr id="5" name="Shape 3"/>
          <p:cNvSpPr/>
          <p:nvPr/>
        </p:nvSpPr>
        <p:spPr>
          <a:xfrm>
            <a:off x="1844040" y="1691640"/>
            <a:ext cx="1341120" cy="1356360"/>
          </a:xfrm>
          <a:prstGeom prst="triangle">
            <a:avLst/>
          </a:prstGeom>
          <a:solidFill>
            <a:srgbClr val="00A9C0"/>
          </a:solidFill>
          <a:ln w="12700">
            <a:solidFill>
              <a:srgbClr val="00A9C0"/>
            </a:solidFill>
            <a:prstDash val="solid"/>
          </a:ln>
        </p:spPr>
      </p:sp>
      <p:sp>
        <p:nvSpPr>
          <p:cNvPr id="6" name="Shape 4"/>
          <p:cNvSpPr/>
          <p:nvPr/>
        </p:nvSpPr>
        <p:spPr>
          <a:xfrm>
            <a:off x="1798320" y="3048000"/>
            <a:ext cx="1432560" cy="0"/>
          </a:xfrm>
          <a:prstGeom prst="line">
            <a:avLst/>
          </a:prstGeom>
          <a:noFill/>
          <a:ln w="63500">
            <a:solidFill>
              <a:srgbClr val="FFFFFF"/>
            </a:solidFill>
            <a:prstDash val="solid"/>
          </a:ln>
        </p:spPr>
      </p:sp>
      <p:sp>
        <p:nvSpPr>
          <p:cNvPr id="7" name="Shape 5"/>
          <p:cNvSpPr/>
          <p:nvPr/>
        </p:nvSpPr>
        <p:spPr>
          <a:xfrm>
            <a:off x="1127760" y="4404360"/>
            <a:ext cx="2773680" cy="0"/>
          </a:xfrm>
          <a:prstGeom prst="line">
            <a:avLst/>
          </a:prstGeom>
          <a:noFill/>
          <a:ln w="63500">
            <a:solidFill>
              <a:srgbClr val="FFFFFF"/>
            </a:solidFill>
            <a:prstDash val="solid"/>
          </a:ln>
        </p:spPr>
      </p:sp>
      <p:sp>
        <p:nvSpPr>
          <p:cNvPr id="8" name="Text 6"/>
          <p:cNvSpPr txBox="1"/>
          <p:nvPr/>
        </p:nvSpPr>
        <p:spPr>
          <a:xfrm>
            <a:off x="1965960" y="2481072"/>
            <a:ext cx="1097280" cy="548640"/>
          </a:xfrm>
          <a:prstGeom prst="rect">
            <a:avLst/>
          </a:prstGeom>
          <a:noFill/>
          <a:ln/>
        </p:spPr>
        <p:txBody>
          <a:bodyPr wrap="square" lIns="0" tIns="0" rIns="0" bIns="0" rtlCol="0" anchor="ctr"/>
          <a:lstStyle/>
          <a:p>
            <a:pPr algn="ctr" indent="0" marL="0">
              <a:buNone/>
            </a:pPr>
            <a:r>
              <a:rPr lang="en-US" sz="3200" dirty="0">
                <a:solidFill>
                  <a:srgbClr val="000000"/>
                </a:solidFill>
                <a:latin typeface="Trenda IG Text Light" pitchFamily="34" charset="0"/>
                <a:ea typeface="Trenda IG Text Light" pitchFamily="34" charset="-122"/>
                <a:cs typeface="Trenda IG Text Light" pitchFamily="34" charset="-120"/>
              </a:rPr>
              <a:t>1</a:t>
            </a:r>
            <a:endParaRPr lang="en-US" sz="3200" dirty="0"/>
          </a:p>
        </p:txBody>
      </p:sp>
      <p:sp>
        <p:nvSpPr>
          <p:cNvPr id="9" name="Text 7"/>
          <p:cNvSpPr txBox="1"/>
          <p:nvPr/>
        </p:nvSpPr>
        <p:spPr>
          <a:xfrm>
            <a:off x="1965960" y="3745992"/>
            <a:ext cx="1097280" cy="548640"/>
          </a:xfrm>
          <a:prstGeom prst="rect">
            <a:avLst/>
          </a:prstGeom>
          <a:noFill/>
          <a:ln/>
        </p:spPr>
        <p:txBody>
          <a:bodyPr wrap="square" lIns="0" tIns="0" rIns="0" bIns="0" rtlCol="0" anchor="ctr"/>
          <a:lstStyle/>
          <a:p>
            <a:pPr algn="ctr" indent="0" marL="0">
              <a:buNone/>
            </a:pPr>
            <a:r>
              <a:rPr lang="en-US" sz="3200" dirty="0">
                <a:solidFill>
                  <a:srgbClr val="000000"/>
                </a:solidFill>
                <a:latin typeface="Trenda IG Text Light" pitchFamily="34" charset="0"/>
                <a:ea typeface="Trenda IG Text Light" pitchFamily="34" charset="-122"/>
                <a:cs typeface="Trenda IG Text Light" pitchFamily="34" charset="-120"/>
              </a:rPr>
              <a:t>1</a:t>
            </a:r>
            <a:endParaRPr lang="en-US" sz="3200" dirty="0"/>
          </a:p>
        </p:txBody>
      </p:sp>
      <p:sp>
        <p:nvSpPr>
          <p:cNvPr id="10" name="Text 8"/>
          <p:cNvSpPr txBox="1"/>
          <p:nvPr/>
        </p:nvSpPr>
        <p:spPr>
          <a:xfrm>
            <a:off x="1965960" y="5010912"/>
            <a:ext cx="1097280" cy="548640"/>
          </a:xfrm>
          <a:prstGeom prst="rect">
            <a:avLst/>
          </a:prstGeom>
          <a:noFill/>
          <a:ln/>
        </p:spPr>
        <p:txBody>
          <a:bodyPr wrap="square" lIns="0" tIns="0" rIns="0" bIns="0" rtlCol="0" anchor="ctr"/>
          <a:lstStyle/>
          <a:p>
            <a:pPr algn="ctr" indent="0" marL="0">
              <a:buNone/>
            </a:pPr>
            <a:r>
              <a:rPr lang="en-US" sz="3200" dirty="0">
                <a:solidFill>
                  <a:srgbClr val="FFFFFF"/>
                </a:solidFill>
                <a:latin typeface="Trenda IG Text Light" pitchFamily="34" charset="0"/>
                <a:ea typeface="Trenda IG Text Light" pitchFamily="34" charset="-122"/>
                <a:cs typeface="Trenda IG Text Light" pitchFamily="34" charset="-120"/>
              </a:rPr>
              <a:t>3</a:t>
            </a:r>
            <a:endParaRPr lang="en-US" sz="3200" dirty="0"/>
          </a:p>
        </p:txBody>
      </p:sp>
      <p:sp>
        <p:nvSpPr>
          <p:cNvPr id="11" name="Shape 9"/>
          <p:cNvSpPr/>
          <p:nvPr/>
        </p:nvSpPr>
        <p:spPr>
          <a:xfrm>
            <a:off x="2977280" y="2479548"/>
            <a:ext cx="1869040" cy="0"/>
          </a:xfrm>
          <a:prstGeom prst="line">
            <a:avLst/>
          </a:prstGeom>
          <a:noFill/>
          <a:ln w="12700">
            <a:solidFill>
              <a:srgbClr val="A0A0A8"/>
            </a:solidFill>
            <a:prstDash val="sysDot"/>
          </a:ln>
        </p:spPr>
      </p:sp>
      <p:sp>
        <p:nvSpPr>
          <p:cNvPr id="12" name="Shape 10"/>
          <p:cNvSpPr/>
          <p:nvPr/>
        </p:nvSpPr>
        <p:spPr>
          <a:xfrm>
            <a:off x="4846320" y="2433828"/>
            <a:ext cx="91440" cy="91440"/>
          </a:xfrm>
          <a:prstGeom prst="ellipse">
            <a:avLst/>
          </a:prstGeom>
          <a:solidFill>
            <a:srgbClr val="007C8C"/>
          </a:solidFill>
          <a:ln w="12700">
            <a:solidFill>
              <a:srgbClr val="007C8C"/>
            </a:solidFill>
            <a:prstDash val="solid"/>
          </a:ln>
        </p:spPr>
      </p:sp>
      <p:sp>
        <p:nvSpPr>
          <p:cNvPr id="13" name="Text 11"/>
          <p:cNvSpPr txBox="1"/>
          <p:nvPr/>
        </p:nvSpPr>
        <p:spPr>
          <a:xfrm>
            <a:off x="5029200" y="2095500"/>
            <a:ext cx="2926080" cy="201168"/>
          </a:xfrm>
          <a:prstGeom prst="rect">
            <a:avLst/>
          </a:prstGeom>
          <a:noFill/>
          <a:ln/>
        </p:spPr>
        <p:txBody>
          <a:bodyPr wrap="square" lIns="0" tIns="0" rIns="0" bIns="0" rtlCol="0" anchor="t"/>
          <a:lstStyle/>
          <a:p>
            <a:pPr indent="0" marL="0">
              <a:buNone/>
            </a:pPr>
            <a:r>
              <a:rPr lang="en-US" sz="950" b="1" spc="200" kern="0" dirty="0">
                <a:solidFill>
                  <a:srgbClr val="007C8C"/>
                </a:solidFill>
              </a:rPr>
              <a:t>LEAD</a:t>
            </a:r>
            <a:endParaRPr lang="en-US" sz="950" dirty="0"/>
          </a:p>
        </p:txBody>
      </p:sp>
      <p:sp>
        <p:nvSpPr>
          <p:cNvPr id="14" name="Text 12"/>
          <p:cNvSpPr txBox="1"/>
          <p:nvPr/>
        </p:nvSpPr>
        <p:spPr>
          <a:xfrm>
            <a:off x="5029200" y="2296668"/>
            <a:ext cx="2926080" cy="457200"/>
          </a:xfrm>
          <a:prstGeom prst="rect">
            <a:avLst/>
          </a:prstGeom>
          <a:noFill/>
          <a:ln/>
        </p:spPr>
        <p:txBody>
          <a:bodyPr wrap="square" lIns="0" tIns="0" rIns="0" bIns="0" rtlCol="0" anchor="t"/>
          <a:lstStyle/>
          <a:p>
            <a:pPr indent="0" marL="0">
              <a:buNone/>
            </a:pPr>
            <a:r>
              <a:rPr lang="en-US" sz="1300" b="1" dirty="0">
                <a:solidFill>
                  <a:srgbClr val="000000"/>
                </a:solidFill>
              </a:rPr>
              <a:t>Scrum Master or Project Manager</a:t>
            </a:r>
            <a:endParaRPr lang="en-US" sz="1300" dirty="0"/>
          </a:p>
        </p:txBody>
      </p:sp>
      <p:sp>
        <p:nvSpPr>
          <p:cNvPr id="15" name="Text 13"/>
          <p:cNvSpPr txBox="1"/>
          <p:nvPr/>
        </p:nvSpPr>
        <p:spPr>
          <a:xfrm>
            <a:off x="5029200" y="2570988"/>
            <a:ext cx="2926080" cy="411480"/>
          </a:xfrm>
          <a:prstGeom prst="rect">
            <a:avLst/>
          </a:prstGeom>
          <a:noFill/>
          <a:ln/>
        </p:spPr>
        <p:txBody>
          <a:bodyPr wrap="square" lIns="0" tIns="0" rIns="0" bIns="0" rtlCol="0" anchor="t"/>
          <a:lstStyle/>
          <a:p>
            <a:pPr indent="0" marL="0">
              <a:buNone/>
            </a:pPr>
            <a:r>
              <a:rPr lang="en-US" sz="1050" dirty="0">
                <a:solidFill>
                  <a:srgbClr val="4D4D4D"/>
                </a:solidFill>
              </a:rPr>
              <a:t>Runs sprints, milestones, risks and status</a:t>
            </a:r>
            <a:endParaRPr lang="en-US" sz="1050" dirty="0"/>
          </a:p>
        </p:txBody>
      </p:sp>
      <p:sp>
        <p:nvSpPr>
          <p:cNvPr id="16" name="Shape 14"/>
          <p:cNvSpPr/>
          <p:nvPr/>
        </p:nvSpPr>
        <p:spPr>
          <a:xfrm>
            <a:off x="3593592" y="3726180"/>
            <a:ext cx="1252728" cy="0"/>
          </a:xfrm>
          <a:prstGeom prst="line">
            <a:avLst/>
          </a:prstGeom>
          <a:noFill/>
          <a:ln w="12700">
            <a:solidFill>
              <a:srgbClr val="A0A0A8"/>
            </a:solidFill>
            <a:prstDash val="sysDot"/>
          </a:ln>
        </p:spPr>
      </p:sp>
      <p:sp>
        <p:nvSpPr>
          <p:cNvPr id="17" name="Shape 15"/>
          <p:cNvSpPr/>
          <p:nvPr/>
        </p:nvSpPr>
        <p:spPr>
          <a:xfrm>
            <a:off x="4846320" y="3680460"/>
            <a:ext cx="91440" cy="91440"/>
          </a:xfrm>
          <a:prstGeom prst="ellipse">
            <a:avLst/>
          </a:prstGeom>
          <a:solidFill>
            <a:srgbClr val="7A6100"/>
          </a:solidFill>
          <a:ln w="12700">
            <a:solidFill>
              <a:srgbClr val="7A6100"/>
            </a:solidFill>
            <a:prstDash val="solid"/>
          </a:ln>
        </p:spPr>
      </p:sp>
      <p:sp>
        <p:nvSpPr>
          <p:cNvPr id="18" name="Text 16"/>
          <p:cNvSpPr txBox="1"/>
          <p:nvPr/>
        </p:nvSpPr>
        <p:spPr>
          <a:xfrm>
            <a:off x="5029200" y="3342132"/>
            <a:ext cx="2926080" cy="201168"/>
          </a:xfrm>
          <a:prstGeom prst="rect">
            <a:avLst/>
          </a:prstGeom>
          <a:noFill/>
          <a:ln/>
        </p:spPr>
        <p:txBody>
          <a:bodyPr wrap="square" lIns="0" tIns="0" rIns="0" bIns="0" rtlCol="0" anchor="t"/>
          <a:lstStyle/>
          <a:p>
            <a:pPr indent="0" marL="0">
              <a:buNone/>
            </a:pPr>
            <a:r>
              <a:rPr lang="en-US" sz="950" b="1" spc="200" kern="0" dirty="0">
                <a:solidFill>
                  <a:srgbClr val="7A6100"/>
                </a:solidFill>
              </a:rPr>
              <a:t>QUALITY</a:t>
            </a:r>
            <a:endParaRPr lang="en-US" sz="950" dirty="0"/>
          </a:p>
        </p:txBody>
      </p:sp>
      <p:sp>
        <p:nvSpPr>
          <p:cNvPr id="19" name="Text 17"/>
          <p:cNvSpPr txBox="1"/>
          <p:nvPr/>
        </p:nvSpPr>
        <p:spPr>
          <a:xfrm>
            <a:off x="5029200" y="3543300"/>
            <a:ext cx="2926080" cy="457200"/>
          </a:xfrm>
          <a:prstGeom prst="rect">
            <a:avLst/>
          </a:prstGeom>
          <a:noFill/>
          <a:ln/>
        </p:spPr>
        <p:txBody>
          <a:bodyPr wrap="square" lIns="0" tIns="0" rIns="0" bIns="0" rtlCol="0" anchor="t"/>
          <a:lstStyle/>
          <a:p>
            <a:pPr indent="0" marL="0">
              <a:buNone/>
            </a:pPr>
            <a:r>
              <a:rPr lang="en-US" sz="1300" b="1" dirty="0">
                <a:solidFill>
                  <a:srgbClr val="000000"/>
                </a:solidFill>
              </a:rPr>
              <a:t>QA Engineer</a:t>
            </a:r>
            <a:endParaRPr lang="en-US" sz="1300" dirty="0"/>
          </a:p>
        </p:txBody>
      </p:sp>
      <p:sp>
        <p:nvSpPr>
          <p:cNvPr id="20" name="Text 18"/>
          <p:cNvSpPr txBox="1"/>
          <p:nvPr/>
        </p:nvSpPr>
        <p:spPr>
          <a:xfrm>
            <a:off x="5029200" y="3817620"/>
            <a:ext cx="2926080" cy="411480"/>
          </a:xfrm>
          <a:prstGeom prst="rect">
            <a:avLst/>
          </a:prstGeom>
          <a:noFill/>
          <a:ln/>
        </p:spPr>
        <p:txBody>
          <a:bodyPr wrap="square" lIns="0" tIns="0" rIns="0" bIns="0" rtlCol="0" anchor="t"/>
          <a:lstStyle/>
          <a:p>
            <a:pPr indent="0" marL="0">
              <a:buNone/>
            </a:pPr>
            <a:r>
              <a:rPr lang="en-US" sz="1050" dirty="0">
                <a:solidFill>
                  <a:srgbClr val="4D4D4D"/>
                </a:solidFill>
              </a:rPr>
              <a:t>Test plans, automation, load tests, user testing support</a:t>
            </a:r>
            <a:endParaRPr lang="en-US" sz="1050" dirty="0"/>
          </a:p>
        </p:txBody>
      </p:sp>
      <p:sp>
        <p:nvSpPr>
          <p:cNvPr id="21" name="Shape 19"/>
          <p:cNvSpPr/>
          <p:nvPr/>
        </p:nvSpPr>
        <p:spPr>
          <a:xfrm>
            <a:off x="4264152" y="5082540"/>
            <a:ext cx="582168" cy="0"/>
          </a:xfrm>
          <a:prstGeom prst="line">
            <a:avLst/>
          </a:prstGeom>
          <a:noFill/>
          <a:ln w="12700">
            <a:solidFill>
              <a:srgbClr val="A0A0A8"/>
            </a:solidFill>
            <a:prstDash val="sysDot"/>
          </a:ln>
        </p:spPr>
      </p:sp>
      <p:sp>
        <p:nvSpPr>
          <p:cNvPr id="22" name="Shape 20"/>
          <p:cNvSpPr/>
          <p:nvPr/>
        </p:nvSpPr>
        <p:spPr>
          <a:xfrm>
            <a:off x="4846320" y="5036820"/>
            <a:ext cx="91440" cy="91440"/>
          </a:xfrm>
          <a:prstGeom prst="ellipse">
            <a:avLst/>
          </a:prstGeom>
          <a:solidFill>
            <a:srgbClr val="C8005A"/>
          </a:solidFill>
          <a:ln w="12700">
            <a:solidFill>
              <a:srgbClr val="C8005A"/>
            </a:solidFill>
            <a:prstDash val="solid"/>
          </a:ln>
        </p:spPr>
      </p:sp>
      <p:sp>
        <p:nvSpPr>
          <p:cNvPr id="23" name="Text 21"/>
          <p:cNvSpPr txBox="1"/>
          <p:nvPr/>
        </p:nvSpPr>
        <p:spPr>
          <a:xfrm>
            <a:off x="5029200" y="4698492"/>
            <a:ext cx="2926080" cy="201168"/>
          </a:xfrm>
          <a:prstGeom prst="rect">
            <a:avLst/>
          </a:prstGeom>
          <a:noFill/>
          <a:ln/>
        </p:spPr>
        <p:txBody>
          <a:bodyPr wrap="square" lIns="0" tIns="0" rIns="0" bIns="0" rtlCol="0" anchor="t"/>
          <a:lstStyle/>
          <a:p>
            <a:pPr indent="0" marL="0">
              <a:buNone/>
            </a:pPr>
            <a:r>
              <a:rPr lang="en-US" sz="950" b="1" spc="200" kern="0" dirty="0">
                <a:solidFill>
                  <a:srgbClr val="C8005A"/>
                </a:solidFill>
              </a:rPr>
              <a:t>BUILD</a:t>
            </a:r>
            <a:endParaRPr lang="en-US" sz="950" dirty="0"/>
          </a:p>
        </p:txBody>
      </p:sp>
      <p:sp>
        <p:nvSpPr>
          <p:cNvPr id="24" name="Text 22"/>
          <p:cNvSpPr txBox="1"/>
          <p:nvPr/>
        </p:nvSpPr>
        <p:spPr>
          <a:xfrm>
            <a:off x="5029200" y="4899660"/>
            <a:ext cx="2926080" cy="457200"/>
          </a:xfrm>
          <a:prstGeom prst="rect">
            <a:avLst/>
          </a:prstGeom>
          <a:noFill/>
          <a:ln/>
        </p:spPr>
        <p:txBody>
          <a:bodyPr wrap="square" lIns="0" tIns="0" rIns="0" bIns="0" rtlCol="0" anchor="t"/>
          <a:lstStyle/>
          <a:p>
            <a:pPr indent="0" marL="0">
              <a:buNone/>
            </a:pPr>
            <a:r>
              <a:rPr lang="en-US" sz="1300" b="1" dirty="0">
                <a:solidFill>
                  <a:srgbClr val="000000"/>
                </a:solidFill>
              </a:rPr>
              <a:t>2 Salesforce Developers + 1 Marketing Cloud Developer</a:t>
            </a:r>
            <a:endParaRPr lang="en-US" sz="1300" dirty="0"/>
          </a:p>
        </p:txBody>
      </p:sp>
      <p:sp>
        <p:nvSpPr>
          <p:cNvPr id="25" name="Text 23"/>
          <p:cNvSpPr txBox="1"/>
          <p:nvPr/>
        </p:nvSpPr>
        <p:spPr>
          <a:xfrm>
            <a:off x="5029200" y="5356860"/>
            <a:ext cx="2926080" cy="411480"/>
          </a:xfrm>
          <a:prstGeom prst="rect">
            <a:avLst/>
          </a:prstGeom>
          <a:noFill/>
          <a:ln/>
        </p:spPr>
        <p:txBody>
          <a:bodyPr wrap="square" lIns="0" tIns="0" rIns="0" bIns="0" rtlCol="0" anchor="t"/>
          <a:lstStyle/>
          <a:p>
            <a:pPr indent="0" marL="0">
              <a:buNone/>
            </a:pPr>
            <a:r>
              <a:rPr lang="en-US" sz="1050" dirty="0">
                <a:solidFill>
                  <a:srgbClr val="4D4D4D"/>
                </a:solidFill>
              </a:rPr>
              <a:t>Event app, registration, payments, integrations, journeys and PEIs</a:t>
            </a:r>
            <a:endParaRPr lang="en-US" sz="1050" dirty="0"/>
          </a:p>
        </p:txBody>
      </p:sp>
      <p:sp>
        <p:nvSpPr>
          <p:cNvPr id="26" name="Shape 24"/>
          <p:cNvSpPr/>
          <p:nvPr/>
        </p:nvSpPr>
        <p:spPr>
          <a:xfrm>
            <a:off x="8183880" y="1691640"/>
            <a:ext cx="3502152" cy="4069080"/>
          </a:xfrm>
          <a:prstGeom prst="roundRect">
            <a:avLst>
              <a:gd name="adj" fmla="val 3133"/>
            </a:avLst>
          </a:prstGeom>
          <a:solidFill>
            <a:srgbClr val="F2F2F2"/>
          </a:solidFill>
          <a:ln w="12700">
            <a:solidFill>
              <a:srgbClr val="D0D0D6"/>
            </a:solidFill>
            <a:prstDash val="solid"/>
          </a:ln>
        </p:spPr>
      </p:sp>
      <p:sp>
        <p:nvSpPr>
          <p:cNvPr id="27" name="Text 25"/>
          <p:cNvSpPr txBox="1"/>
          <p:nvPr/>
        </p:nvSpPr>
        <p:spPr>
          <a:xfrm>
            <a:off x="8366760" y="1828800"/>
            <a:ext cx="3136392" cy="292608"/>
          </a:xfrm>
          <a:prstGeom prst="rect">
            <a:avLst/>
          </a:prstGeom>
          <a:noFill/>
          <a:ln/>
        </p:spPr>
        <p:txBody>
          <a:bodyPr wrap="square" lIns="0" tIns="0" rIns="0" bIns="0" rtlCol="0" anchor="t"/>
          <a:lstStyle/>
          <a:p>
            <a:pPr indent="0" marL="0">
              <a:buNone/>
            </a:pPr>
            <a:r>
              <a:rPr lang="en-US" sz="1500" b="1" dirty="0">
                <a:solidFill>
                  <a:srgbClr val="000000"/>
                </a:solidFill>
              </a:rPr>
              <a:t>Every two-week sprint</a:t>
            </a:r>
            <a:endParaRPr lang="en-US" sz="1500" dirty="0"/>
          </a:p>
        </p:txBody>
      </p:sp>
      <p:sp>
        <p:nvSpPr>
          <p:cNvPr id="28" name="Shape 26"/>
          <p:cNvSpPr/>
          <p:nvPr/>
        </p:nvSpPr>
        <p:spPr>
          <a:xfrm>
            <a:off x="8366760" y="2286000"/>
            <a:ext cx="384048" cy="384048"/>
          </a:xfrm>
          <a:prstGeom prst="ellipse">
            <a:avLst/>
          </a:prstGeom>
          <a:solidFill>
            <a:srgbClr val="FFFFFF"/>
          </a:solidFill>
          <a:ln w="12700">
            <a:solidFill>
              <a:srgbClr val="C8C8CE"/>
            </a:solidFill>
            <a:prstDash val="solid"/>
          </a:ln>
        </p:spPr>
      </p:sp>
      <p:pic>
        <p:nvPicPr>
          <p:cNvPr id="29" name="Image 0" descr="preencoded.png">    </p:cNvPr>
          <p:cNvPicPr>
            <a:picLocks noChangeAspect="1"/>
          </p:cNvPicPr>
          <p:nvPr/>
        </p:nvPicPr>
        <p:blipFill>
          <a:blip r:embed="rId1"/>
          <a:stretch>
            <a:fillRect/>
          </a:stretch>
        </p:blipFill>
        <p:spPr>
          <a:xfrm>
            <a:off x="8467344" y="2386584"/>
            <a:ext cx="182880" cy="182880"/>
          </a:xfrm>
          <a:prstGeom prst="rect">
            <a:avLst/>
          </a:prstGeom>
        </p:spPr>
      </p:pic>
      <p:sp>
        <p:nvSpPr>
          <p:cNvPr id="30" name="Text 27"/>
          <p:cNvSpPr txBox="1"/>
          <p:nvPr/>
        </p:nvSpPr>
        <p:spPr>
          <a:xfrm>
            <a:off x="8869680" y="2267712"/>
            <a:ext cx="2633472" cy="219456"/>
          </a:xfrm>
          <a:prstGeom prst="rect">
            <a:avLst/>
          </a:prstGeom>
          <a:noFill/>
          <a:ln/>
        </p:spPr>
        <p:txBody>
          <a:bodyPr wrap="square" lIns="0" tIns="0" rIns="0" bIns="0" rtlCol="0" anchor="t"/>
          <a:lstStyle/>
          <a:p>
            <a:pPr indent="0" marL="0">
              <a:buNone/>
            </a:pPr>
            <a:r>
              <a:rPr lang="en-US" sz="1200" b="1" dirty="0">
                <a:solidFill>
                  <a:srgbClr val="000000"/>
                </a:solidFill>
              </a:rPr>
              <a:t>Plan</a:t>
            </a:r>
            <a:endParaRPr lang="en-US" sz="1200" dirty="0"/>
          </a:p>
        </p:txBody>
      </p:sp>
      <p:sp>
        <p:nvSpPr>
          <p:cNvPr id="31" name="Text 28"/>
          <p:cNvSpPr txBox="1"/>
          <p:nvPr/>
        </p:nvSpPr>
        <p:spPr>
          <a:xfrm>
            <a:off x="8869680" y="2487168"/>
            <a:ext cx="2633472" cy="329184"/>
          </a:xfrm>
          <a:prstGeom prst="rect">
            <a:avLst/>
          </a:prstGeom>
          <a:noFill/>
          <a:ln/>
        </p:spPr>
        <p:txBody>
          <a:bodyPr wrap="square" lIns="0" tIns="0" rIns="0" bIns="0" rtlCol="0" anchor="t"/>
          <a:lstStyle/>
          <a:p>
            <a:pPr indent="0" marL="0">
              <a:buNone/>
            </a:pPr>
            <a:r>
              <a:rPr lang="en-US" sz="1050" dirty="0">
                <a:solidFill>
                  <a:srgbClr val="4D4D4D"/>
                </a:solidFill>
              </a:rPr>
              <a:t>Sprint planning with your product owner</a:t>
            </a:r>
            <a:endParaRPr lang="en-US" sz="1050" dirty="0"/>
          </a:p>
        </p:txBody>
      </p:sp>
      <p:sp>
        <p:nvSpPr>
          <p:cNvPr id="32" name="Shape 29"/>
          <p:cNvSpPr/>
          <p:nvPr/>
        </p:nvSpPr>
        <p:spPr>
          <a:xfrm>
            <a:off x="8366760" y="2944368"/>
            <a:ext cx="384048" cy="384048"/>
          </a:xfrm>
          <a:prstGeom prst="ellipse">
            <a:avLst/>
          </a:prstGeom>
          <a:solidFill>
            <a:srgbClr val="FFFFFF"/>
          </a:solidFill>
          <a:ln w="12700">
            <a:solidFill>
              <a:srgbClr val="C8C8CE"/>
            </a:solidFill>
            <a:prstDash val="solid"/>
          </a:ln>
        </p:spPr>
      </p:sp>
      <p:pic>
        <p:nvPicPr>
          <p:cNvPr id="33" name="Image 1" descr="preencoded.png">    </p:cNvPr>
          <p:cNvPicPr>
            <a:picLocks noChangeAspect="1"/>
          </p:cNvPicPr>
          <p:nvPr/>
        </p:nvPicPr>
        <p:blipFill>
          <a:blip r:embed="rId2"/>
          <a:stretch>
            <a:fillRect/>
          </a:stretch>
        </p:blipFill>
        <p:spPr>
          <a:xfrm>
            <a:off x="8467344" y="3044952"/>
            <a:ext cx="182880" cy="182880"/>
          </a:xfrm>
          <a:prstGeom prst="rect">
            <a:avLst/>
          </a:prstGeom>
        </p:spPr>
      </p:pic>
      <p:sp>
        <p:nvSpPr>
          <p:cNvPr id="34" name="Text 30"/>
          <p:cNvSpPr txBox="1"/>
          <p:nvPr/>
        </p:nvSpPr>
        <p:spPr>
          <a:xfrm>
            <a:off x="8869680" y="2926080"/>
            <a:ext cx="2633472" cy="219456"/>
          </a:xfrm>
          <a:prstGeom prst="rect">
            <a:avLst/>
          </a:prstGeom>
          <a:noFill/>
          <a:ln/>
        </p:spPr>
        <p:txBody>
          <a:bodyPr wrap="square" lIns="0" tIns="0" rIns="0" bIns="0" rtlCol="0" anchor="t"/>
          <a:lstStyle/>
          <a:p>
            <a:pPr indent="0" marL="0">
              <a:buNone/>
            </a:pPr>
            <a:r>
              <a:rPr lang="en-US" sz="1200" b="1" dirty="0">
                <a:solidFill>
                  <a:srgbClr val="000000"/>
                </a:solidFill>
              </a:rPr>
              <a:t>Build and test</a:t>
            </a:r>
            <a:endParaRPr lang="en-US" sz="1200" dirty="0"/>
          </a:p>
        </p:txBody>
      </p:sp>
      <p:sp>
        <p:nvSpPr>
          <p:cNvPr id="35" name="Text 31"/>
          <p:cNvSpPr txBox="1"/>
          <p:nvPr/>
        </p:nvSpPr>
        <p:spPr>
          <a:xfrm>
            <a:off x="8869680" y="3145536"/>
            <a:ext cx="2633472" cy="329184"/>
          </a:xfrm>
          <a:prstGeom prst="rect">
            <a:avLst/>
          </a:prstGeom>
          <a:noFill/>
          <a:ln/>
        </p:spPr>
        <p:txBody>
          <a:bodyPr wrap="square" lIns="0" tIns="0" rIns="0" bIns="0" rtlCol="0" anchor="t"/>
          <a:lstStyle/>
          <a:p>
            <a:pPr indent="0" marL="0">
              <a:buNone/>
            </a:pPr>
            <a:r>
              <a:rPr lang="en-US" sz="1050" dirty="0">
                <a:solidFill>
                  <a:srgbClr val="4D4D4D"/>
                </a:solidFill>
              </a:rPr>
              <a:t>Daily stand-ups; QA inside the sprint</a:t>
            </a:r>
            <a:endParaRPr lang="en-US" sz="1050" dirty="0"/>
          </a:p>
        </p:txBody>
      </p:sp>
      <p:sp>
        <p:nvSpPr>
          <p:cNvPr id="36" name="Shape 32"/>
          <p:cNvSpPr/>
          <p:nvPr/>
        </p:nvSpPr>
        <p:spPr>
          <a:xfrm>
            <a:off x="8366760" y="3602736"/>
            <a:ext cx="384048" cy="384048"/>
          </a:xfrm>
          <a:prstGeom prst="ellipse">
            <a:avLst/>
          </a:prstGeom>
          <a:solidFill>
            <a:srgbClr val="FFFFFF"/>
          </a:solidFill>
          <a:ln w="12700">
            <a:solidFill>
              <a:srgbClr val="C8C8CE"/>
            </a:solidFill>
            <a:prstDash val="solid"/>
          </a:ln>
        </p:spPr>
      </p:sp>
      <p:pic>
        <p:nvPicPr>
          <p:cNvPr id="37" name="Image 2" descr="preencoded.png">    </p:cNvPr>
          <p:cNvPicPr>
            <a:picLocks noChangeAspect="1"/>
          </p:cNvPicPr>
          <p:nvPr/>
        </p:nvPicPr>
        <p:blipFill>
          <a:blip r:embed="rId3"/>
          <a:stretch>
            <a:fillRect/>
          </a:stretch>
        </p:blipFill>
        <p:spPr>
          <a:xfrm>
            <a:off x="8467344" y="3703320"/>
            <a:ext cx="182880" cy="182880"/>
          </a:xfrm>
          <a:prstGeom prst="rect">
            <a:avLst/>
          </a:prstGeom>
        </p:spPr>
      </p:pic>
      <p:sp>
        <p:nvSpPr>
          <p:cNvPr id="38" name="Text 33"/>
          <p:cNvSpPr txBox="1"/>
          <p:nvPr/>
        </p:nvSpPr>
        <p:spPr>
          <a:xfrm>
            <a:off x="8869680" y="3584448"/>
            <a:ext cx="2633472" cy="219456"/>
          </a:xfrm>
          <a:prstGeom prst="rect">
            <a:avLst/>
          </a:prstGeom>
          <a:noFill/>
          <a:ln/>
        </p:spPr>
        <p:txBody>
          <a:bodyPr wrap="square" lIns="0" tIns="0" rIns="0" bIns="0" rtlCol="0" anchor="t"/>
          <a:lstStyle/>
          <a:p>
            <a:pPr indent="0" marL="0">
              <a:buNone/>
            </a:pPr>
            <a:r>
              <a:rPr lang="en-US" sz="1200" b="1" dirty="0">
                <a:solidFill>
                  <a:srgbClr val="000000"/>
                </a:solidFill>
              </a:rPr>
              <a:t>Demo</a:t>
            </a:r>
            <a:endParaRPr lang="en-US" sz="1200" dirty="0"/>
          </a:p>
        </p:txBody>
      </p:sp>
      <p:sp>
        <p:nvSpPr>
          <p:cNvPr id="39" name="Text 34"/>
          <p:cNvSpPr txBox="1"/>
          <p:nvPr/>
        </p:nvSpPr>
        <p:spPr>
          <a:xfrm>
            <a:off x="8869680" y="3803904"/>
            <a:ext cx="2633472" cy="329184"/>
          </a:xfrm>
          <a:prstGeom prst="rect">
            <a:avLst/>
          </a:prstGeom>
          <a:noFill/>
          <a:ln/>
        </p:spPr>
        <p:txBody>
          <a:bodyPr wrap="square" lIns="0" tIns="0" rIns="0" bIns="0" rtlCol="0" anchor="t"/>
          <a:lstStyle/>
          <a:p>
            <a:pPr indent="0" marL="0">
              <a:buNone/>
            </a:pPr>
            <a:r>
              <a:rPr lang="en-US" sz="1050" dirty="0">
                <a:solidFill>
                  <a:srgbClr val="4D4D4D"/>
                </a:solidFill>
              </a:rPr>
              <a:t>Sprint review and milestone sign-off</a:t>
            </a:r>
            <a:endParaRPr lang="en-US" sz="1050" dirty="0"/>
          </a:p>
        </p:txBody>
      </p:sp>
      <p:sp>
        <p:nvSpPr>
          <p:cNvPr id="40" name="Shape 35"/>
          <p:cNvSpPr/>
          <p:nvPr/>
        </p:nvSpPr>
        <p:spPr>
          <a:xfrm>
            <a:off x="8366760" y="4261104"/>
            <a:ext cx="384048" cy="384048"/>
          </a:xfrm>
          <a:prstGeom prst="ellipse">
            <a:avLst/>
          </a:prstGeom>
          <a:solidFill>
            <a:srgbClr val="FFFFFF"/>
          </a:solidFill>
          <a:ln w="12700">
            <a:solidFill>
              <a:srgbClr val="C8C8CE"/>
            </a:solidFill>
            <a:prstDash val="solid"/>
          </a:ln>
        </p:spPr>
      </p:sp>
      <p:pic>
        <p:nvPicPr>
          <p:cNvPr id="41" name="Image 3" descr="preencoded.png">    </p:cNvPr>
          <p:cNvPicPr>
            <a:picLocks noChangeAspect="1"/>
          </p:cNvPicPr>
          <p:nvPr/>
        </p:nvPicPr>
        <p:blipFill>
          <a:blip r:embed="rId4"/>
          <a:stretch>
            <a:fillRect/>
          </a:stretch>
        </p:blipFill>
        <p:spPr>
          <a:xfrm>
            <a:off x="8467344" y="4361688"/>
            <a:ext cx="182880" cy="182880"/>
          </a:xfrm>
          <a:prstGeom prst="rect">
            <a:avLst/>
          </a:prstGeom>
        </p:spPr>
      </p:pic>
      <p:sp>
        <p:nvSpPr>
          <p:cNvPr id="42" name="Text 36"/>
          <p:cNvSpPr txBox="1"/>
          <p:nvPr/>
        </p:nvSpPr>
        <p:spPr>
          <a:xfrm>
            <a:off x="8869680" y="4242816"/>
            <a:ext cx="2633472" cy="219456"/>
          </a:xfrm>
          <a:prstGeom prst="rect">
            <a:avLst/>
          </a:prstGeom>
          <a:noFill/>
          <a:ln/>
        </p:spPr>
        <p:txBody>
          <a:bodyPr wrap="square" lIns="0" tIns="0" rIns="0" bIns="0" rtlCol="0" anchor="t"/>
          <a:lstStyle/>
          <a:p>
            <a:pPr indent="0" marL="0">
              <a:buNone/>
            </a:pPr>
            <a:r>
              <a:rPr lang="en-US" sz="1200" b="1" dirty="0">
                <a:solidFill>
                  <a:srgbClr val="000000"/>
                </a:solidFill>
              </a:rPr>
              <a:t>Improve</a:t>
            </a:r>
            <a:endParaRPr lang="en-US" sz="1200" dirty="0"/>
          </a:p>
        </p:txBody>
      </p:sp>
      <p:sp>
        <p:nvSpPr>
          <p:cNvPr id="43" name="Text 37"/>
          <p:cNvSpPr txBox="1"/>
          <p:nvPr/>
        </p:nvSpPr>
        <p:spPr>
          <a:xfrm>
            <a:off x="8869680" y="4462272"/>
            <a:ext cx="2633472" cy="329184"/>
          </a:xfrm>
          <a:prstGeom prst="rect">
            <a:avLst/>
          </a:prstGeom>
          <a:noFill/>
          <a:ln/>
        </p:spPr>
        <p:txBody>
          <a:bodyPr wrap="square" lIns="0" tIns="0" rIns="0" bIns="0" rtlCol="0" anchor="t"/>
          <a:lstStyle/>
          <a:p>
            <a:pPr indent="0" marL="0">
              <a:buNone/>
            </a:pPr>
            <a:r>
              <a:rPr lang="en-US" sz="1050" dirty="0">
                <a:solidFill>
                  <a:srgbClr val="4D4D4D"/>
                </a:solidFill>
              </a:rPr>
              <a:t>Retrospective; adjust the next sprint</a:t>
            </a:r>
            <a:endParaRPr lang="en-US" sz="1050" dirty="0"/>
          </a:p>
        </p:txBody>
      </p:sp>
      <p:sp>
        <p:nvSpPr>
          <p:cNvPr id="44" name="Text 38"/>
          <p:cNvSpPr txBox="1"/>
          <p:nvPr/>
        </p:nvSpPr>
        <p:spPr>
          <a:xfrm>
            <a:off x="8366760" y="4956048"/>
            <a:ext cx="3136392" cy="201168"/>
          </a:xfrm>
          <a:prstGeom prst="rect">
            <a:avLst/>
          </a:prstGeom>
          <a:noFill/>
          <a:ln/>
        </p:spPr>
        <p:txBody>
          <a:bodyPr wrap="square" lIns="0" tIns="0" rIns="0" bIns="0" rtlCol="0" anchor="t"/>
          <a:lstStyle/>
          <a:p>
            <a:pPr indent="0" marL="0">
              <a:buNone/>
            </a:pPr>
            <a:r>
              <a:rPr lang="en-US" sz="900" b="1" spc="200" kern="0" dirty="0">
                <a:solidFill>
                  <a:srgbClr val="007C8C"/>
                </a:solidFill>
              </a:rPr>
              <a:t>FROM MEMORIAL HERMANN</a:t>
            </a:r>
            <a:endParaRPr lang="en-US" sz="900" dirty="0"/>
          </a:p>
        </p:txBody>
      </p:sp>
      <p:sp>
        <p:nvSpPr>
          <p:cNvPr id="45" name="Text 39"/>
          <p:cNvSpPr txBox="1"/>
          <p:nvPr/>
        </p:nvSpPr>
        <p:spPr>
          <a:xfrm>
            <a:off x="8366760" y="5175504"/>
            <a:ext cx="3090672" cy="457200"/>
          </a:xfrm>
          <a:prstGeom prst="rect">
            <a:avLst/>
          </a:prstGeom>
          <a:noFill/>
          <a:ln/>
        </p:spPr>
        <p:txBody>
          <a:bodyPr wrap="square" lIns="0" tIns="0" rIns="0" bIns="0" rtlCol="0" anchor="t"/>
          <a:lstStyle/>
          <a:p>
            <a:pPr indent="0" marL="0">
              <a:buNone/>
            </a:pPr>
            <a:r>
              <a:rPr lang="en-US" sz="1050" dirty="0">
                <a:solidFill>
                  <a:srgbClr val="000000"/>
                </a:solidFill>
              </a:rPr>
              <a:t>A product owner, plus an Epic and app contact from Lucky Rai’s team</a:t>
            </a:r>
            <a:endParaRPr lang="en-US" sz="1050" dirty="0"/>
          </a:p>
        </p:txBody>
      </p:sp>
      <p:sp>
        <p:nvSpPr>
          <p:cNvPr id="46" name="Text 40"/>
          <p:cNvSpPr txBox="1"/>
          <p:nvPr/>
        </p:nvSpPr>
        <p:spPr>
          <a:xfrm>
            <a:off x="502920" y="5897880"/>
            <a:ext cx="4023360" cy="274320"/>
          </a:xfrm>
          <a:prstGeom prst="rect">
            <a:avLst/>
          </a:prstGeom>
          <a:noFill/>
          <a:ln/>
        </p:spPr>
        <p:txBody>
          <a:bodyPr wrap="square" lIns="0" tIns="0" rIns="0" bIns="0" rtlCol="0" anchor="t"/>
          <a:lstStyle/>
          <a:p>
            <a:pPr algn="ctr" indent="0" marL="0">
              <a:buNone/>
            </a:pPr>
            <a:r>
              <a:rPr lang="en-US" sz="1300" b="1" dirty="0">
                <a:solidFill>
                  <a:srgbClr val="000000"/>
                </a:solidFill>
              </a:rPr>
              <a:t>5 people  ·  10 sprints  ·  20 weeks</a:t>
            </a:r>
            <a:endParaRPr lang="en-US" sz="13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lIns="0" tIns="0" rIns="0" bIns="0" rtlCol="0" anchor="ctr"/>
          <a:lstStyle/>
          <a:p>
            <a:pPr algn="ctr" indent="0" marL="0">
              <a:buNone/>
            </a:pPr>
            <a:r>
              <a:rPr lang="en-US" sz="4400" spc="600" kern="0" dirty="0">
                <a:solidFill>
                  <a:schemeClr val="bg1"/>
                </a:solidFill>
                <a:latin typeface="Trenda IG Text Light" pitchFamily="34" charset="0"/>
                <a:ea typeface="Trenda IG Text Light" pitchFamily="34" charset="-122"/>
                <a:cs typeface="Trenda IG Text Light" pitchFamily="34" charset="-120"/>
              </a:rPr>
              <a:t>03  BEYOND THE EVENT</a:t>
            </a: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lIns="0" tIns="0" rIns="0" bIns="0" rtlCol="0"/>
          <a:lstStyle/>
          <a:p>
            <a:pPr algn="ctr" indent="0" marL="0">
              <a:buNone/>
            </a:pPr>
            <a:r>
              <a:rPr lang="en-US" sz="1800" dirty="0">
                <a:solidFill>
                  <a:schemeClr val="bg1"/>
                </a:solidFill>
              </a:rPr>
              <a:t>Turn every registration into a lasting relationship</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1005840"/>
            <a:ext cx="5120640" cy="2377440"/>
          </a:xfrm>
          <a:prstGeom prst="rect">
            <a:avLst/>
          </a:prstGeom>
          <a:noFill/>
          <a:ln/>
        </p:spPr>
        <p:txBody>
          <a:bodyPr wrap="square" lIns="0" tIns="0" rIns="0" bIns="0" rtlCol="0" anchor="t"/>
          <a:lstStyle/>
          <a:p>
            <a:pPr indent="0" marL="0">
              <a:buNone/>
            </a:pPr>
            <a:r>
              <a:rPr lang="en-US" sz="3000" dirty="0">
                <a:solidFill>
                  <a:schemeClr val="bg1"/>
                </a:solidFill>
                <a:latin typeface="Trenda IG Text Light" pitchFamily="34" charset="0"/>
                <a:ea typeface="Trenda IG Text Light" pitchFamily="34" charset="-122"/>
                <a:cs typeface="Trenda IG Text Light" pitchFamily="34" charset="-120"/>
              </a:rPr>
              <a:t>Every registration tells you what a person cares about. Use it to bring them back and into the network.</a:t>
            </a:r>
            <a:endParaRPr lang="en-US" sz="3000" dirty="0"/>
          </a:p>
        </p:txBody>
      </p:sp>
      <p:sp>
        <p:nvSpPr>
          <p:cNvPr id="3" name="Text 1"/>
          <p:cNvSpPr txBox="1"/>
          <p:nvPr/>
        </p:nvSpPr>
        <p:spPr>
          <a:xfrm>
            <a:off x="5989320" y="1005840"/>
            <a:ext cx="2834640" cy="77724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1 profile</a:t>
            </a:r>
            <a:endParaRPr lang="en-US" sz="3400" dirty="0"/>
          </a:p>
        </p:txBody>
      </p:sp>
      <p:sp>
        <p:nvSpPr>
          <p:cNvPr id="4" name="Text 2"/>
          <p:cNvSpPr txBox="1"/>
          <p:nvPr/>
        </p:nvSpPr>
        <p:spPr>
          <a:xfrm>
            <a:off x="5989320" y="1874520"/>
            <a:ext cx="2514600" cy="914400"/>
          </a:xfrm>
          <a:prstGeom prst="rect">
            <a:avLst/>
          </a:prstGeom>
          <a:noFill/>
          <a:ln/>
        </p:spPr>
        <p:txBody>
          <a:bodyPr wrap="square" lIns="0" tIns="0" rIns="0" bIns="0" rtlCol="0" anchor="t"/>
          <a:lstStyle/>
          <a:p>
            <a:pPr indent="0" marL="0">
              <a:buNone/>
            </a:pPr>
            <a:r>
              <a:rPr lang="en-US" sz="1400" dirty="0">
                <a:solidFill>
                  <a:schemeClr val="bg1"/>
                </a:solidFill>
              </a:rPr>
              <a:t>Every registrant, caregiver and provider in one Salesforce record</a:t>
            </a:r>
            <a:endParaRPr lang="en-US" sz="1400" dirty="0"/>
          </a:p>
        </p:txBody>
      </p:sp>
      <p:sp>
        <p:nvSpPr>
          <p:cNvPr id="5" name="Text 3"/>
          <p:cNvSpPr txBox="1"/>
          <p:nvPr/>
        </p:nvSpPr>
        <p:spPr>
          <a:xfrm>
            <a:off x="8915400" y="1005840"/>
            <a:ext cx="2834640" cy="77724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4 PEIs</a:t>
            </a:r>
            <a:endParaRPr lang="en-US" sz="3400" dirty="0"/>
          </a:p>
        </p:txBody>
      </p:sp>
      <p:sp>
        <p:nvSpPr>
          <p:cNvPr id="6" name="Text 4"/>
          <p:cNvSpPr txBox="1"/>
          <p:nvPr/>
        </p:nvSpPr>
        <p:spPr>
          <a:xfrm>
            <a:off x="8915400" y="1874520"/>
            <a:ext cx="2514600" cy="914400"/>
          </a:xfrm>
          <a:prstGeom prst="rect">
            <a:avLst/>
          </a:prstGeom>
          <a:noFill/>
          <a:ln/>
        </p:spPr>
        <p:txBody>
          <a:bodyPr wrap="square" lIns="0" tIns="0" rIns="0" bIns="0" rtlCol="0" anchor="t"/>
          <a:lstStyle/>
          <a:p>
            <a:pPr indent="0" marL="0">
              <a:buNone/>
            </a:pPr>
            <a:r>
              <a:rPr lang="en-US" sz="1400" dirty="0">
                <a:solidFill>
                  <a:schemeClr val="bg1"/>
                </a:solidFill>
              </a:rPr>
              <a:t>Patient engagement initiatives after every class</a:t>
            </a:r>
            <a:endParaRPr lang="en-US" sz="1400" dirty="0"/>
          </a:p>
        </p:txBody>
      </p:sp>
      <p:sp>
        <p:nvSpPr>
          <p:cNvPr id="7" name="Text 5"/>
          <p:cNvSpPr txBox="1"/>
          <p:nvPr/>
        </p:nvSpPr>
        <p:spPr>
          <a:xfrm>
            <a:off x="5989320" y="3337560"/>
            <a:ext cx="2834640" cy="77724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1 tap</a:t>
            </a:r>
            <a:endParaRPr lang="en-US" sz="3400" dirty="0"/>
          </a:p>
        </p:txBody>
      </p:sp>
      <p:sp>
        <p:nvSpPr>
          <p:cNvPr id="8" name="Text 6"/>
          <p:cNvSpPr txBox="1"/>
          <p:nvPr/>
        </p:nvSpPr>
        <p:spPr>
          <a:xfrm>
            <a:off x="5989320" y="4206240"/>
            <a:ext cx="2514600" cy="914400"/>
          </a:xfrm>
          <a:prstGeom prst="rect">
            <a:avLst/>
          </a:prstGeom>
          <a:noFill/>
          <a:ln/>
        </p:spPr>
        <p:txBody>
          <a:bodyPr wrap="square" lIns="0" tIns="0" rIns="0" bIns="0" rtlCol="0" anchor="t"/>
          <a:lstStyle/>
          <a:p>
            <a:pPr indent="0" marL="0">
              <a:buNone/>
            </a:pPr>
            <a:r>
              <a:rPr lang="en-US" sz="1400" dirty="0">
                <a:solidFill>
                  <a:schemeClr val="bg1"/>
                </a:solidFill>
              </a:rPr>
              <a:t>App download link at confirmation, check-in and follow-up</a:t>
            </a:r>
            <a:endParaRPr lang="en-US" sz="1400" dirty="0"/>
          </a:p>
        </p:txBody>
      </p:sp>
      <p:sp>
        <p:nvSpPr>
          <p:cNvPr id="9" name="Text 7"/>
          <p:cNvSpPr txBox="1"/>
          <p:nvPr/>
        </p:nvSpPr>
        <p:spPr>
          <a:xfrm>
            <a:off x="8915400" y="3337560"/>
            <a:ext cx="2834640" cy="77724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Closed loop</a:t>
            </a:r>
            <a:endParaRPr lang="en-US" sz="3400" dirty="0"/>
          </a:p>
        </p:txBody>
      </p:sp>
      <p:sp>
        <p:nvSpPr>
          <p:cNvPr id="10" name="Text 8"/>
          <p:cNvSpPr txBox="1"/>
          <p:nvPr/>
        </p:nvSpPr>
        <p:spPr>
          <a:xfrm>
            <a:off x="8915400" y="4206240"/>
            <a:ext cx="2514600" cy="914400"/>
          </a:xfrm>
          <a:prstGeom prst="rect">
            <a:avLst/>
          </a:prstGeom>
          <a:noFill/>
          <a:ln/>
        </p:spPr>
        <p:txBody>
          <a:bodyPr wrap="square" lIns="0" tIns="0" rIns="0" bIns="0" rtlCol="0" anchor="t"/>
          <a:lstStyle/>
          <a:p>
            <a:pPr indent="0" marL="0">
              <a:buNone/>
            </a:pPr>
            <a:r>
              <a:rPr lang="en-US" sz="1400" dirty="0">
                <a:solidFill>
                  <a:schemeClr val="bg1"/>
                </a:solidFill>
              </a:rPr>
              <a:t>From class attended to visit booked, measured end to end</a:t>
            </a:r>
            <a:endParaRPr lang="en-US" sz="1400" dirty="0"/>
          </a:p>
        </p:txBody>
      </p:sp>
      <p:sp>
        <p:nvSpPr>
          <p:cNvPr id="11" name="Text 9"/>
          <p:cNvSpPr txBox="1"/>
          <p:nvPr/>
        </p:nvSpPr>
        <p:spPr>
          <a:xfrm>
            <a:off x="502920" y="5669280"/>
            <a:ext cx="5120640" cy="320040"/>
          </a:xfrm>
          <a:prstGeom prst="rect">
            <a:avLst/>
          </a:prstGeom>
          <a:noFill/>
          <a:ln/>
        </p:spPr>
        <p:txBody>
          <a:bodyPr wrap="square" lIns="0" tIns="0" rIns="0" bIns="0" rtlCol="0" anchor="t"/>
          <a:lstStyle/>
          <a:p>
            <a:pPr indent="0" marL="0">
              <a:buNone/>
            </a:pPr>
            <a:r>
              <a:rPr lang="en-US" sz="1200" i="1" dirty="0">
                <a:solidFill>
                  <a:srgbClr val="BFBFBF"/>
                </a:solidFill>
              </a:rPr>
              <a:t>Consent-based: messages go only to people who opt in at registration.</a:t>
            </a:r>
            <a:endParaRPr lang="en-US" sz="1200" dirty="0"/>
          </a:p>
        </p:txBody>
      </p:sp>
      <p:sp>
        <p:nvSpPr>
          <p:cNvPr id="13"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After the class: patient engagement initiatives (PEIs)</a:t>
            </a:r>
            <a:endParaRPr lang="en-US" sz="3200" dirty="0"/>
          </a:p>
        </p:txBody>
      </p:sp>
      <p:pic>
        <p:nvPicPr>
          <p:cNvPr id="3" name="05-marketing-journey.png" descr="/home/user/presales_memorial-hermann/deck/mockups/png/05-marketing-journey.png">    </p:cNvPr>
          <p:cNvPicPr>
            <a:picLocks noChangeAspect="1"/>
          </p:cNvPicPr>
          <p:nvPr/>
        </p:nvPicPr>
        <p:blipFill>
          <a:blip r:embed="rId1"/>
          <a:stretch>
            <a:fillRect/>
          </a:stretch>
        </p:blipFill>
        <p:spPr>
          <a:xfrm>
            <a:off x="502920" y="1600200"/>
            <a:ext cx="11183112" cy="4471416"/>
          </a:xfrm>
          <a:prstGeom prst="rect">
            <a:avLst/>
          </a:prstGeom>
          <a:effectLst>
            <a:outerShdw sx="100000" sy="100000" kx="0" ky="0" algn="bl" rotWithShape="0" blurRad="101600" dist="25400" dir="5400000">
              <a:srgbClr val="000000">
                <a:alpha val="25000"/>
              </a:srgbClr>
            </a:outerShdw>
          </a:effectLst>
        </p:spPr>
      </p:pic>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Campaigns built from registration data</a:t>
            </a:r>
            <a:endParaRPr lang="en-US" sz="3200" dirty="0"/>
          </a:p>
        </p:txBody>
      </p:sp>
      <p:sp>
        <p:nvSpPr>
          <p:cNvPr id="3" name="Text 1"/>
          <p:cNvSpPr txBox="1"/>
          <p:nvPr/>
        </p:nvSpPr>
        <p:spPr>
          <a:xfrm>
            <a:off x="576072" y="1554480"/>
            <a:ext cx="2459736" cy="384048"/>
          </a:xfrm>
          <a:prstGeom prst="rect">
            <a:avLst/>
          </a:prstGeom>
          <a:noFill/>
          <a:ln/>
        </p:spPr>
        <p:txBody>
          <a:bodyPr wrap="square" lIns="0" tIns="0" rIns="0" bIns="0" rtlCol="0" anchor="b"/>
          <a:lstStyle/>
          <a:p>
            <a:pPr indent="0" marL="0">
              <a:buNone/>
            </a:pPr>
            <a:r>
              <a:rPr lang="en-US" sz="1500" b="1" dirty="0">
                <a:solidFill>
                  <a:schemeClr val="tx1"/>
                </a:solidFill>
              </a:rPr>
              <a:t>After this class</a:t>
            </a:r>
            <a:endParaRPr lang="en-US" sz="1500" dirty="0"/>
          </a:p>
        </p:txBody>
      </p:sp>
      <p:sp>
        <p:nvSpPr>
          <p:cNvPr id="4" name="Text 2"/>
          <p:cNvSpPr txBox="1"/>
          <p:nvPr/>
        </p:nvSpPr>
        <p:spPr>
          <a:xfrm>
            <a:off x="3182112" y="1554480"/>
            <a:ext cx="4608576" cy="384048"/>
          </a:xfrm>
          <a:prstGeom prst="rect">
            <a:avLst/>
          </a:prstGeom>
          <a:noFill/>
          <a:ln/>
        </p:spPr>
        <p:txBody>
          <a:bodyPr wrap="square" lIns="0" tIns="0" rIns="0" bIns="0" rtlCol="0" anchor="b"/>
          <a:lstStyle/>
          <a:p>
            <a:pPr indent="0" marL="0">
              <a:buNone/>
            </a:pPr>
            <a:r>
              <a:rPr lang="en-US" sz="1500" b="1" dirty="0">
                <a:solidFill>
                  <a:schemeClr val="tx1"/>
                </a:solidFill>
              </a:rPr>
              <a:t>Follow-up PEIs</a:t>
            </a:r>
            <a:endParaRPr lang="en-US" sz="1500" dirty="0"/>
          </a:p>
        </p:txBody>
      </p:sp>
      <p:sp>
        <p:nvSpPr>
          <p:cNvPr id="5" name="Text 3"/>
          <p:cNvSpPr txBox="1"/>
          <p:nvPr/>
        </p:nvSpPr>
        <p:spPr>
          <a:xfrm>
            <a:off x="7936992" y="1554480"/>
            <a:ext cx="3675888" cy="384048"/>
          </a:xfrm>
          <a:prstGeom prst="rect">
            <a:avLst/>
          </a:prstGeom>
          <a:noFill/>
          <a:ln/>
        </p:spPr>
        <p:txBody>
          <a:bodyPr wrap="square" lIns="0" tIns="0" rIns="0" bIns="0" rtlCol="0" anchor="b"/>
          <a:lstStyle/>
          <a:p>
            <a:pPr indent="0" marL="0">
              <a:buNone/>
            </a:pPr>
            <a:r>
              <a:rPr lang="en-US" sz="1500" b="1" dirty="0">
                <a:solidFill>
                  <a:schemeClr val="tx1"/>
                </a:solidFill>
              </a:rPr>
              <a:t>Network outcome</a:t>
            </a:r>
            <a:endParaRPr lang="en-US" sz="1500" dirty="0"/>
          </a:p>
        </p:txBody>
      </p:sp>
      <p:sp>
        <p:nvSpPr>
          <p:cNvPr id="6" name="Shape 4"/>
          <p:cNvSpPr/>
          <p:nvPr/>
        </p:nvSpPr>
        <p:spPr>
          <a:xfrm>
            <a:off x="502920" y="2011680"/>
            <a:ext cx="11183112" cy="0"/>
          </a:xfrm>
          <a:prstGeom prst="line">
            <a:avLst/>
          </a:prstGeom>
          <a:noFill/>
          <a:ln w="19050">
            <a:solidFill>
              <a:schemeClr val="tx1"/>
            </a:solidFill>
            <a:prstDash val="solid"/>
          </a:ln>
        </p:spPr>
      </p:sp>
      <p:sp>
        <p:nvSpPr>
          <p:cNvPr id="7" name="Text 5"/>
          <p:cNvSpPr txBox="1"/>
          <p:nvPr/>
        </p:nvSpPr>
        <p:spPr>
          <a:xfrm>
            <a:off x="576072" y="2084832"/>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Labor and delivery prep</a:t>
            </a:r>
            <a:endParaRPr lang="en-US" sz="1300" dirty="0"/>
          </a:p>
        </p:txBody>
      </p:sp>
      <p:sp>
        <p:nvSpPr>
          <p:cNvPr id="8" name="Text 6"/>
          <p:cNvSpPr txBox="1"/>
          <p:nvPr/>
        </p:nvSpPr>
        <p:spPr>
          <a:xfrm>
            <a:off x="3182112" y="2084832"/>
            <a:ext cx="4608576" cy="603504"/>
          </a:xfrm>
          <a:prstGeom prst="rect">
            <a:avLst/>
          </a:prstGeom>
          <a:noFill/>
          <a:ln/>
        </p:spPr>
        <p:txBody>
          <a:bodyPr wrap="square" lIns="0" tIns="0" rIns="0" bIns="0" rtlCol="0" anchor="ctr"/>
          <a:lstStyle/>
          <a:p>
            <a:pPr indent="0" marL="0">
              <a:buNone/>
            </a:pPr>
            <a:r>
              <a:rPr lang="en-US" sz="1300" dirty="0">
                <a:solidFill>
                  <a:srgbClr val="4D4D4D"/>
                </a:solidFill>
              </a:rPr>
              <a:t>Breastfeeding and newborn classes, choose a pediatrician</a:t>
            </a:r>
            <a:endParaRPr lang="en-US" sz="1300" dirty="0"/>
          </a:p>
        </p:txBody>
      </p:sp>
      <p:sp>
        <p:nvSpPr>
          <p:cNvPr id="9" name="Text 7"/>
          <p:cNvSpPr txBox="1"/>
          <p:nvPr/>
        </p:nvSpPr>
        <p:spPr>
          <a:xfrm>
            <a:off x="7936992" y="2084832"/>
            <a:ext cx="3675888" cy="603504"/>
          </a:xfrm>
          <a:prstGeom prst="rect">
            <a:avLst/>
          </a:prstGeom>
          <a:noFill/>
          <a:ln/>
        </p:spPr>
        <p:txBody>
          <a:bodyPr wrap="square" lIns="0" tIns="0" rIns="0" bIns="0" rtlCol="0" anchor="ctr"/>
          <a:lstStyle/>
          <a:p>
            <a:pPr indent="0" marL="0">
              <a:buNone/>
            </a:pPr>
            <a:r>
              <a:rPr lang="en-US" sz="1300" dirty="0">
                <a:solidFill>
                  <a:srgbClr val="4D4D4D"/>
                </a:solidFill>
              </a:rPr>
              <a:t>Delivery at Memorial Hermann, new pediatric patients</a:t>
            </a:r>
            <a:endParaRPr lang="en-US" sz="1300" dirty="0"/>
          </a:p>
        </p:txBody>
      </p:sp>
      <p:sp>
        <p:nvSpPr>
          <p:cNvPr id="10" name="Shape 8"/>
          <p:cNvSpPr/>
          <p:nvPr/>
        </p:nvSpPr>
        <p:spPr>
          <a:xfrm>
            <a:off x="502920" y="2724912"/>
            <a:ext cx="11183112" cy="0"/>
          </a:xfrm>
          <a:prstGeom prst="line">
            <a:avLst/>
          </a:prstGeom>
          <a:noFill/>
          <a:ln w="9525">
            <a:solidFill>
              <a:srgbClr val="8C8C8C"/>
            </a:solidFill>
            <a:prstDash val="sysDot"/>
          </a:ln>
        </p:spPr>
      </p:sp>
      <p:sp>
        <p:nvSpPr>
          <p:cNvPr id="11" name="Text 9"/>
          <p:cNvSpPr txBox="1"/>
          <p:nvPr/>
        </p:nvSpPr>
        <p:spPr>
          <a:xfrm>
            <a:off x="576072" y="2798064"/>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Maternity hospital tour</a:t>
            </a:r>
            <a:endParaRPr lang="en-US" sz="1300" dirty="0"/>
          </a:p>
        </p:txBody>
      </p:sp>
      <p:sp>
        <p:nvSpPr>
          <p:cNvPr id="12" name="Text 10"/>
          <p:cNvSpPr txBox="1"/>
          <p:nvPr/>
        </p:nvSpPr>
        <p:spPr>
          <a:xfrm>
            <a:off x="3182112" y="2798064"/>
            <a:ext cx="4608576" cy="603504"/>
          </a:xfrm>
          <a:prstGeom prst="rect">
            <a:avLst/>
          </a:prstGeom>
          <a:noFill/>
          <a:ln/>
        </p:spPr>
        <p:txBody>
          <a:bodyPr wrap="square" lIns="0" tIns="0" rIns="0" bIns="0" rtlCol="0" anchor="ctr"/>
          <a:lstStyle/>
          <a:p>
            <a:pPr indent="0" marL="0">
              <a:buNone/>
            </a:pPr>
            <a:r>
              <a:rPr lang="en-US" sz="1300" dirty="0">
                <a:solidFill>
                  <a:srgbClr val="4D4D4D"/>
                </a:solidFill>
              </a:rPr>
              <a:t>Pre-register for delivery, prenatal class bundle</a:t>
            </a:r>
            <a:endParaRPr lang="en-US" sz="1300" dirty="0"/>
          </a:p>
        </p:txBody>
      </p:sp>
      <p:sp>
        <p:nvSpPr>
          <p:cNvPr id="13" name="Text 11"/>
          <p:cNvSpPr txBox="1"/>
          <p:nvPr/>
        </p:nvSpPr>
        <p:spPr>
          <a:xfrm>
            <a:off x="7936992" y="2798064"/>
            <a:ext cx="3675888" cy="603504"/>
          </a:xfrm>
          <a:prstGeom prst="rect">
            <a:avLst/>
          </a:prstGeom>
          <a:noFill/>
          <a:ln/>
        </p:spPr>
        <p:txBody>
          <a:bodyPr wrap="square" lIns="0" tIns="0" rIns="0" bIns="0" rtlCol="0" anchor="ctr"/>
          <a:lstStyle/>
          <a:p>
            <a:pPr indent="0" marL="0">
              <a:buNone/>
            </a:pPr>
            <a:r>
              <a:rPr lang="en-US" sz="1300" dirty="0">
                <a:solidFill>
                  <a:srgbClr val="4D4D4D"/>
                </a:solidFill>
              </a:rPr>
              <a:t>Delivery booked at Memorial Hermann</a:t>
            </a:r>
            <a:endParaRPr lang="en-US" sz="1300" dirty="0"/>
          </a:p>
        </p:txBody>
      </p:sp>
      <p:sp>
        <p:nvSpPr>
          <p:cNvPr id="14" name="Shape 12"/>
          <p:cNvSpPr/>
          <p:nvPr/>
        </p:nvSpPr>
        <p:spPr>
          <a:xfrm>
            <a:off x="502920" y="3438144"/>
            <a:ext cx="11183112" cy="0"/>
          </a:xfrm>
          <a:prstGeom prst="line">
            <a:avLst/>
          </a:prstGeom>
          <a:noFill/>
          <a:ln w="9525">
            <a:solidFill>
              <a:srgbClr val="8C8C8C"/>
            </a:solidFill>
            <a:prstDash val="sysDot"/>
          </a:ln>
        </p:spPr>
      </p:sp>
      <p:sp>
        <p:nvSpPr>
          <p:cNvPr id="15" name="Text 13"/>
          <p:cNvSpPr txBox="1"/>
          <p:nvPr/>
        </p:nvSpPr>
        <p:spPr>
          <a:xfrm>
            <a:off x="576072" y="3511296"/>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CPR and first aid</a:t>
            </a:r>
            <a:endParaRPr lang="en-US" sz="1300" dirty="0"/>
          </a:p>
        </p:txBody>
      </p:sp>
      <p:sp>
        <p:nvSpPr>
          <p:cNvPr id="16" name="Text 14"/>
          <p:cNvSpPr txBox="1"/>
          <p:nvPr/>
        </p:nvSpPr>
        <p:spPr>
          <a:xfrm>
            <a:off x="3182112" y="3511296"/>
            <a:ext cx="4608576" cy="603504"/>
          </a:xfrm>
          <a:prstGeom prst="rect">
            <a:avLst/>
          </a:prstGeom>
          <a:noFill/>
          <a:ln/>
        </p:spPr>
        <p:txBody>
          <a:bodyPr wrap="square" lIns="0" tIns="0" rIns="0" bIns="0" rtlCol="0" anchor="ctr"/>
          <a:lstStyle/>
          <a:p>
            <a:pPr indent="0" marL="0">
              <a:buNone/>
            </a:pPr>
            <a:r>
              <a:rPr lang="en-US" sz="1300" dirty="0">
                <a:solidFill>
                  <a:srgbClr val="4D4D4D"/>
                </a:solidFill>
              </a:rPr>
              <a:t>Heart health seminar, free screening invitation</a:t>
            </a:r>
            <a:endParaRPr lang="en-US" sz="1300" dirty="0"/>
          </a:p>
        </p:txBody>
      </p:sp>
      <p:sp>
        <p:nvSpPr>
          <p:cNvPr id="17" name="Text 15"/>
          <p:cNvSpPr txBox="1"/>
          <p:nvPr/>
        </p:nvSpPr>
        <p:spPr>
          <a:xfrm>
            <a:off x="7936992" y="3511296"/>
            <a:ext cx="3675888" cy="603504"/>
          </a:xfrm>
          <a:prstGeom prst="rect">
            <a:avLst/>
          </a:prstGeom>
          <a:noFill/>
          <a:ln/>
        </p:spPr>
        <p:txBody>
          <a:bodyPr wrap="square" lIns="0" tIns="0" rIns="0" bIns="0" rtlCol="0" anchor="ctr"/>
          <a:lstStyle/>
          <a:p>
            <a:pPr indent="0" marL="0">
              <a:buNone/>
            </a:pPr>
            <a:r>
              <a:rPr lang="en-US" sz="1300" dirty="0">
                <a:solidFill>
                  <a:srgbClr val="4D4D4D"/>
                </a:solidFill>
              </a:rPr>
              <a:t>Primary care and cardiology visits</a:t>
            </a:r>
            <a:endParaRPr lang="en-US" sz="1300" dirty="0"/>
          </a:p>
        </p:txBody>
      </p:sp>
      <p:sp>
        <p:nvSpPr>
          <p:cNvPr id="18" name="Shape 16"/>
          <p:cNvSpPr/>
          <p:nvPr/>
        </p:nvSpPr>
        <p:spPr>
          <a:xfrm>
            <a:off x="502920" y="4151376"/>
            <a:ext cx="11183112" cy="0"/>
          </a:xfrm>
          <a:prstGeom prst="line">
            <a:avLst/>
          </a:prstGeom>
          <a:noFill/>
          <a:ln w="9525">
            <a:solidFill>
              <a:srgbClr val="8C8C8C"/>
            </a:solidFill>
            <a:prstDash val="sysDot"/>
          </a:ln>
        </p:spPr>
      </p:sp>
      <p:sp>
        <p:nvSpPr>
          <p:cNvPr id="19" name="Text 17"/>
          <p:cNvSpPr txBox="1"/>
          <p:nvPr/>
        </p:nvSpPr>
        <p:spPr>
          <a:xfrm>
            <a:off x="576072" y="4224528"/>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Support groups and seminars</a:t>
            </a:r>
            <a:endParaRPr lang="en-US" sz="1300" dirty="0"/>
          </a:p>
        </p:txBody>
      </p:sp>
      <p:sp>
        <p:nvSpPr>
          <p:cNvPr id="20" name="Text 18"/>
          <p:cNvSpPr txBox="1"/>
          <p:nvPr/>
        </p:nvSpPr>
        <p:spPr>
          <a:xfrm>
            <a:off x="3182112" y="4224528"/>
            <a:ext cx="4608576" cy="603504"/>
          </a:xfrm>
          <a:prstGeom prst="rect">
            <a:avLst/>
          </a:prstGeom>
          <a:noFill/>
          <a:ln/>
        </p:spPr>
        <p:txBody>
          <a:bodyPr wrap="square" lIns="0" tIns="0" rIns="0" bIns="0" rtlCol="0" anchor="ctr"/>
          <a:lstStyle/>
          <a:p>
            <a:pPr indent="0" marL="0">
              <a:buNone/>
            </a:pPr>
            <a:r>
              <a:rPr lang="en-US" sz="1300" dirty="0">
                <a:solidFill>
                  <a:srgbClr val="4D4D4D"/>
                </a:solidFill>
              </a:rPr>
              <a:t>Education series, specialist-led events</a:t>
            </a:r>
            <a:endParaRPr lang="en-US" sz="1300" dirty="0"/>
          </a:p>
        </p:txBody>
      </p:sp>
      <p:sp>
        <p:nvSpPr>
          <p:cNvPr id="21" name="Text 19"/>
          <p:cNvSpPr txBox="1"/>
          <p:nvPr/>
        </p:nvSpPr>
        <p:spPr>
          <a:xfrm>
            <a:off x="7936992" y="4224528"/>
            <a:ext cx="3675888" cy="603504"/>
          </a:xfrm>
          <a:prstGeom prst="rect">
            <a:avLst/>
          </a:prstGeom>
          <a:noFill/>
          <a:ln/>
        </p:spPr>
        <p:txBody>
          <a:bodyPr wrap="square" lIns="0" tIns="0" rIns="0" bIns="0" rtlCol="0" anchor="ctr"/>
          <a:lstStyle/>
          <a:p>
            <a:pPr indent="0" marL="0">
              <a:buNone/>
            </a:pPr>
            <a:r>
              <a:rPr lang="en-US" sz="1300" dirty="0">
                <a:solidFill>
                  <a:srgbClr val="4D4D4D"/>
                </a:solidFill>
              </a:rPr>
              <a:t>Ongoing specialty care relationships</a:t>
            </a:r>
            <a:endParaRPr lang="en-US" sz="1300" dirty="0"/>
          </a:p>
        </p:txBody>
      </p:sp>
      <p:sp>
        <p:nvSpPr>
          <p:cNvPr id="22" name="Shape 20"/>
          <p:cNvSpPr/>
          <p:nvPr/>
        </p:nvSpPr>
        <p:spPr>
          <a:xfrm>
            <a:off x="502920" y="4864608"/>
            <a:ext cx="11183112" cy="0"/>
          </a:xfrm>
          <a:prstGeom prst="line">
            <a:avLst/>
          </a:prstGeom>
          <a:noFill/>
          <a:ln w="9525">
            <a:solidFill>
              <a:srgbClr val="8C8C8C"/>
            </a:solidFill>
            <a:prstDash val="sysDot"/>
          </a:ln>
        </p:spPr>
      </p:sp>
      <p:sp>
        <p:nvSpPr>
          <p:cNvPr id="23" name="Text 21"/>
          <p:cNvSpPr txBox="1"/>
          <p:nvPr/>
        </p:nvSpPr>
        <p:spPr>
          <a:xfrm>
            <a:off x="576072" y="4937760"/>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Provider conference</a:t>
            </a:r>
            <a:endParaRPr lang="en-US" sz="1300" dirty="0"/>
          </a:p>
        </p:txBody>
      </p:sp>
      <p:sp>
        <p:nvSpPr>
          <p:cNvPr id="24" name="Text 22"/>
          <p:cNvSpPr txBox="1"/>
          <p:nvPr/>
        </p:nvSpPr>
        <p:spPr>
          <a:xfrm>
            <a:off x="3182112" y="4937760"/>
            <a:ext cx="4608576" cy="603504"/>
          </a:xfrm>
          <a:prstGeom prst="rect">
            <a:avLst/>
          </a:prstGeom>
          <a:noFill/>
          <a:ln/>
        </p:spPr>
        <p:txBody>
          <a:bodyPr wrap="square" lIns="0" tIns="0" rIns="0" bIns="0" rtlCol="0" anchor="ctr"/>
          <a:lstStyle/>
          <a:p>
            <a:pPr indent="0" marL="0">
              <a:buNone/>
            </a:pPr>
            <a:r>
              <a:rPr lang="en-US" sz="1300" dirty="0">
                <a:solidFill>
                  <a:srgbClr val="4D4D4D"/>
                </a:solidFill>
              </a:rPr>
              <a:t>Next CME events, referral resources</a:t>
            </a:r>
            <a:endParaRPr lang="en-US" sz="1300" dirty="0"/>
          </a:p>
        </p:txBody>
      </p:sp>
      <p:sp>
        <p:nvSpPr>
          <p:cNvPr id="25" name="Text 23"/>
          <p:cNvSpPr txBox="1"/>
          <p:nvPr/>
        </p:nvSpPr>
        <p:spPr>
          <a:xfrm>
            <a:off x="7936992" y="4937760"/>
            <a:ext cx="3675888" cy="603504"/>
          </a:xfrm>
          <a:prstGeom prst="rect">
            <a:avLst/>
          </a:prstGeom>
          <a:noFill/>
          <a:ln/>
        </p:spPr>
        <p:txBody>
          <a:bodyPr wrap="square" lIns="0" tIns="0" rIns="0" bIns="0" rtlCol="0" anchor="ctr"/>
          <a:lstStyle/>
          <a:p>
            <a:pPr indent="0" marL="0">
              <a:buNone/>
            </a:pPr>
            <a:r>
              <a:rPr lang="en-US" sz="1300" dirty="0">
                <a:solidFill>
                  <a:srgbClr val="4D4D4D"/>
                </a:solidFill>
              </a:rPr>
              <a:t>A stronger referral network</a:t>
            </a:r>
            <a:endParaRPr lang="en-US" sz="1300" dirty="0"/>
          </a:p>
        </p:txBody>
      </p:sp>
      <p:sp>
        <p:nvSpPr>
          <p:cNvPr id="26" name="Shape 24"/>
          <p:cNvSpPr/>
          <p:nvPr/>
        </p:nvSpPr>
        <p:spPr>
          <a:xfrm>
            <a:off x="502920" y="5577840"/>
            <a:ext cx="11183112" cy="0"/>
          </a:xfrm>
          <a:prstGeom prst="line">
            <a:avLst/>
          </a:prstGeom>
          <a:noFill/>
          <a:ln w="9525">
            <a:solidFill>
              <a:srgbClr val="8C8C8C"/>
            </a:solidFill>
            <a:prstDash val="sysDot"/>
          </a:ln>
        </p:spPr>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Bring website registrants into the app</a:t>
            </a:r>
            <a:endParaRPr lang="en-US" sz="3200" dirty="0"/>
          </a:p>
        </p:txBody>
      </p:sp>
      <p:pic>
        <p:nvPicPr>
          <p:cNvPr id="3" name="confirmation email" descr="/home/user/presales_memorial-hermann/deck/mockups/png/06-confirmation-email.png">    </p:cNvPr>
          <p:cNvPicPr>
            <a:picLocks noChangeAspect="1"/>
          </p:cNvPicPr>
          <p:nvPr/>
        </p:nvPicPr>
        <p:blipFill>
          <a:blip r:embed="rId1"/>
          <a:stretch>
            <a:fillRect/>
          </a:stretch>
        </p:blipFill>
        <p:spPr>
          <a:xfrm>
            <a:off x="685800" y="1554480"/>
            <a:ext cx="2377440" cy="4572000"/>
          </a:xfrm>
          <a:prstGeom prst="rect">
            <a:avLst/>
          </a:prstGeom>
        </p:spPr>
      </p:pic>
      <p:sp>
        <p:nvSpPr>
          <p:cNvPr id="4" name="circle-1"/>
          <p:cNvSpPr/>
          <p:nvPr/>
        </p:nvSpPr>
        <p:spPr>
          <a:xfrm>
            <a:off x="3657600" y="1691640"/>
            <a:ext cx="420624" cy="420624"/>
          </a:xfrm>
          <a:prstGeom prst="ellipse">
            <a:avLst/>
          </a:prstGeom>
          <a:ln w="15875">
            <a:solidFill>
              <a:schemeClr val="bg1"/>
            </a:solidFill>
            <a:prstDash val="solid"/>
          </a:ln>
        </p:spPr>
      </p:sp>
      <p:sp>
        <p:nvSpPr>
          <p:cNvPr id="5" name="Text 2"/>
          <p:cNvSpPr txBox="1"/>
          <p:nvPr/>
        </p:nvSpPr>
        <p:spPr>
          <a:xfrm>
            <a:off x="3657600" y="16916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1</a:t>
            </a:r>
            <a:endParaRPr lang="en-US" sz="1400" dirty="0"/>
          </a:p>
        </p:txBody>
      </p:sp>
      <p:sp>
        <p:nvSpPr>
          <p:cNvPr id="6" name="Text 3"/>
          <p:cNvSpPr txBox="1"/>
          <p:nvPr/>
        </p:nvSpPr>
        <p:spPr>
          <a:xfrm>
            <a:off x="4297680" y="1655064"/>
            <a:ext cx="6858000" cy="329184"/>
          </a:xfrm>
          <a:prstGeom prst="rect">
            <a:avLst/>
          </a:prstGeom>
          <a:noFill/>
          <a:ln/>
        </p:spPr>
        <p:txBody>
          <a:bodyPr wrap="square" lIns="0" tIns="0" rIns="0" bIns="0" rtlCol="0" anchor="t"/>
          <a:lstStyle/>
          <a:p>
            <a:pPr indent="0" marL="0">
              <a:buNone/>
            </a:pPr>
            <a:r>
              <a:rPr lang="en-US" sz="1800" b="1" dirty="0">
                <a:solidFill>
                  <a:schemeClr val="bg1"/>
                </a:solidFill>
              </a:rPr>
              <a:t>Confirmation email</a:t>
            </a:r>
            <a:endParaRPr lang="en-US" sz="1800" dirty="0"/>
          </a:p>
        </p:txBody>
      </p:sp>
      <p:sp>
        <p:nvSpPr>
          <p:cNvPr id="7" name="Text 4"/>
          <p:cNvSpPr txBox="1"/>
          <p:nvPr/>
        </p:nvSpPr>
        <p:spPr>
          <a:xfrm>
            <a:off x="4297680" y="2011680"/>
            <a:ext cx="6858000" cy="365760"/>
          </a:xfrm>
          <a:prstGeom prst="rect">
            <a:avLst/>
          </a:prstGeom>
          <a:noFill/>
          <a:ln/>
        </p:spPr>
        <p:txBody>
          <a:bodyPr wrap="square" lIns="0" tIns="0" rIns="0" bIns="0" rtlCol="0" anchor="t"/>
          <a:lstStyle/>
          <a:p>
            <a:pPr indent="0" marL="0">
              <a:buNone/>
            </a:pPr>
            <a:r>
              <a:rPr lang="en-US" sz="1400" dirty="0">
                <a:solidFill>
                  <a:srgbClr val="BFBFBF"/>
                </a:solidFill>
              </a:rPr>
              <a:t>App link beside the calendar invite and QR code</a:t>
            </a:r>
            <a:endParaRPr lang="en-US" sz="1400" dirty="0"/>
          </a:p>
        </p:txBody>
      </p:sp>
      <p:sp>
        <p:nvSpPr>
          <p:cNvPr id="8" name="circle-2"/>
          <p:cNvSpPr/>
          <p:nvPr/>
        </p:nvSpPr>
        <p:spPr>
          <a:xfrm>
            <a:off x="3657600" y="2679192"/>
            <a:ext cx="420624" cy="420624"/>
          </a:xfrm>
          <a:prstGeom prst="ellipse">
            <a:avLst/>
          </a:prstGeom>
          <a:ln w="15875">
            <a:solidFill>
              <a:schemeClr val="bg1"/>
            </a:solidFill>
            <a:prstDash val="solid"/>
          </a:ln>
        </p:spPr>
      </p:sp>
      <p:sp>
        <p:nvSpPr>
          <p:cNvPr id="9" name="Text 6"/>
          <p:cNvSpPr txBox="1"/>
          <p:nvPr/>
        </p:nvSpPr>
        <p:spPr>
          <a:xfrm>
            <a:off x="3657600" y="2679192"/>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2</a:t>
            </a:r>
            <a:endParaRPr lang="en-US" sz="1400" dirty="0"/>
          </a:p>
        </p:txBody>
      </p:sp>
      <p:sp>
        <p:nvSpPr>
          <p:cNvPr id="10" name="Text 7"/>
          <p:cNvSpPr txBox="1"/>
          <p:nvPr/>
        </p:nvSpPr>
        <p:spPr>
          <a:xfrm>
            <a:off x="4297680" y="2642616"/>
            <a:ext cx="6858000" cy="329184"/>
          </a:xfrm>
          <a:prstGeom prst="rect">
            <a:avLst/>
          </a:prstGeom>
          <a:noFill/>
          <a:ln/>
        </p:spPr>
        <p:txBody>
          <a:bodyPr wrap="square" lIns="0" tIns="0" rIns="0" bIns="0" rtlCol="0" anchor="t"/>
          <a:lstStyle/>
          <a:p>
            <a:pPr indent="0" marL="0">
              <a:buNone/>
            </a:pPr>
            <a:r>
              <a:rPr lang="en-US" sz="1800" b="1" dirty="0">
                <a:solidFill>
                  <a:schemeClr val="bg1"/>
                </a:solidFill>
              </a:rPr>
              <a:t>Check-in</a:t>
            </a:r>
            <a:endParaRPr lang="en-US" sz="1800" dirty="0"/>
          </a:p>
        </p:txBody>
      </p:sp>
      <p:sp>
        <p:nvSpPr>
          <p:cNvPr id="11" name="Text 8"/>
          <p:cNvSpPr txBox="1"/>
          <p:nvPr/>
        </p:nvSpPr>
        <p:spPr>
          <a:xfrm>
            <a:off x="4297680" y="2999232"/>
            <a:ext cx="6858000" cy="365760"/>
          </a:xfrm>
          <a:prstGeom prst="rect">
            <a:avLst/>
          </a:prstGeom>
          <a:noFill/>
          <a:ln/>
        </p:spPr>
        <p:txBody>
          <a:bodyPr wrap="square" lIns="0" tIns="0" rIns="0" bIns="0" rtlCol="0" anchor="t"/>
          <a:lstStyle/>
          <a:p>
            <a:pPr indent="0" marL="0">
              <a:buNone/>
            </a:pPr>
            <a:r>
              <a:rPr lang="en-US" sz="1400" dirty="0">
                <a:solidFill>
                  <a:srgbClr val="BFBFBF"/>
                </a:solidFill>
              </a:rPr>
              <a:t>QR at the door and on room signage: scan to download</a:t>
            </a:r>
            <a:endParaRPr lang="en-US" sz="1400" dirty="0"/>
          </a:p>
        </p:txBody>
      </p:sp>
      <p:sp>
        <p:nvSpPr>
          <p:cNvPr id="12" name="circle-3"/>
          <p:cNvSpPr/>
          <p:nvPr/>
        </p:nvSpPr>
        <p:spPr>
          <a:xfrm>
            <a:off x="3657600" y="3666744"/>
            <a:ext cx="420624" cy="420624"/>
          </a:xfrm>
          <a:prstGeom prst="ellipse">
            <a:avLst/>
          </a:prstGeom>
          <a:ln w="15875">
            <a:solidFill>
              <a:schemeClr val="bg1"/>
            </a:solidFill>
            <a:prstDash val="solid"/>
          </a:ln>
        </p:spPr>
      </p:sp>
      <p:sp>
        <p:nvSpPr>
          <p:cNvPr id="13" name="Text 10"/>
          <p:cNvSpPr txBox="1"/>
          <p:nvPr/>
        </p:nvSpPr>
        <p:spPr>
          <a:xfrm>
            <a:off x="3657600" y="3666744"/>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3</a:t>
            </a:r>
            <a:endParaRPr lang="en-US" sz="1400" dirty="0"/>
          </a:p>
        </p:txBody>
      </p:sp>
      <p:sp>
        <p:nvSpPr>
          <p:cNvPr id="14" name="Text 11"/>
          <p:cNvSpPr txBox="1"/>
          <p:nvPr/>
        </p:nvSpPr>
        <p:spPr>
          <a:xfrm>
            <a:off x="4297680" y="3630168"/>
            <a:ext cx="6858000" cy="329184"/>
          </a:xfrm>
          <a:prstGeom prst="rect">
            <a:avLst/>
          </a:prstGeom>
          <a:noFill/>
          <a:ln/>
        </p:spPr>
        <p:txBody>
          <a:bodyPr wrap="square" lIns="0" tIns="0" rIns="0" bIns="0" rtlCol="0" anchor="t"/>
          <a:lstStyle/>
          <a:p>
            <a:pPr indent="0" marL="0">
              <a:buNone/>
            </a:pPr>
            <a:r>
              <a:rPr lang="en-US" sz="1800" b="1" dirty="0">
                <a:solidFill>
                  <a:schemeClr val="bg1"/>
                </a:solidFill>
              </a:rPr>
              <a:t>SMS reminder</a:t>
            </a:r>
            <a:endParaRPr lang="en-US" sz="1800" dirty="0"/>
          </a:p>
        </p:txBody>
      </p:sp>
      <p:sp>
        <p:nvSpPr>
          <p:cNvPr id="15" name="Text 12"/>
          <p:cNvSpPr txBox="1"/>
          <p:nvPr/>
        </p:nvSpPr>
        <p:spPr>
          <a:xfrm>
            <a:off x="4297680" y="3986784"/>
            <a:ext cx="6858000" cy="365760"/>
          </a:xfrm>
          <a:prstGeom prst="rect">
            <a:avLst/>
          </a:prstGeom>
          <a:noFill/>
          <a:ln/>
        </p:spPr>
        <p:txBody>
          <a:bodyPr wrap="square" lIns="0" tIns="0" rIns="0" bIns="0" rtlCol="0" anchor="t"/>
          <a:lstStyle/>
          <a:p>
            <a:pPr indent="0" marL="0">
              <a:buNone/>
            </a:pPr>
            <a:r>
              <a:rPr lang="en-US" sz="1400" dirty="0">
                <a:solidFill>
                  <a:srgbClr val="BFBFBF"/>
                </a:solidFill>
              </a:rPr>
              <a:t>Manage or cancel your class in the app</a:t>
            </a:r>
            <a:endParaRPr lang="en-US" sz="1400" dirty="0"/>
          </a:p>
        </p:txBody>
      </p:sp>
      <p:sp>
        <p:nvSpPr>
          <p:cNvPr id="16" name="circle-4"/>
          <p:cNvSpPr/>
          <p:nvPr/>
        </p:nvSpPr>
        <p:spPr>
          <a:xfrm>
            <a:off x="3657600" y="4654296"/>
            <a:ext cx="420624" cy="420624"/>
          </a:xfrm>
          <a:prstGeom prst="ellipse">
            <a:avLst/>
          </a:prstGeom>
          <a:ln w="15875">
            <a:solidFill>
              <a:schemeClr val="bg1"/>
            </a:solidFill>
            <a:prstDash val="solid"/>
          </a:ln>
        </p:spPr>
      </p:sp>
      <p:sp>
        <p:nvSpPr>
          <p:cNvPr id="17" name="Text 14"/>
          <p:cNvSpPr txBox="1"/>
          <p:nvPr/>
        </p:nvSpPr>
        <p:spPr>
          <a:xfrm>
            <a:off x="3657600" y="4654296"/>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4</a:t>
            </a:r>
            <a:endParaRPr lang="en-US" sz="1400" dirty="0"/>
          </a:p>
        </p:txBody>
      </p:sp>
      <p:sp>
        <p:nvSpPr>
          <p:cNvPr id="18" name="Text 15"/>
          <p:cNvSpPr txBox="1"/>
          <p:nvPr/>
        </p:nvSpPr>
        <p:spPr>
          <a:xfrm>
            <a:off x="4297680" y="4617720"/>
            <a:ext cx="6858000" cy="329184"/>
          </a:xfrm>
          <a:prstGeom prst="rect">
            <a:avLst/>
          </a:prstGeom>
          <a:noFill/>
          <a:ln/>
        </p:spPr>
        <p:txBody>
          <a:bodyPr wrap="square" lIns="0" tIns="0" rIns="0" bIns="0" rtlCol="0" anchor="t"/>
          <a:lstStyle/>
          <a:p>
            <a:pPr indent="0" marL="0">
              <a:buNone/>
            </a:pPr>
            <a:r>
              <a:rPr lang="en-US" sz="1800" b="1" dirty="0">
                <a:solidFill>
                  <a:schemeClr val="bg1"/>
                </a:solidFill>
              </a:rPr>
              <a:t>Post-class PEIs</a:t>
            </a:r>
            <a:endParaRPr lang="en-US" sz="1800" dirty="0"/>
          </a:p>
        </p:txBody>
      </p:sp>
      <p:sp>
        <p:nvSpPr>
          <p:cNvPr id="19" name="Text 16"/>
          <p:cNvSpPr txBox="1"/>
          <p:nvPr/>
        </p:nvSpPr>
        <p:spPr>
          <a:xfrm>
            <a:off x="4297680" y="4974336"/>
            <a:ext cx="6858000" cy="365760"/>
          </a:xfrm>
          <a:prstGeom prst="rect">
            <a:avLst/>
          </a:prstGeom>
          <a:noFill/>
          <a:ln/>
        </p:spPr>
        <p:txBody>
          <a:bodyPr wrap="square" lIns="0" tIns="0" rIns="0" bIns="0" rtlCol="0" anchor="t"/>
          <a:lstStyle/>
          <a:p>
            <a:pPr indent="0" marL="0">
              <a:buNone/>
            </a:pPr>
            <a:r>
              <a:rPr lang="en-US" sz="1400" dirty="0">
                <a:solidFill>
                  <a:srgbClr val="BFBFBF"/>
                </a:solidFill>
              </a:rPr>
              <a:t>Find a doctor, book a visit, see results in the app</a:t>
            </a:r>
            <a:endParaRPr lang="en-US" sz="1400" dirty="0"/>
          </a:p>
        </p:txBody>
      </p:sp>
      <p:sp>
        <p:nvSpPr>
          <p:cNvPr id="20" name="Text 17"/>
          <p:cNvSpPr txBox="1"/>
          <p:nvPr/>
        </p:nvSpPr>
        <p:spPr>
          <a:xfrm>
            <a:off x="3657600" y="5715000"/>
            <a:ext cx="7863840" cy="320040"/>
          </a:xfrm>
          <a:prstGeom prst="rect">
            <a:avLst/>
          </a:prstGeom>
          <a:noFill/>
          <a:ln/>
        </p:spPr>
        <p:txBody>
          <a:bodyPr wrap="square" lIns="0" tIns="0" rIns="0" bIns="0" rtlCol="0" anchor="t"/>
          <a:lstStyle/>
          <a:p>
            <a:pPr indent="0" marL="0">
              <a:buNone/>
            </a:pPr>
            <a:r>
              <a:rPr lang="en-US" sz="1300" i="1" dirty="0">
                <a:solidFill>
                  <a:schemeClr val="accent1"/>
                </a:solidFill>
              </a:rPr>
              <a:t>Tracked links show which classes and service lines drive downloads and booked visits.</a:t>
            </a:r>
            <a:endParaRPr lang="en-US" sz="13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How we will measure success</a:t>
            </a:r>
            <a:endParaRPr lang="en-US" sz="3200" dirty="0"/>
          </a:p>
        </p:txBody>
      </p:sp>
      <p:sp>
        <p:nvSpPr>
          <p:cNvPr id="3" name="Text 1"/>
          <p:cNvSpPr txBox="1"/>
          <p:nvPr/>
        </p:nvSpPr>
        <p:spPr>
          <a:xfrm>
            <a:off x="502920" y="16916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Conversion</a:t>
            </a:r>
            <a:endParaRPr lang="en-US" sz="3400" dirty="0"/>
          </a:p>
        </p:txBody>
      </p:sp>
      <p:sp>
        <p:nvSpPr>
          <p:cNvPr id="4" name="Text 2"/>
          <p:cNvSpPr txBox="1"/>
          <p:nvPr/>
        </p:nvSpPr>
        <p:spPr>
          <a:xfrm>
            <a:off x="502920" y="2423160"/>
            <a:ext cx="3291840" cy="457200"/>
          </a:xfrm>
          <a:prstGeom prst="rect">
            <a:avLst/>
          </a:prstGeom>
          <a:noFill/>
          <a:ln/>
        </p:spPr>
        <p:txBody>
          <a:bodyPr wrap="square" lIns="0" tIns="0" rIns="0" bIns="0" rtlCol="0" anchor="t"/>
          <a:lstStyle/>
          <a:p>
            <a:pPr indent="0" marL="0">
              <a:buNone/>
            </a:pPr>
            <a:r>
              <a:rPr lang="en-US" sz="1400" dirty="0">
                <a:solidFill>
                  <a:schemeClr val="bg1"/>
                </a:solidFill>
              </a:rPr>
              <a:t>Visitors who complete a registration</a:t>
            </a:r>
            <a:endParaRPr lang="en-US" sz="1400" dirty="0"/>
          </a:p>
        </p:txBody>
      </p:sp>
      <p:sp>
        <p:nvSpPr>
          <p:cNvPr id="5" name="Text 3"/>
          <p:cNvSpPr txBox="1"/>
          <p:nvPr/>
        </p:nvSpPr>
        <p:spPr>
          <a:xfrm>
            <a:off x="502920" y="28803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6" name="Text 4"/>
          <p:cNvSpPr txBox="1"/>
          <p:nvPr/>
        </p:nvSpPr>
        <p:spPr>
          <a:xfrm>
            <a:off x="4297680" y="16916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Attendance</a:t>
            </a:r>
            <a:endParaRPr lang="en-US" sz="3400" dirty="0"/>
          </a:p>
        </p:txBody>
      </p:sp>
      <p:sp>
        <p:nvSpPr>
          <p:cNvPr id="7" name="Text 5"/>
          <p:cNvSpPr txBox="1"/>
          <p:nvPr/>
        </p:nvSpPr>
        <p:spPr>
          <a:xfrm>
            <a:off x="4297680" y="2423160"/>
            <a:ext cx="3291840" cy="457200"/>
          </a:xfrm>
          <a:prstGeom prst="rect">
            <a:avLst/>
          </a:prstGeom>
          <a:noFill/>
          <a:ln/>
        </p:spPr>
        <p:txBody>
          <a:bodyPr wrap="square" lIns="0" tIns="0" rIns="0" bIns="0" rtlCol="0" anchor="t"/>
          <a:lstStyle/>
          <a:p>
            <a:pPr indent="0" marL="0">
              <a:buNone/>
            </a:pPr>
            <a:r>
              <a:rPr lang="en-US" sz="1400" dirty="0">
                <a:solidFill>
                  <a:schemeClr val="bg1"/>
                </a:solidFill>
              </a:rPr>
              <a:t>Registrants who show up; fewer no-shows</a:t>
            </a:r>
            <a:endParaRPr lang="en-US" sz="1400" dirty="0"/>
          </a:p>
        </p:txBody>
      </p:sp>
      <p:sp>
        <p:nvSpPr>
          <p:cNvPr id="8" name="Text 6"/>
          <p:cNvSpPr txBox="1"/>
          <p:nvPr/>
        </p:nvSpPr>
        <p:spPr>
          <a:xfrm>
            <a:off x="4297680" y="28803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9" name="Text 7"/>
          <p:cNvSpPr txBox="1"/>
          <p:nvPr/>
        </p:nvSpPr>
        <p:spPr>
          <a:xfrm>
            <a:off x="8092440" y="16916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Engagement</a:t>
            </a:r>
            <a:endParaRPr lang="en-US" sz="3400" dirty="0"/>
          </a:p>
        </p:txBody>
      </p:sp>
      <p:sp>
        <p:nvSpPr>
          <p:cNvPr id="10" name="Text 8"/>
          <p:cNvSpPr txBox="1"/>
          <p:nvPr/>
        </p:nvSpPr>
        <p:spPr>
          <a:xfrm>
            <a:off x="8092440" y="2423160"/>
            <a:ext cx="3291840" cy="457200"/>
          </a:xfrm>
          <a:prstGeom prst="rect">
            <a:avLst/>
          </a:prstGeom>
          <a:noFill/>
          <a:ln/>
        </p:spPr>
        <p:txBody>
          <a:bodyPr wrap="square" lIns="0" tIns="0" rIns="0" bIns="0" rtlCol="0" anchor="t"/>
          <a:lstStyle/>
          <a:p>
            <a:pPr indent="0" marL="0">
              <a:buNone/>
            </a:pPr>
            <a:r>
              <a:rPr lang="en-US" sz="1400" dirty="0">
                <a:solidFill>
                  <a:schemeClr val="bg1"/>
                </a:solidFill>
              </a:rPr>
              <a:t>PEI opens, clicks and survey responses</a:t>
            </a:r>
            <a:endParaRPr lang="en-US" sz="1400" dirty="0"/>
          </a:p>
        </p:txBody>
      </p:sp>
      <p:sp>
        <p:nvSpPr>
          <p:cNvPr id="11" name="Text 9"/>
          <p:cNvSpPr txBox="1"/>
          <p:nvPr/>
        </p:nvSpPr>
        <p:spPr>
          <a:xfrm>
            <a:off x="8092440" y="28803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12" name="Text 10"/>
          <p:cNvSpPr txBox="1"/>
          <p:nvPr/>
        </p:nvSpPr>
        <p:spPr>
          <a:xfrm>
            <a:off x="502920" y="37490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Downloads</a:t>
            </a:r>
            <a:endParaRPr lang="en-US" sz="3400" dirty="0"/>
          </a:p>
        </p:txBody>
      </p:sp>
      <p:sp>
        <p:nvSpPr>
          <p:cNvPr id="13" name="Text 11"/>
          <p:cNvSpPr txBox="1"/>
          <p:nvPr/>
        </p:nvSpPr>
        <p:spPr>
          <a:xfrm>
            <a:off x="502920" y="4480560"/>
            <a:ext cx="3291840" cy="457200"/>
          </a:xfrm>
          <a:prstGeom prst="rect">
            <a:avLst/>
          </a:prstGeom>
          <a:noFill/>
          <a:ln/>
        </p:spPr>
        <p:txBody>
          <a:bodyPr wrap="square" lIns="0" tIns="0" rIns="0" bIns="0" rtlCol="0" anchor="t"/>
          <a:lstStyle/>
          <a:p>
            <a:pPr indent="0" marL="0">
              <a:buNone/>
            </a:pPr>
            <a:r>
              <a:rPr lang="en-US" sz="1400" dirty="0">
                <a:solidFill>
                  <a:schemeClr val="bg1"/>
                </a:solidFill>
              </a:rPr>
              <a:t>App installs from event links</a:t>
            </a:r>
            <a:endParaRPr lang="en-US" sz="1400" dirty="0"/>
          </a:p>
        </p:txBody>
      </p:sp>
      <p:sp>
        <p:nvSpPr>
          <p:cNvPr id="14" name="Text 12"/>
          <p:cNvSpPr txBox="1"/>
          <p:nvPr/>
        </p:nvSpPr>
        <p:spPr>
          <a:xfrm>
            <a:off x="502920" y="49377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15" name="Text 13"/>
          <p:cNvSpPr txBox="1"/>
          <p:nvPr/>
        </p:nvSpPr>
        <p:spPr>
          <a:xfrm>
            <a:off x="4297680" y="37490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Visits booked</a:t>
            </a:r>
            <a:endParaRPr lang="en-US" sz="3400" dirty="0"/>
          </a:p>
        </p:txBody>
      </p:sp>
      <p:sp>
        <p:nvSpPr>
          <p:cNvPr id="16" name="Text 14"/>
          <p:cNvSpPr txBox="1"/>
          <p:nvPr/>
        </p:nvSpPr>
        <p:spPr>
          <a:xfrm>
            <a:off x="4297680" y="4480560"/>
            <a:ext cx="3291840" cy="457200"/>
          </a:xfrm>
          <a:prstGeom prst="rect">
            <a:avLst/>
          </a:prstGeom>
          <a:noFill/>
          <a:ln/>
        </p:spPr>
        <p:txBody>
          <a:bodyPr wrap="square" lIns="0" tIns="0" rIns="0" bIns="0" rtlCol="0" anchor="t"/>
          <a:lstStyle/>
          <a:p>
            <a:pPr indent="0" marL="0">
              <a:buNone/>
            </a:pPr>
            <a:r>
              <a:rPr lang="en-US" sz="1400" dirty="0">
                <a:solidFill>
                  <a:schemeClr val="bg1"/>
                </a:solidFill>
              </a:rPr>
              <a:t>Appointments after a class or event</a:t>
            </a:r>
            <a:endParaRPr lang="en-US" sz="1400" dirty="0"/>
          </a:p>
        </p:txBody>
      </p:sp>
      <p:sp>
        <p:nvSpPr>
          <p:cNvPr id="17" name="Text 15"/>
          <p:cNvSpPr txBox="1"/>
          <p:nvPr/>
        </p:nvSpPr>
        <p:spPr>
          <a:xfrm>
            <a:off x="4297680" y="49377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18" name="Text 16"/>
          <p:cNvSpPr txBox="1"/>
          <p:nvPr/>
        </p:nvSpPr>
        <p:spPr>
          <a:xfrm>
            <a:off x="8092440" y="37490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Revenue</a:t>
            </a:r>
            <a:endParaRPr lang="en-US" sz="3400" dirty="0"/>
          </a:p>
        </p:txBody>
      </p:sp>
      <p:sp>
        <p:nvSpPr>
          <p:cNvPr id="19" name="Text 17"/>
          <p:cNvSpPr txBox="1"/>
          <p:nvPr/>
        </p:nvSpPr>
        <p:spPr>
          <a:xfrm>
            <a:off x="8092440" y="4480560"/>
            <a:ext cx="3291840" cy="457200"/>
          </a:xfrm>
          <a:prstGeom prst="rect">
            <a:avLst/>
          </a:prstGeom>
          <a:noFill/>
          <a:ln/>
        </p:spPr>
        <p:txBody>
          <a:bodyPr wrap="square" lIns="0" tIns="0" rIns="0" bIns="0" rtlCol="0" anchor="t"/>
          <a:lstStyle/>
          <a:p>
            <a:pPr indent="0" marL="0">
              <a:buNone/>
            </a:pPr>
            <a:r>
              <a:rPr lang="en-US" sz="1400" dirty="0">
                <a:solidFill>
                  <a:schemeClr val="bg1"/>
                </a:solidFill>
              </a:rPr>
              <a:t>Paid registrations and conference fees</a:t>
            </a:r>
            <a:endParaRPr lang="en-US" sz="1400" dirty="0"/>
          </a:p>
        </p:txBody>
      </p:sp>
      <p:sp>
        <p:nvSpPr>
          <p:cNvPr id="20" name="Text 18"/>
          <p:cNvSpPr txBox="1"/>
          <p:nvPr/>
        </p:nvSpPr>
        <p:spPr>
          <a:xfrm>
            <a:off x="8092440" y="49377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Roadmap: from registration to relationship</a:t>
            </a:r>
            <a:endParaRPr lang="en-US" sz="3200" dirty="0"/>
          </a:p>
        </p:txBody>
      </p:sp>
      <p:sp>
        <p:nvSpPr>
          <p:cNvPr id="3" name="circle-1"/>
          <p:cNvSpPr/>
          <p:nvPr/>
        </p:nvSpPr>
        <p:spPr>
          <a:xfrm>
            <a:off x="502920" y="1691640"/>
            <a:ext cx="420624" cy="420624"/>
          </a:xfrm>
          <a:prstGeom prst="ellipse">
            <a:avLst/>
          </a:prstGeom>
          <a:ln w="15875">
            <a:solidFill>
              <a:schemeClr val="tx1"/>
            </a:solidFill>
            <a:prstDash val="solid"/>
          </a:ln>
        </p:spPr>
      </p:sp>
      <p:sp>
        <p:nvSpPr>
          <p:cNvPr id="4" name="Text 2"/>
          <p:cNvSpPr txBox="1"/>
          <p:nvPr/>
        </p:nvSpPr>
        <p:spPr>
          <a:xfrm>
            <a:off x="502920" y="1691640"/>
            <a:ext cx="420624" cy="420624"/>
          </a:xfrm>
          <a:prstGeom prst="rect">
            <a:avLst/>
          </a:prstGeom>
          <a:noFill/>
          <a:ln/>
        </p:spPr>
        <p:txBody>
          <a:bodyPr wrap="square" lIns="0" tIns="0" rIns="0" bIns="0" rtlCol="0" anchor="ctr"/>
          <a:lstStyle/>
          <a:p>
            <a:pPr algn="ctr" indent="0" marL="0">
              <a:buNone/>
            </a:pPr>
            <a:r>
              <a:rPr lang="en-US" sz="1400" dirty="0">
                <a:solidFill>
                  <a:schemeClr val="tx1"/>
                </a:solidFill>
              </a:rPr>
              <a:t>1</a:t>
            </a:r>
            <a:endParaRPr lang="en-US" sz="1400" dirty="0"/>
          </a:p>
        </p:txBody>
      </p:sp>
      <p:sp>
        <p:nvSpPr>
          <p:cNvPr id="5" name="Text 3"/>
          <p:cNvSpPr txBox="1"/>
          <p:nvPr/>
        </p:nvSpPr>
        <p:spPr>
          <a:xfrm>
            <a:off x="502920" y="2286000"/>
            <a:ext cx="2606040" cy="384048"/>
          </a:xfrm>
          <a:prstGeom prst="rect">
            <a:avLst/>
          </a:prstGeom>
          <a:noFill/>
          <a:ln/>
        </p:spPr>
        <p:txBody>
          <a:bodyPr wrap="square" lIns="0" tIns="0" rIns="0" bIns="0" rtlCol="0" anchor="t"/>
          <a:lstStyle/>
          <a:p>
            <a:pPr indent="0" marL="0">
              <a:buNone/>
            </a:pPr>
            <a:r>
              <a:rPr lang="en-US" sz="1900" b="1" dirty="0">
                <a:solidFill>
                  <a:schemeClr val="tx1"/>
                </a:solidFill>
              </a:rPr>
              <a:t>Conferences</a:t>
            </a:r>
            <a:endParaRPr lang="en-US" sz="1900" dirty="0"/>
          </a:p>
        </p:txBody>
      </p:sp>
      <p:sp>
        <p:nvSpPr>
          <p:cNvPr id="6" name="Text 4"/>
          <p:cNvSpPr txBox="1"/>
          <p:nvPr/>
        </p:nvSpPr>
        <p:spPr>
          <a:xfrm>
            <a:off x="502920" y="2697480"/>
            <a:ext cx="2606040" cy="292608"/>
          </a:xfrm>
          <a:prstGeom prst="rect">
            <a:avLst/>
          </a:prstGeom>
          <a:noFill/>
          <a:ln/>
        </p:spPr>
        <p:txBody>
          <a:bodyPr wrap="square" lIns="0" tIns="0" rIns="0" bIns="0" rtlCol="0" anchor="t"/>
          <a:lstStyle/>
          <a:p>
            <a:pPr indent="0" marL="0">
              <a:buNone/>
            </a:pPr>
            <a:r>
              <a:rPr lang="en-US" sz="1300" b="1" dirty="0">
                <a:solidFill>
                  <a:schemeClr val="accent6"/>
                </a:solidFill>
              </a:rPr>
              <a:t>Weeks 3-12</a:t>
            </a:r>
            <a:endParaRPr lang="en-US" sz="1300" dirty="0"/>
          </a:p>
        </p:txBody>
      </p:sp>
      <p:sp>
        <p:nvSpPr>
          <p:cNvPr id="7" name="Text 5"/>
          <p:cNvSpPr txBox="1"/>
          <p:nvPr/>
        </p:nvSpPr>
        <p:spPr>
          <a:xfrm>
            <a:off x="50292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Sessions and speakers</a:t>
            </a:r>
            <a:endParaRPr lang="en-US" sz="1400" dirty="0"/>
          </a:p>
          <a:p>
            <a:pPr marL="342900" indent="-342900">
              <a:spcAft>
                <a:spcPts val="600"/>
              </a:spcAft>
              <a:buSzPct val="100000"/>
              <a:buChar char="•"/>
            </a:pPr>
            <a:r>
              <a:rPr lang="en-US" sz="1400" dirty="0">
                <a:solidFill>
                  <a:srgbClr val="4D4D4D"/>
                </a:solidFill>
              </a:rPr>
              <a:t>My Agenda and badges</a:t>
            </a:r>
            <a:endParaRPr lang="en-US" sz="1400" dirty="0"/>
          </a:p>
          <a:p>
            <a:pPr marL="342900" indent="-342900">
              <a:spcAft>
                <a:spcPts val="600"/>
              </a:spcAft>
              <a:buSzPct val="100000"/>
              <a:buChar char="•"/>
            </a:pPr>
            <a:r>
              <a:rPr lang="en-US" sz="1400" dirty="0">
                <a:solidFill>
                  <a:srgbClr val="4D4D4D"/>
                </a:solidFill>
              </a:rPr>
              <a:t>Certain retired</a:t>
            </a:r>
            <a:endParaRPr lang="en-US" sz="1400" dirty="0"/>
          </a:p>
        </p:txBody>
      </p:sp>
      <p:sp>
        <p:nvSpPr>
          <p:cNvPr id="8" name="circle-2"/>
          <p:cNvSpPr/>
          <p:nvPr/>
        </p:nvSpPr>
        <p:spPr>
          <a:xfrm>
            <a:off x="3337560" y="1691640"/>
            <a:ext cx="420624" cy="420624"/>
          </a:xfrm>
          <a:prstGeom prst="ellipse">
            <a:avLst/>
          </a:prstGeom>
          <a:ln w="15875">
            <a:solidFill>
              <a:schemeClr val="tx1"/>
            </a:solidFill>
            <a:prstDash val="solid"/>
          </a:ln>
        </p:spPr>
      </p:sp>
      <p:sp>
        <p:nvSpPr>
          <p:cNvPr id="9" name="Text 7"/>
          <p:cNvSpPr txBox="1"/>
          <p:nvPr/>
        </p:nvSpPr>
        <p:spPr>
          <a:xfrm>
            <a:off x="3337560" y="1691640"/>
            <a:ext cx="420624" cy="420624"/>
          </a:xfrm>
          <a:prstGeom prst="rect">
            <a:avLst/>
          </a:prstGeom>
          <a:noFill/>
          <a:ln/>
        </p:spPr>
        <p:txBody>
          <a:bodyPr wrap="square" lIns="0" tIns="0" rIns="0" bIns="0" rtlCol="0" anchor="ctr"/>
          <a:lstStyle/>
          <a:p>
            <a:pPr algn="ctr" indent="0" marL="0">
              <a:buNone/>
            </a:pPr>
            <a:r>
              <a:rPr lang="en-US" sz="1400" dirty="0">
                <a:solidFill>
                  <a:schemeClr val="tx1"/>
                </a:solidFill>
              </a:rPr>
              <a:t>2</a:t>
            </a:r>
            <a:endParaRPr lang="en-US" sz="1400" dirty="0"/>
          </a:p>
        </p:txBody>
      </p:sp>
      <p:sp>
        <p:nvSpPr>
          <p:cNvPr id="10" name="Text 8"/>
          <p:cNvSpPr txBox="1"/>
          <p:nvPr/>
        </p:nvSpPr>
        <p:spPr>
          <a:xfrm>
            <a:off x="3337560" y="2286000"/>
            <a:ext cx="2606040" cy="384048"/>
          </a:xfrm>
          <a:prstGeom prst="rect">
            <a:avLst/>
          </a:prstGeom>
          <a:noFill/>
          <a:ln/>
        </p:spPr>
        <p:txBody>
          <a:bodyPr wrap="square" lIns="0" tIns="0" rIns="0" bIns="0" rtlCol="0" anchor="t"/>
          <a:lstStyle/>
          <a:p>
            <a:pPr indent="0" marL="0">
              <a:buNone/>
            </a:pPr>
            <a:r>
              <a:rPr lang="en-US" sz="1900" b="1" dirty="0">
                <a:solidFill>
                  <a:schemeClr val="tx1"/>
                </a:solidFill>
              </a:rPr>
              <a:t>Classes improved</a:t>
            </a:r>
            <a:endParaRPr lang="en-US" sz="1900" dirty="0"/>
          </a:p>
        </p:txBody>
      </p:sp>
      <p:sp>
        <p:nvSpPr>
          <p:cNvPr id="11" name="Text 9"/>
          <p:cNvSpPr txBox="1"/>
          <p:nvPr/>
        </p:nvSpPr>
        <p:spPr>
          <a:xfrm>
            <a:off x="3337560" y="2697480"/>
            <a:ext cx="2606040" cy="292608"/>
          </a:xfrm>
          <a:prstGeom prst="rect">
            <a:avLst/>
          </a:prstGeom>
          <a:noFill/>
          <a:ln/>
        </p:spPr>
        <p:txBody>
          <a:bodyPr wrap="square" lIns="0" tIns="0" rIns="0" bIns="0" rtlCol="0" anchor="t"/>
          <a:lstStyle/>
          <a:p>
            <a:pPr indent="0" marL="0">
              <a:buNone/>
            </a:pPr>
            <a:r>
              <a:rPr lang="en-US" sz="1300" b="1" dirty="0">
                <a:solidFill>
                  <a:schemeClr val="accent3"/>
                </a:solidFill>
              </a:rPr>
              <a:t>Weeks 13-20</a:t>
            </a:r>
            <a:endParaRPr lang="en-US" sz="1300" dirty="0"/>
          </a:p>
        </p:txBody>
      </p:sp>
      <p:sp>
        <p:nvSpPr>
          <p:cNvPr id="12" name="Text 10"/>
          <p:cNvSpPr txBox="1"/>
          <p:nvPr/>
        </p:nvSpPr>
        <p:spPr>
          <a:xfrm>
            <a:off x="333756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Shared event model</a:t>
            </a:r>
            <a:endParaRPr lang="en-US" sz="1400" dirty="0"/>
          </a:p>
          <a:p>
            <a:pPr marL="342900" indent="-342900">
              <a:spcAft>
                <a:spcPts val="600"/>
              </a:spcAft>
              <a:buSzPct val="100000"/>
              <a:buChar char="•"/>
            </a:pPr>
            <a:r>
              <a:rPr lang="en-US" sz="1400" dirty="0">
                <a:solidFill>
                  <a:srgbClr val="4D4D4D"/>
                </a:solidFill>
              </a:rPr>
              <a:t>Instant confirmation, waitlists</a:t>
            </a:r>
            <a:endParaRPr lang="en-US" sz="1400" dirty="0"/>
          </a:p>
          <a:p>
            <a:pPr marL="342900" indent="-342900">
              <a:spcAft>
                <a:spcPts val="600"/>
              </a:spcAft>
              <a:buSzPct val="100000"/>
              <a:buChar char="•"/>
            </a:pPr>
            <a:r>
              <a:rPr lang="en-US" sz="1400" dirty="0">
                <a:solidFill>
                  <a:srgbClr val="4D4D4D"/>
                </a:solidFill>
              </a:rPr>
              <a:t>Check-in and reporting</a:t>
            </a:r>
            <a:endParaRPr lang="en-US" sz="1400" dirty="0"/>
          </a:p>
        </p:txBody>
      </p:sp>
      <p:sp>
        <p:nvSpPr>
          <p:cNvPr id="13" name="circle-3"/>
          <p:cNvSpPr/>
          <p:nvPr/>
        </p:nvSpPr>
        <p:spPr>
          <a:xfrm>
            <a:off x="6172200" y="1691640"/>
            <a:ext cx="420624" cy="420624"/>
          </a:xfrm>
          <a:prstGeom prst="ellipse">
            <a:avLst/>
          </a:prstGeom>
          <a:ln w="15875">
            <a:solidFill>
              <a:schemeClr val="tx1"/>
            </a:solidFill>
            <a:prstDash val="solid"/>
          </a:ln>
        </p:spPr>
      </p:sp>
      <p:sp>
        <p:nvSpPr>
          <p:cNvPr id="14" name="Text 12"/>
          <p:cNvSpPr txBox="1"/>
          <p:nvPr/>
        </p:nvSpPr>
        <p:spPr>
          <a:xfrm>
            <a:off x="6172200" y="1691640"/>
            <a:ext cx="420624" cy="420624"/>
          </a:xfrm>
          <a:prstGeom prst="rect">
            <a:avLst/>
          </a:prstGeom>
          <a:noFill/>
          <a:ln/>
        </p:spPr>
        <p:txBody>
          <a:bodyPr wrap="square" lIns="0" tIns="0" rIns="0" bIns="0" rtlCol="0" anchor="ctr"/>
          <a:lstStyle/>
          <a:p>
            <a:pPr algn="ctr" indent="0" marL="0">
              <a:buNone/>
            </a:pPr>
            <a:r>
              <a:rPr lang="en-US" sz="1400" dirty="0">
                <a:solidFill>
                  <a:schemeClr val="tx1"/>
                </a:solidFill>
              </a:rPr>
              <a:t>3</a:t>
            </a:r>
            <a:endParaRPr lang="en-US" sz="1400" dirty="0"/>
          </a:p>
        </p:txBody>
      </p:sp>
      <p:sp>
        <p:nvSpPr>
          <p:cNvPr id="15" name="Text 13"/>
          <p:cNvSpPr txBox="1"/>
          <p:nvPr/>
        </p:nvSpPr>
        <p:spPr>
          <a:xfrm>
            <a:off x="6172200" y="2286000"/>
            <a:ext cx="2606040" cy="384048"/>
          </a:xfrm>
          <a:prstGeom prst="rect">
            <a:avLst/>
          </a:prstGeom>
          <a:noFill/>
          <a:ln/>
        </p:spPr>
        <p:txBody>
          <a:bodyPr wrap="square" lIns="0" tIns="0" rIns="0" bIns="0" rtlCol="0" anchor="t"/>
          <a:lstStyle/>
          <a:p>
            <a:pPr indent="0" marL="0">
              <a:buNone/>
            </a:pPr>
            <a:r>
              <a:rPr lang="en-US" sz="1900" b="1" dirty="0">
                <a:solidFill>
                  <a:schemeClr val="tx1"/>
                </a:solidFill>
              </a:rPr>
              <a:t>Engagement</a:t>
            </a:r>
            <a:endParaRPr lang="en-US" sz="1900" dirty="0"/>
          </a:p>
        </p:txBody>
      </p:sp>
      <p:sp>
        <p:nvSpPr>
          <p:cNvPr id="16" name="Text 14"/>
          <p:cNvSpPr txBox="1"/>
          <p:nvPr/>
        </p:nvSpPr>
        <p:spPr>
          <a:xfrm>
            <a:off x="6172200" y="2697480"/>
            <a:ext cx="2606040" cy="292608"/>
          </a:xfrm>
          <a:prstGeom prst="rect">
            <a:avLst/>
          </a:prstGeom>
          <a:noFill/>
          <a:ln/>
        </p:spPr>
        <p:txBody>
          <a:bodyPr wrap="square" lIns="0" tIns="0" rIns="0" bIns="0" rtlCol="0" anchor="t"/>
          <a:lstStyle/>
          <a:p>
            <a:pPr indent="0" marL="0">
              <a:buNone/>
            </a:pPr>
            <a:r>
              <a:rPr lang="en-US" sz="1300" b="1" dirty="0">
                <a:solidFill>
                  <a:schemeClr val="accent5"/>
                </a:solidFill>
              </a:rPr>
              <a:t>From Phase 2 go-live</a:t>
            </a:r>
            <a:endParaRPr lang="en-US" sz="1300" dirty="0"/>
          </a:p>
        </p:txBody>
      </p:sp>
      <p:sp>
        <p:nvSpPr>
          <p:cNvPr id="17" name="Text 15"/>
          <p:cNvSpPr txBox="1"/>
          <p:nvPr/>
        </p:nvSpPr>
        <p:spPr>
          <a:xfrm>
            <a:off x="617220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PEI journeys by service line</a:t>
            </a:r>
            <a:endParaRPr lang="en-US" sz="1400" dirty="0"/>
          </a:p>
          <a:p>
            <a:pPr marL="342900" indent="-342900">
              <a:spcAft>
                <a:spcPts val="600"/>
              </a:spcAft>
              <a:buSzPct val="100000"/>
              <a:buChar char="•"/>
            </a:pPr>
            <a:r>
              <a:rPr lang="en-US" sz="1400" dirty="0">
                <a:solidFill>
                  <a:srgbClr val="4D4D4D"/>
                </a:solidFill>
              </a:rPr>
              <a:t>App adoption campaigns</a:t>
            </a:r>
            <a:endParaRPr lang="en-US" sz="1400" dirty="0"/>
          </a:p>
          <a:p>
            <a:pPr marL="342900" indent="-342900">
              <a:spcAft>
                <a:spcPts val="600"/>
              </a:spcAft>
              <a:buSzPct val="100000"/>
              <a:buChar char="•"/>
            </a:pPr>
            <a:r>
              <a:rPr lang="en-US" sz="1400" dirty="0">
                <a:solidFill>
                  <a:srgbClr val="4D4D4D"/>
                </a:solidFill>
              </a:rPr>
              <a:t>Find-a-doctor nurture</a:t>
            </a:r>
            <a:endParaRPr lang="en-US" sz="1400" dirty="0"/>
          </a:p>
        </p:txBody>
      </p:sp>
      <p:sp>
        <p:nvSpPr>
          <p:cNvPr id="18" name="circle-4"/>
          <p:cNvSpPr/>
          <p:nvPr/>
        </p:nvSpPr>
        <p:spPr>
          <a:xfrm>
            <a:off x="9006840" y="1691640"/>
            <a:ext cx="420624" cy="420624"/>
          </a:xfrm>
          <a:prstGeom prst="ellipse">
            <a:avLst/>
          </a:prstGeom>
          <a:ln w="15875">
            <a:solidFill>
              <a:schemeClr val="tx1"/>
            </a:solidFill>
            <a:prstDash val="solid"/>
          </a:ln>
        </p:spPr>
      </p:sp>
      <p:sp>
        <p:nvSpPr>
          <p:cNvPr id="19" name="Text 17"/>
          <p:cNvSpPr txBox="1"/>
          <p:nvPr/>
        </p:nvSpPr>
        <p:spPr>
          <a:xfrm>
            <a:off x="9006840" y="1691640"/>
            <a:ext cx="420624" cy="420624"/>
          </a:xfrm>
          <a:prstGeom prst="rect">
            <a:avLst/>
          </a:prstGeom>
          <a:noFill/>
          <a:ln/>
        </p:spPr>
        <p:txBody>
          <a:bodyPr wrap="square" lIns="0" tIns="0" rIns="0" bIns="0" rtlCol="0" anchor="ctr"/>
          <a:lstStyle/>
          <a:p>
            <a:pPr algn="ctr" indent="0" marL="0">
              <a:buNone/>
            </a:pPr>
            <a:r>
              <a:rPr lang="en-US" sz="1400" dirty="0">
                <a:solidFill>
                  <a:schemeClr val="tx1"/>
                </a:solidFill>
              </a:rPr>
              <a:t>4</a:t>
            </a:r>
            <a:endParaRPr lang="en-US" sz="1400" dirty="0"/>
          </a:p>
        </p:txBody>
      </p:sp>
      <p:sp>
        <p:nvSpPr>
          <p:cNvPr id="20" name="Text 18"/>
          <p:cNvSpPr txBox="1"/>
          <p:nvPr/>
        </p:nvSpPr>
        <p:spPr>
          <a:xfrm>
            <a:off x="9006840" y="2286000"/>
            <a:ext cx="2606040" cy="384048"/>
          </a:xfrm>
          <a:prstGeom prst="rect">
            <a:avLst/>
          </a:prstGeom>
          <a:noFill/>
          <a:ln/>
        </p:spPr>
        <p:txBody>
          <a:bodyPr wrap="square" lIns="0" tIns="0" rIns="0" bIns="0" rtlCol="0" anchor="t"/>
          <a:lstStyle/>
          <a:p>
            <a:pPr indent="0" marL="0">
              <a:buNone/>
            </a:pPr>
            <a:r>
              <a:rPr lang="en-US" sz="1900" b="1" dirty="0">
                <a:solidFill>
                  <a:schemeClr val="tx1"/>
                </a:solidFill>
              </a:rPr>
              <a:t>AI agents</a:t>
            </a:r>
            <a:endParaRPr lang="en-US" sz="1900" dirty="0"/>
          </a:p>
        </p:txBody>
      </p:sp>
      <p:sp>
        <p:nvSpPr>
          <p:cNvPr id="21" name="Text 19"/>
          <p:cNvSpPr txBox="1"/>
          <p:nvPr/>
        </p:nvSpPr>
        <p:spPr>
          <a:xfrm>
            <a:off x="9006840" y="2697480"/>
            <a:ext cx="2606040" cy="292608"/>
          </a:xfrm>
          <a:prstGeom prst="rect">
            <a:avLst/>
          </a:prstGeom>
          <a:noFill/>
          <a:ln/>
        </p:spPr>
        <p:txBody>
          <a:bodyPr wrap="square" lIns="0" tIns="0" rIns="0" bIns="0" rtlCol="0" anchor="t"/>
          <a:lstStyle/>
          <a:p>
            <a:pPr indent="0" marL="0">
              <a:buNone/>
            </a:pPr>
            <a:r>
              <a:rPr lang="en-US" sz="1300" b="1" dirty="0">
                <a:solidFill>
                  <a:schemeClr val="accent4"/>
                </a:solidFill>
              </a:rPr>
              <a:t>Week 21+</a:t>
            </a:r>
            <a:endParaRPr lang="en-US" sz="1300" dirty="0"/>
          </a:p>
        </p:txBody>
      </p:sp>
      <p:sp>
        <p:nvSpPr>
          <p:cNvPr id="22" name="Text 20"/>
          <p:cNvSpPr txBox="1"/>
          <p:nvPr/>
        </p:nvSpPr>
        <p:spPr>
          <a:xfrm>
            <a:off x="900684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Agents in a controlled harness</a:t>
            </a:r>
            <a:endParaRPr lang="en-US" sz="1400" dirty="0"/>
          </a:p>
          <a:p>
            <a:pPr marL="342900" indent="-342900">
              <a:spcAft>
                <a:spcPts val="600"/>
              </a:spcAft>
              <a:buSzPct val="100000"/>
              <a:buChar char="•"/>
            </a:pPr>
            <a:r>
              <a:rPr lang="en-US" sz="1400" dirty="0">
                <a:solidFill>
                  <a:srgbClr val="4D4D4D"/>
                </a:solidFill>
              </a:rPr>
              <a:t>Demand and campaign agents</a:t>
            </a:r>
            <a:endParaRPr lang="en-US" sz="1400" dirty="0"/>
          </a:p>
          <a:p>
            <a:pPr marL="342900" indent="-342900">
              <a:spcAft>
                <a:spcPts val="600"/>
              </a:spcAft>
              <a:buSzPct val="100000"/>
              <a:buChar char="•"/>
            </a:pPr>
            <a:r>
              <a:rPr lang="en-US" sz="1400" dirty="0">
                <a:solidFill>
                  <a:srgbClr val="4D4D4D"/>
                </a:solidFill>
              </a:rPr>
              <a:t>Concierge on web, app and SMS</a:t>
            </a:r>
            <a:endParaRPr lang="en-US" sz="1400" dirty="0"/>
          </a:p>
        </p:txBody>
      </p:sp>
      <p:sp>
        <p:nvSpPr>
          <p:cNvPr id="23" name="Text 21"/>
          <p:cNvSpPr txBox="1"/>
          <p:nvPr/>
        </p:nvSpPr>
        <p:spPr>
          <a:xfrm>
            <a:off x="502920" y="5257800"/>
            <a:ext cx="11185855" cy="365760"/>
          </a:xfrm>
          <a:prstGeom prst="rect">
            <a:avLst/>
          </a:prstGeom>
          <a:noFill/>
          <a:ln/>
        </p:spPr>
        <p:txBody>
          <a:bodyPr wrap="square" lIns="0" tIns="0" rIns="0" bIns="0" rtlCol="0" anchor="t"/>
          <a:lstStyle/>
          <a:p>
            <a:pPr indent="0" marL="0">
              <a:buNone/>
            </a:pPr>
            <a:r>
              <a:rPr lang="en-US" sz="1400" b="1" dirty="0">
                <a:solidFill>
                  <a:schemeClr val="tx1"/>
                </a:solidFill>
              </a:rPr>
              <a:t>Phases 1 and 2 solve today’s problem. Phases 3 and 4 grow engagement and the network on the same platform.</a:t>
            </a:r>
            <a:endParaRPr lang="en-US" sz="14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Future state: AI agents in a controlled harness</a:t>
            </a:r>
            <a:endParaRPr lang="en-US" sz="3200" dirty="0"/>
          </a:p>
        </p:txBody>
      </p:sp>
      <p:sp>
        <p:nvSpPr>
          <p:cNvPr id="3" name="Text 1"/>
          <p:cNvSpPr txBox="1"/>
          <p:nvPr/>
        </p:nvSpPr>
        <p:spPr>
          <a:xfrm>
            <a:off x="502920" y="1325880"/>
            <a:ext cx="8229600" cy="320040"/>
          </a:xfrm>
          <a:prstGeom prst="rect">
            <a:avLst/>
          </a:prstGeom>
          <a:noFill/>
          <a:ln/>
        </p:spPr>
        <p:txBody>
          <a:bodyPr wrap="square" lIns="0" tIns="0" rIns="0" bIns="0" rtlCol="0" anchor="t"/>
          <a:lstStyle/>
          <a:p>
            <a:pPr indent="0" marL="0">
              <a:buNone/>
            </a:pPr>
            <a:r>
              <a:rPr lang="en-US" sz="1400" dirty="0">
                <a:solidFill>
                  <a:srgbClr val="BFBFBF"/>
                </a:solidFill>
              </a:rPr>
              <a:t>Phase 4, after the core platform is stable. Agentforce and Data Cloud [to confirm].</a:t>
            </a:r>
            <a:endParaRPr lang="en-US" sz="1400" dirty="0"/>
          </a:p>
        </p:txBody>
      </p:sp>
      <p:sp>
        <p:nvSpPr>
          <p:cNvPr id="4" name="Shape 2"/>
          <p:cNvSpPr/>
          <p:nvPr/>
        </p:nvSpPr>
        <p:spPr>
          <a:xfrm>
            <a:off x="2194560" y="2148840"/>
            <a:ext cx="3657600" cy="3657600"/>
          </a:xfrm>
          <a:prstGeom prst="ellipse">
            <a:avLst/>
          </a:prstGeom>
          <a:ln w="12700">
            <a:solidFill>
              <a:srgbClr val="5A5A64"/>
            </a:solidFill>
            <a:prstDash val="sysDot"/>
          </a:ln>
        </p:spPr>
      </p:sp>
      <p:sp>
        <p:nvSpPr>
          <p:cNvPr id="5" name="harness"/>
          <p:cNvSpPr/>
          <p:nvPr/>
        </p:nvSpPr>
        <p:spPr>
          <a:xfrm>
            <a:off x="2834640" y="2788920"/>
            <a:ext cx="2377440" cy="2377440"/>
          </a:xfrm>
          <a:prstGeom prst="ellipse">
            <a:avLst/>
          </a:prstGeom>
          <a:solidFill>
            <a:srgbClr val="0E1A1D"/>
          </a:solidFill>
          <a:ln w="28575">
            <a:solidFill>
              <a:srgbClr val="00D6F2"/>
            </a:solidFill>
            <a:prstDash val="solid"/>
          </a:ln>
        </p:spPr>
      </p:sp>
      <p:sp>
        <p:nvSpPr>
          <p:cNvPr id="6" name="Text 4"/>
          <p:cNvSpPr txBox="1"/>
          <p:nvPr/>
        </p:nvSpPr>
        <p:spPr>
          <a:xfrm>
            <a:off x="3108960" y="2953512"/>
            <a:ext cx="1828800" cy="256032"/>
          </a:xfrm>
          <a:prstGeom prst="rect">
            <a:avLst/>
          </a:prstGeom>
          <a:noFill/>
          <a:ln/>
        </p:spPr>
        <p:txBody>
          <a:bodyPr wrap="square" lIns="0" tIns="0" rIns="0" bIns="0" rtlCol="0" anchor="t"/>
          <a:lstStyle/>
          <a:p>
            <a:pPr algn="ctr" indent="0" marL="0">
              <a:buNone/>
            </a:pPr>
            <a:r>
              <a:rPr lang="en-US" sz="1000" b="1" spc="400" kern="0" dirty="0">
                <a:solidFill>
                  <a:srgbClr val="00D6F2"/>
                </a:solidFill>
              </a:rPr>
              <a:t>HARNESS</a:t>
            </a:r>
            <a:endParaRPr lang="en-US" sz="1000" dirty="0"/>
          </a:p>
        </p:txBody>
      </p:sp>
      <p:sp>
        <p:nvSpPr>
          <p:cNvPr id="7" name="platform"/>
          <p:cNvSpPr/>
          <p:nvPr/>
        </p:nvSpPr>
        <p:spPr>
          <a:xfrm>
            <a:off x="3291840" y="3319272"/>
            <a:ext cx="1463040" cy="1463040"/>
          </a:xfrm>
          <a:prstGeom prst="ellipse">
            <a:avLst/>
          </a:prstGeom>
          <a:solidFill>
            <a:srgbClr val="00D6F2"/>
          </a:solidFill>
          <a:ln w="12700">
            <a:solidFill>
              <a:srgbClr val="00D6F2"/>
            </a:solidFill>
            <a:prstDash val="solid"/>
          </a:ln>
        </p:spPr>
      </p:sp>
      <p:sp>
        <p:nvSpPr>
          <p:cNvPr id="8" name="Text 6"/>
          <p:cNvSpPr txBox="1"/>
          <p:nvPr/>
        </p:nvSpPr>
        <p:spPr>
          <a:xfrm>
            <a:off x="3401568" y="3520440"/>
            <a:ext cx="1243584" cy="1060704"/>
          </a:xfrm>
          <a:prstGeom prst="rect">
            <a:avLst/>
          </a:prstGeom>
          <a:noFill/>
          <a:ln/>
        </p:spPr>
        <p:txBody>
          <a:bodyPr wrap="square" lIns="0" tIns="0" rIns="0" bIns="0" rtlCol="0" anchor="ctr"/>
          <a:lstStyle/>
          <a:p>
            <a:pPr algn="ctr" indent="0" marL="0">
              <a:buNone/>
            </a:pPr>
            <a:r>
              <a:rPr lang="en-US" sz="1150" b="1" dirty="0">
                <a:solidFill>
                  <a:srgbClr val="000000"/>
                </a:solidFill>
              </a:rPr>
              <a:t>Event platform + Marketing Cloud</a:t>
            </a:r>
            <a:endParaRPr lang="en-US" sz="1150" dirty="0"/>
          </a:p>
        </p:txBody>
      </p:sp>
      <p:sp>
        <p:nvSpPr>
          <p:cNvPr id="9" name="Shape 7"/>
          <p:cNvSpPr/>
          <p:nvPr/>
        </p:nvSpPr>
        <p:spPr>
          <a:xfrm flipH="1">
            <a:off x="4023360" y="2560320"/>
            <a:ext cx="0" cy="228600"/>
          </a:xfrm>
          <a:prstGeom prst="line">
            <a:avLst/>
          </a:prstGeom>
          <a:noFill/>
          <a:ln w="15875">
            <a:solidFill>
              <a:srgbClr val="FED700"/>
            </a:solidFill>
            <a:prstDash val="dash"/>
          </a:ln>
        </p:spPr>
      </p:sp>
      <p:sp>
        <p:nvSpPr>
          <p:cNvPr id="10" name="agent-Event Ops"/>
          <p:cNvSpPr/>
          <p:nvPr/>
        </p:nvSpPr>
        <p:spPr>
          <a:xfrm>
            <a:off x="3611880" y="1737360"/>
            <a:ext cx="822960" cy="822960"/>
          </a:xfrm>
          <a:prstGeom prst="ellipse">
            <a:avLst/>
          </a:prstGeom>
          <a:solidFill>
            <a:srgbClr val="15151A"/>
          </a:solidFill>
          <a:ln w="22225">
            <a:solidFill>
              <a:srgbClr val="FED700"/>
            </a:solidFill>
            <a:prstDash val="solid"/>
          </a:ln>
        </p:spPr>
      </p:sp>
      <p:pic>
        <p:nvPicPr>
          <p:cNvPr id="11" name="Image 0" descr="preencoded.png">    </p:cNvPr>
          <p:cNvPicPr>
            <a:picLocks noChangeAspect="1"/>
          </p:cNvPicPr>
          <p:nvPr/>
        </p:nvPicPr>
        <p:blipFill>
          <a:blip r:embed="rId1"/>
          <a:stretch>
            <a:fillRect/>
          </a:stretch>
        </p:blipFill>
        <p:spPr>
          <a:xfrm>
            <a:off x="3849624" y="1975104"/>
            <a:ext cx="347472" cy="347472"/>
          </a:xfrm>
          <a:prstGeom prst="rect">
            <a:avLst/>
          </a:prstGeom>
        </p:spPr>
      </p:pic>
      <p:sp>
        <p:nvSpPr>
          <p:cNvPr id="12" name="Text 9"/>
          <p:cNvSpPr txBox="1"/>
          <p:nvPr/>
        </p:nvSpPr>
        <p:spPr>
          <a:xfrm>
            <a:off x="4544568" y="1856232"/>
            <a:ext cx="1828800" cy="274320"/>
          </a:xfrm>
          <a:prstGeom prst="rect">
            <a:avLst/>
          </a:prstGeom>
          <a:noFill/>
          <a:ln/>
        </p:spPr>
        <p:txBody>
          <a:bodyPr wrap="square" lIns="0" tIns="0" rIns="0" bIns="0" rtlCol="0" anchor="t"/>
          <a:lstStyle/>
          <a:p>
            <a:pPr algn="l" indent="0" marL="0">
              <a:buNone/>
            </a:pPr>
            <a:r>
              <a:rPr lang="en-US" sz="1300" b="1" dirty="0">
                <a:solidFill>
                  <a:schemeClr val="bg1"/>
                </a:solidFill>
              </a:rPr>
              <a:t>Event Ops</a:t>
            </a:r>
            <a:endParaRPr lang="en-US" sz="1300" dirty="0"/>
          </a:p>
        </p:txBody>
      </p:sp>
      <p:sp>
        <p:nvSpPr>
          <p:cNvPr id="13" name="Text 10"/>
          <p:cNvSpPr txBox="1"/>
          <p:nvPr/>
        </p:nvSpPr>
        <p:spPr>
          <a:xfrm>
            <a:off x="4544568" y="2130552"/>
            <a:ext cx="1828800" cy="603504"/>
          </a:xfrm>
          <a:prstGeom prst="rect">
            <a:avLst/>
          </a:prstGeom>
          <a:noFill/>
          <a:ln/>
        </p:spPr>
        <p:txBody>
          <a:bodyPr wrap="square" lIns="0" tIns="0" rIns="0" bIns="0" rtlCol="0" anchor="t"/>
          <a:lstStyle/>
          <a:p>
            <a:pPr algn="l" indent="0" marL="0">
              <a:buNone/>
            </a:pPr>
            <a:r>
              <a:rPr lang="en-US" sz="1050" dirty="0">
                <a:solidFill>
                  <a:srgbClr val="BFBFBF"/>
                </a:solidFill>
              </a:rPr>
              <a:t>Sessions, capacity, reminders</a:t>
            </a:r>
            <a:endParaRPr lang="en-US" sz="1050" dirty="0"/>
          </a:p>
        </p:txBody>
      </p:sp>
      <p:sp>
        <p:nvSpPr>
          <p:cNvPr id="14" name="Shape 11"/>
          <p:cNvSpPr/>
          <p:nvPr/>
        </p:nvSpPr>
        <p:spPr>
          <a:xfrm flipH="1">
            <a:off x="5153900" y="3539664"/>
            <a:ext cx="217412" cy="70641"/>
          </a:xfrm>
          <a:prstGeom prst="line">
            <a:avLst/>
          </a:prstGeom>
          <a:noFill/>
          <a:ln w="15875">
            <a:solidFill>
              <a:srgbClr val="FF0068"/>
            </a:solidFill>
            <a:prstDash val="dash"/>
          </a:ln>
        </p:spPr>
      </p:sp>
      <p:sp>
        <p:nvSpPr>
          <p:cNvPr id="15" name="agent-Demand"/>
          <p:cNvSpPr/>
          <p:nvPr/>
        </p:nvSpPr>
        <p:spPr>
          <a:xfrm>
            <a:off x="5351172" y="3001030"/>
            <a:ext cx="822960" cy="822960"/>
          </a:xfrm>
          <a:prstGeom prst="ellipse">
            <a:avLst/>
          </a:prstGeom>
          <a:solidFill>
            <a:srgbClr val="15151A"/>
          </a:solidFill>
          <a:ln w="22225">
            <a:solidFill>
              <a:srgbClr val="FF0068"/>
            </a:solidFill>
            <a:prstDash val="solid"/>
          </a:ln>
        </p:spPr>
      </p:sp>
      <p:pic>
        <p:nvPicPr>
          <p:cNvPr id="16" name="Image 1" descr="preencoded.png">    </p:cNvPr>
          <p:cNvPicPr>
            <a:picLocks noChangeAspect="1"/>
          </p:cNvPicPr>
          <p:nvPr/>
        </p:nvPicPr>
        <p:blipFill>
          <a:blip r:embed="rId2"/>
          <a:stretch>
            <a:fillRect/>
          </a:stretch>
        </p:blipFill>
        <p:spPr>
          <a:xfrm>
            <a:off x="5588916" y="3238774"/>
            <a:ext cx="347472" cy="347472"/>
          </a:xfrm>
          <a:prstGeom prst="rect">
            <a:avLst/>
          </a:prstGeom>
        </p:spPr>
      </p:pic>
      <p:sp>
        <p:nvSpPr>
          <p:cNvPr id="17" name="Text 13"/>
          <p:cNvSpPr txBox="1"/>
          <p:nvPr/>
        </p:nvSpPr>
        <p:spPr>
          <a:xfrm>
            <a:off x="6283860" y="3119902"/>
            <a:ext cx="1214220" cy="274320"/>
          </a:xfrm>
          <a:prstGeom prst="rect">
            <a:avLst/>
          </a:prstGeom>
          <a:noFill/>
          <a:ln/>
        </p:spPr>
        <p:txBody>
          <a:bodyPr wrap="square" lIns="0" tIns="0" rIns="0" bIns="0" rtlCol="0" anchor="t"/>
          <a:lstStyle/>
          <a:p>
            <a:pPr algn="l" indent="0" marL="0">
              <a:buNone/>
            </a:pPr>
            <a:r>
              <a:rPr lang="en-US" sz="1300" b="1" dirty="0">
                <a:solidFill>
                  <a:schemeClr val="bg1"/>
                </a:solidFill>
              </a:rPr>
              <a:t>Demand</a:t>
            </a:r>
            <a:endParaRPr lang="en-US" sz="1300" dirty="0"/>
          </a:p>
        </p:txBody>
      </p:sp>
      <p:sp>
        <p:nvSpPr>
          <p:cNvPr id="18" name="Text 14"/>
          <p:cNvSpPr txBox="1"/>
          <p:nvPr/>
        </p:nvSpPr>
        <p:spPr>
          <a:xfrm>
            <a:off x="6283860" y="3394222"/>
            <a:ext cx="1214220" cy="603504"/>
          </a:xfrm>
          <a:prstGeom prst="rect">
            <a:avLst/>
          </a:prstGeom>
          <a:noFill/>
          <a:ln/>
        </p:spPr>
        <p:txBody>
          <a:bodyPr wrap="square" lIns="0" tIns="0" rIns="0" bIns="0" rtlCol="0" anchor="t"/>
          <a:lstStyle/>
          <a:p>
            <a:pPr algn="l" indent="0" marL="0">
              <a:buNone/>
            </a:pPr>
            <a:r>
              <a:rPr lang="en-US" sz="1050" dirty="0">
                <a:solidFill>
                  <a:srgbClr val="BFBFBF"/>
                </a:solidFill>
              </a:rPr>
              <a:t>Spots surges, drafts new dates</a:t>
            </a:r>
            <a:endParaRPr lang="en-US" sz="1050" dirty="0"/>
          </a:p>
        </p:txBody>
      </p:sp>
      <p:sp>
        <p:nvSpPr>
          <p:cNvPr id="19" name="Shape 15"/>
          <p:cNvSpPr/>
          <p:nvPr/>
        </p:nvSpPr>
        <p:spPr>
          <a:xfrm>
            <a:off x="4722072" y="4939335"/>
            <a:ext cx="134368" cy="184941"/>
          </a:xfrm>
          <a:prstGeom prst="line">
            <a:avLst/>
          </a:prstGeom>
          <a:noFill/>
          <a:ln w="15875">
            <a:solidFill>
              <a:srgbClr val="FED700"/>
            </a:solidFill>
            <a:prstDash val="dash"/>
          </a:ln>
        </p:spPr>
      </p:sp>
      <p:sp>
        <p:nvSpPr>
          <p:cNvPr id="20" name="agent-Campaign"/>
          <p:cNvSpPr/>
          <p:nvPr/>
        </p:nvSpPr>
        <p:spPr>
          <a:xfrm>
            <a:off x="4686822" y="5045690"/>
            <a:ext cx="822960" cy="822960"/>
          </a:xfrm>
          <a:prstGeom prst="ellipse">
            <a:avLst/>
          </a:prstGeom>
          <a:solidFill>
            <a:srgbClr val="15151A"/>
          </a:solidFill>
          <a:ln w="22225">
            <a:solidFill>
              <a:srgbClr val="FED700"/>
            </a:solidFill>
            <a:prstDash val="solid"/>
          </a:ln>
        </p:spPr>
      </p:sp>
      <p:pic>
        <p:nvPicPr>
          <p:cNvPr id="21" name="Image 2" descr="preencoded.png">    </p:cNvPr>
          <p:cNvPicPr>
            <a:picLocks noChangeAspect="1"/>
          </p:cNvPicPr>
          <p:nvPr/>
        </p:nvPicPr>
        <p:blipFill>
          <a:blip r:embed="rId3"/>
          <a:stretch>
            <a:fillRect/>
          </a:stretch>
        </p:blipFill>
        <p:spPr>
          <a:xfrm>
            <a:off x="4924566" y="5283434"/>
            <a:ext cx="347472" cy="347472"/>
          </a:xfrm>
          <a:prstGeom prst="rect">
            <a:avLst/>
          </a:prstGeom>
        </p:spPr>
      </p:pic>
      <p:sp>
        <p:nvSpPr>
          <p:cNvPr id="22" name="Text 17"/>
          <p:cNvSpPr txBox="1"/>
          <p:nvPr/>
        </p:nvSpPr>
        <p:spPr>
          <a:xfrm>
            <a:off x="5619510" y="5164562"/>
            <a:ext cx="1828800" cy="274320"/>
          </a:xfrm>
          <a:prstGeom prst="rect">
            <a:avLst/>
          </a:prstGeom>
          <a:noFill/>
          <a:ln/>
        </p:spPr>
        <p:txBody>
          <a:bodyPr wrap="square" lIns="0" tIns="0" rIns="0" bIns="0" rtlCol="0" anchor="t"/>
          <a:lstStyle/>
          <a:p>
            <a:pPr algn="l" indent="0" marL="0">
              <a:buNone/>
            </a:pPr>
            <a:r>
              <a:rPr lang="en-US" sz="1300" b="1" dirty="0">
                <a:solidFill>
                  <a:schemeClr val="bg1"/>
                </a:solidFill>
              </a:rPr>
              <a:t>Campaign</a:t>
            </a:r>
            <a:endParaRPr lang="en-US" sz="1300" dirty="0"/>
          </a:p>
        </p:txBody>
      </p:sp>
      <p:sp>
        <p:nvSpPr>
          <p:cNvPr id="23" name="Text 18"/>
          <p:cNvSpPr txBox="1"/>
          <p:nvPr/>
        </p:nvSpPr>
        <p:spPr>
          <a:xfrm>
            <a:off x="5619510" y="5438882"/>
            <a:ext cx="1828800" cy="603504"/>
          </a:xfrm>
          <a:prstGeom prst="rect">
            <a:avLst/>
          </a:prstGeom>
          <a:noFill/>
          <a:ln/>
        </p:spPr>
        <p:txBody>
          <a:bodyPr wrap="square" lIns="0" tIns="0" rIns="0" bIns="0" rtlCol="0" anchor="t"/>
          <a:lstStyle/>
          <a:p>
            <a:pPr algn="l" indent="0" marL="0">
              <a:buNone/>
            </a:pPr>
            <a:r>
              <a:rPr lang="en-US" sz="1050" dirty="0">
                <a:solidFill>
                  <a:srgbClr val="BFBFBF"/>
                </a:solidFill>
              </a:rPr>
              <a:t>Builds PEI journeys</a:t>
            </a:r>
            <a:endParaRPr lang="en-US" sz="1050" dirty="0"/>
          </a:p>
        </p:txBody>
      </p:sp>
      <p:sp>
        <p:nvSpPr>
          <p:cNvPr id="24" name="Shape 19"/>
          <p:cNvSpPr/>
          <p:nvPr/>
        </p:nvSpPr>
        <p:spPr>
          <a:xfrm flipH="1">
            <a:off x="3190280" y="4939335"/>
            <a:ext cx="134368" cy="184941"/>
          </a:xfrm>
          <a:prstGeom prst="line">
            <a:avLst/>
          </a:prstGeom>
          <a:noFill/>
          <a:ln w="15875">
            <a:solidFill>
              <a:srgbClr val="FF0068"/>
            </a:solidFill>
            <a:prstDash val="dash"/>
          </a:ln>
        </p:spPr>
      </p:sp>
      <p:sp>
        <p:nvSpPr>
          <p:cNvPr id="25" name="agent-Concierge"/>
          <p:cNvSpPr/>
          <p:nvPr/>
        </p:nvSpPr>
        <p:spPr>
          <a:xfrm>
            <a:off x="2536938" y="5045690"/>
            <a:ext cx="822960" cy="822960"/>
          </a:xfrm>
          <a:prstGeom prst="ellipse">
            <a:avLst/>
          </a:prstGeom>
          <a:solidFill>
            <a:srgbClr val="15151A"/>
          </a:solidFill>
          <a:ln w="22225">
            <a:solidFill>
              <a:srgbClr val="FF0068"/>
            </a:solidFill>
            <a:prstDash val="solid"/>
          </a:ln>
        </p:spPr>
      </p:sp>
      <p:pic>
        <p:nvPicPr>
          <p:cNvPr id="26" name="Image 3" descr="preencoded.png">    </p:cNvPr>
          <p:cNvPicPr>
            <a:picLocks noChangeAspect="1"/>
          </p:cNvPicPr>
          <p:nvPr/>
        </p:nvPicPr>
        <p:blipFill>
          <a:blip r:embed="rId4"/>
          <a:stretch>
            <a:fillRect/>
          </a:stretch>
        </p:blipFill>
        <p:spPr>
          <a:xfrm>
            <a:off x="2774682" y="5283434"/>
            <a:ext cx="347472" cy="347472"/>
          </a:xfrm>
          <a:prstGeom prst="rect">
            <a:avLst/>
          </a:prstGeom>
        </p:spPr>
      </p:pic>
      <p:sp>
        <p:nvSpPr>
          <p:cNvPr id="27" name="Text 21"/>
          <p:cNvSpPr txBox="1"/>
          <p:nvPr/>
        </p:nvSpPr>
        <p:spPr>
          <a:xfrm>
            <a:off x="598410" y="5164562"/>
            <a:ext cx="1828800" cy="274320"/>
          </a:xfrm>
          <a:prstGeom prst="rect">
            <a:avLst/>
          </a:prstGeom>
          <a:noFill/>
          <a:ln/>
        </p:spPr>
        <p:txBody>
          <a:bodyPr wrap="square" lIns="0" tIns="0" rIns="0" bIns="0" rtlCol="0" anchor="t"/>
          <a:lstStyle/>
          <a:p>
            <a:pPr algn="r" indent="0" marL="0">
              <a:buNone/>
            </a:pPr>
            <a:r>
              <a:rPr lang="en-US" sz="1300" b="1" dirty="0">
                <a:solidFill>
                  <a:schemeClr val="bg1"/>
                </a:solidFill>
              </a:rPr>
              <a:t>Concierge</a:t>
            </a:r>
            <a:endParaRPr lang="en-US" sz="1300" dirty="0"/>
          </a:p>
        </p:txBody>
      </p:sp>
      <p:sp>
        <p:nvSpPr>
          <p:cNvPr id="28" name="Text 22"/>
          <p:cNvSpPr txBox="1"/>
          <p:nvPr/>
        </p:nvSpPr>
        <p:spPr>
          <a:xfrm>
            <a:off x="598410" y="5438882"/>
            <a:ext cx="1828800" cy="603504"/>
          </a:xfrm>
          <a:prstGeom prst="rect">
            <a:avLst/>
          </a:prstGeom>
          <a:noFill/>
          <a:ln/>
        </p:spPr>
        <p:txBody>
          <a:bodyPr wrap="square" lIns="0" tIns="0" rIns="0" bIns="0" rtlCol="0" anchor="t"/>
          <a:lstStyle/>
          <a:p>
            <a:pPr algn="r" indent="0" marL="0">
              <a:buNone/>
            </a:pPr>
            <a:r>
              <a:rPr lang="en-US" sz="1050" dirty="0">
                <a:solidFill>
                  <a:srgbClr val="BFBFBF"/>
                </a:solidFill>
              </a:rPr>
              <a:t>Registers and answers on web, app, SMS</a:t>
            </a:r>
            <a:endParaRPr lang="en-US" sz="1050" dirty="0"/>
          </a:p>
        </p:txBody>
      </p:sp>
      <p:sp>
        <p:nvSpPr>
          <p:cNvPr id="29" name="Shape 23"/>
          <p:cNvSpPr/>
          <p:nvPr/>
        </p:nvSpPr>
        <p:spPr>
          <a:xfrm>
            <a:off x="2675409" y="3539664"/>
            <a:ext cx="217412" cy="70641"/>
          </a:xfrm>
          <a:prstGeom prst="line">
            <a:avLst/>
          </a:prstGeom>
          <a:noFill/>
          <a:ln w="15875">
            <a:solidFill>
              <a:srgbClr val="FED700"/>
            </a:solidFill>
            <a:prstDash val="dash"/>
          </a:ln>
        </p:spPr>
      </p:sp>
      <p:sp>
        <p:nvSpPr>
          <p:cNvPr id="30" name="agent-Insights"/>
          <p:cNvSpPr/>
          <p:nvPr/>
        </p:nvSpPr>
        <p:spPr>
          <a:xfrm>
            <a:off x="1872588" y="3001030"/>
            <a:ext cx="822960" cy="822960"/>
          </a:xfrm>
          <a:prstGeom prst="ellipse">
            <a:avLst/>
          </a:prstGeom>
          <a:solidFill>
            <a:srgbClr val="15151A"/>
          </a:solidFill>
          <a:ln w="22225">
            <a:solidFill>
              <a:srgbClr val="FED700"/>
            </a:solidFill>
            <a:prstDash val="solid"/>
          </a:ln>
        </p:spPr>
      </p:sp>
      <p:pic>
        <p:nvPicPr>
          <p:cNvPr id="31" name="Image 4" descr="preencoded.png">    </p:cNvPr>
          <p:cNvPicPr>
            <a:picLocks noChangeAspect="1"/>
          </p:cNvPicPr>
          <p:nvPr/>
        </p:nvPicPr>
        <p:blipFill>
          <a:blip r:embed="rId5"/>
          <a:stretch>
            <a:fillRect/>
          </a:stretch>
        </p:blipFill>
        <p:spPr>
          <a:xfrm>
            <a:off x="2110332" y="3238774"/>
            <a:ext cx="347472" cy="347472"/>
          </a:xfrm>
          <a:prstGeom prst="rect">
            <a:avLst/>
          </a:prstGeom>
        </p:spPr>
      </p:pic>
      <p:sp>
        <p:nvSpPr>
          <p:cNvPr id="32" name="Text 25"/>
          <p:cNvSpPr txBox="1"/>
          <p:nvPr/>
        </p:nvSpPr>
        <p:spPr>
          <a:xfrm>
            <a:off x="502920" y="3119902"/>
            <a:ext cx="1259940" cy="274320"/>
          </a:xfrm>
          <a:prstGeom prst="rect">
            <a:avLst/>
          </a:prstGeom>
          <a:noFill/>
          <a:ln/>
        </p:spPr>
        <p:txBody>
          <a:bodyPr wrap="square" lIns="0" tIns="0" rIns="0" bIns="0" rtlCol="0" anchor="t"/>
          <a:lstStyle/>
          <a:p>
            <a:pPr algn="r" indent="0" marL="0">
              <a:buNone/>
            </a:pPr>
            <a:r>
              <a:rPr lang="en-US" sz="1300" b="1" dirty="0">
                <a:solidFill>
                  <a:schemeClr val="bg1"/>
                </a:solidFill>
              </a:rPr>
              <a:t>Insights</a:t>
            </a:r>
            <a:endParaRPr lang="en-US" sz="1300" dirty="0"/>
          </a:p>
        </p:txBody>
      </p:sp>
      <p:sp>
        <p:nvSpPr>
          <p:cNvPr id="33" name="Text 26"/>
          <p:cNvSpPr txBox="1"/>
          <p:nvPr/>
        </p:nvSpPr>
        <p:spPr>
          <a:xfrm>
            <a:off x="502920" y="3394222"/>
            <a:ext cx="1259940" cy="603504"/>
          </a:xfrm>
          <a:prstGeom prst="rect">
            <a:avLst/>
          </a:prstGeom>
          <a:noFill/>
          <a:ln/>
        </p:spPr>
        <p:txBody>
          <a:bodyPr wrap="square" lIns="0" tIns="0" rIns="0" bIns="0" rtlCol="0" anchor="t"/>
          <a:lstStyle/>
          <a:p>
            <a:pPr algn="r" indent="0" marL="0">
              <a:buNone/>
            </a:pPr>
            <a:r>
              <a:rPr lang="en-US" sz="1050" dirty="0">
                <a:solidFill>
                  <a:srgbClr val="BFBFBF"/>
                </a:solidFill>
              </a:rPr>
              <a:t>Summarizes feedback and results</a:t>
            </a:r>
            <a:endParaRPr lang="en-US" sz="1050" dirty="0"/>
          </a:p>
        </p:txBody>
      </p:sp>
      <p:sp>
        <p:nvSpPr>
          <p:cNvPr id="34" name="Text 27"/>
          <p:cNvSpPr txBox="1"/>
          <p:nvPr/>
        </p:nvSpPr>
        <p:spPr>
          <a:xfrm>
            <a:off x="7635240" y="1600200"/>
            <a:ext cx="4050792" cy="365760"/>
          </a:xfrm>
          <a:prstGeom prst="rect">
            <a:avLst/>
          </a:prstGeom>
          <a:noFill/>
          <a:ln/>
        </p:spPr>
        <p:txBody>
          <a:bodyPr wrap="square" lIns="0" tIns="0" rIns="0" bIns="0" rtlCol="0" anchor="t"/>
          <a:lstStyle/>
          <a:p>
            <a:pPr indent="0" marL="0">
              <a:buNone/>
            </a:pPr>
            <a:r>
              <a:rPr lang="en-US" sz="1700" b="1" dirty="0">
                <a:solidFill>
                  <a:schemeClr val="bg1"/>
                </a:solidFill>
              </a:rPr>
              <a:t>What the harness controls</a:t>
            </a:r>
            <a:endParaRPr lang="en-US" sz="1700" dirty="0"/>
          </a:p>
        </p:txBody>
      </p:sp>
      <p:pic>
        <p:nvPicPr>
          <p:cNvPr id="35" name="Image 5" descr="preencoded.png">    </p:cNvPr>
          <p:cNvPicPr>
            <a:picLocks noChangeAspect="1"/>
          </p:cNvPicPr>
          <p:nvPr/>
        </p:nvPicPr>
        <p:blipFill>
          <a:blip r:embed="rId6"/>
          <a:stretch>
            <a:fillRect/>
          </a:stretch>
        </p:blipFill>
        <p:spPr>
          <a:xfrm>
            <a:off x="7635240" y="2130552"/>
            <a:ext cx="237744" cy="237744"/>
          </a:xfrm>
          <a:prstGeom prst="rect">
            <a:avLst/>
          </a:prstGeom>
        </p:spPr>
      </p:pic>
      <p:sp>
        <p:nvSpPr>
          <p:cNvPr id="36" name="Text 28"/>
          <p:cNvSpPr txBox="1"/>
          <p:nvPr/>
        </p:nvSpPr>
        <p:spPr>
          <a:xfrm>
            <a:off x="8019288" y="2103120"/>
            <a:ext cx="3666744" cy="310896"/>
          </a:xfrm>
          <a:prstGeom prst="rect">
            <a:avLst/>
          </a:prstGeom>
          <a:noFill/>
          <a:ln/>
        </p:spPr>
        <p:txBody>
          <a:bodyPr wrap="square" lIns="0" tIns="0" rIns="0" bIns="0" rtlCol="0" anchor="ctr"/>
          <a:lstStyle/>
          <a:p>
            <a:pPr indent="0" marL="0">
              <a:buNone/>
            </a:pPr>
            <a:r>
              <a:rPr lang="en-US" sz="1200" dirty="0">
                <a:solidFill>
                  <a:schemeClr val="bg1"/>
                </a:solidFill>
              </a:rPr>
              <a:t>Approved actions only</a:t>
            </a:r>
            <a:endParaRPr lang="en-US" sz="1200" dirty="0"/>
          </a:p>
        </p:txBody>
      </p:sp>
      <p:pic>
        <p:nvPicPr>
          <p:cNvPr id="37" name="Image 6" descr="preencoded.png">    </p:cNvPr>
          <p:cNvPicPr>
            <a:picLocks noChangeAspect="1"/>
          </p:cNvPicPr>
          <p:nvPr/>
        </p:nvPicPr>
        <p:blipFill>
          <a:blip r:embed="rId7"/>
          <a:stretch>
            <a:fillRect/>
          </a:stretch>
        </p:blipFill>
        <p:spPr>
          <a:xfrm>
            <a:off x="7635240" y="2560320"/>
            <a:ext cx="237744" cy="237744"/>
          </a:xfrm>
          <a:prstGeom prst="rect">
            <a:avLst/>
          </a:prstGeom>
        </p:spPr>
      </p:pic>
      <p:sp>
        <p:nvSpPr>
          <p:cNvPr id="38" name="Text 29"/>
          <p:cNvSpPr txBox="1"/>
          <p:nvPr/>
        </p:nvSpPr>
        <p:spPr>
          <a:xfrm>
            <a:off x="8019288" y="2532888"/>
            <a:ext cx="3666744" cy="310896"/>
          </a:xfrm>
          <a:prstGeom prst="rect">
            <a:avLst/>
          </a:prstGeom>
          <a:noFill/>
          <a:ln/>
        </p:spPr>
        <p:txBody>
          <a:bodyPr wrap="square" lIns="0" tIns="0" rIns="0" bIns="0" rtlCol="0" anchor="ctr"/>
          <a:lstStyle/>
          <a:p>
            <a:pPr indent="0" marL="0">
              <a:buNone/>
            </a:pPr>
            <a:r>
              <a:rPr lang="en-US" sz="1200" dirty="0">
                <a:solidFill>
                  <a:schemeClr val="bg1"/>
                </a:solidFill>
              </a:rPr>
              <a:t>Guardrails: consent, patient data, spend limits</a:t>
            </a:r>
            <a:endParaRPr lang="en-US" sz="1200" dirty="0"/>
          </a:p>
        </p:txBody>
      </p:sp>
      <p:pic>
        <p:nvPicPr>
          <p:cNvPr id="39" name="Image 7" descr="preencoded.png">    </p:cNvPr>
          <p:cNvPicPr>
            <a:picLocks noChangeAspect="1"/>
          </p:cNvPicPr>
          <p:nvPr/>
        </p:nvPicPr>
        <p:blipFill>
          <a:blip r:embed="rId8"/>
          <a:stretch>
            <a:fillRect/>
          </a:stretch>
        </p:blipFill>
        <p:spPr>
          <a:xfrm>
            <a:off x="7635240" y="2990088"/>
            <a:ext cx="237744" cy="237744"/>
          </a:xfrm>
          <a:prstGeom prst="rect">
            <a:avLst/>
          </a:prstGeom>
        </p:spPr>
      </p:pic>
      <p:sp>
        <p:nvSpPr>
          <p:cNvPr id="40" name="Text 30"/>
          <p:cNvSpPr txBox="1"/>
          <p:nvPr/>
        </p:nvSpPr>
        <p:spPr>
          <a:xfrm>
            <a:off x="8019288" y="2962656"/>
            <a:ext cx="3666744" cy="310896"/>
          </a:xfrm>
          <a:prstGeom prst="rect">
            <a:avLst/>
          </a:prstGeom>
          <a:noFill/>
          <a:ln/>
        </p:spPr>
        <p:txBody>
          <a:bodyPr wrap="square" lIns="0" tIns="0" rIns="0" bIns="0" rtlCol="0" anchor="ctr"/>
          <a:lstStyle/>
          <a:p>
            <a:pPr indent="0" marL="0">
              <a:buNone/>
            </a:pPr>
            <a:r>
              <a:rPr lang="en-US" sz="1200" dirty="0">
                <a:solidFill>
                  <a:schemeClr val="bg1"/>
                </a:solidFill>
              </a:rPr>
              <a:t>Staff approve anything sent or published</a:t>
            </a:r>
            <a:endParaRPr lang="en-US" sz="1200" dirty="0"/>
          </a:p>
        </p:txBody>
      </p:sp>
      <p:pic>
        <p:nvPicPr>
          <p:cNvPr id="41" name="Image 8" descr="preencoded.png">    </p:cNvPr>
          <p:cNvPicPr>
            <a:picLocks noChangeAspect="1"/>
          </p:cNvPicPr>
          <p:nvPr/>
        </p:nvPicPr>
        <p:blipFill>
          <a:blip r:embed="rId9"/>
          <a:stretch>
            <a:fillRect/>
          </a:stretch>
        </p:blipFill>
        <p:spPr>
          <a:xfrm>
            <a:off x="7635240" y="3419856"/>
            <a:ext cx="237744" cy="237744"/>
          </a:xfrm>
          <a:prstGeom prst="rect">
            <a:avLst/>
          </a:prstGeom>
        </p:spPr>
      </p:pic>
      <p:sp>
        <p:nvSpPr>
          <p:cNvPr id="42" name="Text 31"/>
          <p:cNvSpPr txBox="1"/>
          <p:nvPr/>
        </p:nvSpPr>
        <p:spPr>
          <a:xfrm>
            <a:off x="8019288" y="3392424"/>
            <a:ext cx="3666744" cy="310896"/>
          </a:xfrm>
          <a:prstGeom prst="rect">
            <a:avLst/>
          </a:prstGeom>
          <a:noFill/>
          <a:ln/>
        </p:spPr>
        <p:txBody>
          <a:bodyPr wrap="square" lIns="0" tIns="0" rIns="0" bIns="0" rtlCol="0" anchor="ctr"/>
          <a:lstStyle/>
          <a:p>
            <a:pPr indent="0" marL="0">
              <a:buNone/>
            </a:pPr>
            <a:r>
              <a:rPr lang="en-US" sz="1200" dirty="0">
                <a:solidFill>
                  <a:schemeClr val="bg1"/>
                </a:solidFill>
              </a:rPr>
              <a:t>Least-privilege identity per agent</a:t>
            </a:r>
            <a:endParaRPr lang="en-US" sz="1200" dirty="0"/>
          </a:p>
        </p:txBody>
      </p:sp>
      <p:pic>
        <p:nvPicPr>
          <p:cNvPr id="43" name="Image 9" descr="preencoded.png">    </p:cNvPr>
          <p:cNvPicPr>
            <a:picLocks noChangeAspect="1"/>
          </p:cNvPicPr>
          <p:nvPr/>
        </p:nvPicPr>
        <p:blipFill>
          <a:blip r:embed="rId10"/>
          <a:stretch>
            <a:fillRect/>
          </a:stretch>
        </p:blipFill>
        <p:spPr>
          <a:xfrm>
            <a:off x="7635240" y="3849624"/>
            <a:ext cx="237744" cy="237744"/>
          </a:xfrm>
          <a:prstGeom prst="rect">
            <a:avLst/>
          </a:prstGeom>
        </p:spPr>
      </p:pic>
      <p:sp>
        <p:nvSpPr>
          <p:cNvPr id="44" name="Text 32"/>
          <p:cNvSpPr txBox="1"/>
          <p:nvPr/>
        </p:nvSpPr>
        <p:spPr>
          <a:xfrm>
            <a:off x="8019288" y="3822192"/>
            <a:ext cx="3666744" cy="310896"/>
          </a:xfrm>
          <a:prstGeom prst="rect">
            <a:avLst/>
          </a:prstGeom>
          <a:noFill/>
          <a:ln/>
        </p:spPr>
        <p:txBody>
          <a:bodyPr wrap="square" lIns="0" tIns="0" rIns="0" bIns="0" rtlCol="0" anchor="ctr"/>
          <a:lstStyle/>
          <a:p>
            <a:pPr indent="0" marL="0">
              <a:buNone/>
            </a:pPr>
            <a:r>
              <a:rPr lang="en-US" sz="1200" dirty="0">
                <a:solidFill>
                  <a:schemeClr val="bg1"/>
                </a:solidFill>
              </a:rPr>
              <a:t>Full audit trail of every action</a:t>
            </a:r>
            <a:endParaRPr lang="en-US" sz="1200" dirty="0"/>
          </a:p>
        </p:txBody>
      </p:sp>
      <p:pic>
        <p:nvPicPr>
          <p:cNvPr id="45" name="Image 10" descr="preencoded.png">    </p:cNvPr>
          <p:cNvPicPr>
            <a:picLocks noChangeAspect="1"/>
          </p:cNvPicPr>
          <p:nvPr/>
        </p:nvPicPr>
        <p:blipFill>
          <a:blip r:embed="rId11"/>
          <a:stretch>
            <a:fillRect/>
          </a:stretch>
        </p:blipFill>
        <p:spPr>
          <a:xfrm>
            <a:off x="7635240" y="4279392"/>
            <a:ext cx="237744" cy="237744"/>
          </a:xfrm>
          <a:prstGeom prst="rect">
            <a:avLst/>
          </a:prstGeom>
        </p:spPr>
      </p:pic>
      <p:sp>
        <p:nvSpPr>
          <p:cNvPr id="46" name="Text 33"/>
          <p:cNvSpPr txBox="1"/>
          <p:nvPr/>
        </p:nvSpPr>
        <p:spPr>
          <a:xfrm>
            <a:off x="8019288" y="4251960"/>
            <a:ext cx="3666744" cy="310896"/>
          </a:xfrm>
          <a:prstGeom prst="rect">
            <a:avLst/>
          </a:prstGeom>
          <a:noFill/>
          <a:ln/>
        </p:spPr>
        <p:txBody>
          <a:bodyPr wrap="square" lIns="0" tIns="0" rIns="0" bIns="0" rtlCol="0" anchor="ctr"/>
          <a:lstStyle/>
          <a:p>
            <a:pPr indent="0" marL="0">
              <a:buNone/>
            </a:pPr>
            <a:r>
              <a:rPr lang="en-US" sz="1200" dirty="0">
                <a:solidFill>
                  <a:schemeClr val="bg1"/>
                </a:solidFill>
              </a:rPr>
              <a:t>Tested and evaluated before each release</a:t>
            </a:r>
            <a:endParaRPr lang="en-US" sz="1200" dirty="0"/>
          </a:p>
        </p:txBody>
      </p:sp>
      <p:pic>
        <p:nvPicPr>
          <p:cNvPr id="47" name="Image 11" descr="preencoded.png">    </p:cNvPr>
          <p:cNvPicPr>
            <a:picLocks noChangeAspect="1"/>
          </p:cNvPicPr>
          <p:nvPr/>
        </p:nvPicPr>
        <p:blipFill>
          <a:blip r:embed="rId12"/>
          <a:stretch>
            <a:fillRect/>
          </a:stretch>
        </p:blipFill>
        <p:spPr>
          <a:xfrm>
            <a:off x="7635240" y="4709160"/>
            <a:ext cx="237744" cy="237744"/>
          </a:xfrm>
          <a:prstGeom prst="rect">
            <a:avLst/>
          </a:prstGeom>
        </p:spPr>
      </p:pic>
      <p:sp>
        <p:nvSpPr>
          <p:cNvPr id="48" name="Text 34"/>
          <p:cNvSpPr txBox="1"/>
          <p:nvPr/>
        </p:nvSpPr>
        <p:spPr>
          <a:xfrm>
            <a:off x="8019288" y="4681728"/>
            <a:ext cx="3666744" cy="310896"/>
          </a:xfrm>
          <a:prstGeom prst="rect">
            <a:avLst/>
          </a:prstGeom>
          <a:noFill/>
          <a:ln/>
        </p:spPr>
        <p:txBody>
          <a:bodyPr wrap="square" lIns="0" tIns="0" rIns="0" bIns="0" rtlCol="0" anchor="ctr"/>
          <a:lstStyle/>
          <a:p>
            <a:pPr indent="0" marL="0">
              <a:buNone/>
            </a:pPr>
            <a:r>
              <a:rPr lang="en-US" sz="1200" dirty="0">
                <a:solidFill>
                  <a:schemeClr val="bg1"/>
                </a:solidFill>
              </a:rPr>
              <a:t>Einstein Trust Layer: masking, zero data retention</a:t>
            </a:r>
            <a:endParaRPr lang="en-US" sz="1200" dirty="0"/>
          </a:p>
        </p:txBody>
      </p:sp>
      <p:pic>
        <p:nvPicPr>
          <p:cNvPr id="49" name="Image 12" descr="preencoded.png">    </p:cNvPr>
          <p:cNvPicPr>
            <a:picLocks noChangeAspect="1"/>
          </p:cNvPicPr>
          <p:nvPr/>
        </p:nvPicPr>
        <p:blipFill>
          <a:blip r:embed="rId13"/>
          <a:stretch>
            <a:fillRect/>
          </a:stretch>
        </p:blipFill>
        <p:spPr>
          <a:xfrm>
            <a:off x="7635240" y="5138928"/>
            <a:ext cx="237744" cy="237744"/>
          </a:xfrm>
          <a:prstGeom prst="rect">
            <a:avLst/>
          </a:prstGeom>
        </p:spPr>
      </p:pic>
      <p:sp>
        <p:nvSpPr>
          <p:cNvPr id="50" name="Text 35"/>
          <p:cNvSpPr txBox="1"/>
          <p:nvPr/>
        </p:nvSpPr>
        <p:spPr>
          <a:xfrm>
            <a:off x="8019288" y="5111496"/>
            <a:ext cx="3666744" cy="310896"/>
          </a:xfrm>
          <a:prstGeom prst="rect">
            <a:avLst/>
          </a:prstGeom>
          <a:noFill/>
          <a:ln/>
        </p:spPr>
        <p:txBody>
          <a:bodyPr wrap="square" lIns="0" tIns="0" rIns="0" bIns="0" rtlCol="0" anchor="ctr"/>
          <a:lstStyle/>
          <a:p>
            <a:pPr indent="0" marL="0">
              <a:buNone/>
            </a:pPr>
            <a:r>
              <a:rPr lang="en-US" sz="1200" dirty="0">
                <a:solidFill>
                  <a:schemeClr val="bg1"/>
                </a:solidFill>
              </a:rPr>
              <a:t>Kill switch for any agent</a:t>
            </a:r>
            <a:endParaRPr lang="en-US" sz="1200" dirty="0"/>
          </a:p>
        </p:txBody>
      </p:sp>
      <p:sp>
        <p:nvSpPr>
          <p:cNvPr id="51" name="Text 36"/>
          <p:cNvSpPr txBox="1"/>
          <p:nvPr/>
        </p:nvSpPr>
        <p:spPr>
          <a:xfrm>
            <a:off x="7635240" y="5641848"/>
            <a:ext cx="4050792" cy="228600"/>
          </a:xfrm>
          <a:prstGeom prst="rect">
            <a:avLst/>
          </a:prstGeom>
          <a:noFill/>
          <a:ln/>
        </p:spPr>
        <p:txBody>
          <a:bodyPr wrap="square" lIns="0" tIns="0" rIns="0" bIns="0" rtlCol="0" anchor="t"/>
          <a:lstStyle/>
          <a:p>
            <a:pPr indent="0" marL="0">
              <a:buNone/>
            </a:pPr>
            <a:r>
              <a:rPr lang="en-US" sz="900" b="1" spc="200" kern="0" dirty="0">
                <a:solidFill>
                  <a:srgbClr val="BFBFBF"/>
                </a:solidFill>
              </a:rPr>
              <a:t>AUTONOMY GROWS WITH TRUST</a:t>
            </a:r>
            <a:endParaRPr lang="en-US" sz="900" dirty="0"/>
          </a:p>
        </p:txBody>
      </p:sp>
      <p:sp>
        <p:nvSpPr>
          <p:cNvPr id="52" name="Shape 37"/>
          <p:cNvSpPr/>
          <p:nvPr/>
        </p:nvSpPr>
        <p:spPr>
          <a:xfrm>
            <a:off x="7635240" y="5897880"/>
            <a:ext cx="1261872" cy="310896"/>
          </a:xfrm>
          <a:prstGeom prst="roundRect">
            <a:avLst>
              <a:gd name="adj" fmla="val 50000"/>
            </a:avLst>
          </a:prstGeom>
          <a:ln w="15875">
            <a:solidFill>
              <a:srgbClr val="00D6F2"/>
            </a:solidFill>
            <a:prstDash val="solid"/>
          </a:ln>
        </p:spPr>
      </p:sp>
      <p:sp>
        <p:nvSpPr>
          <p:cNvPr id="53" name="Text 38"/>
          <p:cNvSpPr txBox="1"/>
          <p:nvPr/>
        </p:nvSpPr>
        <p:spPr>
          <a:xfrm>
            <a:off x="7635240" y="5897880"/>
            <a:ext cx="1261872" cy="310896"/>
          </a:xfrm>
          <a:prstGeom prst="rect">
            <a:avLst/>
          </a:prstGeom>
          <a:noFill/>
          <a:ln/>
        </p:spPr>
        <p:txBody>
          <a:bodyPr wrap="square" lIns="0" tIns="0" rIns="0" bIns="0" rtlCol="0" anchor="ctr"/>
          <a:lstStyle/>
          <a:p>
            <a:pPr algn="ctr" indent="0" marL="0">
              <a:buNone/>
            </a:pPr>
            <a:r>
              <a:rPr lang="en-US" sz="1000" b="1" dirty="0">
                <a:solidFill>
                  <a:schemeClr val="bg1"/>
                </a:solidFill>
              </a:rPr>
              <a:t>Suggest</a:t>
            </a:r>
            <a:endParaRPr lang="en-US" sz="1000" dirty="0"/>
          </a:p>
        </p:txBody>
      </p:sp>
      <p:sp>
        <p:nvSpPr>
          <p:cNvPr id="54" name="Shape 39"/>
          <p:cNvSpPr/>
          <p:nvPr/>
        </p:nvSpPr>
        <p:spPr>
          <a:xfrm>
            <a:off x="9006840" y="5897880"/>
            <a:ext cx="1261872" cy="310896"/>
          </a:xfrm>
          <a:prstGeom prst="roundRect">
            <a:avLst>
              <a:gd name="adj" fmla="val 50000"/>
            </a:avLst>
          </a:prstGeom>
          <a:ln w="15875">
            <a:solidFill>
              <a:srgbClr val="FED700"/>
            </a:solidFill>
            <a:prstDash val="solid"/>
          </a:ln>
        </p:spPr>
      </p:sp>
      <p:sp>
        <p:nvSpPr>
          <p:cNvPr id="55" name="Text 40"/>
          <p:cNvSpPr txBox="1"/>
          <p:nvPr/>
        </p:nvSpPr>
        <p:spPr>
          <a:xfrm>
            <a:off x="9006840" y="5897880"/>
            <a:ext cx="1261872" cy="310896"/>
          </a:xfrm>
          <a:prstGeom prst="rect">
            <a:avLst/>
          </a:prstGeom>
          <a:noFill/>
          <a:ln/>
        </p:spPr>
        <p:txBody>
          <a:bodyPr wrap="square" lIns="0" tIns="0" rIns="0" bIns="0" rtlCol="0" anchor="ctr"/>
          <a:lstStyle/>
          <a:p>
            <a:pPr algn="ctr" indent="0" marL="0">
              <a:buNone/>
            </a:pPr>
            <a:r>
              <a:rPr lang="en-US" sz="1000" b="1" dirty="0">
                <a:solidFill>
                  <a:schemeClr val="bg1"/>
                </a:solidFill>
              </a:rPr>
              <a:t>Act with approval</a:t>
            </a:r>
            <a:endParaRPr lang="en-US" sz="1000" dirty="0"/>
          </a:p>
        </p:txBody>
      </p:sp>
      <p:sp>
        <p:nvSpPr>
          <p:cNvPr id="56" name="Shape 41"/>
          <p:cNvSpPr/>
          <p:nvPr/>
        </p:nvSpPr>
        <p:spPr>
          <a:xfrm>
            <a:off x="10378440" y="5897880"/>
            <a:ext cx="1261872" cy="310896"/>
          </a:xfrm>
          <a:prstGeom prst="roundRect">
            <a:avLst>
              <a:gd name="adj" fmla="val 50000"/>
            </a:avLst>
          </a:prstGeom>
          <a:ln w="15875">
            <a:solidFill>
              <a:srgbClr val="FF0068"/>
            </a:solidFill>
            <a:prstDash val="solid"/>
          </a:ln>
        </p:spPr>
      </p:sp>
      <p:sp>
        <p:nvSpPr>
          <p:cNvPr id="57" name="Text 42"/>
          <p:cNvSpPr txBox="1"/>
          <p:nvPr/>
        </p:nvSpPr>
        <p:spPr>
          <a:xfrm>
            <a:off x="10378440" y="5897880"/>
            <a:ext cx="1261872" cy="310896"/>
          </a:xfrm>
          <a:prstGeom prst="rect">
            <a:avLst/>
          </a:prstGeom>
          <a:noFill/>
          <a:ln/>
        </p:spPr>
        <p:txBody>
          <a:bodyPr wrap="square" lIns="0" tIns="0" rIns="0" bIns="0" rtlCol="0" anchor="ctr"/>
          <a:lstStyle/>
          <a:p>
            <a:pPr algn="ctr" indent="0" marL="0">
              <a:buNone/>
            </a:pPr>
            <a:r>
              <a:rPr lang="en-US" sz="1000" b="1" dirty="0">
                <a:solidFill>
                  <a:schemeClr val="bg1"/>
                </a:solidFill>
              </a:rPr>
              <a:t>Act within limits</a:t>
            </a:r>
            <a:endParaRPr lang="en-US" sz="10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Investment</a:t>
            </a:r>
            <a:endParaRPr lang="en-US" sz="3200" dirty="0"/>
          </a:p>
        </p:txBody>
      </p:sp>
      <p:sp>
        <p:nvSpPr>
          <p:cNvPr id="3" name="Text 1"/>
          <p:cNvSpPr txBox="1"/>
          <p:nvPr/>
        </p:nvSpPr>
        <p:spPr>
          <a:xfrm>
            <a:off x="502920" y="1298448"/>
            <a:ext cx="8229600" cy="292608"/>
          </a:xfrm>
          <a:prstGeom prst="rect">
            <a:avLst/>
          </a:prstGeom>
          <a:noFill/>
          <a:ln/>
        </p:spPr>
        <p:txBody>
          <a:bodyPr wrap="square" lIns="0" tIns="0" rIns="0" bIns="0" rtlCol="0" anchor="t"/>
          <a:lstStyle/>
          <a:p>
            <a:pPr indent="0" marL="0">
              <a:buNone/>
            </a:pPr>
            <a:r>
              <a:rPr lang="en-US" sz="1400" dirty="0">
                <a:solidFill>
                  <a:srgbClr val="4D4D4D"/>
                </a:solidFill>
              </a:rPr>
              <a:t>Offshore delivery model: fixed scope, five-person pod, 10 sprints</a:t>
            </a:r>
            <a:endParaRPr lang="en-US" sz="1400" dirty="0"/>
          </a:p>
        </p:txBody>
      </p:sp>
      <p:sp>
        <p:nvSpPr>
          <p:cNvPr id="4" name="price-card"/>
          <p:cNvSpPr/>
          <p:nvPr/>
        </p:nvSpPr>
        <p:spPr>
          <a:xfrm>
            <a:off x="502920" y="1783080"/>
            <a:ext cx="4206240" cy="4069080"/>
          </a:xfrm>
          <a:prstGeom prst="roundRect">
            <a:avLst>
              <a:gd name="adj" fmla="val 3146"/>
            </a:avLst>
          </a:prstGeom>
          <a:solidFill>
            <a:srgbClr val="000000"/>
          </a:solidFill>
          <a:ln w="12700">
            <a:solidFill>
              <a:srgbClr val="000000"/>
            </a:solidFill>
            <a:prstDash val="solid"/>
          </a:ln>
        </p:spPr>
      </p:sp>
      <p:sp>
        <p:nvSpPr>
          <p:cNvPr id="5" name="Shape 3"/>
          <p:cNvSpPr/>
          <p:nvPr/>
        </p:nvSpPr>
        <p:spPr>
          <a:xfrm>
            <a:off x="3291840" y="2057400"/>
            <a:ext cx="1097280" cy="292608"/>
          </a:xfrm>
          <a:prstGeom prst="roundRect">
            <a:avLst>
              <a:gd name="adj" fmla="val 50000"/>
            </a:avLst>
          </a:prstGeom>
          <a:ln w="15875">
            <a:solidFill>
              <a:srgbClr val="00D6F2"/>
            </a:solidFill>
            <a:prstDash val="solid"/>
          </a:ln>
        </p:spPr>
      </p:sp>
      <p:sp>
        <p:nvSpPr>
          <p:cNvPr id="6" name="Text 4"/>
          <p:cNvSpPr txBox="1"/>
          <p:nvPr/>
        </p:nvSpPr>
        <p:spPr>
          <a:xfrm>
            <a:off x="3291840" y="2057400"/>
            <a:ext cx="1097280" cy="292608"/>
          </a:xfrm>
          <a:prstGeom prst="rect">
            <a:avLst/>
          </a:prstGeom>
          <a:noFill/>
          <a:ln/>
        </p:spPr>
        <p:txBody>
          <a:bodyPr wrap="square" lIns="0" tIns="0" rIns="0" bIns="0" rtlCol="0" anchor="ctr"/>
          <a:lstStyle/>
          <a:p>
            <a:pPr algn="ctr" indent="0" marL="0">
              <a:buNone/>
            </a:pPr>
            <a:r>
              <a:rPr lang="en-US" sz="950" b="1" spc="200" kern="0" dirty="0">
                <a:solidFill>
                  <a:srgbClr val="00D6F2"/>
                </a:solidFill>
              </a:rPr>
              <a:t>OFFSHORE</a:t>
            </a:r>
            <a:endParaRPr lang="en-US" sz="950" dirty="0"/>
          </a:p>
        </p:txBody>
      </p:sp>
      <p:sp>
        <p:nvSpPr>
          <p:cNvPr id="7" name="Text 5"/>
          <p:cNvSpPr txBox="1"/>
          <p:nvPr/>
        </p:nvSpPr>
        <p:spPr>
          <a:xfrm>
            <a:off x="822960" y="2103120"/>
            <a:ext cx="2377440" cy="219456"/>
          </a:xfrm>
          <a:prstGeom prst="rect">
            <a:avLst/>
          </a:prstGeom>
          <a:noFill/>
          <a:ln/>
        </p:spPr>
        <p:txBody>
          <a:bodyPr wrap="square" lIns="0" tIns="0" rIns="0" bIns="0" rtlCol="0" anchor="t"/>
          <a:lstStyle/>
          <a:p>
            <a:pPr indent="0" marL="0">
              <a:buNone/>
            </a:pPr>
            <a:r>
              <a:rPr lang="en-US" sz="1000" b="1" spc="200" kern="0" dirty="0">
                <a:solidFill>
                  <a:srgbClr val="BFBFBF"/>
                </a:solidFill>
              </a:rPr>
              <a:t>STANDARD PROGRAM VALUE</a:t>
            </a:r>
            <a:endParaRPr lang="en-US" sz="1000" dirty="0"/>
          </a:p>
        </p:txBody>
      </p:sp>
      <p:sp>
        <p:nvSpPr>
          <p:cNvPr id="8" name="Text 6"/>
          <p:cNvSpPr txBox="1"/>
          <p:nvPr/>
        </p:nvSpPr>
        <p:spPr>
          <a:xfrm>
            <a:off x="822960" y="2350008"/>
            <a:ext cx="3566160" cy="548640"/>
          </a:xfrm>
          <a:prstGeom prst="rect">
            <a:avLst/>
          </a:prstGeom>
          <a:noFill/>
          <a:ln/>
        </p:spPr>
        <p:txBody>
          <a:bodyPr wrap="square" lIns="0" tIns="0" rIns="0" bIns="0" rtlCol="0" anchor="t"/>
          <a:lstStyle/>
          <a:p>
            <a:pPr indent="0" marL="0">
              <a:buNone/>
            </a:pPr>
            <a:r>
              <a:rPr lang="en-US" sz="3000" strike="sngStrike" dirty="0">
                <a:solidFill>
                  <a:srgbClr val="8C8C8C"/>
                </a:solidFill>
                <a:latin typeface="Trenda IG Text Light" pitchFamily="34" charset="0"/>
                <a:ea typeface="Trenda IG Text Light" pitchFamily="34" charset="-122"/>
                <a:cs typeface="Trenda IG Text Light" pitchFamily="34" charset="-120"/>
              </a:rPr>
              <a:t>$580,000</a:t>
            </a:r>
            <a:endParaRPr lang="en-US" sz="3000" dirty="0"/>
          </a:p>
        </p:txBody>
      </p:sp>
      <p:sp>
        <p:nvSpPr>
          <p:cNvPr id="9" name="Shape 7"/>
          <p:cNvSpPr/>
          <p:nvPr/>
        </p:nvSpPr>
        <p:spPr>
          <a:xfrm>
            <a:off x="822960" y="3108960"/>
            <a:ext cx="3566160" cy="0"/>
          </a:xfrm>
          <a:prstGeom prst="line">
            <a:avLst/>
          </a:prstGeom>
          <a:noFill/>
          <a:ln w="9525">
            <a:solidFill>
              <a:srgbClr val="444444"/>
            </a:solidFill>
            <a:prstDash val="solid"/>
          </a:ln>
        </p:spPr>
      </p:sp>
      <p:sp>
        <p:nvSpPr>
          <p:cNvPr id="10" name="Text 8"/>
          <p:cNvSpPr txBox="1"/>
          <p:nvPr/>
        </p:nvSpPr>
        <p:spPr>
          <a:xfrm>
            <a:off x="822960" y="3291840"/>
            <a:ext cx="3566160" cy="219456"/>
          </a:xfrm>
          <a:prstGeom prst="rect">
            <a:avLst/>
          </a:prstGeom>
          <a:noFill/>
          <a:ln/>
        </p:spPr>
        <p:txBody>
          <a:bodyPr wrap="square" lIns="0" tIns="0" rIns="0" bIns="0" rtlCol="0" anchor="t"/>
          <a:lstStyle/>
          <a:p>
            <a:pPr indent="0" marL="0">
              <a:buNone/>
            </a:pPr>
            <a:r>
              <a:rPr lang="en-US" sz="1000" b="1" spc="200" kern="0" dirty="0">
                <a:solidFill>
                  <a:srgbClr val="00D6F2"/>
                </a:solidFill>
              </a:rPr>
              <a:t>STRATEGIC PARTNER INVESTMENT</a:t>
            </a:r>
            <a:endParaRPr lang="en-US" sz="1000" dirty="0"/>
          </a:p>
        </p:txBody>
      </p:sp>
      <p:sp>
        <p:nvSpPr>
          <p:cNvPr id="11" name="Text 9"/>
          <p:cNvSpPr txBox="1"/>
          <p:nvPr/>
        </p:nvSpPr>
        <p:spPr>
          <a:xfrm>
            <a:off x="822960" y="3566160"/>
            <a:ext cx="3566160" cy="914400"/>
          </a:xfrm>
          <a:prstGeom prst="rect">
            <a:avLst/>
          </a:prstGeom>
          <a:noFill/>
          <a:ln/>
        </p:spPr>
        <p:txBody>
          <a:bodyPr wrap="square" lIns="0" tIns="0" rIns="0" bIns="0" rtlCol="0" anchor="t"/>
          <a:lstStyle/>
          <a:p>
            <a:pPr indent="0" marL="0">
              <a:buNone/>
            </a:pPr>
            <a:r>
              <a:rPr lang="en-US" sz="5400" dirty="0">
                <a:solidFill>
                  <a:srgbClr val="FFFFFF"/>
                </a:solidFill>
                <a:latin typeface="Trenda IG Text Light" pitchFamily="34" charset="0"/>
                <a:ea typeface="Trenda IG Text Light" pitchFamily="34" charset="-122"/>
                <a:cs typeface="Trenda IG Text Light" pitchFamily="34" charset="-120"/>
              </a:rPr>
              <a:t>$290,000</a:t>
            </a:r>
            <a:endParaRPr lang="en-US" sz="5400" dirty="0"/>
          </a:p>
        </p:txBody>
      </p:sp>
      <p:sp>
        <p:nvSpPr>
          <p:cNvPr id="12" name="Shape 10"/>
          <p:cNvSpPr/>
          <p:nvPr/>
        </p:nvSpPr>
        <p:spPr>
          <a:xfrm>
            <a:off x="822960" y="4617720"/>
            <a:ext cx="3108960" cy="384048"/>
          </a:xfrm>
          <a:prstGeom prst="roundRect">
            <a:avLst>
              <a:gd name="adj" fmla="val 50000"/>
            </a:avLst>
          </a:prstGeom>
          <a:solidFill>
            <a:srgbClr val="FF0068"/>
          </a:solidFill>
          <a:ln w="12700">
            <a:solidFill>
              <a:srgbClr val="FF0068"/>
            </a:solidFill>
            <a:prstDash val="solid"/>
          </a:ln>
        </p:spPr>
      </p:sp>
      <p:sp>
        <p:nvSpPr>
          <p:cNvPr id="13" name="Text 11"/>
          <p:cNvSpPr txBox="1"/>
          <p:nvPr/>
        </p:nvSpPr>
        <p:spPr>
          <a:xfrm>
            <a:off x="822960" y="4617720"/>
            <a:ext cx="3108960" cy="384048"/>
          </a:xfrm>
          <a:prstGeom prst="rect">
            <a:avLst/>
          </a:prstGeom>
          <a:noFill/>
          <a:ln/>
        </p:spPr>
        <p:txBody>
          <a:bodyPr wrap="square" lIns="0" tIns="0" rIns="0" bIns="0" rtlCol="0" anchor="ctr"/>
          <a:lstStyle/>
          <a:p>
            <a:pPr algn="ctr" indent="0" marL="0">
              <a:buNone/>
            </a:pPr>
            <a:r>
              <a:rPr lang="en-US" sz="1200" b="1" dirty="0">
                <a:solidFill>
                  <a:srgbClr val="FFFFFF"/>
                </a:solidFill>
              </a:rPr>
              <a:t>50% partnership credit, applied upfront</a:t>
            </a:r>
            <a:endParaRPr lang="en-US" sz="1200" dirty="0"/>
          </a:p>
        </p:txBody>
      </p:sp>
      <p:sp>
        <p:nvSpPr>
          <p:cNvPr id="14" name="Text 12"/>
          <p:cNvSpPr txBox="1"/>
          <p:nvPr/>
        </p:nvSpPr>
        <p:spPr>
          <a:xfrm>
            <a:off x="822960" y="5184648"/>
            <a:ext cx="3566160" cy="274320"/>
          </a:xfrm>
          <a:prstGeom prst="rect">
            <a:avLst/>
          </a:prstGeom>
          <a:noFill/>
          <a:ln/>
        </p:spPr>
        <p:txBody>
          <a:bodyPr wrap="square" lIns="0" tIns="0" rIns="0" bIns="0" rtlCol="0" anchor="t"/>
          <a:lstStyle/>
          <a:p>
            <a:pPr indent="0" marL="0">
              <a:buNone/>
            </a:pPr>
            <a:r>
              <a:rPr lang="en-US" sz="1200" dirty="0">
                <a:solidFill>
                  <a:srgbClr val="D9D9D9"/>
                </a:solidFill>
              </a:rPr>
              <a:t>You save $290,000 on the full program</a:t>
            </a:r>
            <a:endParaRPr lang="en-US" sz="1200" dirty="0"/>
          </a:p>
        </p:txBody>
      </p:sp>
      <p:sp>
        <p:nvSpPr>
          <p:cNvPr id="15" name="Text 13"/>
          <p:cNvSpPr txBox="1"/>
          <p:nvPr/>
        </p:nvSpPr>
        <p:spPr>
          <a:xfrm>
            <a:off x="5129784" y="1783080"/>
            <a:ext cx="3182112" cy="329184"/>
          </a:xfrm>
          <a:prstGeom prst="rect">
            <a:avLst/>
          </a:prstGeom>
          <a:noFill/>
          <a:ln/>
        </p:spPr>
        <p:txBody>
          <a:bodyPr wrap="square" lIns="0" tIns="0" rIns="0" bIns="0" rtlCol="0" anchor="ctr"/>
          <a:lstStyle/>
          <a:p>
            <a:pPr algn="l" indent="0" marL="0">
              <a:buNone/>
            </a:pPr>
            <a:r>
              <a:rPr lang="en-US" sz="1200" b="1" dirty="0">
                <a:solidFill>
                  <a:srgbClr val="000000"/>
                </a:solidFill>
              </a:rPr>
              <a:t>Phase</a:t>
            </a:r>
            <a:endParaRPr lang="en-US" sz="1200" dirty="0"/>
          </a:p>
        </p:txBody>
      </p:sp>
      <p:sp>
        <p:nvSpPr>
          <p:cNvPr id="16" name="Text 14"/>
          <p:cNvSpPr txBox="1"/>
          <p:nvPr/>
        </p:nvSpPr>
        <p:spPr>
          <a:xfrm>
            <a:off x="8421624" y="1783080"/>
            <a:ext cx="896112" cy="329184"/>
          </a:xfrm>
          <a:prstGeom prst="rect">
            <a:avLst/>
          </a:prstGeom>
          <a:noFill/>
          <a:ln/>
        </p:spPr>
        <p:txBody>
          <a:bodyPr wrap="square" lIns="0" tIns="0" rIns="0" bIns="0" rtlCol="0" anchor="ctr"/>
          <a:lstStyle/>
          <a:p>
            <a:pPr algn="l" indent="0" marL="0">
              <a:buNone/>
            </a:pPr>
            <a:r>
              <a:rPr lang="en-US" sz="1200" b="1" dirty="0">
                <a:solidFill>
                  <a:srgbClr val="000000"/>
                </a:solidFill>
              </a:rPr>
              <a:t>Sprints</a:t>
            </a:r>
            <a:endParaRPr lang="en-US" sz="1200" dirty="0"/>
          </a:p>
        </p:txBody>
      </p:sp>
      <p:sp>
        <p:nvSpPr>
          <p:cNvPr id="17" name="Text 15"/>
          <p:cNvSpPr txBox="1"/>
          <p:nvPr/>
        </p:nvSpPr>
        <p:spPr>
          <a:xfrm>
            <a:off x="9427464" y="1783080"/>
            <a:ext cx="1078992" cy="329184"/>
          </a:xfrm>
          <a:prstGeom prst="rect">
            <a:avLst/>
          </a:prstGeom>
          <a:noFill/>
          <a:ln/>
        </p:spPr>
        <p:txBody>
          <a:bodyPr wrap="square" lIns="0" tIns="0" rIns="0" bIns="0" rtlCol="0" anchor="ctr"/>
          <a:lstStyle/>
          <a:p>
            <a:pPr algn="r" indent="0" marL="0">
              <a:buNone/>
            </a:pPr>
            <a:r>
              <a:rPr lang="en-US" sz="1200" b="1" dirty="0">
                <a:solidFill>
                  <a:srgbClr val="000000"/>
                </a:solidFill>
              </a:rPr>
              <a:t>Standard</a:t>
            </a:r>
            <a:endParaRPr lang="en-US" sz="1200" dirty="0"/>
          </a:p>
        </p:txBody>
      </p:sp>
      <p:sp>
        <p:nvSpPr>
          <p:cNvPr id="18" name="Text 16"/>
          <p:cNvSpPr txBox="1"/>
          <p:nvPr/>
        </p:nvSpPr>
        <p:spPr>
          <a:xfrm>
            <a:off x="10616184" y="1783080"/>
            <a:ext cx="1014984" cy="329184"/>
          </a:xfrm>
          <a:prstGeom prst="rect">
            <a:avLst/>
          </a:prstGeom>
          <a:noFill/>
          <a:ln/>
        </p:spPr>
        <p:txBody>
          <a:bodyPr wrap="square" lIns="0" tIns="0" rIns="0" bIns="0" rtlCol="0" anchor="ctr"/>
          <a:lstStyle/>
          <a:p>
            <a:pPr algn="r" indent="0" marL="0">
              <a:buNone/>
            </a:pPr>
            <a:r>
              <a:rPr lang="en-US" sz="1200" b="1" dirty="0">
                <a:solidFill>
                  <a:srgbClr val="000000"/>
                </a:solidFill>
              </a:rPr>
              <a:t>Partner</a:t>
            </a:r>
            <a:endParaRPr lang="en-US" sz="1200" dirty="0"/>
          </a:p>
        </p:txBody>
      </p:sp>
      <p:sp>
        <p:nvSpPr>
          <p:cNvPr id="19" name="Shape 17"/>
          <p:cNvSpPr/>
          <p:nvPr/>
        </p:nvSpPr>
        <p:spPr>
          <a:xfrm>
            <a:off x="5074920" y="2112264"/>
            <a:ext cx="6611112" cy="0"/>
          </a:xfrm>
          <a:prstGeom prst="line">
            <a:avLst/>
          </a:prstGeom>
          <a:noFill/>
          <a:ln w="15875">
            <a:solidFill>
              <a:srgbClr val="000000"/>
            </a:solidFill>
            <a:prstDash val="solid"/>
          </a:ln>
        </p:spPr>
      </p:sp>
      <p:sp>
        <p:nvSpPr>
          <p:cNvPr id="20" name="Text 18"/>
          <p:cNvSpPr txBox="1"/>
          <p:nvPr/>
        </p:nvSpPr>
        <p:spPr>
          <a:xfrm>
            <a:off x="5129784" y="2112264"/>
            <a:ext cx="3182112" cy="457200"/>
          </a:xfrm>
          <a:prstGeom prst="rect">
            <a:avLst/>
          </a:prstGeom>
          <a:noFill/>
          <a:ln/>
        </p:spPr>
        <p:txBody>
          <a:bodyPr wrap="square" lIns="0" tIns="0" rIns="0" bIns="0" rtlCol="0" anchor="ctr"/>
          <a:lstStyle/>
          <a:p>
            <a:pPr algn="l" indent="0" marL="0">
              <a:buNone/>
            </a:pPr>
            <a:r>
              <a:rPr lang="en-US" sz="1200" dirty="0">
                <a:solidFill>
                  <a:srgbClr val="000000"/>
                </a:solidFill>
              </a:rPr>
              <a:t>Phase 1 · Conferences, replaces Certain</a:t>
            </a:r>
            <a:endParaRPr lang="en-US" sz="1200" dirty="0"/>
          </a:p>
        </p:txBody>
      </p:sp>
      <p:sp>
        <p:nvSpPr>
          <p:cNvPr id="21" name="Text 19"/>
          <p:cNvSpPr txBox="1"/>
          <p:nvPr/>
        </p:nvSpPr>
        <p:spPr>
          <a:xfrm>
            <a:off x="8421624" y="2112264"/>
            <a:ext cx="896112" cy="457200"/>
          </a:xfrm>
          <a:prstGeom prst="rect">
            <a:avLst/>
          </a:prstGeom>
          <a:noFill/>
          <a:ln/>
        </p:spPr>
        <p:txBody>
          <a:bodyPr wrap="square" lIns="0" tIns="0" rIns="0" bIns="0" rtlCol="0" anchor="ctr"/>
          <a:lstStyle/>
          <a:p>
            <a:pPr algn="l" indent="0" marL="0">
              <a:buNone/>
            </a:pPr>
            <a:r>
              <a:rPr lang="en-US" sz="1200" dirty="0">
                <a:solidFill>
                  <a:srgbClr val="000000"/>
                </a:solidFill>
              </a:rPr>
              <a:t>1-6</a:t>
            </a:r>
            <a:endParaRPr lang="en-US" sz="1200" dirty="0"/>
          </a:p>
        </p:txBody>
      </p:sp>
      <p:sp>
        <p:nvSpPr>
          <p:cNvPr id="22" name="Text 20"/>
          <p:cNvSpPr txBox="1"/>
          <p:nvPr/>
        </p:nvSpPr>
        <p:spPr>
          <a:xfrm>
            <a:off x="9427464" y="2112264"/>
            <a:ext cx="1078992" cy="457200"/>
          </a:xfrm>
          <a:prstGeom prst="rect">
            <a:avLst/>
          </a:prstGeom>
          <a:noFill/>
          <a:ln/>
        </p:spPr>
        <p:txBody>
          <a:bodyPr wrap="square" lIns="0" tIns="0" rIns="0" bIns="0" rtlCol="0" anchor="ctr"/>
          <a:lstStyle/>
          <a:p>
            <a:pPr algn="r" indent="0" marL="0">
              <a:buNone/>
            </a:pPr>
            <a:r>
              <a:rPr lang="en-US" sz="1200" strike="sngStrike" dirty="0">
                <a:solidFill>
                  <a:srgbClr val="8C8C8C"/>
                </a:solidFill>
              </a:rPr>
              <a:t>$350,000</a:t>
            </a:r>
            <a:endParaRPr lang="en-US" sz="1200" dirty="0"/>
          </a:p>
        </p:txBody>
      </p:sp>
      <p:sp>
        <p:nvSpPr>
          <p:cNvPr id="23" name="Text 21"/>
          <p:cNvSpPr txBox="1"/>
          <p:nvPr/>
        </p:nvSpPr>
        <p:spPr>
          <a:xfrm>
            <a:off x="10616184" y="2112264"/>
            <a:ext cx="1014984" cy="457200"/>
          </a:xfrm>
          <a:prstGeom prst="rect">
            <a:avLst/>
          </a:prstGeom>
          <a:noFill/>
          <a:ln/>
        </p:spPr>
        <p:txBody>
          <a:bodyPr wrap="square" lIns="0" tIns="0" rIns="0" bIns="0" rtlCol="0" anchor="ctr"/>
          <a:lstStyle/>
          <a:p>
            <a:pPr algn="r" indent="0" marL="0">
              <a:buNone/>
            </a:pPr>
            <a:r>
              <a:rPr lang="en-US" sz="1200" b="1" dirty="0">
                <a:solidFill>
                  <a:srgbClr val="000000"/>
                </a:solidFill>
              </a:rPr>
              <a:t>$175,000</a:t>
            </a:r>
            <a:endParaRPr lang="en-US" sz="1200" dirty="0"/>
          </a:p>
        </p:txBody>
      </p:sp>
      <p:sp>
        <p:nvSpPr>
          <p:cNvPr id="24" name="Shape 22"/>
          <p:cNvSpPr/>
          <p:nvPr/>
        </p:nvSpPr>
        <p:spPr>
          <a:xfrm>
            <a:off x="5074920" y="2569464"/>
            <a:ext cx="6611112" cy="0"/>
          </a:xfrm>
          <a:prstGeom prst="line">
            <a:avLst/>
          </a:prstGeom>
          <a:noFill/>
          <a:ln w="9525">
            <a:solidFill>
              <a:srgbClr val="A0A0A8"/>
            </a:solidFill>
            <a:prstDash val="sysDot"/>
          </a:ln>
        </p:spPr>
      </p:sp>
      <p:sp>
        <p:nvSpPr>
          <p:cNvPr id="25" name="Text 23"/>
          <p:cNvSpPr txBox="1"/>
          <p:nvPr/>
        </p:nvSpPr>
        <p:spPr>
          <a:xfrm>
            <a:off x="5129784" y="2569464"/>
            <a:ext cx="3182112" cy="457200"/>
          </a:xfrm>
          <a:prstGeom prst="rect">
            <a:avLst/>
          </a:prstGeom>
          <a:noFill/>
          <a:ln/>
        </p:spPr>
        <p:txBody>
          <a:bodyPr wrap="square" lIns="0" tIns="0" rIns="0" bIns="0" rtlCol="0" anchor="ctr"/>
          <a:lstStyle/>
          <a:p>
            <a:pPr algn="l" indent="0" marL="0">
              <a:buNone/>
            </a:pPr>
            <a:r>
              <a:rPr lang="en-US" sz="1200" dirty="0">
                <a:solidFill>
                  <a:srgbClr val="000000"/>
                </a:solidFill>
              </a:rPr>
              <a:t>Phase 2 · Classes on the shared platform</a:t>
            </a:r>
            <a:endParaRPr lang="en-US" sz="1200" dirty="0"/>
          </a:p>
        </p:txBody>
      </p:sp>
      <p:sp>
        <p:nvSpPr>
          <p:cNvPr id="26" name="Text 24"/>
          <p:cNvSpPr txBox="1"/>
          <p:nvPr/>
        </p:nvSpPr>
        <p:spPr>
          <a:xfrm>
            <a:off x="8421624" y="2569464"/>
            <a:ext cx="896112" cy="457200"/>
          </a:xfrm>
          <a:prstGeom prst="rect">
            <a:avLst/>
          </a:prstGeom>
          <a:noFill/>
          <a:ln/>
        </p:spPr>
        <p:txBody>
          <a:bodyPr wrap="square" lIns="0" tIns="0" rIns="0" bIns="0" rtlCol="0" anchor="ctr"/>
          <a:lstStyle/>
          <a:p>
            <a:pPr algn="l" indent="0" marL="0">
              <a:buNone/>
            </a:pPr>
            <a:r>
              <a:rPr lang="en-US" sz="1200" dirty="0">
                <a:solidFill>
                  <a:srgbClr val="000000"/>
                </a:solidFill>
              </a:rPr>
              <a:t>7-10</a:t>
            </a:r>
            <a:endParaRPr lang="en-US" sz="1200" dirty="0"/>
          </a:p>
        </p:txBody>
      </p:sp>
      <p:sp>
        <p:nvSpPr>
          <p:cNvPr id="27" name="Text 25"/>
          <p:cNvSpPr txBox="1"/>
          <p:nvPr/>
        </p:nvSpPr>
        <p:spPr>
          <a:xfrm>
            <a:off x="9427464" y="2569464"/>
            <a:ext cx="1078992" cy="457200"/>
          </a:xfrm>
          <a:prstGeom prst="rect">
            <a:avLst/>
          </a:prstGeom>
          <a:noFill/>
          <a:ln/>
        </p:spPr>
        <p:txBody>
          <a:bodyPr wrap="square" lIns="0" tIns="0" rIns="0" bIns="0" rtlCol="0" anchor="ctr"/>
          <a:lstStyle/>
          <a:p>
            <a:pPr algn="r" indent="0" marL="0">
              <a:buNone/>
            </a:pPr>
            <a:r>
              <a:rPr lang="en-US" sz="1200" strike="sngStrike" dirty="0">
                <a:solidFill>
                  <a:srgbClr val="8C8C8C"/>
                </a:solidFill>
              </a:rPr>
              <a:t>$230,000</a:t>
            </a:r>
            <a:endParaRPr lang="en-US" sz="1200" dirty="0"/>
          </a:p>
        </p:txBody>
      </p:sp>
      <p:sp>
        <p:nvSpPr>
          <p:cNvPr id="28" name="Text 26"/>
          <p:cNvSpPr txBox="1"/>
          <p:nvPr/>
        </p:nvSpPr>
        <p:spPr>
          <a:xfrm>
            <a:off x="10616184" y="2569464"/>
            <a:ext cx="1014984" cy="457200"/>
          </a:xfrm>
          <a:prstGeom prst="rect">
            <a:avLst/>
          </a:prstGeom>
          <a:noFill/>
          <a:ln/>
        </p:spPr>
        <p:txBody>
          <a:bodyPr wrap="square" lIns="0" tIns="0" rIns="0" bIns="0" rtlCol="0" anchor="ctr"/>
          <a:lstStyle/>
          <a:p>
            <a:pPr algn="r" indent="0" marL="0">
              <a:buNone/>
            </a:pPr>
            <a:r>
              <a:rPr lang="en-US" sz="1200" b="1" dirty="0">
                <a:solidFill>
                  <a:srgbClr val="000000"/>
                </a:solidFill>
              </a:rPr>
              <a:t>$115,000</a:t>
            </a:r>
            <a:endParaRPr lang="en-US" sz="1200" dirty="0"/>
          </a:p>
        </p:txBody>
      </p:sp>
      <p:sp>
        <p:nvSpPr>
          <p:cNvPr id="29" name="Shape 27"/>
          <p:cNvSpPr/>
          <p:nvPr/>
        </p:nvSpPr>
        <p:spPr>
          <a:xfrm>
            <a:off x="5074920" y="3026664"/>
            <a:ext cx="6611112" cy="0"/>
          </a:xfrm>
          <a:prstGeom prst="line">
            <a:avLst/>
          </a:prstGeom>
          <a:noFill/>
          <a:ln w="15875">
            <a:solidFill>
              <a:srgbClr val="000000"/>
            </a:solidFill>
            <a:prstDash val="solid"/>
          </a:ln>
        </p:spPr>
      </p:sp>
      <p:sp>
        <p:nvSpPr>
          <p:cNvPr id="30" name="Text 28"/>
          <p:cNvSpPr txBox="1"/>
          <p:nvPr/>
        </p:nvSpPr>
        <p:spPr>
          <a:xfrm>
            <a:off x="5129784" y="3026664"/>
            <a:ext cx="3182112" cy="457200"/>
          </a:xfrm>
          <a:prstGeom prst="rect">
            <a:avLst/>
          </a:prstGeom>
          <a:noFill/>
          <a:ln/>
        </p:spPr>
        <p:txBody>
          <a:bodyPr wrap="square" lIns="0" tIns="0" rIns="0" bIns="0" rtlCol="0" anchor="ctr"/>
          <a:lstStyle/>
          <a:p>
            <a:pPr algn="l" indent="0" marL="0">
              <a:buNone/>
            </a:pPr>
            <a:r>
              <a:rPr lang="en-US" sz="1200" b="1" dirty="0">
                <a:solidFill>
                  <a:srgbClr val="000000"/>
                </a:solidFill>
              </a:rPr>
              <a:t>Total program</a:t>
            </a:r>
            <a:endParaRPr lang="en-US" sz="1200" dirty="0"/>
          </a:p>
        </p:txBody>
      </p:sp>
      <p:sp>
        <p:nvSpPr>
          <p:cNvPr id="31" name="Text 29"/>
          <p:cNvSpPr txBox="1"/>
          <p:nvPr/>
        </p:nvSpPr>
        <p:spPr>
          <a:xfrm>
            <a:off x="8421624" y="3026664"/>
            <a:ext cx="896112" cy="457200"/>
          </a:xfrm>
          <a:prstGeom prst="rect">
            <a:avLst/>
          </a:prstGeom>
          <a:noFill/>
          <a:ln/>
        </p:spPr>
        <p:txBody>
          <a:bodyPr wrap="square" lIns="0" tIns="0" rIns="0" bIns="0" rtlCol="0" anchor="ctr"/>
          <a:lstStyle/>
          <a:p>
            <a:pPr algn="l" indent="0" marL="0">
              <a:buNone/>
            </a:pPr>
            <a:r>
              <a:rPr lang="en-US" sz="1200" b="1" dirty="0">
                <a:solidFill>
                  <a:srgbClr val="000000"/>
                </a:solidFill>
              </a:rPr>
              <a:t>10 sprints</a:t>
            </a:r>
            <a:endParaRPr lang="en-US" sz="1200" dirty="0"/>
          </a:p>
        </p:txBody>
      </p:sp>
      <p:sp>
        <p:nvSpPr>
          <p:cNvPr id="32" name="Text 30"/>
          <p:cNvSpPr txBox="1"/>
          <p:nvPr/>
        </p:nvSpPr>
        <p:spPr>
          <a:xfrm>
            <a:off x="9427464" y="3026664"/>
            <a:ext cx="1078992" cy="457200"/>
          </a:xfrm>
          <a:prstGeom prst="rect">
            <a:avLst/>
          </a:prstGeom>
          <a:noFill/>
          <a:ln/>
        </p:spPr>
        <p:txBody>
          <a:bodyPr wrap="square" lIns="0" tIns="0" rIns="0" bIns="0" rtlCol="0" anchor="ctr"/>
          <a:lstStyle/>
          <a:p>
            <a:pPr algn="r" indent="0" marL="0">
              <a:buNone/>
            </a:pPr>
            <a:r>
              <a:rPr lang="en-US" sz="1200" b="1" strike="sngStrike" dirty="0">
                <a:solidFill>
                  <a:srgbClr val="8C8C8C"/>
                </a:solidFill>
              </a:rPr>
              <a:t>$580,000</a:t>
            </a:r>
            <a:endParaRPr lang="en-US" sz="1200" dirty="0"/>
          </a:p>
        </p:txBody>
      </p:sp>
      <p:sp>
        <p:nvSpPr>
          <p:cNvPr id="33" name="Text 31"/>
          <p:cNvSpPr txBox="1"/>
          <p:nvPr/>
        </p:nvSpPr>
        <p:spPr>
          <a:xfrm>
            <a:off x="10616184" y="3026664"/>
            <a:ext cx="1014984" cy="457200"/>
          </a:xfrm>
          <a:prstGeom prst="rect">
            <a:avLst/>
          </a:prstGeom>
          <a:noFill/>
          <a:ln/>
        </p:spPr>
        <p:txBody>
          <a:bodyPr wrap="square" lIns="0" tIns="0" rIns="0" bIns="0" rtlCol="0" anchor="ctr"/>
          <a:lstStyle/>
          <a:p>
            <a:pPr algn="r" indent="0" marL="0">
              <a:buNone/>
            </a:pPr>
            <a:r>
              <a:rPr lang="en-US" sz="1200" b="1" dirty="0">
                <a:solidFill>
                  <a:srgbClr val="000000"/>
                </a:solidFill>
              </a:rPr>
              <a:t>$290,000</a:t>
            </a:r>
            <a:endParaRPr lang="en-US" sz="1200" dirty="0"/>
          </a:p>
        </p:txBody>
      </p:sp>
      <p:sp>
        <p:nvSpPr>
          <p:cNvPr id="34" name="Shape 32"/>
          <p:cNvSpPr/>
          <p:nvPr/>
        </p:nvSpPr>
        <p:spPr>
          <a:xfrm>
            <a:off x="5074920" y="3483864"/>
            <a:ext cx="6611112" cy="0"/>
          </a:xfrm>
          <a:prstGeom prst="line">
            <a:avLst/>
          </a:prstGeom>
          <a:noFill/>
          <a:ln w="9525">
            <a:solidFill>
              <a:srgbClr val="A0A0A8"/>
            </a:solidFill>
            <a:prstDash val="sysDot"/>
          </a:ln>
        </p:spPr>
      </p:sp>
      <p:sp>
        <p:nvSpPr>
          <p:cNvPr id="35" name="Text 33"/>
          <p:cNvSpPr txBox="1"/>
          <p:nvPr/>
        </p:nvSpPr>
        <p:spPr>
          <a:xfrm>
            <a:off x="5074920" y="3703320"/>
            <a:ext cx="3200400" cy="274320"/>
          </a:xfrm>
          <a:prstGeom prst="rect">
            <a:avLst/>
          </a:prstGeom>
          <a:noFill/>
          <a:ln/>
        </p:spPr>
        <p:txBody>
          <a:bodyPr wrap="square" lIns="0" tIns="0" rIns="0" bIns="0" rtlCol="0" anchor="t"/>
          <a:lstStyle/>
          <a:p>
            <a:pPr indent="0" marL="0">
              <a:buNone/>
            </a:pPr>
            <a:r>
              <a:rPr lang="en-US" sz="1400" b="1" dirty="0">
                <a:solidFill>
                  <a:srgbClr val="000000"/>
                </a:solidFill>
              </a:rPr>
              <a:t>Included</a:t>
            </a:r>
            <a:endParaRPr lang="en-US" sz="1400" dirty="0"/>
          </a:p>
        </p:txBody>
      </p:sp>
      <p:sp>
        <p:nvSpPr>
          <p:cNvPr id="36" name="Text 34"/>
          <p:cNvSpPr txBox="1"/>
          <p:nvPr/>
        </p:nvSpPr>
        <p:spPr>
          <a:xfrm>
            <a:off x="5074920" y="4032504"/>
            <a:ext cx="3291840" cy="14630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4D4D4D"/>
                </a:solidFill>
              </a:rPr>
              <a:t>Dedicated five-person offshore pod for 20 weeks</a:t>
            </a:r>
            <a:endParaRPr lang="en-US" sz="1100" dirty="0"/>
          </a:p>
          <a:p>
            <a:pPr marL="342900" indent="-342900">
              <a:spcAft>
                <a:spcPts val="400"/>
              </a:spcAft>
              <a:buSzPct val="100000"/>
              <a:buChar char="•"/>
            </a:pPr>
            <a:r>
              <a:rPr lang="en-US" sz="1100" dirty="0">
                <a:solidFill>
                  <a:srgbClr val="4D4D4D"/>
                </a:solidFill>
              </a:rPr>
              <a:t>Sprint demos and milestone sign-offs</a:t>
            </a:r>
            <a:endParaRPr lang="en-US" sz="1100" dirty="0"/>
          </a:p>
          <a:p>
            <a:pPr marL="342900" indent="-342900">
              <a:spcAft>
                <a:spcPts val="400"/>
              </a:spcAft>
              <a:buSzPct val="100000"/>
              <a:buChar char="•"/>
            </a:pPr>
            <a:r>
              <a:rPr lang="en-US" sz="1100" dirty="0">
                <a:solidFill>
                  <a:srgbClr val="4D4D4D"/>
                </a:solidFill>
              </a:rPr>
              <a:t>Testing, load testing, go-live and hypercare</a:t>
            </a:r>
            <a:endParaRPr lang="en-US" sz="1100" dirty="0"/>
          </a:p>
          <a:p>
            <a:pPr marL="342900" indent="-342900">
              <a:spcAft>
                <a:spcPts val="400"/>
              </a:spcAft>
              <a:buSzPct val="100000"/>
              <a:buChar char="•"/>
            </a:pPr>
            <a:r>
              <a:rPr lang="en-US" sz="1100" dirty="0">
                <a:solidFill>
                  <a:srgbClr val="4D4D4D"/>
                </a:solidFill>
              </a:rPr>
              <a:t>Documentation and handover to your admins</a:t>
            </a:r>
            <a:endParaRPr lang="en-US" sz="1100" dirty="0"/>
          </a:p>
        </p:txBody>
      </p:sp>
      <p:sp>
        <p:nvSpPr>
          <p:cNvPr id="37" name="Text 35"/>
          <p:cNvSpPr txBox="1"/>
          <p:nvPr/>
        </p:nvSpPr>
        <p:spPr>
          <a:xfrm>
            <a:off x="8595360" y="3703320"/>
            <a:ext cx="3108960" cy="274320"/>
          </a:xfrm>
          <a:prstGeom prst="rect">
            <a:avLst/>
          </a:prstGeom>
          <a:noFill/>
          <a:ln/>
        </p:spPr>
        <p:txBody>
          <a:bodyPr wrap="square" lIns="0" tIns="0" rIns="0" bIns="0" rtlCol="0" anchor="t"/>
          <a:lstStyle/>
          <a:p>
            <a:pPr indent="0" marL="0">
              <a:buNone/>
            </a:pPr>
            <a:r>
              <a:rPr lang="en-US" sz="1400" b="1" dirty="0">
                <a:solidFill>
                  <a:srgbClr val="000000"/>
                </a:solidFill>
              </a:rPr>
              <a:t>Not included</a:t>
            </a:r>
            <a:endParaRPr lang="en-US" sz="1400" dirty="0"/>
          </a:p>
        </p:txBody>
      </p:sp>
      <p:sp>
        <p:nvSpPr>
          <p:cNvPr id="38" name="Text 36"/>
          <p:cNvSpPr txBox="1"/>
          <p:nvPr/>
        </p:nvSpPr>
        <p:spPr>
          <a:xfrm>
            <a:off x="8595360" y="4032504"/>
            <a:ext cx="3090672" cy="14630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4D4D4D"/>
                </a:solidFill>
              </a:rPr>
              <a:t>Salesforce licenses (Shield, Agentforce, Data Cloud)</a:t>
            </a:r>
            <a:endParaRPr lang="en-US" sz="1100" dirty="0"/>
          </a:p>
          <a:p>
            <a:pPr marL="342900" indent="-342900">
              <a:spcAft>
                <a:spcPts val="400"/>
              </a:spcAft>
              <a:buSzPct val="100000"/>
              <a:buChar char="•"/>
            </a:pPr>
            <a:r>
              <a:rPr lang="en-US" sz="1100" dirty="0">
                <a:solidFill>
                  <a:srgbClr val="4D4D4D"/>
                </a:solidFill>
              </a:rPr>
              <a:t>Payment gateway transaction fees</a:t>
            </a:r>
            <a:endParaRPr lang="en-US" sz="1100" dirty="0"/>
          </a:p>
          <a:p>
            <a:pPr marL="342900" indent="-342900">
              <a:spcAft>
                <a:spcPts val="400"/>
              </a:spcAft>
              <a:buSzPct val="100000"/>
              <a:buChar char="•"/>
            </a:pPr>
            <a:r>
              <a:rPr lang="en-US" sz="1100" dirty="0">
                <a:solidFill>
                  <a:srgbClr val="4D4D4D"/>
                </a:solidFill>
              </a:rPr>
              <a:t>Waiting room subscription</a:t>
            </a:r>
            <a:endParaRPr lang="en-US" sz="1100" dirty="0"/>
          </a:p>
        </p:txBody>
      </p:sp>
      <p:sp>
        <p:nvSpPr>
          <p:cNvPr id="39" name="Text 37"/>
          <p:cNvSpPr txBox="1"/>
          <p:nvPr/>
        </p:nvSpPr>
        <p:spPr>
          <a:xfrm>
            <a:off x="5074920" y="5577840"/>
            <a:ext cx="6611112" cy="274320"/>
          </a:xfrm>
          <a:prstGeom prst="rect">
            <a:avLst/>
          </a:prstGeom>
          <a:noFill/>
          <a:ln/>
        </p:spPr>
        <p:txBody>
          <a:bodyPr wrap="square" lIns="0" tIns="0" rIns="0" bIns="0" rtlCol="0" anchor="t"/>
          <a:lstStyle/>
          <a:p>
            <a:pPr indent="0" marL="0">
              <a:buNone/>
            </a:pPr>
            <a:r>
              <a:rPr lang="en-US" sz="1050" i="1" dirty="0">
                <a:solidFill>
                  <a:srgbClr val="4D4D4D"/>
                </a:solidFill>
              </a:rPr>
              <a:t>Pricing is for an offshore delivery model. Indicative, billed at sprint milestones; final commercials in the statement of work.</a:t>
            </a:r>
            <a:endParaRPr lang="en-US" sz="10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Next steps</a:t>
            </a:r>
            <a:endParaRPr lang="en-US" sz="3200" dirty="0"/>
          </a:p>
        </p:txBody>
      </p:sp>
      <p:sp>
        <p:nvSpPr>
          <p:cNvPr id="3" name="circle-1"/>
          <p:cNvSpPr/>
          <p:nvPr/>
        </p:nvSpPr>
        <p:spPr>
          <a:xfrm>
            <a:off x="548640" y="1600200"/>
            <a:ext cx="420624" cy="420624"/>
          </a:xfrm>
          <a:prstGeom prst="ellipse">
            <a:avLst/>
          </a:prstGeom>
          <a:ln w="15875">
            <a:solidFill>
              <a:schemeClr val="bg1"/>
            </a:solidFill>
            <a:prstDash val="solid"/>
          </a:ln>
        </p:spPr>
      </p:sp>
      <p:sp>
        <p:nvSpPr>
          <p:cNvPr id="4" name="Text 2"/>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1</a:t>
            </a:r>
            <a:endParaRPr lang="en-US" sz="1400" dirty="0"/>
          </a:p>
        </p:txBody>
      </p:sp>
      <p:sp>
        <p:nvSpPr>
          <p:cNvPr id="5" name="Text 3"/>
          <p:cNvSpPr txBox="1"/>
          <p:nvPr/>
        </p:nvSpPr>
        <p:spPr>
          <a:xfrm>
            <a:off x="1188720" y="1600200"/>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Walk through today’s Experience Cloud site, the app and Certain</a:t>
            </a:r>
            <a:endParaRPr lang="en-US" sz="2000" dirty="0"/>
          </a:p>
        </p:txBody>
      </p:sp>
      <p:sp>
        <p:nvSpPr>
          <p:cNvPr id="6" name="circle-2"/>
          <p:cNvSpPr/>
          <p:nvPr/>
        </p:nvSpPr>
        <p:spPr>
          <a:xfrm>
            <a:off x="548640" y="2185416"/>
            <a:ext cx="420624" cy="420624"/>
          </a:xfrm>
          <a:prstGeom prst="ellipse">
            <a:avLst/>
          </a:prstGeom>
          <a:ln w="15875">
            <a:solidFill>
              <a:schemeClr val="bg1"/>
            </a:solidFill>
            <a:prstDash val="solid"/>
          </a:ln>
        </p:spPr>
      </p:sp>
      <p:sp>
        <p:nvSpPr>
          <p:cNvPr id="7" name="Text 5"/>
          <p:cNvSpPr txBox="1"/>
          <p:nvPr/>
        </p:nvSpPr>
        <p:spPr>
          <a:xfrm>
            <a:off x="548640" y="2185416"/>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2</a:t>
            </a:r>
            <a:endParaRPr lang="en-US" sz="1400" dirty="0"/>
          </a:p>
        </p:txBody>
      </p:sp>
      <p:sp>
        <p:nvSpPr>
          <p:cNvPr id="8" name="Text 6"/>
          <p:cNvSpPr txBox="1"/>
          <p:nvPr/>
        </p:nvSpPr>
        <p:spPr>
          <a:xfrm>
            <a:off x="1188720" y="2185416"/>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Confirm what is not working today and why Certain is being replaced</a:t>
            </a:r>
            <a:endParaRPr lang="en-US" sz="2000" dirty="0"/>
          </a:p>
        </p:txBody>
      </p:sp>
      <p:sp>
        <p:nvSpPr>
          <p:cNvPr id="9" name="circle-3"/>
          <p:cNvSpPr/>
          <p:nvPr/>
        </p:nvSpPr>
        <p:spPr>
          <a:xfrm>
            <a:off x="548640" y="2770632"/>
            <a:ext cx="420624" cy="420624"/>
          </a:xfrm>
          <a:prstGeom prst="ellipse">
            <a:avLst/>
          </a:prstGeom>
          <a:ln w="15875">
            <a:solidFill>
              <a:schemeClr val="bg1"/>
            </a:solidFill>
            <a:prstDash val="solid"/>
          </a:ln>
        </p:spPr>
      </p:sp>
      <p:sp>
        <p:nvSpPr>
          <p:cNvPr id="10" name="Text 8"/>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3</a:t>
            </a:r>
            <a:endParaRPr lang="en-US" sz="1400" dirty="0"/>
          </a:p>
        </p:txBody>
      </p:sp>
      <p:sp>
        <p:nvSpPr>
          <p:cNvPr id="11" name="Text 9"/>
          <p:cNvSpPr txBox="1"/>
          <p:nvPr/>
        </p:nvSpPr>
        <p:spPr>
          <a:xfrm>
            <a:off x="1188720" y="2770632"/>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Confirm yearly volumes: classes, conferences, registrants</a:t>
            </a:r>
            <a:endParaRPr lang="en-US" sz="2000" dirty="0"/>
          </a:p>
        </p:txBody>
      </p:sp>
      <p:sp>
        <p:nvSpPr>
          <p:cNvPr id="12" name="circle-4"/>
          <p:cNvSpPr/>
          <p:nvPr/>
        </p:nvSpPr>
        <p:spPr>
          <a:xfrm>
            <a:off x="548640" y="3355848"/>
            <a:ext cx="420624" cy="420624"/>
          </a:xfrm>
          <a:prstGeom prst="ellipse">
            <a:avLst/>
          </a:prstGeom>
          <a:ln w="15875">
            <a:solidFill>
              <a:schemeClr val="bg1"/>
            </a:solidFill>
            <a:prstDash val="solid"/>
          </a:ln>
        </p:spPr>
      </p:sp>
      <p:sp>
        <p:nvSpPr>
          <p:cNvPr id="13" name="Text 11"/>
          <p:cNvSpPr txBox="1"/>
          <p:nvPr/>
        </p:nvSpPr>
        <p:spPr>
          <a:xfrm>
            <a:off x="548640" y="3355848"/>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4</a:t>
            </a:r>
            <a:endParaRPr lang="en-US" sz="1400" dirty="0"/>
          </a:p>
        </p:txBody>
      </p:sp>
      <p:sp>
        <p:nvSpPr>
          <p:cNvPr id="14" name="Text 12"/>
          <p:cNvSpPr txBox="1"/>
          <p:nvPr/>
        </p:nvSpPr>
        <p:spPr>
          <a:xfrm>
            <a:off x="1188720" y="3355848"/>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Confirm conference must-haves: sessions, badges, sponsors, CME</a:t>
            </a:r>
            <a:endParaRPr lang="en-US" sz="2000" dirty="0"/>
          </a:p>
        </p:txBody>
      </p:sp>
      <p:sp>
        <p:nvSpPr>
          <p:cNvPr id="15" name="circle-5"/>
          <p:cNvSpPr/>
          <p:nvPr/>
        </p:nvSpPr>
        <p:spPr>
          <a:xfrm>
            <a:off x="548640" y="3941064"/>
            <a:ext cx="420624" cy="420624"/>
          </a:xfrm>
          <a:prstGeom prst="ellipse">
            <a:avLst/>
          </a:prstGeom>
          <a:ln w="15875">
            <a:solidFill>
              <a:schemeClr val="bg1"/>
            </a:solidFill>
            <a:prstDash val="solid"/>
          </a:ln>
        </p:spPr>
      </p:sp>
      <p:sp>
        <p:nvSpPr>
          <p:cNvPr id="16" name="Text 14"/>
          <p:cNvSpPr txBox="1"/>
          <p:nvPr/>
        </p:nvSpPr>
        <p:spPr>
          <a:xfrm>
            <a:off x="548640" y="3941064"/>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5</a:t>
            </a:r>
            <a:endParaRPr lang="en-US" sz="1400" dirty="0"/>
          </a:p>
        </p:txBody>
      </p:sp>
      <p:sp>
        <p:nvSpPr>
          <p:cNvPr id="17" name="Text 15"/>
          <p:cNvSpPr txBox="1"/>
          <p:nvPr/>
        </p:nvSpPr>
        <p:spPr>
          <a:xfrm>
            <a:off x="1188720" y="3941064"/>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Agree the payment approach: keep both gateways or consolidate</a:t>
            </a:r>
            <a:endParaRPr lang="en-US" sz="2000" dirty="0"/>
          </a:p>
        </p:txBody>
      </p:sp>
      <p:sp>
        <p:nvSpPr>
          <p:cNvPr id="18" name="circle-6"/>
          <p:cNvSpPr/>
          <p:nvPr/>
        </p:nvSpPr>
        <p:spPr>
          <a:xfrm>
            <a:off x="548640" y="4526280"/>
            <a:ext cx="420624" cy="420624"/>
          </a:xfrm>
          <a:prstGeom prst="ellipse">
            <a:avLst/>
          </a:prstGeom>
          <a:ln w="15875">
            <a:solidFill>
              <a:schemeClr val="bg1"/>
            </a:solidFill>
            <a:prstDash val="solid"/>
          </a:ln>
        </p:spPr>
      </p:sp>
      <p:sp>
        <p:nvSpPr>
          <p:cNvPr id="19" name="Text 17"/>
          <p:cNvSpPr txBox="1"/>
          <p:nvPr/>
        </p:nvSpPr>
        <p:spPr>
          <a:xfrm>
            <a:off x="548640" y="452628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6</a:t>
            </a:r>
            <a:endParaRPr lang="en-US" sz="1400" dirty="0"/>
          </a:p>
        </p:txBody>
      </p:sp>
      <p:sp>
        <p:nvSpPr>
          <p:cNvPr id="20" name="Text 18"/>
          <p:cNvSpPr txBox="1"/>
          <p:nvPr/>
        </p:nvSpPr>
        <p:spPr>
          <a:xfrm>
            <a:off x="1188720" y="4526280"/>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Share the Certain renewal date so Phase 2 lands before it</a:t>
            </a:r>
            <a:endParaRPr lang="en-US" sz="2000" dirty="0"/>
          </a:p>
        </p:txBody>
      </p:sp>
      <p:sp>
        <p:nvSpPr>
          <p:cNvPr id="21" name="circle-7"/>
          <p:cNvSpPr/>
          <p:nvPr/>
        </p:nvSpPr>
        <p:spPr>
          <a:xfrm>
            <a:off x="548640" y="5111496"/>
            <a:ext cx="420624" cy="420624"/>
          </a:xfrm>
          <a:prstGeom prst="ellipse">
            <a:avLst/>
          </a:prstGeom>
          <a:ln w="15875">
            <a:solidFill>
              <a:schemeClr val="bg1"/>
            </a:solidFill>
            <a:prstDash val="solid"/>
          </a:ln>
        </p:spPr>
      </p:sp>
      <p:sp>
        <p:nvSpPr>
          <p:cNvPr id="22" name="Text 20"/>
          <p:cNvSpPr txBox="1"/>
          <p:nvPr/>
        </p:nvSpPr>
        <p:spPr>
          <a:xfrm>
            <a:off x="548640" y="5111496"/>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7</a:t>
            </a:r>
            <a:endParaRPr lang="en-US" sz="1400" dirty="0"/>
          </a:p>
        </p:txBody>
      </p:sp>
      <p:sp>
        <p:nvSpPr>
          <p:cNvPr id="23" name="Text 21"/>
          <p:cNvSpPr txBox="1"/>
          <p:nvPr/>
        </p:nvSpPr>
        <p:spPr>
          <a:xfrm>
            <a:off x="1188720" y="5111496"/>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Pick 2 to 3 service lines for the first engagement journeys</a:t>
            </a:r>
            <a:endParaRPr lang="en-US" sz="2000" dirty="0"/>
          </a:p>
        </p:txBody>
      </p:sp>
      <p:sp>
        <p:nvSpPr>
          <p:cNvPr id="24" name="Text 22"/>
          <p:cNvSpPr txBox="1"/>
          <p:nvPr/>
        </p:nvSpPr>
        <p:spPr>
          <a:xfrm>
            <a:off x="1188720" y="5806440"/>
            <a:ext cx="10058400" cy="320040"/>
          </a:xfrm>
          <a:prstGeom prst="rect">
            <a:avLst/>
          </a:prstGeom>
          <a:noFill/>
          <a:ln/>
        </p:spPr>
        <p:txBody>
          <a:bodyPr wrap="square" lIns="0" tIns="0" rIns="0" bIns="0" rtlCol="0" anchor="t"/>
          <a:lstStyle/>
          <a:p>
            <a:pPr indent="0" marL="0">
              <a:buNone/>
            </a:pPr>
            <a:r>
              <a:rPr lang="en-US" sz="1400" b="1" dirty="0">
                <a:solidFill>
                  <a:schemeClr val="accent1"/>
                </a:solidFill>
              </a:rPr>
              <a:t>Then we return with a scoped plan, team and estimate.</a:t>
            </a:r>
            <a:endParaRPr lang="en-US" sz="14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Insight Global">
  <a:themeElements>
    <a:clrScheme name="Insight Global">
      <a:dk1>
        <a:srgbClr val="000000"/>
      </a:dk1>
      <a:lt1>
        <a:srgbClr val="FFFFFF"/>
      </a:lt1>
      <a:dk2>
        <a:srgbClr val="01273C"/>
      </a:dk2>
      <a:lt2>
        <a:srgbClr val="F2F2F2"/>
      </a:lt2>
      <a:accent1>
        <a:srgbClr val="00D6F2"/>
      </a:accent1>
      <a:accent2>
        <a:srgbClr val="FED700"/>
      </a:accent2>
      <a:accent3>
        <a:srgbClr val="FF0068"/>
      </a:accent3>
      <a:accent4>
        <a:srgbClr val="F98B34"/>
      </a:accent4>
      <a:accent5>
        <a:srgbClr val="D214AA"/>
      </a:accent5>
      <a:accent6>
        <a:srgbClr val="45289F"/>
      </a:accent6>
      <a:hlink>
        <a:srgbClr val="FF0068"/>
      </a:hlink>
      <a:folHlink>
        <a:srgbClr val="D214AA"/>
      </a:folHlink>
    </a:clrScheme>
    <a:fontScheme name="Insight Global">
      <a:majorFont>
        <a:latin typeface="Trenda IG T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Insight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Memorial Hermann: One Event Platform on Salesforce</dc:title>
  <dc:subject>PptxGenJS Presentation</dc:subject>
  <dc:creator>Insight Global</dc:creator>
  <cp:lastModifiedBy>Insight Global</cp:lastModifiedBy>
  <cp:revision>1</cp:revision>
  <dcterms:created xsi:type="dcterms:W3CDTF">2026-10-19T05:48:31Z</dcterms:created>
  <dcterms:modified xsi:type="dcterms:W3CDTF">2026-10-19T05:48:31Z</dcterms:modified>
</cp:coreProperties>
</file>