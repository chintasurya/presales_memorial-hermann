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view" id="{66814072-4799-423f-da61-dabbe000ac5b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Two-week sprints, each closing with a demo and a milestone Memorial Hermann signs off. Sprints 1 and 2 cover discovery and design, sprints 3 to 7 deliver classes and events (live at week 14), and sprints 8 to 12 deliver conferences and the first engagement journeys (live at week 24, Certain retired). Sprint scope is refined after the current-state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small, dedicated pod: one Scrum Master or Project Manager leading delivery, one QA engineer embedded in every sprint, and a build team of two Salesforce developers and one Marketing Cloud developer. Memorial Hermann provides a product owner and an Epic and app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program value is $700,000. As a strategic partner, Memorial Hermann receives a 50% partnership credit applied upfront, for an investment of $350,000. Billing follows sprint milestones. Licenses and third-party fees are outside this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G-Dar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G-L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bg1"/>
                </a:solidFill>
              </a:rPr>
              <a:t>MEMORIAL HERMANN  ·  EVENT PLATFORM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1"/>
                </a:solidFill>
              </a:rPr>
              <a:t>MEMORIAL HERMANN  ·  EVENT PLATFORM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Delivery plan: 12 two-week sprints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</a:rPr>
              <a:t>A working demo and a milestone sign-off with Memorial Hermann at the end of every sprint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92608" cy="146304"/>
          </a:xfrm>
          <a:prstGeom prst="roundRect">
            <a:avLst>
              <a:gd name="adj" fmla="val 50000"/>
            </a:avLst>
          </a:prstGeom>
          <a:solidFill>
            <a:srgbClr val="00A9C0"/>
          </a:solidFill>
          <a:ln w="12700">
            <a:solidFill>
              <a:srgbClr val="00A9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682496"/>
            <a:ext cx="1659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C"/>
                </a:solidFill>
              </a:rPr>
              <a:t>Discover and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66644" y="1737360"/>
            <a:ext cx="292608" cy="146304"/>
          </a:xfrm>
          <a:prstGeom prst="roundRect">
            <a:avLst>
              <a:gd name="adj" fmla="val 50000"/>
            </a:avLst>
          </a:prstGeom>
          <a:solidFill>
            <a:srgbClr val="D9B200"/>
          </a:solidFill>
          <a:ln w="12700">
            <a:solidFill>
              <a:srgbClr val="D9B2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50692" y="168249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100"/>
                </a:solidFill>
              </a:rPr>
              <a:t>Phase 1 · Classes and events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29884" y="1737360"/>
            <a:ext cx="292608" cy="146304"/>
          </a:xfrm>
          <a:prstGeom prst="roundRect">
            <a:avLst>
              <a:gd name="adj" fmla="val 50000"/>
            </a:avLst>
          </a:prstGeom>
          <a:solidFill>
            <a:srgbClr val="FF0068"/>
          </a:solidFill>
          <a:ln w="12700">
            <a:solidFill>
              <a:srgbClr val="FF0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13932" y="168249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005A"/>
                </a:solidFill>
              </a:rPr>
              <a:t>Phase 2 · Conferences and engagement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905695" y="1728216"/>
            <a:ext cx="164592" cy="164592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34295" y="16824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Sprint-end milestone</a:t>
            </a:r>
            <a:endParaRPr lang="en-US" sz="1100" dirty="0"/>
          </a:p>
        </p:txBody>
      </p:sp>
      <p:sp>
        <p:nvSpPr>
          <p:cNvPr id="12" name="sprint-1"/>
          <p:cNvSpPr/>
          <p:nvPr/>
        </p:nvSpPr>
        <p:spPr>
          <a:xfrm>
            <a:off x="502920" y="2103120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00A9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221992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C8C"/>
                </a:solidFill>
              </a:rPr>
              <a:t>SPRINT 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50592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1-2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06624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Walkthrough, requirements, data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20440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3456432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Design sign-off</a:t>
            </a:r>
            <a:endParaRPr lang="en-US" sz="1050" dirty="0"/>
          </a:p>
        </p:txBody>
      </p:sp>
      <p:sp>
        <p:nvSpPr>
          <p:cNvPr id="19" name="sprint-2"/>
          <p:cNvSpPr/>
          <p:nvPr/>
        </p:nvSpPr>
        <p:spPr>
          <a:xfrm>
            <a:off x="2388565" y="2103120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00A9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25725" y="2221992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C8C"/>
                </a:solidFill>
              </a:rPr>
              <a:t>SPRINT 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25725" y="2450592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3-4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25725" y="2706624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Environments, CI/CD, security baseline, backlog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25725" y="3383280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5725" y="3520440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72613" y="3456432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Architecture approved</a:t>
            </a:r>
            <a:endParaRPr lang="en-US" sz="1050" dirty="0"/>
          </a:p>
        </p:txBody>
      </p:sp>
      <p:sp>
        <p:nvSpPr>
          <p:cNvPr id="26" name="sprint-3"/>
          <p:cNvSpPr/>
          <p:nvPr/>
        </p:nvSpPr>
        <p:spPr>
          <a:xfrm>
            <a:off x="4274210" y="2103120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D9B2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11370" y="2221992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100"/>
                </a:solidFill>
              </a:rPr>
              <a:t>SPRINT 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411370" y="2450592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5-6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411370" y="2706624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Event catalog and class listings on Sitecore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11370" y="3383280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11370" y="3520440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58258" y="3456432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Classes browsable in test</a:t>
            </a:r>
            <a:endParaRPr lang="en-US" sz="1050" dirty="0"/>
          </a:p>
        </p:txBody>
      </p:sp>
      <p:sp>
        <p:nvSpPr>
          <p:cNvPr id="33" name="sprint-4"/>
          <p:cNvSpPr/>
          <p:nvPr/>
        </p:nvSpPr>
        <p:spPr>
          <a:xfrm>
            <a:off x="6159856" y="2103120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D9B2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97016" y="2221992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100"/>
                </a:solidFill>
              </a:rPr>
              <a:t>SPRINT 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297016" y="2450592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7-8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297016" y="2706624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Registration, seat holds, waitlist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7016" y="3383280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97016" y="3520440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43904" y="3456432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Registration demo</a:t>
            </a:r>
            <a:endParaRPr lang="en-US" sz="1050" dirty="0"/>
          </a:p>
        </p:txBody>
      </p:sp>
      <p:sp>
        <p:nvSpPr>
          <p:cNvPr id="40" name="sprint-5"/>
          <p:cNvSpPr/>
          <p:nvPr/>
        </p:nvSpPr>
        <p:spPr>
          <a:xfrm>
            <a:off x="8045501" y="2103120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D9B2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82661" y="2221992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100"/>
                </a:solidFill>
              </a:rPr>
              <a:t>SPRINT 5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182661" y="2450592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9-10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182661" y="2706624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Chase checkout, refunds, confirmation journeys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82661" y="3383280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82661" y="3520440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29549" y="3456432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Pay and confirm end to end</a:t>
            </a:r>
            <a:endParaRPr lang="en-US" sz="1050" dirty="0"/>
          </a:p>
        </p:txBody>
      </p:sp>
      <p:sp>
        <p:nvSpPr>
          <p:cNvPr id="47" name="sprint-6"/>
          <p:cNvSpPr/>
          <p:nvPr/>
        </p:nvSpPr>
        <p:spPr>
          <a:xfrm>
            <a:off x="9931146" y="2103120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D9B2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068306" y="2221992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100"/>
                </a:solidFill>
              </a:rPr>
              <a:t>SPRINT 6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068306" y="2450592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11-12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068306" y="2706624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QR check-in, reporting, My MH app entry, load test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068306" y="3383280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68306" y="3520440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315194" y="3456432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User testing starts</a:t>
            </a:r>
            <a:endParaRPr lang="en-US" sz="1050" dirty="0"/>
          </a:p>
        </p:txBody>
      </p:sp>
      <p:sp>
        <p:nvSpPr>
          <p:cNvPr id="54" name="sprint-7"/>
          <p:cNvSpPr/>
          <p:nvPr/>
        </p:nvSpPr>
        <p:spPr>
          <a:xfrm>
            <a:off x="502920" y="4151376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000000"/>
          </a:solidFill>
          <a:ln w="22225">
            <a:solidFill>
              <a:srgbClr val="D9B2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0080" y="4270248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B200"/>
                </a:solidFill>
              </a:rPr>
              <a:t>SPRINT 7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4498848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</a:rPr>
              <a:t>Weeks 13-14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4754880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testing, move upcoming classes, go-live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" y="5431536"/>
            <a:ext cx="1483309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0080" y="5568696"/>
            <a:ext cx="155448" cy="155448"/>
          </a:xfrm>
          <a:prstGeom prst="diamond">
            <a:avLst/>
          </a:prstGeom>
          <a:solidFill>
            <a:srgbClr val="D9B200"/>
          </a:solidFill>
          <a:ln w="12700">
            <a:solidFill>
              <a:srgbClr val="D9B2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86968" y="5504688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 live</a:t>
            </a:r>
            <a:endParaRPr lang="en-US" sz="1050" dirty="0"/>
          </a:p>
        </p:txBody>
      </p:sp>
      <p:sp>
        <p:nvSpPr>
          <p:cNvPr id="61" name="sprint-8"/>
          <p:cNvSpPr/>
          <p:nvPr/>
        </p:nvSpPr>
        <p:spPr>
          <a:xfrm>
            <a:off x="2388565" y="4151376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FF006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525725" y="4270248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5A"/>
                </a:solidFill>
              </a:rPr>
              <a:t>SPRINT 8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2525725" y="4498848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15-16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2525725" y="4754880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Sessions, tracks, rooms and speakers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525725" y="5431536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25725" y="5568696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772613" y="5504688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Conference build demo</a:t>
            </a:r>
            <a:endParaRPr lang="en-US" sz="1050" dirty="0"/>
          </a:p>
        </p:txBody>
      </p:sp>
      <p:sp>
        <p:nvSpPr>
          <p:cNvPr id="68" name="sprint-9"/>
          <p:cNvSpPr/>
          <p:nvPr/>
        </p:nvSpPr>
        <p:spPr>
          <a:xfrm>
            <a:off x="4274210" y="4151376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FF006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411370" y="4270248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5A"/>
                </a:solidFill>
              </a:rPr>
              <a:t>SPRINT 9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411370" y="4498848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17-18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4411370" y="4754880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My Agenda portal, ticket types, Authorize.net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411370" y="5431536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11370" y="5568696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658258" y="5504688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Attendee portal demo</a:t>
            </a:r>
            <a:endParaRPr lang="en-US" sz="1050" dirty="0"/>
          </a:p>
        </p:txBody>
      </p:sp>
      <p:sp>
        <p:nvSpPr>
          <p:cNvPr id="75" name="sprint-10"/>
          <p:cNvSpPr/>
          <p:nvPr/>
        </p:nvSpPr>
        <p:spPr>
          <a:xfrm>
            <a:off x="6159856" y="4151376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FF006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297016" y="4270248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5A"/>
                </a:solidFill>
              </a:rPr>
              <a:t>SPRINT 10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6297016" y="4498848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19-20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6297016" y="4754880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Badges, CME [to confirm], PEI journeys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297016" y="5431536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97016" y="5568696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543904" y="5504688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Engagement journeys pilot</a:t>
            </a:r>
            <a:endParaRPr lang="en-US" sz="1050" dirty="0"/>
          </a:p>
        </p:txBody>
      </p:sp>
      <p:sp>
        <p:nvSpPr>
          <p:cNvPr id="82" name="sprint-11"/>
          <p:cNvSpPr/>
          <p:nvPr/>
        </p:nvSpPr>
        <p:spPr>
          <a:xfrm>
            <a:off x="8045501" y="4151376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F2F2F2"/>
          </a:solidFill>
          <a:ln w="22225">
            <a:solidFill>
              <a:srgbClr val="FF006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182661" y="4270248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5A"/>
                </a:solidFill>
              </a:rPr>
              <a:t>SPRINT 11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8182661" y="4498848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</a:rPr>
              <a:t>Weeks 21-22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8182661" y="4754880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Certain data migration, load test, user testing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182661" y="5431536"/>
            <a:ext cx="1483309" cy="0"/>
          </a:xfrm>
          <a:prstGeom prst="line">
            <a:avLst/>
          </a:prstGeom>
          <a:noFill/>
          <a:ln w="9525">
            <a:solidFill>
              <a:srgbClr val="D0D0D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182661" y="5568696"/>
            <a:ext cx="155448" cy="155448"/>
          </a:xfrm>
          <a:prstGeom prst="diamond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429549" y="5504688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Testing sign-off</a:t>
            </a:r>
            <a:endParaRPr lang="en-US" sz="1050" dirty="0"/>
          </a:p>
        </p:txBody>
      </p:sp>
      <p:sp>
        <p:nvSpPr>
          <p:cNvPr id="89" name="sprint-12"/>
          <p:cNvSpPr/>
          <p:nvPr/>
        </p:nvSpPr>
        <p:spPr>
          <a:xfrm>
            <a:off x="9931146" y="4151376"/>
            <a:ext cx="1757629" cy="1901952"/>
          </a:xfrm>
          <a:prstGeom prst="roundRect">
            <a:avLst>
              <a:gd name="adj" fmla="val 5202"/>
            </a:avLst>
          </a:prstGeom>
          <a:solidFill>
            <a:srgbClr val="000000"/>
          </a:solidFill>
          <a:ln w="22225">
            <a:solidFill>
              <a:srgbClr val="FF0068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068306" y="4270248"/>
            <a:ext cx="14833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0068"/>
                </a:solidFill>
              </a:rPr>
              <a:t>SPRINT 12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10068306" y="4498848"/>
            <a:ext cx="1483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</a:rPr>
              <a:t>Weeks 23-24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10068306" y="4754880"/>
            <a:ext cx="14833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Go-live, hypercare, knowledge transfer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0068306" y="5431536"/>
            <a:ext cx="1483309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068306" y="5568696"/>
            <a:ext cx="155448" cy="155448"/>
          </a:xfrm>
          <a:prstGeom prst="diamond">
            <a:avLst/>
          </a:prstGeom>
          <a:solidFill>
            <a:srgbClr val="FF0068"/>
          </a:solidFill>
          <a:ln w="12700">
            <a:solidFill>
              <a:srgbClr val="FF0068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0315194" y="5504688"/>
            <a:ext cx="12547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2 live, Certain retired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dedicated five-person delivery pod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4023360" cy="4069080"/>
          </a:xfrm>
          <a:prstGeom prst="triangle">
            <a:avLst/>
          </a:prstGeom>
          <a:solidFill>
            <a:srgbClr val="FF0068"/>
          </a:solidFill>
          <a:ln w="12700">
            <a:solidFill>
              <a:srgbClr val="FF00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3480" y="1691640"/>
            <a:ext cx="2682240" cy="2712720"/>
          </a:xfrm>
          <a:prstGeom prst="triangle">
            <a:avLst/>
          </a:prstGeom>
          <a:solidFill>
            <a:srgbClr val="D9B200"/>
          </a:solidFill>
          <a:ln w="12700">
            <a:solidFill>
              <a:srgbClr val="D9B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4040" y="1691640"/>
            <a:ext cx="1341120" cy="1356360"/>
          </a:xfrm>
          <a:prstGeom prst="triangle">
            <a:avLst/>
          </a:prstGeom>
          <a:solidFill>
            <a:srgbClr val="00A9C0"/>
          </a:solidFill>
          <a:ln w="12700">
            <a:solidFill>
              <a:srgbClr val="00A9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8320" y="3048000"/>
            <a:ext cx="1432560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7760" y="4404360"/>
            <a:ext cx="2773680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2481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7459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50109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2977280" y="2479548"/>
            <a:ext cx="1869040" cy="0"/>
          </a:xfrm>
          <a:prstGeom prst="line">
            <a:avLst/>
          </a:prstGeom>
          <a:noFill/>
          <a:ln w="12700">
            <a:solidFill>
              <a:srgbClr val="A0A0A8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4846320" y="2433828"/>
            <a:ext cx="91440" cy="91440"/>
          </a:xfrm>
          <a:prstGeom prst="ellipse">
            <a:avLst/>
          </a:prstGeom>
          <a:solidFill>
            <a:srgbClr val="007C8C"/>
          </a:solidFill>
          <a:ln w="12700">
            <a:solidFill>
              <a:srgbClr val="007C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20955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7C8C"/>
                </a:solidFill>
              </a:rPr>
              <a:t>LEAD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2966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Scrum Master or Project Manager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5709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Runs sprints, milestones, risks and status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93592" y="3726180"/>
            <a:ext cx="1252728" cy="0"/>
          </a:xfrm>
          <a:prstGeom prst="line">
            <a:avLst/>
          </a:prstGeom>
          <a:noFill/>
          <a:ln w="12700">
            <a:solidFill>
              <a:srgbClr val="A0A0A8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4846320" y="3680460"/>
            <a:ext cx="91440" cy="91440"/>
          </a:xfrm>
          <a:prstGeom prst="ellipse">
            <a:avLst/>
          </a:prstGeom>
          <a:solidFill>
            <a:srgbClr val="7A6100"/>
          </a:solidFill>
          <a:ln w="12700">
            <a:solidFill>
              <a:srgbClr val="7A61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33421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A6100"/>
                </a:solidFill>
              </a:rPr>
              <a:t>QUALITY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5433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QA Engineer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8176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Test plans, automation, load tests, user testing support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64152" y="5082540"/>
            <a:ext cx="582168" cy="0"/>
          </a:xfrm>
          <a:prstGeom prst="line">
            <a:avLst/>
          </a:prstGeom>
          <a:noFill/>
          <a:ln w="12700">
            <a:solidFill>
              <a:srgbClr val="A0A0A8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4846320" y="5036820"/>
            <a:ext cx="91440" cy="91440"/>
          </a:xfrm>
          <a:prstGeom prst="ellipse">
            <a:avLst/>
          </a:prstGeom>
          <a:solidFill>
            <a:srgbClr val="C8005A"/>
          </a:solidFill>
          <a:ln w="12700">
            <a:solidFill>
              <a:srgbClr val="C800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46984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005A"/>
                </a:solidFill>
              </a:rPr>
              <a:t>BUILD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8996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 Salesforce Developers + 1 Marketing Cloud Developer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3568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Event app, registration, payments, integrations, journeys and PEIs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83880" y="1691640"/>
            <a:ext cx="3502152" cy="4069080"/>
          </a:xfrm>
          <a:prstGeom prst="roundRect">
            <a:avLst>
              <a:gd name="adj" fmla="val 3133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18288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Every two-week sprint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66760" y="22860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8CE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4" y="2386584"/>
            <a:ext cx="182880" cy="18288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869680" y="22677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Plan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248716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Sprint planning with your product owner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366760" y="29443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8CE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4" y="3044952"/>
            <a:ext cx="182880" cy="18288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869680" y="292608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Build and test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8869680" y="314553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Daily stand-ups; QA inside the sprint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366760" y="360273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8CE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703320"/>
            <a:ext cx="182880" cy="18288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869680" y="358444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Demo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8869680" y="380390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Sprint review and milestone sign-off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366760" y="42611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8CE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4361688"/>
            <a:ext cx="182880" cy="18288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8869680" y="424281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Improve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8869680" y="44622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Retrospective; adjust the next sprint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8366760" y="495604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C8C"/>
                </a:solidFill>
              </a:rPr>
              <a:t>FROM MEMORIAL HERMANN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8366760" y="5175504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 product owner, plus an Epic and app contact from Lucky Rai’s team</a:t>
            </a:r>
            <a:endParaRPr lang="en-US" sz="1050" dirty="0"/>
          </a:p>
        </p:txBody>
      </p:sp>
      <p:sp>
        <p:nvSpPr>
          <p:cNvPr id="46" name="Text 40"/>
          <p:cNvSpPr txBox="1"/>
          <p:nvPr/>
        </p:nvSpPr>
        <p:spPr>
          <a:xfrm>
            <a:off x="502920" y="5897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5 people  ·  12 sprints  ·  24 weeks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Investment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</a:rPr>
              <a:t>Fixed-scope delivery by the five-person pod across 12 sprints</a:t>
            </a:r>
            <a:endParaRPr lang="en-US" sz="1400" dirty="0"/>
          </a:p>
        </p:txBody>
      </p:sp>
      <p:sp>
        <p:nvSpPr>
          <p:cNvPr id="4" name="price-card"/>
          <p:cNvSpPr/>
          <p:nvPr/>
        </p:nvSpPr>
        <p:spPr>
          <a:xfrm>
            <a:off x="502920" y="1783080"/>
            <a:ext cx="4206240" cy="4069080"/>
          </a:xfrm>
          <a:prstGeom prst="roundRect">
            <a:avLst>
              <a:gd name="adj" fmla="val 314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BFBF"/>
                </a:solidFill>
              </a:rPr>
              <a:t>STANDARD PROGRAM VALUE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trike="sngStrike" dirty="0">
                <a:solidFill>
                  <a:srgbClr val="8C8C8C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$700,000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356616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291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6F2"/>
                </a:solidFill>
              </a:rPr>
              <a:t>STRATEGIC PARTNER INVESTMENT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$350,000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F0068"/>
          </a:solidFill>
          <a:ln w="12700">
            <a:solidFill>
              <a:srgbClr val="FF0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617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50% partnership credit, applied upfront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84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</a:rPr>
              <a:t>You save $350,000 on the full program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9784" y="1783080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Phase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21624" y="178308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Sprints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27464" y="178308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Standard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616184" y="1783080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Partner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2112264"/>
            <a:ext cx="66111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9784" y="211226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Phase 1 · Classes and events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211226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1-7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27464" y="211226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rgbClr val="8C8C8C"/>
                </a:solidFill>
              </a:rPr>
              <a:t>$410,000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616184" y="2112264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$205,000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2569464"/>
            <a:ext cx="6611112" cy="0"/>
          </a:xfrm>
          <a:prstGeom prst="line">
            <a:avLst/>
          </a:prstGeom>
          <a:noFill/>
          <a:ln w="9525">
            <a:solidFill>
              <a:srgbClr val="A0A0A8"/>
            </a:solidFill>
            <a:prstDash val="sysDot"/>
          </a:ln>
        </p:spPr>
      </p:sp>
      <p:sp>
        <p:nvSpPr>
          <p:cNvPr id="23" name="Text 21"/>
          <p:cNvSpPr txBox="1"/>
          <p:nvPr/>
        </p:nvSpPr>
        <p:spPr>
          <a:xfrm>
            <a:off x="5129784" y="256946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Phase 2 · Conferences and engagement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21624" y="256946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8-12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27464" y="256946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rgbClr val="8C8C8C"/>
                </a:solidFill>
              </a:rPr>
              <a:t>$290,000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616184" y="2569464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$145,000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3026664"/>
            <a:ext cx="66111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29784" y="302666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Total program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21624" y="302666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12 sprints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427464" y="302666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trike="sngStrike" dirty="0">
                <a:solidFill>
                  <a:srgbClr val="8C8C8C"/>
                </a:solidFill>
              </a:rPr>
              <a:t>$700,000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616184" y="3026664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$350,000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74920" y="3483864"/>
            <a:ext cx="6611112" cy="0"/>
          </a:xfrm>
          <a:prstGeom prst="line">
            <a:avLst/>
          </a:prstGeom>
          <a:noFill/>
          <a:ln w="9525">
            <a:solidFill>
              <a:srgbClr val="A0A0A8"/>
            </a:solidFill>
            <a:prstDash val="sysDot"/>
          </a:ln>
        </p:spPr>
      </p:sp>
      <p:sp>
        <p:nvSpPr>
          <p:cNvPr id="33" name="Text 31"/>
          <p:cNvSpPr txBox="1"/>
          <p:nvPr/>
        </p:nvSpPr>
        <p:spPr>
          <a:xfrm>
            <a:off x="50749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Included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074920" y="4032504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</a:rPr>
              <a:t>Dedicated five-person pod for 24 weeks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</a:rPr>
              <a:t>Sprint demos and milestone sign-offs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</a:rPr>
              <a:t>Testing, load testing, go-live and hypercare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</a:rPr>
              <a:t>Documentation and handover to your admins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5953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Not included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4032504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</a:rPr>
              <a:t>Salesforce licenses (Shield, Agentforce, Data Cloud)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</a:rPr>
              <a:t>Payment gateway transaction fees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D4D4D"/>
                </a:solidFill>
              </a:rPr>
              <a:t>Waiting room subscription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74920" y="557784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D4D4D"/>
                </a:solidFill>
              </a:rPr>
              <a:t>Indicative pricing, billed at sprint milestones. Final commercials confirmed in the statement of work.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ight Global">
  <a:themeElements>
    <a:clrScheme name="Insight Global">
      <a:dk1>
        <a:srgbClr val="000000"/>
      </a:dk1>
      <a:lt1>
        <a:srgbClr val="FFFFFF"/>
      </a:lt1>
      <a:dk2>
        <a:srgbClr val="01273C"/>
      </a:dk2>
      <a:lt2>
        <a:srgbClr val="F2F2F2"/>
      </a:lt2>
      <a:accent1>
        <a:srgbClr val="00D6F2"/>
      </a:accent1>
      <a:accent2>
        <a:srgbClr val="FED700"/>
      </a:accent2>
      <a:accent3>
        <a:srgbClr val="FF0068"/>
      </a:accent3>
      <a:accent4>
        <a:srgbClr val="F98B34"/>
      </a:accent4>
      <a:accent5>
        <a:srgbClr val="D214AA"/>
      </a:accent5>
      <a:accent6>
        <a:srgbClr val="45289F"/>
      </a:accent6>
      <a:hlink>
        <a:srgbClr val="FF0068"/>
      </a:hlink>
      <a:folHlink>
        <a:srgbClr val="D214AA"/>
      </a:folHlink>
    </a:clrScheme>
    <a:fontScheme name="Insight Global">
      <a:majorFont>
        <a:latin typeface="Trenda IG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2026-10-15T11:02:30Z</dcterms:created>
  <dcterms:modified xsi:type="dcterms:W3CDTF">2026-10-15T11:02:30Z</dcterms:modified>
</cp:coreProperties>
</file>