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268fef39-84b0-8b0f-2900-7ca59b6f7431}">
          <p14:sldIdLst>
            <p14:sldId id="256"/>
            <p14:sldId id="257"/>
            <p14:sldId id="258"/>
          </p14:sldIdLst>
        </p14:section>
        <p14:section name="The solution" id="{0db55aa4-8b94-6ddd-3f46-86826684d539}">
          <p14:sldIdLst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Delivery plan" id="{b9330000-193b-8046-3704-7aaefeec8364}">
          <p14:sldIdLst>
            <p14:sldId id="265"/>
            <p14:sldId id="266"/>
            <p14:sldId id="267"/>
          </p14:sldIdLst>
        </p14:section>
        <p14:section name="Beyond the event" id="{4e96f6e9-68b8-4153-ca7b-cf81d848ede2}">
          <p14:sldIdLst>
            <p14:sldId id="268"/>
            <p14:sldId id="269"/>
            <p14:sldId id="270"/>
            <p14:sldId id="271"/>
            <p14:sldId id="272"/>
            <p14:sldId id="273"/>
          </p14:sldIdLst>
        </p14:section>
        <p14:section name="Roadmap and next steps" id="{c7496323-1454-5d8e-9a3c-e9016b424717}">
          <p14:sldIdLst>
            <p14:sldId id="274"/>
            <p14:sldId id="275"/>
            <p14:sldId id="27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Kevin for the detailed answers. Today: how we solve the event registration problem on the Salesforce platform they already own, how we deliver it, and how the registration data can grow engagement and the network.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Sections 1 to 4 solve the problem Kevin described. Section 5 is the value we add on top: using registration data to keep people engaged and bring them into the Memorial Hermann network.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Play back Kevin’s answers so he can correct anything. Two systems and two payment gateways today; the goal is one platform.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app on the Health Cloud org they already own. Sitecore stays the public front door, Salesforce runs events, Marketing Cloud sends every message. This retires both the home-built class tool and Certain.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Concept screens, sample data. The same experience works on desktop and phone, and can sit inside the existing Sitecore site.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standard Salesforce Lightning app, so their in-house Salesforce admins can own it after launch.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Conferences use the same app and data as classes, so attendees, payments and reporting stay in one place. CME requirements to be confirmed with Kevin.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Today Chase handles Salesforce-based classes and Authorize.net handles Certain events. We support either path. Hosted checkout keeps card data out of Salesforce.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1 replaces the home-built class registration around week 14. Phase 2 replaces Certain around week 24; time it to land before the Certain renewal. Engagement work can start as soon as Phase 1 is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team and same app across both phases, so Phase 2 builds on Phase 1 rather than starting over.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upsell. The event platform captures first-party data about what each person is interested in. Marketing Cloud journeys turn that into post-event interactions that lead to app downloads and booked visits.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class feeds one Marketing Cloud journey: confirmation, reminder, then four PEIs (thank you and survey, next class, app download, find a doctor). The journey exits when the person books a visit or downloads the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Examples to show the idea. We would pick two or three service lines with Kevin’s team to start.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My Memorial Hermann is their Epic-based patient app (scheduling, results, messaging). Every touchpoint in the event journey carries a tracked download link.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set baselines during discovery from the current tools, then report these in a Salesforce dashboard.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Future plan. AI features use Agentforce and are licensed separately; we would scope them after the core platform is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Kevin to set up the walkthrough with Lucky Rai’s team. Items 2 to 6 let us firm up the timeline and estimate.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you. Open for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G-Title-image-1.jpe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G-Agenda-image-1.jpe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G-Section-Blue-image-1.jpe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G-Section-Magenta-image-1.jpe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G-Section-Gold-image-1.jpeg"/><Relationship Id="rId2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image" Target="../media/IG-Dark-image-1.jpeg"/><Relationship Id="rId2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image" Target="../media/IG-Light-image-1.jpeg"/><Relationship Id="rId2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image" Target="../media/IG-Spectrum-image-1.jpeg"/><Relationship Id="rId2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image" Target="../media/IG-Closing-image-1.jpe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G Titl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914400" y="2514600"/>
            <a:ext cx="10362895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4400" spc="600" kern="0" dirty="0">
                <a:solidFill>
                  <a:schemeClr val="bg1"/>
                </a:solidFill>
                <a:latin typeface="Trenda IG Text Light" pitchFamily="34" charset="0"/>
                <a:ea typeface="Trenda IG Text Light" pitchFamily="34" charset="-122"/>
                <a:cs typeface="Trenda IG Text Light" pitchFamily="34" charset="-120"/>
              </a:defRPr>
            </a:lvl1pPr>
          </a:lstStyle>
          <a:p>
            <a:pPr algn="ctr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14400" y="4160520"/>
            <a:ext cx="10362895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chemeClr val="bg1"/>
                </a:solidFill>
              </a:defRPr>
            </a:lvl1pPr>
          </a:lstStyle>
          <a:p>
            <a:pPr algn="ctr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G Agenda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chemeClr val="bg1"/>
                </a:solidFill>
              </a:rPr>
              <a:t>MEMORIAL HERMANN  ·  EVENT PLATFORM</a:t>
            </a:r>
            <a:endParaRPr lang="en-US" sz="8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02920" y="658368"/>
            <a:ext cx="1118585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367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G Section Blu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914400" y="2743200"/>
            <a:ext cx="10362895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4400" spc="600" kern="0" dirty="0">
                <a:solidFill>
                  <a:schemeClr val="bg1"/>
                </a:solidFill>
                <a:latin typeface="Trenda IG Text Light" pitchFamily="34" charset="0"/>
                <a:ea typeface="Trenda IG Text Light" pitchFamily="34" charset="-122"/>
                <a:cs typeface="Trenda IG Text Light" pitchFamily="34" charset="-120"/>
              </a:defRPr>
            </a:lvl1pPr>
          </a:lstStyle>
          <a:p>
            <a:pPr algn="ctr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1371600" y="3840480"/>
            <a:ext cx="9448495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chemeClr val="bg1"/>
                </a:solidFill>
              </a:defRPr>
            </a:lvl1pPr>
          </a:lstStyle>
          <a:p>
            <a:pPr algn="ctr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G Section Magenta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914400" y="2743200"/>
            <a:ext cx="10362895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4400" spc="600" kern="0" dirty="0">
                <a:solidFill>
                  <a:schemeClr val="bg1"/>
                </a:solidFill>
                <a:latin typeface="Trenda IG Text Light" pitchFamily="34" charset="0"/>
                <a:ea typeface="Trenda IG Text Light" pitchFamily="34" charset="-122"/>
                <a:cs typeface="Trenda IG Text Light" pitchFamily="34" charset="-120"/>
              </a:defRPr>
            </a:lvl1pPr>
          </a:lstStyle>
          <a:p>
            <a:pPr algn="ctr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1371600" y="3840480"/>
            <a:ext cx="9448495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chemeClr val="bg1"/>
                </a:solidFill>
              </a:defRPr>
            </a:lvl1pPr>
          </a:lstStyle>
          <a:p>
            <a:pPr algn="ctr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G Section Gold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914400" y="2743200"/>
            <a:ext cx="10362895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4400" spc="600" kern="0" dirty="0">
                <a:solidFill>
                  <a:schemeClr val="bg1"/>
                </a:solidFill>
                <a:latin typeface="Trenda IG Text Light" pitchFamily="34" charset="0"/>
                <a:ea typeface="Trenda IG Text Light" pitchFamily="34" charset="-122"/>
                <a:cs typeface="Trenda IG Text Light" pitchFamily="34" charset="-120"/>
              </a:defRPr>
            </a:lvl1pPr>
          </a:lstStyle>
          <a:p>
            <a:pPr algn="ctr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1371600" y="3840480"/>
            <a:ext cx="9448495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chemeClr val="bg1"/>
                </a:solidFill>
              </a:defRPr>
            </a:lvl1pPr>
          </a:lstStyle>
          <a:p>
            <a:pPr algn="ctr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G Dark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chemeClr val="bg1"/>
                </a:solidFill>
              </a:rPr>
              <a:t>MEMORIAL HERMANN  ·  EVENT PLATFORM</a:t>
            </a:r>
            <a:endParaRPr lang="en-US" sz="8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02920" y="658368"/>
            <a:ext cx="1118585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367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G Light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chemeClr val="tx1"/>
                </a:solidFill>
              </a:rPr>
              <a:t>MEMORIAL HERMANN  ·  EVENT PLATFORM</a:t>
            </a:r>
            <a:endParaRPr lang="en-US" sz="8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02920" y="658368"/>
            <a:ext cx="1118585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367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G Spectrum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chemeClr val="bg1"/>
                </a:solidFill>
              </a:rPr>
              <a:t>MEMORIAL HERMANN  ·  EVENT PLATFORM</a:t>
            </a:r>
            <a:endParaRPr lang="en-US" sz="8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02920" y="658368"/>
            <a:ext cx="1118585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367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1009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G Closing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367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914400" y="2514600"/>
            <a:ext cx="1036289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spc="600" kern="0" dirty="0">
                <a:solidFill>
                  <a:schemeClr val="bg1"/>
                </a:solidFill>
                <a:latin typeface="Trenda IG Text Light" pitchFamily="34" charset="0"/>
                <a:ea typeface="Trenda IG Text Light" pitchFamily="34" charset="-122"/>
                <a:cs typeface="Trenda IG Text Light" pitchFamily="34" charset="-120"/>
              </a:rPr>
              <a:t>ONE EVENT PLATFORM ON SALESFORCE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14400" y="41605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Memorial Hermann Health System  ×  Insight Global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4709160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spc="400" kern="0" dirty="0">
                <a:solidFill>
                  <a:schemeClr val="bg1"/>
                </a:solidFill>
              </a:rPr>
              <a:t>CLASSES  ·  EVENTS  ·  CONFERENCES  ·  ENGAGEMENT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6172200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chemeClr val="bg1"/>
                </a:solidFill>
              </a:rPr>
              <a:t>OCTOBER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02920" y="658368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Agenda</a:t>
            </a:r>
            <a:endParaRPr lang="en-US" sz="3200" dirty="0"/>
          </a:p>
        </p:txBody>
      </p:sp>
      <p:sp>
        <p:nvSpPr>
          <p:cNvPr id="3" name="circle-1"/>
          <p:cNvSpPr/>
          <p:nvPr/>
        </p:nvSpPr>
        <p:spPr>
          <a:xfrm>
            <a:off x="548640" y="2011680"/>
            <a:ext cx="420624" cy="420624"/>
          </a:xfrm>
          <a:prstGeom prst="ellipse">
            <a:avLst/>
          </a:prstGeom>
          <a:ln w="15875">
            <a:solidFill>
              <a:schemeClr val="bg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2011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2011680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Trenda IG Text Light" pitchFamily="34" charset="0"/>
                <a:ea typeface="Trenda IG Text Light" pitchFamily="34" charset="-122"/>
                <a:cs typeface="Trenda IG Text Light" pitchFamily="34" charset="-120"/>
              </a:rPr>
              <a:t>What we heard</a:t>
            </a:r>
            <a:endParaRPr lang="en-US" sz="2200" dirty="0"/>
          </a:p>
        </p:txBody>
      </p:sp>
      <p:sp>
        <p:nvSpPr>
          <p:cNvPr id="6" name="circle-2"/>
          <p:cNvSpPr/>
          <p:nvPr/>
        </p:nvSpPr>
        <p:spPr>
          <a:xfrm>
            <a:off x="548640" y="2880360"/>
            <a:ext cx="420624" cy="420624"/>
          </a:xfrm>
          <a:prstGeom prst="ellipse">
            <a:avLst/>
          </a:prstGeom>
          <a:ln w="15875">
            <a:solidFill>
              <a:schemeClr val="bg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880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2880360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Trenda IG Text Light" pitchFamily="34" charset="0"/>
                <a:ea typeface="Trenda IG Text Light" pitchFamily="34" charset="-122"/>
                <a:cs typeface="Trenda IG Text Light" pitchFamily="34" charset="-120"/>
              </a:rPr>
              <a:t>The solution</a:t>
            </a:r>
            <a:endParaRPr lang="en-US" sz="2200" dirty="0"/>
          </a:p>
        </p:txBody>
      </p:sp>
      <p:sp>
        <p:nvSpPr>
          <p:cNvPr id="9" name="circle-3"/>
          <p:cNvSpPr/>
          <p:nvPr/>
        </p:nvSpPr>
        <p:spPr>
          <a:xfrm>
            <a:off x="548640" y="3749040"/>
            <a:ext cx="420624" cy="420624"/>
          </a:xfrm>
          <a:prstGeom prst="ellipse">
            <a:avLst/>
          </a:prstGeom>
          <a:ln w="15875">
            <a:solidFill>
              <a:schemeClr val="bg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7490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3749040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Trenda IG Text Light" pitchFamily="34" charset="0"/>
                <a:ea typeface="Trenda IG Text Light" pitchFamily="34" charset="-122"/>
                <a:cs typeface="Trenda IG Text Light" pitchFamily="34" charset="-120"/>
              </a:rPr>
              <a:t>Payments and integrations</a:t>
            </a:r>
            <a:endParaRPr lang="en-US" sz="2200" dirty="0"/>
          </a:p>
        </p:txBody>
      </p:sp>
      <p:sp>
        <p:nvSpPr>
          <p:cNvPr id="12" name="circle-4"/>
          <p:cNvSpPr/>
          <p:nvPr/>
        </p:nvSpPr>
        <p:spPr>
          <a:xfrm>
            <a:off x="6309360" y="2011680"/>
            <a:ext cx="420624" cy="420624"/>
          </a:xfrm>
          <a:prstGeom prst="ellipse">
            <a:avLst/>
          </a:prstGeom>
          <a:ln w="15875">
            <a:solidFill>
              <a:schemeClr val="bg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09360" y="2011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949440" y="2011680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Trenda IG Text Light" pitchFamily="34" charset="0"/>
                <a:ea typeface="Trenda IG Text Light" pitchFamily="34" charset="-122"/>
                <a:cs typeface="Trenda IG Text Light" pitchFamily="34" charset="-120"/>
              </a:rPr>
              <a:t>Delivery timeline</a:t>
            </a:r>
            <a:endParaRPr lang="en-US" sz="2200" dirty="0"/>
          </a:p>
        </p:txBody>
      </p:sp>
      <p:sp>
        <p:nvSpPr>
          <p:cNvPr id="15" name="circle-5"/>
          <p:cNvSpPr/>
          <p:nvPr/>
        </p:nvSpPr>
        <p:spPr>
          <a:xfrm>
            <a:off x="6309360" y="2880360"/>
            <a:ext cx="420624" cy="420624"/>
          </a:xfrm>
          <a:prstGeom prst="ellipse">
            <a:avLst/>
          </a:prstGeom>
          <a:ln w="15875">
            <a:solidFill>
              <a:schemeClr val="bg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09360" y="2880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949440" y="2880360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Trenda IG Text Light" pitchFamily="34" charset="0"/>
                <a:ea typeface="Trenda IG Text Light" pitchFamily="34" charset="-122"/>
                <a:cs typeface="Trenda IG Text Light" pitchFamily="34" charset="-120"/>
              </a:rPr>
              <a:t>Beyond the event</a:t>
            </a:r>
            <a:endParaRPr lang="en-US" sz="2200" dirty="0"/>
          </a:p>
        </p:txBody>
      </p:sp>
      <p:sp>
        <p:nvSpPr>
          <p:cNvPr id="18" name="circle-6"/>
          <p:cNvSpPr/>
          <p:nvPr/>
        </p:nvSpPr>
        <p:spPr>
          <a:xfrm>
            <a:off x="6309360" y="3749040"/>
            <a:ext cx="420624" cy="420624"/>
          </a:xfrm>
          <a:prstGeom prst="ellipse">
            <a:avLst/>
          </a:prstGeom>
          <a:ln w="15875">
            <a:solidFill>
              <a:schemeClr val="bg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09360" y="37490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949440" y="3749040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Trenda IG Text Light" pitchFamily="34" charset="0"/>
                <a:ea typeface="Trenda IG Text Light" pitchFamily="34" charset="-122"/>
                <a:cs typeface="Trenda IG Text Light" pitchFamily="34" charset="-120"/>
              </a:rPr>
              <a:t>Roadmap and next steps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367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02920" y="658368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What we heard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76072" y="1600200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Area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2953512" y="1600200"/>
            <a:ext cx="4334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Today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434072" y="1600200"/>
            <a:ext cx="4178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With one platform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2057400"/>
            <a:ext cx="11183112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76072" y="2130552"/>
            <a:ext cx="2231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Classes and events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2953512" y="2130552"/>
            <a:ext cx="4334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D4D4D"/>
                </a:solidFill>
              </a:rPr>
              <a:t>Home-built on Salesforce + Sitecore; payments through Chase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434072" y="2130552"/>
            <a:ext cx="4178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D4D4D"/>
                </a:solidFill>
              </a:rPr>
              <a:t>One Salesforce event app for every class, tour and seminar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2715768"/>
            <a:ext cx="11183112" cy="0"/>
          </a:xfrm>
          <a:prstGeom prst="line">
            <a:avLst/>
          </a:prstGeom>
          <a:noFill/>
          <a:ln w="9525">
            <a:solidFill>
              <a:srgbClr val="8C8C8C"/>
            </a:solidFill>
            <a:prstDash val="sysDot"/>
          </a:ln>
        </p:spPr>
      </p:sp>
      <p:sp>
        <p:nvSpPr>
          <p:cNvPr id="11" name="Text 9"/>
          <p:cNvSpPr txBox="1"/>
          <p:nvPr/>
        </p:nvSpPr>
        <p:spPr>
          <a:xfrm>
            <a:off x="576072" y="2788920"/>
            <a:ext cx="2231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Conferences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953512" y="2788920"/>
            <a:ext cx="4334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D4D4D"/>
                </a:solidFill>
              </a:rPr>
              <a:t>Certain for 1 to 2 multi-day events a year; Authorize.net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434072" y="2788920"/>
            <a:ext cx="4178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D4D4D"/>
                </a:solidFill>
              </a:rPr>
              <a:t>Same app with sessions, tracks and speakers; Certain retired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3374136"/>
            <a:ext cx="11183112" cy="0"/>
          </a:xfrm>
          <a:prstGeom prst="line">
            <a:avLst/>
          </a:prstGeom>
          <a:noFill/>
          <a:ln w="9525">
            <a:solidFill>
              <a:srgbClr val="8C8C8C"/>
            </a:solidFill>
            <a:prstDash val="sysDot"/>
          </a:ln>
        </p:spPr>
      </p:sp>
      <p:sp>
        <p:nvSpPr>
          <p:cNvPr id="15" name="Text 13"/>
          <p:cNvSpPr txBox="1"/>
          <p:nvPr/>
        </p:nvSpPr>
        <p:spPr>
          <a:xfrm>
            <a:off x="576072" y="3447288"/>
            <a:ext cx="2231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Who registers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2953512" y="3447288"/>
            <a:ext cx="4334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D4D4D"/>
                </a:solidFill>
              </a:rPr>
              <a:t>Consumers, caregivers and providers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434072" y="3447288"/>
            <a:ext cx="4178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D4D4D"/>
                </a:solidFill>
              </a:rPr>
              <a:t>One profile per person, matched to Health Cloud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02920" y="4032504"/>
            <a:ext cx="11183112" cy="0"/>
          </a:xfrm>
          <a:prstGeom prst="line">
            <a:avLst/>
          </a:prstGeom>
          <a:noFill/>
          <a:ln w="9525">
            <a:solidFill>
              <a:srgbClr val="8C8C8C"/>
            </a:solidFill>
            <a:prstDash val="sysDot"/>
          </a:ln>
        </p:spPr>
      </p:sp>
      <p:sp>
        <p:nvSpPr>
          <p:cNvPr id="19" name="Text 17"/>
          <p:cNvSpPr txBox="1"/>
          <p:nvPr/>
        </p:nvSpPr>
        <p:spPr>
          <a:xfrm>
            <a:off x="576072" y="4105656"/>
            <a:ext cx="2231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Platform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2953512" y="4105656"/>
            <a:ext cx="4334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D4D4D"/>
                </a:solidFill>
              </a:rPr>
              <a:t>Health Cloud and Marketing Cloud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434072" y="4105656"/>
            <a:ext cx="4178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D4D4D"/>
                </a:solidFill>
              </a:rPr>
              <a:t>Built on what Memorial Hermann already owns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02920" y="4690872"/>
            <a:ext cx="11183112" cy="0"/>
          </a:xfrm>
          <a:prstGeom prst="line">
            <a:avLst/>
          </a:prstGeom>
          <a:noFill/>
          <a:ln w="9525">
            <a:solidFill>
              <a:srgbClr val="8C8C8C"/>
            </a:solidFill>
            <a:prstDash val="sysDot"/>
          </a:ln>
        </p:spPr>
      </p:sp>
      <p:sp>
        <p:nvSpPr>
          <p:cNvPr id="23" name="Text 21"/>
          <p:cNvSpPr txBox="1"/>
          <p:nvPr/>
        </p:nvSpPr>
        <p:spPr>
          <a:xfrm>
            <a:off x="576072" y="4764024"/>
            <a:ext cx="2231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Epic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2953512" y="4764024"/>
            <a:ext cx="4334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D4D4D"/>
                </a:solidFill>
              </a:rPr>
              <a:t>Not needed for this use case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7434072" y="4764024"/>
            <a:ext cx="4178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D4D4D"/>
                </a:solidFill>
              </a:rPr>
              <a:t>Lucky Rai’s team if an integration is ever required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02920" y="5349240"/>
            <a:ext cx="11183112" cy="0"/>
          </a:xfrm>
          <a:prstGeom prst="line">
            <a:avLst/>
          </a:prstGeom>
          <a:noFill/>
          <a:ln w="9525">
            <a:solidFill>
              <a:srgbClr val="8C8C8C"/>
            </a:solidFill>
            <a:prstDash val="sysDot"/>
          </a:ln>
        </p:spPr>
      </p:sp>
      <p:sp>
        <p:nvSpPr>
          <p:cNvPr id="27" name="Text 25"/>
          <p:cNvSpPr txBox="1"/>
          <p:nvPr/>
        </p:nvSpPr>
        <p:spPr>
          <a:xfrm>
            <a:off x="502920" y="5715000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Goal: one platform for simple classes (free or paid, in person or online) and multi-day conferences with session management.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367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914400" y="2743200"/>
            <a:ext cx="103628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spc="600" kern="0" dirty="0">
                <a:solidFill>
                  <a:schemeClr val="bg1"/>
                </a:solidFill>
                <a:latin typeface="Trenda IG Text Light" pitchFamily="34" charset="0"/>
                <a:ea typeface="Trenda IG Text Light" pitchFamily="34" charset="-122"/>
                <a:cs typeface="Trenda IG Text Light" pitchFamily="34" charset="-120"/>
              </a:rPr>
              <a:t>01  THE SOLUTION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1371600" y="3840480"/>
            <a:ext cx="9448495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One Salesforce event app for classes, events and conferences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02920" y="658368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An event app inside your Salesforce org</a:t>
            </a:r>
            <a:endParaRPr lang="en-US" sz="3200" dirty="0"/>
          </a:p>
        </p:txBody>
      </p:sp>
      <p:sp>
        <p:nvSpPr>
          <p:cNvPr id="3" name="circle-1"/>
          <p:cNvSpPr/>
          <p:nvPr/>
        </p:nvSpPr>
        <p:spPr>
          <a:xfrm>
            <a:off x="502920" y="1691640"/>
            <a:ext cx="420624" cy="420624"/>
          </a:xfrm>
          <a:prstGeom prst="ellipse">
            <a:avLst/>
          </a:prstGeom>
          <a:ln w="15875">
            <a:solidFill>
              <a:schemeClr val="bg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1691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22860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Register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72491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</a:rPr>
              <a:t>Website and mobile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315468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BFBFBF"/>
                </a:solidFill>
              </a:rPr>
              <a:t>Class listings and sign-up on Sitecore pages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BFBFBF"/>
                </a:solidFill>
              </a:rPr>
              <a:t>Mobile-friendly checkout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BFBFBF"/>
                </a:solidFill>
              </a:rPr>
              <a:t>“My Agenda” portal for conferences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813048" y="1901952"/>
            <a:ext cx="411480" cy="0"/>
          </a:xfrm>
          <a:prstGeom prst="line">
            <a:avLst/>
          </a:prstGeom>
          <a:noFill/>
          <a:ln w="15875">
            <a:solidFill>
              <a:schemeClr val="bg1"/>
            </a:solidFill>
            <a:prstDash val="solid"/>
            <a:tailEnd type="triangle"/>
          </a:ln>
        </p:spPr>
      </p:sp>
      <p:sp>
        <p:nvSpPr>
          <p:cNvPr id="9" name="circle-2"/>
          <p:cNvSpPr/>
          <p:nvPr/>
        </p:nvSpPr>
        <p:spPr>
          <a:xfrm>
            <a:off x="4343400" y="1691640"/>
            <a:ext cx="420624" cy="420624"/>
          </a:xfrm>
          <a:prstGeom prst="ellipse">
            <a:avLst/>
          </a:prstGeom>
          <a:ln w="15875">
            <a:solidFill>
              <a:schemeClr val="bg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343400" y="1691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343400" y="22860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Manage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4343400" y="272491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Event app in Salesforce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343400" y="315468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BFBFBF"/>
                </a:solidFill>
              </a:rPr>
              <a:t>Classes, series, sessions, speakers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BFBFBF"/>
                </a:solidFill>
              </a:rPr>
              <a:t>Capacity, waitlists, refunds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BFBFBF"/>
                </a:solidFill>
              </a:rPr>
              <a:t>QR check-in and reporting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BFBFBF"/>
                </a:solidFill>
              </a:rPr>
              <a:t>Registrants matched to Health Cloud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653528" y="1901952"/>
            <a:ext cx="411480" cy="0"/>
          </a:xfrm>
          <a:prstGeom prst="line">
            <a:avLst/>
          </a:prstGeom>
          <a:noFill/>
          <a:ln w="15875">
            <a:solidFill>
              <a:schemeClr val="bg1"/>
            </a:solidFill>
            <a:prstDash val="solid"/>
            <a:tailEnd type="triangle"/>
          </a:ln>
        </p:spPr>
      </p:sp>
      <p:sp>
        <p:nvSpPr>
          <p:cNvPr id="15" name="circle-3"/>
          <p:cNvSpPr/>
          <p:nvPr/>
        </p:nvSpPr>
        <p:spPr>
          <a:xfrm>
            <a:off x="8183880" y="1691640"/>
            <a:ext cx="420624" cy="420624"/>
          </a:xfrm>
          <a:prstGeom prst="ellipse">
            <a:avLst/>
          </a:prstGeom>
          <a:ln w="15875">
            <a:solidFill>
              <a:schemeClr val="bg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183880" y="1691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183880" y="22860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Engage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8183880" y="272491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Marketing Cloud journeys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183880" y="315468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BFBFBF"/>
                </a:solidFill>
              </a:rPr>
              <a:t>Confirmations and reminders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BFBFBF"/>
                </a:solidFill>
              </a:rPr>
              <a:t>Calendar invites and virtual links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BFBFBF"/>
                </a:solidFill>
              </a:rPr>
              <a:t>Post-event interactions (PEIs)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02920" y="51389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bg1"/>
                </a:solidFill>
              </a:rPr>
              <a:t>CONNECTS TO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2920" y="5486400"/>
            <a:ext cx="1691640" cy="384048"/>
          </a:xfrm>
          <a:prstGeom prst="roundRect">
            <a:avLst>
              <a:gd name="adj" fmla="val 50000"/>
            </a:avLst>
          </a:prstGeom>
          <a:ln w="19050">
            <a:solidFill>
              <a:schemeClr val="accent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02920" y="548640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Chase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377440" y="5486400"/>
            <a:ext cx="1691640" cy="384048"/>
          </a:xfrm>
          <a:prstGeom prst="roundRect">
            <a:avLst>
              <a:gd name="adj" fmla="val 50000"/>
            </a:avLst>
          </a:prstGeom>
          <a:ln w="19050">
            <a:solidFill>
              <a:schemeClr val="accent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377440" y="548640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Authorize.net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251960" y="5486400"/>
            <a:ext cx="1691640" cy="384048"/>
          </a:xfrm>
          <a:prstGeom prst="roundRect">
            <a:avLst>
              <a:gd name="adj" fmla="val 50000"/>
            </a:avLst>
          </a:prstGeom>
          <a:ln w="19050">
            <a:solidFill>
              <a:schemeClr val="accent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251960" y="548640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Sitecore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126480" y="5486400"/>
            <a:ext cx="1691640" cy="384048"/>
          </a:xfrm>
          <a:prstGeom prst="roundRect">
            <a:avLst>
              <a:gd name="adj" fmla="val 50000"/>
            </a:avLst>
          </a:prstGeom>
          <a:ln w="19050">
            <a:solidFill>
              <a:schemeClr val="accent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126480" y="548640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Zoom / Teams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001000" y="5486400"/>
            <a:ext cx="1691640" cy="384048"/>
          </a:xfrm>
          <a:prstGeom prst="roundRect">
            <a:avLst>
              <a:gd name="adj" fmla="val 50000"/>
            </a:avLst>
          </a:prstGeom>
          <a:ln w="19050">
            <a:solidFill>
              <a:schemeClr val="accent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001000" y="548640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Health Cloud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9875520" y="5486400"/>
            <a:ext cx="1691640" cy="384048"/>
          </a:xfrm>
          <a:prstGeom prst="roundRect">
            <a:avLst>
              <a:gd name="adj" fmla="val 50000"/>
            </a:avLst>
          </a:prstGeom>
          <a:ln w="19050">
            <a:solidFill>
              <a:schemeClr val="accent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875520" y="548640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Marketing Cloud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367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02920" y="658368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Consumers find, register and pay in minutes</a:t>
            </a:r>
            <a:endParaRPr lang="en-US" sz="3200" dirty="0"/>
          </a:p>
        </p:txBody>
      </p:sp>
      <p:pic>
        <p:nvPicPr>
          <p:cNvPr id="3" name="01-web-registration.png" descr="/home/user/presales_memorial-hermann/deck/mockups/png/01-web-regist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91640"/>
            <a:ext cx="5440680" cy="3401568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pic>
      <p:pic>
        <p:nvPicPr>
          <p:cNvPr id="4" name="02-mobile-flow.png" descr="/home/user/presales_memorial-hermann/deck/mockups/png/02-mobile-f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1691640"/>
            <a:ext cx="5440680" cy="3401568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pic>
      <p:sp>
        <p:nvSpPr>
          <p:cNvPr id="5" name="Text 1"/>
          <p:cNvSpPr txBox="1"/>
          <p:nvPr/>
        </p:nvSpPr>
        <p:spPr>
          <a:xfrm>
            <a:off x="502920" y="525780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Website</a:t>
            </a:r>
            <a:endParaRPr lang="en-US" sz="1500" dirty="0"/>
          </a:p>
        </p:txBody>
      </p:sp>
      <p:sp>
        <p:nvSpPr>
          <p:cNvPr id="6" name="Text 2"/>
          <p:cNvSpPr txBox="1"/>
          <p:nvPr/>
        </p:nvSpPr>
        <p:spPr>
          <a:xfrm>
            <a:off x="502920" y="5550408"/>
            <a:ext cx="544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D4D4D"/>
                </a:solidFill>
              </a:rPr>
              <a:t>Search by topic, location, date, format and price. Seats left and waitlists update live.</a:t>
            </a:r>
            <a:endParaRPr lang="en-US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6245352" y="525780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Mobile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6245352" y="5550408"/>
            <a:ext cx="544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D4D4D"/>
                </a:solidFill>
              </a:rPr>
              <a:t>Register yourself or someone you care for, pay securely, get a QR code and the app link.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367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02920" y="658368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Staff run every class from one Salesforce console</a:t>
            </a:r>
            <a:endParaRPr lang="en-US" sz="3200" dirty="0"/>
          </a:p>
        </p:txBody>
      </p:sp>
      <p:pic>
        <p:nvPicPr>
          <p:cNvPr id="3" name="03-salesforce-console.png" descr="/home/user/presales_memorial-hermann/deck/mockups/png/03-salesforce-conso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783080"/>
            <a:ext cx="7863840" cy="3538728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pic>
      <p:sp>
        <p:nvSpPr>
          <p:cNvPr id="4" name="Text 1"/>
          <p:cNvSpPr txBox="1"/>
          <p:nvPr/>
        </p:nvSpPr>
        <p:spPr>
          <a:xfrm>
            <a:off x="8732520" y="17830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What staff can do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8732520" y="2286000"/>
            <a:ext cx="29718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D4D4D"/>
                </a:solidFill>
              </a:rPr>
              <a:t>Set up a class once and repeat it as a series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D4D4D"/>
                </a:solidFill>
              </a:rPr>
              <a:t>Watch capacity and waitlists fill in real time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D4D4D"/>
                </a:solidFill>
              </a:rPr>
              <a:t>Match registrants to existing Health Cloud records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D4D4D"/>
                </a:solidFill>
              </a:rPr>
              <a:t>Check people in with a QR scan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D4D4D"/>
                </a:solidFill>
              </a:rPr>
              <a:t>Email attendees and track revenue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5486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4D4D4D"/>
                </a:solidFill>
              </a:rPr>
              <a:t>Concept mockup, sample data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367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02920" y="658368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Conferences with full session management</a:t>
            </a:r>
            <a:endParaRPr lang="en-US" sz="3200" dirty="0"/>
          </a:p>
        </p:txBody>
      </p:sp>
      <p:pic>
        <p:nvPicPr>
          <p:cNvPr id="3" name="04-conference-agenda.png" descr="/home/user/presales_memorial-hermann/deck/mockups/png/04-conference-agend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91640"/>
            <a:ext cx="6858000" cy="4288536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pic>
      <p:sp>
        <p:nvSpPr>
          <p:cNvPr id="4" name="Text 1"/>
          <p:cNvSpPr txBox="1"/>
          <p:nvPr/>
        </p:nvSpPr>
        <p:spPr>
          <a:xfrm>
            <a:off x="7772400" y="16916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Replaces Certain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7772400" y="2194560"/>
            <a:ext cx="3931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D4D4D"/>
                </a:solidFill>
              </a:rPr>
              <a:t>Multi-day agenda with tracks and rooms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D4D4D"/>
                </a:solidFill>
              </a:rPr>
              <a:t>Attendees build their own “My Agenda”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D4D4D"/>
                </a:solidFill>
              </a:rPr>
              <a:t>Session capacity and waitlists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D4D4D"/>
                </a:solidFill>
              </a:rPr>
              <a:t>Speaker profiles and assignments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D4D4D"/>
                </a:solidFill>
              </a:rPr>
              <a:t>Ticket types for providers and guests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D4D4D"/>
                </a:solidFill>
              </a:rPr>
              <a:t>Badges and CME credit tracking [to confirm]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367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02920" y="658368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Payments and integrations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737360"/>
            <a:ext cx="1920240" cy="914400"/>
          </a:xfrm>
          <a:prstGeom prst="roundRect">
            <a:avLst>
              <a:gd name="adj" fmla="val 12000"/>
            </a:avLst>
          </a:prstGeom>
          <a:ln w="1905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12648" y="1737360"/>
            <a:ext cx="1700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Registrant checks out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441448" y="2194560"/>
            <a:ext cx="301752" cy="0"/>
          </a:xfrm>
          <a:prstGeom prst="line">
            <a:avLst/>
          </a:prstGeom>
          <a:noFill/>
          <a:ln w="15875">
            <a:solidFill>
              <a:schemeClr val="bg1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2761488" y="1737360"/>
            <a:ext cx="1920240" cy="914400"/>
          </a:xfrm>
          <a:prstGeom prst="roundRect">
            <a:avLst>
              <a:gd name="adj" fmla="val 12000"/>
            </a:avLst>
          </a:prstGeom>
          <a:ln w="19050">
            <a:solidFill>
              <a:schemeClr val="accent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871216" y="1737360"/>
            <a:ext cx="1700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Hosted payment page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00016" y="2194560"/>
            <a:ext cx="301752" cy="0"/>
          </a:xfrm>
          <a:prstGeom prst="line">
            <a:avLst/>
          </a:prstGeom>
          <a:noFill/>
          <a:ln w="15875">
            <a:solidFill>
              <a:schemeClr val="bg1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020056" y="1737360"/>
            <a:ext cx="1920240" cy="914400"/>
          </a:xfrm>
          <a:prstGeom prst="roundRect">
            <a:avLst>
              <a:gd name="adj" fmla="val 12000"/>
            </a:avLst>
          </a:prstGeom>
          <a:ln w="19050">
            <a:solidFill>
              <a:schemeClr val="accent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129784" y="1737360"/>
            <a:ext cx="1700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Chase or Authorize.net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958584" y="2194560"/>
            <a:ext cx="301752" cy="0"/>
          </a:xfrm>
          <a:prstGeom prst="line">
            <a:avLst/>
          </a:prstGeom>
          <a:noFill/>
          <a:ln w="15875">
            <a:solidFill>
              <a:schemeClr val="bg1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278624" y="1737360"/>
            <a:ext cx="1920240" cy="914400"/>
          </a:xfrm>
          <a:prstGeom prst="roundRect">
            <a:avLst>
              <a:gd name="adj" fmla="val 12000"/>
            </a:avLst>
          </a:prstGeom>
          <a:ln w="19050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88352" y="1737360"/>
            <a:ext cx="1700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Payment record in Salesforce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217152" y="2194560"/>
            <a:ext cx="301752" cy="0"/>
          </a:xfrm>
          <a:prstGeom prst="line">
            <a:avLst/>
          </a:prstGeom>
          <a:noFill/>
          <a:ln w="15875">
            <a:solidFill>
              <a:schemeClr val="bg1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537192" y="1737360"/>
            <a:ext cx="1920240" cy="914400"/>
          </a:xfrm>
          <a:prstGeom prst="roundRect">
            <a:avLst>
              <a:gd name="adj" fmla="val 12000"/>
            </a:avLst>
          </a:prstGeom>
          <a:ln w="1905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646920" y="1737360"/>
            <a:ext cx="1700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Receipts, refunds, reconciliation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02920" y="31089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What’s included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502920" y="3566160"/>
            <a:ext cx="5120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BFBFBF"/>
                </a:solidFill>
              </a:rPr>
              <a:t>Card details stay on the gateway’s hosted page, never in Salesforce (smaller PCI scope)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BFBFBF"/>
                </a:solidFill>
              </a:rPr>
              <a:t>Free, paid, discount codes and per-couple pricing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BFBFBF"/>
                </a:solidFill>
              </a:rPr>
              <a:t>Full and partial refunds from Salesforce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BFBFBF"/>
                </a:solidFill>
              </a:rPr>
              <a:t>Automatic receipts and a daily reconciliation report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172200" y="3154680"/>
            <a:ext cx="2606040" cy="2240280"/>
          </a:xfrm>
          <a:prstGeom prst="roundRect">
            <a:avLst>
              <a:gd name="adj" fmla="val 4898"/>
            </a:avLst>
          </a:prstGeom>
          <a:solidFill>
            <a:srgbClr val="1A1A1A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0" y="33375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1"/>
                </a:solidFill>
              </a:rPr>
              <a:t>OPTION A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0" y="3657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Keep both gateways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0" y="411480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FBFBF"/>
                </a:solidFill>
              </a:rPr>
              <a:t>Chase for classes, Authorize.net for conferences. No change for finance.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961120" y="3154680"/>
            <a:ext cx="2606040" cy="2240280"/>
          </a:xfrm>
          <a:prstGeom prst="roundRect">
            <a:avLst>
              <a:gd name="adj" fmla="val 4898"/>
            </a:avLst>
          </a:prstGeom>
          <a:solidFill>
            <a:srgbClr val="1A1A1A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189720" y="33375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3"/>
                </a:solidFill>
              </a:rPr>
              <a:t>OPTION B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9189720" y="3657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Consolidate on one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9189720" y="411480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FBFBF"/>
                </a:solidFill>
              </a:rPr>
              <a:t>One gateway for every event. Simpler reconciliation and support.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172200" y="5532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BFBFBF"/>
                </a:solidFill>
              </a:rPr>
              <a:t>Decision for Memorial Hermann finance; both options are supported.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367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914400" y="2743200"/>
            <a:ext cx="103628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spc="600" kern="0" dirty="0">
                <a:solidFill>
                  <a:schemeClr val="bg1"/>
                </a:solidFill>
                <a:latin typeface="Trenda IG Text Light" pitchFamily="34" charset="0"/>
                <a:ea typeface="Trenda IG Text Light" pitchFamily="34" charset="-122"/>
                <a:cs typeface="Trenda IG Text Light" pitchFamily="34" charset="-120"/>
              </a:rPr>
              <a:t>02  DELIVERY PLAN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1371600" y="3840480"/>
            <a:ext cx="9448495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Two phases, about 24 weeks to both platforms live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02920" y="658368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Delivery timeline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3258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FBFBF"/>
                </a:solidFill>
              </a:rPr>
              <a:t>Indicative; confirmed after the current-state walkthrough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21792" y="3611880"/>
            <a:ext cx="10948111" cy="0"/>
          </a:xfrm>
          <a:prstGeom prst="line">
            <a:avLst/>
          </a:prstGeom>
          <a:noFill/>
          <a:ln w="38100">
            <a:solidFill>
              <a:schemeClr val="bg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3493008"/>
            <a:ext cx="237744" cy="2377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51031" y="3493008"/>
            <a:ext cx="237744" cy="2377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3840480"/>
            <a:ext cx="0" cy="1143000"/>
          </a:xfrm>
          <a:prstGeom prst="line">
            <a:avLst/>
          </a:prstGeom>
          <a:noFill/>
          <a:ln w="15875">
            <a:solidFill>
              <a:schemeClr val="bg1"/>
            </a:solidFill>
            <a:prstDash val="sysDot"/>
          </a:ln>
        </p:spPr>
      </p:sp>
      <p:sp>
        <p:nvSpPr>
          <p:cNvPr id="8" name="Text 6"/>
          <p:cNvSpPr txBox="1"/>
          <p:nvPr/>
        </p:nvSpPr>
        <p:spPr>
          <a:xfrm>
            <a:off x="1234440" y="384048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Weeks 1-3  ·  Discover and design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42062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Walkthrough of the current build, requirements, data model, payment decision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69264" y="3529584"/>
            <a:ext cx="164592" cy="16459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20440" y="2240280"/>
            <a:ext cx="0" cy="1143000"/>
          </a:xfrm>
          <a:prstGeom prst="line">
            <a:avLst/>
          </a:prstGeom>
          <a:noFill/>
          <a:ln w="15875">
            <a:solidFill>
              <a:schemeClr val="bg1"/>
            </a:solidFill>
            <a:prstDash val="sysDot"/>
          </a:ln>
        </p:spPr>
      </p:sp>
      <p:sp>
        <p:nvSpPr>
          <p:cNvPr id="12" name="Text 10"/>
          <p:cNvSpPr txBox="1"/>
          <p:nvPr/>
        </p:nvSpPr>
        <p:spPr>
          <a:xfrm>
            <a:off x="3703320" y="224028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Weeks 4-14  ·  Phase 1 live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703320" y="26060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Classes and events: registration, payments, journeys, check-in. Home-built tool retired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438144" y="3529584"/>
            <a:ext cx="164592" cy="16459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55080" y="3840480"/>
            <a:ext cx="0" cy="1143000"/>
          </a:xfrm>
          <a:prstGeom prst="line">
            <a:avLst/>
          </a:prstGeom>
          <a:noFill/>
          <a:ln w="15875">
            <a:solidFill>
              <a:schemeClr val="bg1"/>
            </a:solidFill>
            <a:prstDash val="sysDot"/>
          </a:ln>
        </p:spPr>
      </p:sp>
      <p:sp>
        <p:nvSpPr>
          <p:cNvPr id="16" name="Text 14"/>
          <p:cNvSpPr txBox="1"/>
          <p:nvPr/>
        </p:nvSpPr>
        <p:spPr>
          <a:xfrm>
            <a:off x="6537960" y="384048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Weeks 15-24  ·  Phase 2 live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537960" y="42062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Conferences: sessions, speakers, My Agenda, badges. Certain retired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72784" y="3529584"/>
            <a:ext cx="164592" cy="16459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869680" y="2240280"/>
            <a:ext cx="0" cy="1143000"/>
          </a:xfrm>
          <a:prstGeom prst="line">
            <a:avLst/>
          </a:prstGeom>
          <a:noFill/>
          <a:ln w="15875">
            <a:solidFill>
              <a:schemeClr val="bg1"/>
            </a:solidFill>
            <a:prstDash val="sysDot"/>
          </a:ln>
        </p:spPr>
      </p:sp>
      <p:sp>
        <p:nvSpPr>
          <p:cNvPr id="20" name="Text 18"/>
          <p:cNvSpPr txBox="1"/>
          <p:nvPr/>
        </p:nvSpPr>
        <p:spPr>
          <a:xfrm>
            <a:off x="9052560" y="224028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Week 25+  ·  Grow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9052560" y="260604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Engagement journeys, app downloads, AI assistant and recommendations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787384" y="3529584"/>
            <a:ext cx="164592" cy="16459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367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02920" y="658368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What each phase delivers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76072" y="1554480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2587752" y="1554480"/>
            <a:ext cx="4425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Phase 1  ·  Classes and events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159752" y="1554480"/>
            <a:ext cx="4453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Phase 2  ·  Conferences and sessions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2011680"/>
            <a:ext cx="11183112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76072" y="2084832"/>
            <a:ext cx="18653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Scope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2587752" y="2084832"/>
            <a:ext cx="44256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D4D4D"/>
                </a:solidFill>
              </a:rPr>
              <a:t>Event catalog, recurring classes, capacity and waitlists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159752" y="2084832"/>
            <a:ext cx="44531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D4D4D"/>
                </a:solidFill>
              </a:rPr>
              <a:t>Multi-day agenda, tracks, rooms and session capacity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2615184"/>
            <a:ext cx="11183112" cy="0"/>
          </a:xfrm>
          <a:prstGeom prst="line">
            <a:avLst/>
          </a:prstGeom>
          <a:noFill/>
          <a:ln w="9525">
            <a:solidFill>
              <a:srgbClr val="8C8C8C"/>
            </a:solidFill>
            <a:prstDash val="sysDot"/>
          </a:ln>
        </p:spPr>
      </p:sp>
      <p:sp>
        <p:nvSpPr>
          <p:cNvPr id="11" name="Text 9"/>
          <p:cNvSpPr txBox="1"/>
          <p:nvPr/>
        </p:nvSpPr>
        <p:spPr>
          <a:xfrm>
            <a:off x="576072" y="2688336"/>
            <a:ext cx="18653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Registration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587752" y="2688336"/>
            <a:ext cx="44256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D4D4D"/>
                </a:solidFill>
              </a:rPr>
              <a:t>Consumers and caregivers, family sign-up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159752" y="2688336"/>
            <a:ext cx="44531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D4D4D"/>
                </a:solidFill>
              </a:rPr>
              <a:t>Providers and guests, ticket types, My Agenda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3218688"/>
            <a:ext cx="11183112" cy="0"/>
          </a:xfrm>
          <a:prstGeom prst="line">
            <a:avLst/>
          </a:prstGeom>
          <a:noFill/>
          <a:ln w="9525">
            <a:solidFill>
              <a:srgbClr val="8C8C8C"/>
            </a:solidFill>
            <a:prstDash val="sysDot"/>
          </a:ln>
        </p:spPr>
      </p:sp>
      <p:sp>
        <p:nvSpPr>
          <p:cNvPr id="15" name="Text 13"/>
          <p:cNvSpPr txBox="1"/>
          <p:nvPr/>
        </p:nvSpPr>
        <p:spPr>
          <a:xfrm>
            <a:off x="576072" y="3291840"/>
            <a:ext cx="18653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Payments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2587752" y="3291840"/>
            <a:ext cx="44256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D4D4D"/>
                </a:solidFill>
              </a:rPr>
              <a:t>Chase hosted checkout, refunds, receipts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159752" y="3291840"/>
            <a:ext cx="44531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D4D4D"/>
                </a:solidFill>
              </a:rPr>
              <a:t>Authorize.net or one consolidated gateway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02920" y="3822192"/>
            <a:ext cx="11183112" cy="0"/>
          </a:xfrm>
          <a:prstGeom prst="line">
            <a:avLst/>
          </a:prstGeom>
          <a:noFill/>
          <a:ln w="9525">
            <a:solidFill>
              <a:srgbClr val="8C8C8C"/>
            </a:solidFill>
            <a:prstDash val="sysDot"/>
          </a:ln>
        </p:spPr>
      </p:sp>
      <p:sp>
        <p:nvSpPr>
          <p:cNvPr id="19" name="Text 17"/>
          <p:cNvSpPr txBox="1"/>
          <p:nvPr/>
        </p:nvSpPr>
        <p:spPr>
          <a:xfrm>
            <a:off x="576072" y="3895344"/>
            <a:ext cx="18653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Engagement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2587752" y="3895344"/>
            <a:ext cx="44256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D4D4D"/>
                </a:solidFill>
              </a:rPr>
              <a:t>Confirmation and reminder journeys, QR check-in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159752" y="3895344"/>
            <a:ext cx="44531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D4D4D"/>
                </a:solidFill>
              </a:rPr>
              <a:t>Speaker and attendee communications, badges, CME [to confirm]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02920" y="4425696"/>
            <a:ext cx="11183112" cy="0"/>
          </a:xfrm>
          <a:prstGeom prst="line">
            <a:avLst/>
          </a:prstGeom>
          <a:noFill/>
          <a:ln w="9525">
            <a:solidFill>
              <a:srgbClr val="8C8C8C"/>
            </a:solidFill>
            <a:prstDash val="sysDot"/>
          </a:ln>
        </p:spPr>
      </p:sp>
      <p:sp>
        <p:nvSpPr>
          <p:cNvPr id="23" name="Text 21"/>
          <p:cNvSpPr txBox="1"/>
          <p:nvPr/>
        </p:nvSpPr>
        <p:spPr>
          <a:xfrm>
            <a:off x="576072" y="4498848"/>
            <a:ext cx="18653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Data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2587752" y="4498848"/>
            <a:ext cx="44256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D4D4D"/>
                </a:solidFill>
              </a:rPr>
              <a:t>Registrants matched to Health Cloud records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7159752" y="4498848"/>
            <a:ext cx="44531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D4D4D"/>
                </a:solidFill>
              </a:rPr>
              <a:t>Certain history migrated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02920" y="5029200"/>
            <a:ext cx="11183112" cy="0"/>
          </a:xfrm>
          <a:prstGeom prst="line">
            <a:avLst/>
          </a:prstGeom>
          <a:noFill/>
          <a:ln w="9525">
            <a:solidFill>
              <a:srgbClr val="8C8C8C"/>
            </a:solidFill>
            <a:prstDash val="sysDot"/>
          </a:ln>
        </p:spPr>
      </p:sp>
      <p:sp>
        <p:nvSpPr>
          <p:cNvPr id="27" name="Text 25"/>
          <p:cNvSpPr txBox="1"/>
          <p:nvPr/>
        </p:nvSpPr>
        <p:spPr>
          <a:xfrm>
            <a:off x="576072" y="5102352"/>
            <a:ext cx="18653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Retires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2587752" y="5102352"/>
            <a:ext cx="44256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D4D4D"/>
                </a:solidFill>
              </a:rPr>
              <a:t>Home-built class registration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7159752" y="5102352"/>
            <a:ext cx="44531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D4D4D"/>
                </a:solidFill>
              </a:rPr>
              <a:t>Certain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02920" y="5632704"/>
            <a:ext cx="11183112" cy="0"/>
          </a:xfrm>
          <a:prstGeom prst="line">
            <a:avLst/>
          </a:prstGeom>
          <a:noFill/>
          <a:ln w="9525">
            <a:solidFill>
              <a:srgbClr val="8C8C8C"/>
            </a:solidFill>
            <a:prstDash val="sysDot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367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914400" y="2743200"/>
            <a:ext cx="103628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spc="600" kern="0" dirty="0">
                <a:solidFill>
                  <a:schemeClr val="bg1"/>
                </a:solidFill>
                <a:latin typeface="Trenda IG Text Light" pitchFamily="34" charset="0"/>
                <a:ea typeface="Trenda IG Text Light" pitchFamily="34" charset="-122"/>
                <a:cs typeface="Trenda IG Text Light" pitchFamily="34" charset="-120"/>
              </a:rPr>
              <a:t>03  BEYOND THE EVENT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1371600" y="3840480"/>
            <a:ext cx="9448495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Turn every registration into a lasting relationship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1005840"/>
            <a:ext cx="5120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chemeClr val="bg1"/>
                </a:solidFill>
                <a:latin typeface="Trenda IG Text Light" pitchFamily="34" charset="0"/>
                <a:ea typeface="Trenda IG Text Light" pitchFamily="34" charset="-122"/>
                <a:cs typeface="Trenda IG Text Light" pitchFamily="34" charset="-120"/>
              </a:rPr>
              <a:t>Every registration tells you what a person cares about. Use it to bring them back and into the network.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989320" y="100584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chemeClr val="accent1"/>
                </a:solidFill>
                <a:latin typeface="Trenda IG Text Light" pitchFamily="34" charset="0"/>
                <a:ea typeface="Trenda IG Text Light" pitchFamily="34" charset="-122"/>
                <a:cs typeface="Trenda IG Text Light" pitchFamily="34" charset="-120"/>
              </a:rPr>
              <a:t>1 profile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989320" y="187452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Every registrant, caregiver and provider in one Salesforce record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915400" y="100584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chemeClr val="accent1"/>
                </a:solidFill>
                <a:latin typeface="Trenda IG Text Light" pitchFamily="34" charset="0"/>
                <a:ea typeface="Trenda IG Text Light" pitchFamily="34" charset="-122"/>
                <a:cs typeface="Trenda IG Text Light" pitchFamily="34" charset="-120"/>
              </a:rPr>
              <a:t>4 PEIs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915400" y="187452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Automated post-event interactions after every class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89320" y="333756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chemeClr val="accent1"/>
                </a:solidFill>
                <a:latin typeface="Trenda IG Text Light" pitchFamily="34" charset="0"/>
                <a:ea typeface="Trenda IG Text Light" pitchFamily="34" charset="-122"/>
                <a:cs typeface="Trenda IG Text Light" pitchFamily="34" charset="-120"/>
              </a:rPr>
              <a:t>1 tap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5989320" y="420624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App download link at confirmation, check-in and follow-up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915400" y="333756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chemeClr val="accent1"/>
                </a:solidFill>
                <a:latin typeface="Trenda IG Text Light" pitchFamily="34" charset="0"/>
                <a:ea typeface="Trenda IG Text Light" pitchFamily="34" charset="-122"/>
                <a:cs typeface="Trenda IG Text Light" pitchFamily="34" charset="-120"/>
              </a:rPr>
              <a:t>Closed loop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420624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From class attended to visit booked, measured end to end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56692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BFBFBF"/>
                </a:solidFill>
              </a:rPr>
              <a:t>Consent-based: messages go only to people who opt in at registration.</a:t>
            </a:r>
            <a:endParaRPr lang="en-US" sz="1200" dirty="0"/>
          </a:p>
        </p:txBody>
      </p:sp>
      <p:sp>
        <p:nvSpPr>
          <p:cNvPr id="13" name="Text 1"/>
          <p:cNvSpPr/>
          <p:nvPr>
            <p:ph idx="101" type="title" hasCustomPrompt="1"/>
          </p:nvPr>
        </p:nvSpPr>
        <p:spPr>
          <a:xfrm>
            <a:off x="502920" y="658368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367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02920" y="658368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After the class: post-event interactions (PEIs)</a:t>
            </a:r>
            <a:endParaRPr lang="en-US" sz="3200" dirty="0"/>
          </a:p>
        </p:txBody>
      </p:sp>
      <p:pic>
        <p:nvPicPr>
          <p:cNvPr id="3" name="05-marketing-journey.png" descr="/home/user/presales_memorial-hermann/deck/mockups/png/05-marketing-journ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00200"/>
            <a:ext cx="11183112" cy="4471416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367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02920" y="658368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Campaigns built from registration data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76072" y="1554480"/>
            <a:ext cx="2459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After this class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3182112" y="1554480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Follow-up PEIs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936992" y="1554480"/>
            <a:ext cx="3675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Network outcome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2011680"/>
            <a:ext cx="11183112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76072" y="2084832"/>
            <a:ext cx="24597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Labor and delivery prep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182112" y="2084832"/>
            <a:ext cx="46085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D4D4D"/>
                </a:solidFill>
              </a:rPr>
              <a:t>Breastfeeding and newborn classes, choose a pediatrician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936992" y="2084832"/>
            <a:ext cx="36758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D4D4D"/>
                </a:solidFill>
              </a:rPr>
              <a:t>Delivery at Memorial Hermann, new pediatric patients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2724912"/>
            <a:ext cx="11183112" cy="0"/>
          </a:xfrm>
          <a:prstGeom prst="line">
            <a:avLst/>
          </a:prstGeom>
          <a:noFill/>
          <a:ln w="9525">
            <a:solidFill>
              <a:srgbClr val="8C8C8C"/>
            </a:solidFill>
            <a:prstDash val="sysDot"/>
          </a:ln>
        </p:spPr>
      </p:sp>
      <p:sp>
        <p:nvSpPr>
          <p:cNvPr id="11" name="Text 9"/>
          <p:cNvSpPr txBox="1"/>
          <p:nvPr/>
        </p:nvSpPr>
        <p:spPr>
          <a:xfrm>
            <a:off x="576072" y="2798064"/>
            <a:ext cx="24597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Maternity hospital tour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182112" y="2798064"/>
            <a:ext cx="46085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D4D4D"/>
                </a:solidFill>
              </a:rPr>
              <a:t>Pre-register for delivery, prenatal class bundle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936992" y="2798064"/>
            <a:ext cx="36758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D4D4D"/>
                </a:solidFill>
              </a:rPr>
              <a:t>Delivery booked at Memorial Hermann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3438144"/>
            <a:ext cx="11183112" cy="0"/>
          </a:xfrm>
          <a:prstGeom prst="line">
            <a:avLst/>
          </a:prstGeom>
          <a:noFill/>
          <a:ln w="9525">
            <a:solidFill>
              <a:srgbClr val="8C8C8C"/>
            </a:solidFill>
            <a:prstDash val="sysDot"/>
          </a:ln>
        </p:spPr>
      </p:sp>
      <p:sp>
        <p:nvSpPr>
          <p:cNvPr id="15" name="Text 13"/>
          <p:cNvSpPr txBox="1"/>
          <p:nvPr/>
        </p:nvSpPr>
        <p:spPr>
          <a:xfrm>
            <a:off x="576072" y="3511296"/>
            <a:ext cx="24597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CPR and first aid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182112" y="3511296"/>
            <a:ext cx="46085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D4D4D"/>
                </a:solidFill>
              </a:rPr>
              <a:t>Heart health seminar, free screening invitation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936992" y="3511296"/>
            <a:ext cx="36758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D4D4D"/>
                </a:solidFill>
              </a:rPr>
              <a:t>Primary care and cardiology visits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02920" y="4151376"/>
            <a:ext cx="11183112" cy="0"/>
          </a:xfrm>
          <a:prstGeom prst="line">
            <a:avLst/>
          </a:prstGeom>
          <a:noFill/>
          <a:ln w="9525">
            <a:solidFill>
              <a:srgbClr val="8C8C8C"/>
            </a:solidFill>
            <a:prstDash val="sysDot"/>
          </a:ln>
        </p:spPr>
      </p:sp>
      <p:sp>
        <p:nvSpPr>
          <p:cNvPr id="19" name="Text 17"/>
          <p:cNvSpPr txBox="1"/>
          <p:nvPr/>
        </p:nvSpPr>
        <p:spPr>
          <a:xfrm>
            <a:off x="576072" y="4224528"/>
            <a:ext cx="24597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Support groups and seminars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3182112" y="4224528"/>
            <a:ext cx="46085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D4D4D"/>
                </a:solidFill>
              </a:rPr>
              <a:t>Education series, specialist-led events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936992" y="4224528"/>
            <a:ext cx="36758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D4D4D"/>
                </a:solidFill>
              </a:rPr>
              <a:t>Ongoing specialty care relationships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02920" y="4864608"/>
            <a:ext cx="11183112" cy="0"/>
          </a:xfrm>
          <a:prstGeom prst="line">
            <a:avLst/>
          </a:prstGeom>
          <a:noFill/>
          <a:ln w="9525">
            <a:solidFill>
              <a:srgbClr val="8C8C8C"/>
            </a:solidFill>
            <a:prstDash val="sysDot"/>
          </a:ln>
        </p:spPr>
      </p:sp>
      <p:sp>
        <p:nvSpPr>
          <p:cNvPr id="23" name="Text 21"/>
          <p:cNvSpPr txBox="1"/>
          <p:nvPr/>
        </p:nvSpPr>
        <p:spPr>
          <a:xfrm>
            <a:off x="576072" y="4937760"/>
            <a:ext cx="24597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Provider conference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3182112" y="4937760"/>
            <a:ext cx="46085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D4D4D"/>
                </a:solidFill>
              </a:rPr>
              <a:t>Next CME events, referral resources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7936992" y="4937760"/>
            <a:ext cx="36758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D4D4D"/>
                </a:solidFill>
              </a:rPr>
              <a:t>A stronger referral network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02920" y="5577840"/>
            <a:ext cx="11183112" cy="0"/>
          </a:xfrm>
          <a:prstGeom prst="line">
            <a:avLst/>
          </a:prstGeom>
          <a:noFill/>
          <a:ln w="9525">
            <a:solidFill>
              <a:srgbClr val="8C8C8C"/>
            </a:solidFill>
            <a:prstDash val="sysDot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367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02920" y="658368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Drive My Memorial Hermann app downloads</a:t>
            </a:r>
            <a:endParaRPr lang="en-US" sz="3200" dirty="0"/>
          </a:p>
        </p:txBody>
      </p:sp>
      <p:pic>
        <p:nvPicPr>
          <p:cNvPr id="3" name="app phone" descr="/home/user/presales_memorial-hermann/deck/mockups/png/02b-app-pho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54480"/>
            <a:ext cx="2231136" cy="4572000"/>
          </a:xfrm>
          <a:prstGeom prst="rect">
            <a:avLst/>
          </a:prstGeom>
        </p:spPr>
      </p:pic>
      <p:sp>
        <p:nvSpPr>
          <p:cNvPr id="4" name="circle-1"/>
          <p:cNvSpPr/>
          <p:nvPr/>
        </p:nvSpPr>
        <p:spPr>
          <a:xfrm>
            <a:off x="3657600" y="1691640"/>
            <a:ext cx="420624" cy="420624"/>
          </a:xfrm>
          <a:prstGeom prst="ellipse">
            <a:avLst/>
          </a:prstGeom>
          <a:ln w="15875">
            <a:solidFill>
              <a:schemeClr val="bg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3657600" y="1691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297680" y="1655064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Confirmation email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4297680" y="20116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FBFBF"/>
                </a:solidFill>
              </a:rPr>
              <a:t>App link beside the calendar invite and QR code</a:t>
            </a:r>
            <a:endParaRPr lang="en-US" sz="1400" dirty="0"/>
          </a:p>
        </p:txBody>
      </p:sp>
      <p:sp>
        <p:nvSpPr>
          <p:cNvPr id="8" name="circle-2"/>
          <p:cNvSpPr/>
          <p:nvPr/>
        </p:nvSpPr>
        <p:spPr>
          <a:xfrm>
            <a:off x="3657600" y="2679192"/>
            <a:ext cx="420624" cy="420624"/>
          </a:xfrm>
          <a:prstGeom prst="ellipse">
            <a:avLst/>
          </a:prstGeom>
          <a:ln w="15875">
            <a:solidFill>
              <a:schemeClr val="bg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657600" y="26791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4297680" y="2642616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Check-in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4297680" y="299923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FBFBF"/>
                </a:solidFill>
              </a:rPr>
              <a:t>QR at the door and on room signage: scan to download</a:t>
            </a:r>
            <a:endParaRPr lang="en-US" sz="1400" dirty="0"/>
          </a:p>
        </p:txBody>
      </p:sp>
      <p:sp>
        <p:nvSpPr>
          <p:cNvPr id="12" name="circle-3"/>
          <p:cNvSpPr/>
          <p:nvPr/>
        </p:nvSpPr>
        <p:spPr>
          <a:xfrm>
            <a:off x="3657600" y="3666744"/>
            <a:ext cx="420624" cy="420624"/>
          </a:xfrm>
          <a:prstGeom prst="ellipse">
            <a:avLst/>
          </a:prstGeom>
          <a:ln w="15875">
            <a:solidFill>
              <a:schemeClr val="bg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657600" y="36667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4297680" y="3630168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SMS reminder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4297680" y="3986784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FBFBF"/>
                </a:solidFill>
              </a:rPr>
              <a:t>Manage or cancel your class in the app</a:t>
            </a:r>
            <a:endParaRPr lang="en-US" sz="1400" dirty="0"/>
          </a:p>
        </p:txBody>
      </p:sp>
      <p:sp>
        <p:nvSpPr>
          <p:cNvPr id="16" name="circle-4"/>
          <p:cNvSpPr/>
          <p:nvPr/>
        </p:nvSpPr>
        <p:spPr>
          <a:xfrm>
            <a:off x="3657600" y="4654296"/>
            <a:ext cx="420624" cy="420624"/>
          </a:xfrm>
          <a:prstGeom prst="ellipse">
            <a:avLst/>
          </a:prstGeom>
          <a:ln w="15875">
            <a:solidFill>
              <a:schemeClr val="bg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657600" y="46542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4297680" y="4617720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Post-class PEIs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4297680" y="4974336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FBFBF"/>
                </a:solidFill>
              </a:rPr>
              <a:t>Find a doctor, book a visit, see results in the app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3657600" y="57150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1"/>
                </a:solidFill>
              </a:rPr>
              <a:t>Tracked links show which classes and service lines drive downloads and booked visits.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367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02920" y="658368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How we will measure success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69164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chemeClr val="accent1"/>
                </a:solidFill>
                <a:latin typeface="Trenda IG Text Light" pitchFamily="34" charset="0"/>
                <a:ea typeface="Trenda IG Text Light" pitchFamily="34" charset="-122"/>
                <a:cs typeface="Trenda IG Text Light" pitchFamily="34" charset="-120"/>
              </a:rPr>
              <a:t>Conversion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24231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Visitors who complete a registration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28803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BFBFBF"/>
                </a:solidFill>
              </a:rPr>
              <a:t>Baseline set in discovery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297680" y="169164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chemeClr val="accent1"/>
                </a:solidFill>
                <a:latin typeface="Trenda IG Text Light" pitchFamily="34" charset="0"/>
                <a:ea typeface="Trenda IG Text Light" pitchFamily="34" charset="-122"/>
                <a:cs typeface="Trenda IG Text Light" pitchFamily="34" charset="-120"/>
              </a:rPr>
              <a:t>Attendance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4297680" y="24231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Registrants who show up; fewer no-shows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297680" y="28803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BFBFBF"/>
                </a:solidFill>
              </a:rPr>
              <a:t>Baseline set in discovery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092440" y="169164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chemeClr val="accent1"/>
                </a:solidFill>
                <a:latin typeface="Trenda IG Text Light" pitchFamily="34" charset="0"/>
                <a:ea typeface="Trenda IG Text Light" pitchFamily="34" charset="-122"/>
                <a:cs typeface="Trenda IG Text Light" pitchFamily="34" charset="-120"/>
              </a:rPr>
              <a:t>Engagement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8092440" y="24231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PEI opens, clicks and survey responses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092440" y="28803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BFBFBF"/>
                </a:solidFill>
              </a:rPr>
              <a:t>Baseline set in discovery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374904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chemeClr val="accent1"/>
                </a:solidFill>
                <a:latin typeface="Trenda IG Text Light" pitchFamily="34" charset="0"/>
                <a:ea typeface="Trenda IG Text Light" pitchFamily="34" charset="-122"/>
                <a:cs typeface="Trenda IG Text Light" pitchFamily="34" charset="-120"/>
              </a:rPr>
              <a:t>Downloads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44805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App installs from event links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49377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BFBFBF"/>
                </a:solidFill>
              </a:rPr>
              <a:t>Baseline set in discovery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297680" y="374904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chemeClr val="accent1"/>
                </a:solidFill>
                <a:latin typeface="Trenda IG Text Light" pitchFamily="34" charset="0"/>
                <a:ea typeface="Trenda IG Text Light" pitchFamily="34" charset="-122"/>
                <a:cs typeface="Trenda IG Text Light" pitchFamily="34" charset="-120"/>
              </a:rPr>
              <a:t>Visits booked</a:t>
            </a:r>
            <a:endParaRPr lang="en-US" sz="3400" dirty="0"/>
          </a:p>
        </p:txBody>
      </p:sp>
      <p:sp>
        <p:nvSpPr>
          <p:cNvPr id="16" name="Text 14"/>
          <p:cNvSpPr txBox="1"/>
          <p:nvPr/>
        </p:nvSpPr>
        <p:spPr>
          <a:xfrm>
            <a:off x="4297680" y="44805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Appointments after a class or event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297680" y="49377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BFBFBF"/>
                </a:solidFill>
              </a:rPr>
              <a:t>Baseline set in discovery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374904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chemeClr val="accent1"/>
                </a:solidFill>
                <a:latin typeface="Trenda IG Text Light" pitchFamily="34" charset="0"/>
                <a:ea typeface="Trenda IG Text Light" pitchFamily="34" charset="-122"/>
                <a:cs typeface="Trenda IG Text Light" pitchFamily="34" charset="-120"/>
              </a:rPr>
              <a:t>Revenue</a:t>
            </a:r>
            <a:endParaRPr lang="en-US" sz="3400" dirty="0"/>
          </a:p>
        </p:txBody>
      </p:sp>
      <p:sp>
        <p:nvSpPr>
          <p:cNvPr id="19" name="Text 17"/>
          <p:cNvSpPr txBox="1"/>
          <p:nvPr/>
        </p:nvSpPr>
        <p:spPr>
          <a:xfrm>
            <a:off x="8092440" y="44805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Paid registrations and conference fees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092440" y="49377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BFBFBF"/>
                </a:solidFill>
              </a:rPr>
              <a:t>Baseline set in discovery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367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02920" y="658368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Roadmap: from registration to relationship</a:t>
            </a:r>
            <a:endParaRPr lang="en-US" sz="3200" dirty="0"/>
          </a:p>
        </p:txBody>
      </p:sp>
      <p:sp>
        <p:nvSpPr>
          <p:cNvPr id="3" name="circle-1"/>
          <p:cNvSpPr/>
          <p:nvPr/>
        </p:nvSpPr>
        <p:spPr>
          <a:xfrm>
            <a:off x="502920" y="1691640"/>
            <a:ext cx="420624" cy="420624"/>
          </a:xfrm>
          <a:prstGeom prst="ellipse">
            <a:avLst/>
          </a:prstGeom>
          <a:ln w="15875">
            <a:solidFill>
              <a:schemeClr val="tx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1691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228600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Classes and events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69748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Weeks 1-14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3154680"/>
            <a:ext cx="2560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D4D4D"/>
                </a:solidFill>
              </a:rPr>
              <a:t>Registration and payments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D4D4D"/>
                </a:solidFill>
              </a:rPr>
              <a:t>Marketing Cloud reminders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D4D4D"/>
                </a:solidFill>
              </a:rPr>
              <a:t>QR check-in and reporting</a:t>
            </a:r>
            <a:endParaRPr lang="en-US" sz="1400" dirty="0"/>
          </a:p>
        </p:txBody>
      </p:sp>
      <p:sp>
        <p:nvSpPr>
          <p:cNvPr id="8" name="circle-2"/>
          <p:cNvSpPr/>
          <p:nvPr/>
        </p:nvSpPr>
        <p:spPr>
          <a:xfrm>
            <a:off x="3337560" y="1691640"/>
            <a:ext cx="420624" cy="420624"/>
          </a:xfrm>
          <a:prstGeom prst="ellipse">
            <a:avLst/>
          </a:prstGeom>
          <a:ln w="15875">
            <a:solidFill>
              <a:schemeClr val="tx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37560" y="1691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337560" y="228600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Conferences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3337560" y="269748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Weeks 15-24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337560" y="3154680"/>
            <a:ext cx="2560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D4D4D"/>
                </a:solidFill>
              </a:rPr>
              <a:t>Sessions and speakers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D4D4D"/>
                </a:solidFill>
              </a:rPr>
              <a:t>My Agenda and badges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D4D4D"/>
                </a:solidFill>
              </a:rPr>
              <a:t>Certain retired</a:t>
            </a:r>
            <a:endParaRPr lang="en-US" sz="1400" dirty="0"/>
          </a:p>
        </p:txBody>
      </p:sp>
      <p:sp>
        <p:nvSpPr>
          <p:cNvPr id="13" name="circle-3"/>
          <p:cNvSpPr/>
          <p:nvPr/>
        </p:nvSpPr>
        <p:spPr>
          <a:xfrm>
            <a:off x="6172200" y="1691640"/>
            <a:ext cx="420624" cy="420624"/>
          </a:xfrm>
          <a:prstGeom prst="ellipse">
            <a:avLst/>
          </a:prstGeom>
          <a:ln w="15875">
            <a:solidFill>
              <a:schemeClr val="tx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72200" y="1691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228600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Engagement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6172200" y="269748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From Phase 1 go-live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172200" y="3154680"/>
            <a:ext cx="2560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D4D4D"/>
                </a:solidFill>
              </a:rPr>
              <a:t>PEI journeys by service line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D4D4D"/>
                </a:solidFill>
              </a:rPr>
              <a:t>App download campaigns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D4D4D"/>
                </a:solidFill>
              </a:rPr>
              <a:t>Find-a-doctor nurture</a:t>
            </a:r>
            <a:endParaRPr lang="en-US" sz="1400" dirty="0"/>
          </a:p>
        </p:txBody>
      </p:sp>
      <p:sp>
        <p:nvSpPr>
          <p:cNvPr id="18" name="circle-4"/>
          <p:cNvSpPr/>
          <p:nvPr/>
        </p:nvSpPr>
        <p:spPr>
          <a:xfrm>
            <a:off x="9006840" y="1691640"/>
            <a:ext cx="420624" cy="420624"/>
          </a:xfrm>
          <a:prstGeom prst="ellipse">
            <a:avLst/>
          </a:prstGeom>
          <a:ln w="15875">
            <a:solidFill>
              <a:schemeClr val="tx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006840" y="1691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4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9006840" y="228600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Intelligence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9006840" y="269748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Week 25+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9006840" y="3154680"/>
            <a:ext cx="2560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D4D4D"/>
                </a:solidFill>
              </a:rPr>
              <a:t>AI registration assistant (Agentforce)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D4D4D"/>
                </a:solidFill>
              </a:rPr>
              <a:t>Session and class recommendations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D4D4D"/>
                </a:solidFill>
              </a:rPr>
              <a:t>Class-to-visit attribution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02920" y="5257800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Phases 1 and 2 solve today’s problem. Phases 3 and 4 grow engagement and the network on the same platform.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367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02920" y="658368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Next steps</a:t>
            </a:r>
            <a:endParaRPr lang="en-US" sz="3200" dirty="0"/>
          </a:p>
        </p:txBody>
      </p:sp>
      <p:sp>
        <p:nvSpPr>
          <p:cNvPr id="3" name="circle-1"/>
          <p:cNvSpPr/>
          <p:nvPr/>
        </p:nvSpPr>
        <p:spPr>
          <a:xfrm>
            <a:off x="548640" y="1645920"/>
            <a:ext cx="420624" cy="420624"/>
          </a:xfrm>
          <a:prstGeom prst="ellipse">
            <a:avLst/>
          </a:prstGeom>
          <a:ln w="15875">
            <a:solidFill>
              <a:schemeClr val="bg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45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645920"/>
            <a:ext cx="10058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Trenda IG Text Light" pitchFamily="34" charset="0"/>
                <a:ea typeface="Trenda IG Text Light" pitchFamily="34" charset="-122"/>
                <a:cs typeface="Trenda IG Text Light" pitchFamily="34" charset="-120"/>
              </a:rPr>
              <a:t>Walk through the current class solution with Lucky Rai’s team</a:t>
            </a:r>
            <a:endParaRPr lang="en-US" sz="2000" dirty="0"/>
          </a:p>
        </p:txBody>
      </p:sp>
      <p:sp>
        <p:nvSpPr>
          <p:cNvPr id="6" name="circle-2"/>
          <p:cNvSpPr/>
          <p:nvPr/>
        </p:nvSpPr>
        <p:spPr>
          <a:xfrm>
            <a:off x="548640" y="2331720"/>
            <a:ext cx="420624" cy="420624"/>
          </a:xfrm>
          <a:prstGeom prst="ellipse">
            <a:avLst/>
          </a:prstGeom>
          <a:ln w="15875">
            <a:solidFill>
              <a:schemeClr val="bg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3317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2331720"/>
            <a:ext cx="10058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Trenda IG Text Light" pitchFamily="34" charset="0"/>
                <a:ea typeface="Trenda IG Text Light" pitchFamily="34" charset="-122"/>
                <a:cs typeface="Trenda IG Text Light" pitchFamily="34" charset="-120"/>
              </a:rPr>
              <a:t>Confirm yearly volumes: classes, conferences, registrants</a:t>
            </a:r>
            <a:endParaRPr lang="en-US" sz="2000" dirty="0"/>
          </a:p>
        </p:txBody>
      </p:sp>
      <p:sp>
        <p:nvSpPr>
          <p:cNvPr id="9" name="circle-3"/>
          <p:cNvSpPr/>
          <p:nvPr/>
        </p:nvSpPr>
        <p:spPr>
          <a:xfrm>
            <a:off x="548640" y="3017520"/>
            <a:ext cx="420624" cy="420624"/>
          </a:xfrm>
          <a:prstGeom prst="ellipse">
            <a:avLst/>
          </a:prstGeom>
          <a:ln w="15875">
            <a:solidFill>
              <a:schemeClr val="bg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017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3017520"/>
            <a:ext cx="10058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Trenda IG Text Light" pitchFamily="34" charset="0"/>
                <a:ea typeface="Trenda IG Text Light" pitchFamily="34" charset="-122"/>
                <a:cs typeface="Trenda IG Text Light" pitchFamily="34" charset="-120"/>
              </a:rPr>
              <a:t>Confirm conference must-haves: sessions, badges, sponsors, CME</a:t>
            </a:r>
            <a:endParaRPr lang="en-US" sz="2000" dirty="0"/>
          </a:p>
        </p:txBody>
      </p:sp>
      <p:sp>
        <p:nvSpPr>
          <p:cNvPr id="12" name="circle-4"/>
          <p:cNvSpPr/>
          <p:nvPr/>
        </p:nvSpPr>
        <p:spPr>
          <a:xfrm>
            <a:off x="548640" y="3703320"/>
            <a:ext cx="420624" cy="420624"/>
          </a:xfrm>
          <a:prstGeom prst="ellipse">
            <a:avLst/>
          </a:prstGeom>
          <a:ln w="15875">
            <a:solidFill>
              <a:schemeClr val="bg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7033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703320"/>
            <a:ext cx="10058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Trenda IG Text Light" pitchFamily="34" charset="0"/>
                <a:ea typeface="Trenda IG Text Light" pitchFamily="34" charset="-122"/>
                <a:cs typeface="Trenda IG Text Light" pitchFamily="34" charset="-120"/>
              </a:rPr>
              <a:t>Agree the payment approach: keep both gateways or consolidate</a:t>
            </a:r>
            <a:endParaRPr lang="en-US" sz="2000" dirty="0"/>
          </a:p>
        </p:txBody>
      </p:sp>
      <p:sp>
        <p:nvSpPr>
          <p:cNvPr id="15" name="circle-5"/>
          <p:cNvSpPr/>
          <p:nvPr/>
        </p:nvSpPr>
        <p:spPr>
          <a:xfrm>
            <a:off x="548640" y="4389120"/>
            <a:ext cx="420624" cy="420624"/>
          </a:xfrm>
          <a:prstGeom prst="ellipse">
            <a:avLst/>
          </a:prstGeom>
          <a:ln w="15875">
            <a:solidFill>
              <a:schemeClr val="bg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4389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4389120"/>
            <a:ext cx="10058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Trenda IG Text Light" pitchFamily="34" charset="0"/>
                <a:ea typeface="Trenda IG Text Light" pitchFamily="34" charset="-122"/>
                <a:cs typeface="Trenda IG Text Light" pitchFamily="34" charset="-120"/>
              </a:rPr>
              <a:t>Share the Certain renewal date so Phase 2 lands before it</a:t>
            </a:r>
            <a:endParaRPr lang="en-US" sz="2000" dirty="0"/>
          </a:p>
        </p:txBody>
      </p:sp>
      <p:sp>
        <p:nvSpPr>
          <p:cNvPr id="18" name="circle-6"/>
          <p:cNvSpPr/>
          <p:nvPr/>
        </p:nvSpPr>
        <p:spPr>
          <a:xfrm>
            <a:off x="548640" y="5074920"/>
            <a:ext cx="420624" cy="420624"/>
          </a:xfrm>
          <a:prstGeom prst="ellipse">
            <a:avLst/>
          </a:prstGeom>
          <a:ln w="15875">
            <a:solidFill>
              <a:schemeClr val="bg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5074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188720" y="5074920"/>
            <a:ext cx="10058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Trenda IG Text Light" pitchFamily="34" charset="0"/>
                <a:ea typeface="Trenda IG Text Light" pitchFamily="34" charset="-122"/>
                <a:cs typeface="Trenda IG Text Light" pitchFamily="34" charset="-120"/>
              </a:rPr>
              <a:t>Pick 2 to 3 service lines for the first engagement journeys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58064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Then we return with a scoped plan, team and estimate.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367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Insight Global">
  <a:themeElements>
    <a:clrScheme name="Insight Global">
      <a:dk1>
        <a:srgbClr val="000000"/>
      </a:dk1>
      <a:lt1>
        <a:srgbClr val="FFFFFF"/>
      </a:lt1>
      <a:dk2>
        <a:srgbClr val="01273C"/>
      </a:dk2>
      <a:lt2>
        <a:srgbClr val="F2F2F2"/>
      </a:lt2>
      <a:accent1>
        <a:srgbClr val="00D6F2"/>
      </a:accent1>
      <a:accent2>
        <a:srgbClr val="FED700"/>
      </a:accent2>
      <a:accent3>
        <a:srgbClr val="FF0068"/>
      </a:accent3>
      <a:accent4>
        <a:srgbClr val="F98B34"/>
      </a:accent4>
      <a:accent5>
        <a:srgbClr val="D214AA"/>
      </a:accent5>
      <a:accent6>
        <a:srgbClr val="45289F"/>
      </a:accent6>
      <a:hlink>
        <a:srgbClr val="FF0068"/>
      </a:hlink>
      <a:folHlink>
        <a:srgbClr val="D214AA"/>
      </a:folHlink>
    </a:clrScheme>
    <a:fontScheme name="Insight Global">
      <a:majorFont>
        <a:latin typeface="Trenda IG Tex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renda IG Tex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Insight Global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Memorial Hermann: One Event Platform on Salesforce</dc:title>
  <dc:subject>PptxGenJS Presentation</dc:subject>
  <dc:creator>Insight Global</dc:creator>
  <cp:lastModifiedBy>Insight Global</cp:lastModifiedBy>
  <cp:revision>1</cp:revision>
  <dcterms:created xsi:type="dcterms:W3CDTF">2026-10-15T03:55:16Z</dcterms:created>
  <dcterms:modified xsi:type="dcterms:W3CDTF">2026-10-15T03:55:16Z</dcterms:modified>
</cp:coreProperties>
</file>