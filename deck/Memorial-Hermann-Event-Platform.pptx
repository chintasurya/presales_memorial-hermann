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85b29fc9-0e4c-6327-1899-811bbdea5ac8}">
          <p14:sldIdLst>
            <p14:sldId id="256"/>
            <p14:sldId id="257"/>
            <p14:sldId id="258"/>
            <p14:sldId id="259"/>
          </p14:sldIdLst>
        </p14:section>
        <p14:section name="The solution" id="{14eeb2fe-d837-9945-b83b-c1ca26711e08}">
          <p14:sldIdLst>
            <p14:sldId id="260"/>
            <p14:sldId id="261"/>
            <p14:sldId id="262"/>
            <p14:sldId id="263"/>
            <p14:sldId id="264"/>
            <p14:sldId id="265"/>
            <p14:sldId id="266"/>
            <p14:sldId id="267"/>
            <p14:sldId id="268"/>
            <p14:sldId id="269"/>
          </p14:sldIdLst>
        </p14:section>
        <p14:section name="Delivery plan" id="{2ef7607f-6d29-097e-69ad-cee6b6fece0f}">
          <p14:sldIdLst>
            <p14:sldId id="270"/>
            <p14:sldId id="271"/>
            <p14:sldId id="272"/>
            <p14:sldId id="273"/>
            <p14:sldId id="274"/>
          </p14:sldIdLst>
        </p14:section>
        <p14:section name="Beyond the event" id="{8d5cf30e-46e1-c9d5-c9ae-dd8b07d23640}">
          <p14:sldIdLst>
            <p14:sldId id="275"/>
            <p14:sldId id="276"/>
            <p14:sldId id="277"/>
            <p14:sldId id="278"/>
            <p14:sldId id="279"/>
            <p14:sldId id="280"/>
          </p14:sldIdLst>
        </p14:section>
        <p14:section name="Roadmap and next steps" id="{66b63d37-4e22-f29c-becc-5082a342158f}">
          <p14:sldIdLst>
            <p14:sldId id="281"/>
            <p14:sldId id="282"/>
            <p14:sldId id="283"/>
            <p14:sldId id="284"/>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Kevin for the detailed answers. Today: how we solve the event registration problem on the Salesforce platform they already own, how we deliver it, and how the registration data can grow engagement and the network.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core of our position, as agreed with Kevin. We keep the Sitecore listings, the Experience Cloud registration site, Chase and today’s cancellation and refund workflows. We add conference and session setup, waitlists and Zoom or Teams links. We replace only Certain, with no data migration. Engagement, class improvements and AI come later if wanted.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solution on one page, in the order a registrant experiences it. Register: on the website, with a seat held while they pay. Pay: the gateway hosts the card page; we receive only a token. Confirm: Salesforce records the registration and sends the confirmation, QR code, calendar invite and reminders from Salesforce email, so confirmation is instant. Attend: QR check-in. Engage: patient engagement initiatives. Grow: staff see demand and add sessions. It replaces Certain and builds on today’s Experience Cloud site and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listing for conferences, classes and events, on the Sitecore page people already use. Book on a conference opens the registration site: pick sessions by day (seats are held while paying), pay on Chase’s hosted page, then get an instant confirmation with a QR code for check-in, add-to-calendar links and, for online attendees, a personal Zoom or Teams join link. Cancellations and refunds use today’s Chase workflows. Classes and events use the same flow without the session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Organizers create a class, event or conference from one form, add ticket types, then build the agenda session by session: day, time, room, track, speaker and seat limit. Payment (Chase) and the Marketing Cloud journey are set per event. Publishing puts the agenda on the website and app. This replaces the conference setup done in Certain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class, event or session is full, people register interest with their preferred location and time, and consent to be contacted. Organizers see demand beyond capacity by event, location and time, which tells them where to add dates. When a new date opens, the interest list is invited first with a head start before seats go public. The length of the head start is Memorial Hermann’s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popular class can draw far more interest than seats. The platform answers every click within seconds, never oversells, never charges someone who did not get a seat, and keeps everyone who missed out on a waitlist or interest list. When demand passes a threshold, staff add a session in one click and the people waiting get first access. Numbers are an example; caps and thresholds are set per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by step for a busy event. The waiting room admits people fairly, seat holds are atomic so a seat is never sold twice, writes to Salesforce are queued and idempotent so nothing is lost or duplicated, and everyone who misses a seat lands on the waitlist or interest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messages. First, card numbers never touch Memorial Hermann or Salesforce systems: the gateway hosts the payment page and returns a token. Second, registrant and patient data is protected in layers from the edge to governance. Shield licensing, BAA coverage and PCI level to be confirmed with Memorial Hermann IT and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card is typed directly into the gateway page; the registration service only creates the session and receives a signed webhook with a token. Salesforce stores the token reference, last 4 digits, amount and status. Chase already takes class payments in Salesforce, so conferences reuse that integration: one gateway, one reconciliation. Authorize.net stays open only until refunds on payments taken before cutover are done, because its card tokens cannot move to Chase. Merchant setup for conference fees to confirm with Memorial Hermann finance.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Conferences go live in eight weeks and Certain is retired; time go-live before the Certain renewal and between conferences. No data migration is needed. Engagement work can start from week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lands in eight weeks with the same four-person pod. Classes and events stay as they are; conferences are added alongside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two-week sprints, each closing with a demo and a milestone Memorial Hermann signs off. Sprint 1 walks through today’s Experience Cloud site and Certain and designs the conference extension. Sprints 2 and 3 build conference and session setup, My Agenda, seat limits and waitlists, Chase checkout and Zoom or Teams links. Sprint 4 tests and goes live, and Certain is retired. No data migration is needed. Cancellations and refunds reuse today’s Chase workflows.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small, dedicated pod: one Project Manager leading delivery and running the sprints, one QA engineer embedded in every sprint, and two developers covering Salesforce and Marketing Cloud. Memorial Hermann provides a product owner and an Epic and app contact.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upsell. The event platform captures first-party data about what each person is interested in. Marketing Cloud journeys turn that into patient engagement initiatives that lead to app adoption and booked visits.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class feeds one Marketing Cloud journey: confirmation, reminder, then four patient engagement initiatives (thank you and survey, next class, app adoption, find a doctor). The journey exits when the person books a visit or downloads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to show the idea. We would pick two or three service lines with Kevin’s team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Memorial Hermann is their existing Epic-based patient app (scheduling, results, messaging). App users register in the app; people who register on the website get a tracked download link at every touchpoint. No new app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set baselines during discovery from the current tools, then report these in a Salesforce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plan. AI agents use Agentforce and are licensed separately; we would scope them after the core platform is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Pricing is for an offshore delivery model. Standard program value is $120,000 for a four-person pod over 8 weeks. As a strategic partner, Memorial Hermann receives a 50% partnership credit applied upfront, for an investment of $60,000. Billing follows sprint milestones. Licenses (Salesforce, Zoom or Teams) and third-party fees are outside this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Kevin to set up the walkthrough with Lucky Rai’s team. Items 2 to 7 let us firm up the timeline and estimate.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Open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G-Title-image-1.jpe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G-Agenda-image-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G-Section-Blue-image-1.jpe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G-Section-Magenta-image-1.jpe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IG-Section-Gold-image-1.jpeg"/><Relationship Id="rId2"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image" Target="../media/IG-Dark-image-1.jpeg"/><Relationship Id="rId2"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image" Target="../media/IG-Light-image-1.jpeg"/><Relationship Id="rId2"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image" Target="../media/IG-Spectrum-image-1.jpeg"/><Relationship Id="rId2"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image" Target="../media/IG-Closing-image-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IG 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G Agen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IG Section Blu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IG Section Magent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IG Section Gol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rtlCol="0"/>
          <a:lstStyle>
            <a:lvl1pPr algn="ctr" indent="0" marL="0">
              <a:buNone/>
              <a:defRPr lang="en-US" sz="4400" spc="600" kern="0" dirty="0">
                <a:solidFill>
                  <a:schemeClr val="bg1"/>
                </a:solidFill>
                <a:latin typeface="Trenda IG Text Light" pitchFamily="34" charset="0"/>
                <a:ea typeface="Trenda IG Text Light" pitchFamily="34" charset="-122"/>
                <a:cs typeface="Trenda IG Text Light" pitchFamily="34" charset="-120"/>
              </a:defRPr>
            </a:lvl1pPr>
          </a:lstStyle>
          <a:p>
            <a:pPr algn="ctr" indent="0" marL="0">
              <a:buNone/>
            </a:pP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rtlCol="0"/>
          <a:lstStyle>
            <a:lvl1pPr algn="ctr" indent="0" marL="0">
              <a:buNone/>
              <a:defRPr lang="en-US" sz="1800" dirty="0">
                <a:solidFill>
                  <a:schemeClr val="bg1"/>
                </a:solidFill>
              </a:defRPr>
            </a:lvl1pPr>
          </a:lstStyle>
          <a:p>
            <a:pPr algn="ctr" indent="0" marL="0">
              <a:buNone/>
            </a:pPr>
            <a:endParaRPr lang="en-US" sz="1800"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IG Dark">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1007</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IG Ligh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tx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1008</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IG Spectrum">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219456"/>
            <a:ext cx="7315200" cy="228600"/>
          </a:xfrm>
          <a:prstGeom prst="rect">
            <a:avLst/>
          </a:prstGeom>
          <a:noFill/>
          <a:ln/>
        </p:spPr>
        <p:txBody>
          <a:bodyPr wrap="square" lIns="0" tIns="0" rIns="0" bIns="0" rtlCol="0" anchor="ctr"/>
          <a:lstStyle/>
          <a:p>
            <a:pPr indent="0" marL="0">
              <a:buNone/>
            </a:pPr>
            <a:r>
              <a:rPr lang="en-US" sz="800" b="1" spc="300" kern="0" dirty="0">
                <a:solidFill>
                  <a:schemeClr val="bg1"/>
                </a:solidFill>
              </a:rPr>
              <a:t>MEMORIAL HERMANN  ·  EVENT PLATFORM</a:t>
            </a:r>
            <a:endParaRPr lang="en-US" sz="800" dirty="0"/>
          </a:p>
        </p:txBody>
      </p:sp>
      <p:sp>
        <p:nvSpPr>
          <p:cNvPr id="3" name="Text 1"/>
          <p:cNvSpPr/>
          <p:nvPr>
            <p:ph idx="101" type="title" hasCustomPrompt="1"/>
          </p:nvPr>
        </p:nvSpPr>
        <p:spPr>
          <a:xfrm>
            <a:off x="502920" y="658368"/>
            <a:ext cx="11185855" cy="82296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1009</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IG Closing">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8.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8.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8.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7.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slideLayout" Target="../slideLayouts/slideLayout8.xml"/><Relationship Id="rId11"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8.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8.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7.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image" Target="../media/image-27-6.png"/><Relationship Id="rId7" Type="http://schemas.openxmlformats.org/officeDocument/2006/relationships/image" Target="../media/image-27-7.png"/><Relationship Id="rId8" Type="http://schemas.openxmlformats.org/officeDocument/2006/relationships/image" Target="../media/image-27-8.png"/><Relationship Id="rId9" Type="http://schemas.openxmlformats.org/officeDocument/2006/relationships/image" Target="../media/image-27-9.png"/><Relationship Id="rId10" Type="http://schemas.openxmlformats.org/officeDocument/2006/relationships/image" Target="../media/image-27-10.png"/><Relationship Id="rId11" Type="http://schemas.openxmlformats.org/officeDocument/2006/relationships/image" Target="../media/image-27-11.png"/><Relationship Id="rId12" Type="http://schemas.openxmlformats.org/officeDocument/2006/relationships/image" Target="../media/image-27-12.png"/><Relationship Id="rId13" Type="http://schemas.openxmlformats.org/officeDocument/2006/relationships/image" Target="../media/image-27-13.png"/><Relationship Id="rId14" Type="http://schemas.openxmlformats.org/officeDocument/2006/relationships/slideLayout" Target="../slideLayouts/slideLayout7.xml"/><Relationship Id="rId1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914400" y="2514600"/>
            <a:ext cx="10362895" cy="155448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ONE EVENT PLATFORM ON SALESFORCE</a:t>
            </a:r>
            <a:endParaRPr lang="en-US" sz="4400" dirty="0"/>
          </a:p>
        </p:txBody>
      </p:sp>
      <p:sp>
        <p:nvSpPr>
          <p:cNvPr id="3" name="Text 0"/>
          <p:cNvSpPr/>
          <p:nvPr>
            <p:ph idx="101" type="body" hasCustomPrompt="1"/>
          </p:nvPr>
        </p:nvSpPr>
        <p:spPr>
          <a:xfrm>
            <a:off x="914400" y="4160520"/>
            <a:ext cx="10362895" cy="457200"/>
          </a:xfrm>
          <a:prstGeom prst="rect">
            <a:avLst/>
          </a:prstGeom>
          <a:noFill/>
          <a:ln/>
        </p:spPr>
        <p:txBody>
          <a:bodyPr wrap="square" lIns="0" tIns="0" rIns="0" bIns="0" rtlCol="0"/>
          <a:lstStyle/>
          <a:p>
            <a:pPr algn="ctr" indent="0" marL="0">
              <a:buNone/>
            </a:pPr>
            <a:r>
              <a:rPr lang="en-US" sz="1800" dirty="0">
                <a:solidFill>
                  <a:schemeClr val="bg1"/>
                </a:solidFill>
              </a:rPr>
              <a:t>Memorial Hermann Health System  ×  Insight Global</a:t>
            </a:r>
            <a:endParaRPr lang="en-US" sz="1800" dirty="0"/>
          </a:p>
        </p:txBody>
      </p:sp>
      <p:sp>
        <p:nvSpPr>
          <p:cNvPr id="4" name="Text 2"/>
          <p:cNvSpPr txBox="1"/>
          <p:nvPr/>
        </p:nvSpPr>
        <p:spPr>
          <a:xfrm>
            <a:off x="914400" y="4709160"/>
            <a:ext cx="10362895" cy="274320"/>
          </a:xfrm>
          <a:prstGeom prst="rect">
            <a:avLst/>
          </a:prstGeom>
          <a:noFill/>
          <a:ln/>
        </p:spPr>
        <p:txBody>
          <a:bodyPr wrap="square" lIns="0" tIns="0" rIns="0" bIns="0" rtlCol="0" anchor="t"/>
          <a:lstStyle/>
          <a:p>
            <a:pPr algn="ctr" indent="0" marL="0">
              <a:buNone/>
            </a:pPr>
            <a:r>
              <a:rPr lang="en-US" sz="1100" spc="400" kern="0" dirty="0">
                <a:solidFill>
                  <a:schemeClr val="bg1"/>
                </a:solidFill>
              </a:rPr>
              <a:t>CONFERENCES  ·  SESSIONS  ·  ONLINE ACCESS  ·  ENGAGEMENT</a:t>
            </a:r>
            <a:endParaRPr lang="en-US" sz="1100" dirty="0"/>
          </a:p>
        </p:txBody>
      </p:sp>
      <p:sp>
        <p:nvSpPr>
          <p:cNvPr id="5" name="Text 3"/>
          <p:cNvSpPr txBox="1"/>
          <p:nvPr/>
        </p:nvSpPr>
        <p:spPr>
          <a:xfrm>
            <a:off x="914400" y="6172200"/>
            <a:ext cx="10362895" cy="274320"/>
          </a:xfrm>
          <a:prstGeom prst="rect">
            <a:avLst/>
          </a:prstGeom>
          <a:noFill/>
          <a:ln/>
        </p:spPr>
        <p:txBody>
          <a:bodyPr wrap="square" lIns="0" tIns="0" rIns="0" bIns="0" rtlCol="0" anchor="t"/>
          <a:lstStyle/>
          <a:p>
            <a:pPr algn="ctr" indent="0" marL="0">
              <a:buNone/>
            </a:pPr>
            <a:r>
              <a:rPr lang="en-US" sz="1100" b="1" spc="500" kern="0" dirty="0">
                <a:solidFill>
                  <a:schemeClr val="bg1"/>
                </a:solidFill>
              </a:rPr>
              <a:t>OCTOBER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Agenda</a:t>
            </a:r>
            <a:endParaRPr lang="en-US" sz="3200" dirty="0"/>
          </a:p>
        </p:txBody>
      </p:sp>
      <p:sp>
        <p:nvSpPr>
          <p:cNvPr id="3" name="circle-1"/>
          <p:cNvSpPr/>
          <p:nvPr/>
        </p:nvSpPr>
        <p:spPr>
          <a:xfrm>
            <a:off x="548640" y="2011680"/>
            <a:ext cx="420624" cy="420624"/>
          </a:xfrm>
          <a:prstGeom prst="ellipse">
            <a:avLst/>
          </a:prstGeom>
          <a:ln w="15875">
            <a:solidFill>
              <a:schemeClr val="bg1"/>
            </a:solidFill>
            <a:prstDash val="solid"/>
          </a:ln>
        </p:spPr>
      </p:sp>
      <p:sp>
        <p:nvSpPr>
          <p:cNvPr id="4" name="Text 2"/>
          <p:cNvSpPr txBox="1"/>
          <p:nvPr/>
        </p:nvSpPr>
        <p:spPr>
          <a:xfrm>
            <a:off x="54864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Business opportunity</a:t>
            </a:r>
            <a:endParaRPr lang="en-US" sz="2200" dirty="0"/>
          </a:p>
        </p:txBody>
      </p:sp>
      <p:sp>
        <p:nvSpPr>
          <p:cNvPr id="6" name="circle-2"/>
          <p:cNvSpPr/>
          <p:nvPr/>
        </p:nvSpPr>
        <p:spPr>
          <a:xfrm>
            <a:off x="548640" y="2880360"/>
            <a:ext cx="420624" cy="420624"/>
          </a:xfrm>
          <a:prstGeom prst="ellipse">
            <a:avLst/>
          </a:prstGeom>
          <a:ln w="15875">
            <a:solidFill>
              <a:schemeClr val="bg1"/>
            </a:solidFill>
            <a:prstDash val="solid"/>
          </a:ln>
        </p:spPr>
      </p:sp>
      <p:sp>
        <p:nvSpPr>
          <p:cNvPr id="7" name="Text 5"/>
          <p:cNvSpPr txBox="1"/>
          <p:nvPr/>
        </p:nvSpPr>
        <p:spPr>
          <a:xfrm>
            <a:off x="54864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The solution and design</a:t>
            </a:r>
            <a:endParaRPr lang="en-US" sz="2200" dirty="0"/>
          </a:p>
        </p:txBody>
      </p:sp>
      <p:sp>
        <p:nvSpPr>
          <p:cNvPr id="9" name="circle-3"/>
          <p:cNvSpPr/>
          <p:nvPr/>
        </p:nvSpPr>
        <p:spPr>
          <a:xfrm>
            <a:off x="548640" y="3749040"/>
            <a:ext cx="420624" cy="420624"/>
          </a:xfrm>
          <a:prstGeom prst="ellipse">
            <a:avLst/>
          </a:prstGeom>
          <a:ln w="15875">
            <a:solidFill>
              <a:schemeClr val="bg1"/>
            </a:solidFill>
            <a:prstDash val="solid"/>
          </a:ln>
        </p:spPr>
      </p:sp>
      <p:sp>
        <p:nvSpPr>
          <p:cNvPr id="10" name="Text 8"/>
          <p:cNvSpPr txBox="1"/>
          <p:nvPr/>
        </p:nvSpPr>
        <p:spPr>
          <a:xfrm>
            <a:off x="54864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Payments and data security</a:t>
            </a:r>
            <a:endParaRPr lang="en-US" sz="2200" dirty="0"/>
          </a:p>
        </p:txBody>
      </p:sp>
      <p:sp>
        <p:nvSpPr>
          <p:cNvPr id="12" name="circle-4"/>
          <p:cNvSpPr/>
          <p:nvPr/>
        </p:nvSpPr>
        <p:spPr>
          <a:xfrm>
            <a:off x="6309360" y="2011680"/>
            <a:ext cx="420624" cy="420624"/>
          </a:xfrm>
          <a:prstGeom prst="ellipse">
            <a:avLst/>
          </a:prstGeom>
          <a:ln w="15875">
            <a:solidFill>
              <a:schemeClr val="bg1"/>
            </a:solidFill>
            <a:prstDash val="solid"/>
          </a:ln>
        </p:spPr>
      </p:sp>
      <p:sp>
        <p:nvSpPr>
          <p:cNvPr id="13" name="Text 11"/>
          <p:cNvSpPr txBox="1"/>
          <p:nvPr/>
        </p:nvSpPr>
        <p:spPr>
          <a:xfrm>
            <a:off x="6309360" y="20116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6949440" y="201168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Delivery timeline</a:t>
            </a:r>
            <a:endParaRPr lang="en-US" sz="2200" dirty="0"/>
          </a:p>
        </p:txBody>
      </p:sp>
      <p:sp>
        <p:nvSpPr>
          <p:cNvPr id="15" name="circle-5"/>
          <p:cNvSpPr/>
          <p:nvPr/>
        </p:nvSpPr>
        <p:spPr>
          <a:xfrm>
            <a:off x="6309360" y="2880360"/>
            <a:ext cx="420624" cy="420624"/>
          </a:xfrm>
          <a:prstGeom prst="ellipse">
            <a:avLst/>
          </a:prstGeom>
          <a:ln w="15875">
            <a:solidFill>
              <a:schemeClr val="bg1"/>
            </a:solidFill>
            <a:prstDash val="solid"/>
          </a:ln>
        </p:spPr>
      </p:sp>
      <p:sp>
        <p:nvSpPr>
          <p:cNvPr id="16" name="Text 14"/>
          <p:cNvSpPr txBox="1"/>
          <p:nvPr/>
        </p:nvSpPr>
        <p:spPr>
          <a:xfrm>
            <a:off x="6309360" y="288036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6949440" y="288036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Beyond the event</a:t>
            </a:r>
            <a:endParaRPr lang="en-US" sz="2200" dirty="0"/>
          </a:p>
        </p:txBody>
      </p:sp>
      <p:sp>
        <p:nvSpPr>
          <p:cNvPr id="18" name="circle-6"/>
          <p:cNvSpPr/>
          <p:nvPr/>
        </p:nvSpPr>
        <p:spPr>
          <a:xfrm>
            <a:off x="6309360" y="3749040"/>
            <a:ext cx="420624" cy="420624"/>
          </a:xfrm>
          <a:prstGeom prst="ellipse">
            <a:avLst/>
          </a:prstGeom>
          <a:ln w="15875">
            <a:solidFill>
              <a:schemeClr val="bg1"/>
            </a:solidFill>
            <a:prstDash val="solid"/>
          </a:ln>
        </p:spPr>
      </p:sp>
      <p:sp>
        <p:nvSpPr>
          <p:cNvPr id="19" name="Text 17"/>
          <p:cNvSpPr txBox="1"/>
          <p:nvPr/>
        </p:nvSpPr>
        <p:spPr>
          <a:xfrm>
            <a:off x="6309360" y="37490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6949440" y="3749040"/>
            <a:ext cx="4754880" cy="420624"/>
          </a:xfrm>
          <a:prstGeom prst="rect">
            <a:avLst/>
          </a:prstGeom>
          <a:noFill/>
          <a:ln/>
        </p:spPr>
        <p:txBody>
          <a:bodyPr wrap="square" lIns="0" tIns="0" rIns="0" bIns="0" rtlCol="0" anchor="ctr"/>
          <a:lstStyle/>
          <a:p>
            <a:pPr indent="0" marL="0">
              <a:buNone/>
            </a:pPr>
            <a:r>
              <a:rPr lang="en-US" sz="2200" dirty="0">
                <a:solidFill>
                  <a:schemeClr val="bg1"/>
                </a:solidFill>
                <a:latin typeface="Trenda IG Text Light" pitchFamily="34" charset="0"/>
                <a:ea typeface="Trenda IG Text Light" pitchFamily="34" charset="-122"/>
                <a:cs typeface="Trenda IG Text Light" pitchFamily="34" charset="-120"/>
              </a:rPr>
              <a:t>Roadmap and next steps</a:t>
            </a:r>
            <a:endParaRPr lang="en-US" sz="2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Business opportunity</a:t>
            </a:r>
            <a:endParaRPr lang="en-US" sz="3200" dirty="0"/>
          </a:p>
        </p:txBody>
      </p:sp>
      <p:sp>
        <p:nvSpPr>
          <p:cNvPr id="3" name="primary-ask"/>
          <p:cNvSpPr/>
          <p:nvPr/>
        </p:nvSpPr>
        <p:spPr>
          <a:xfrm>
            <a:off x="502920" y="1463040"/>
            <a:ext cx="11185855" cy="1115568"/>
          </a:xfrm>
          <a:prstGeom prst="roundRect">
            <a:avLst>
              <a:gd name="adj" fmla="val 9836"/>
            </a:avLst>
          </a:prstGeom>
          <a:solidFill>
            <a:srgbClr val="000000"/>
          </a:solidFill>
          <a:ln w="25400">
            <a:solidFill>
              <a:srgbClr val="FF0068"/>
            </a:solidFill>
            <a:prstDash val="solid"/>
          </a:ln>
        </p:spPr>
      </p:sp>
      <p:sp>
        <p:nvSpPr>
          <p:cNvPr id="4" name="Text 2"/>
          <p:cNvSpPr txBox="1"/>
          <p:nvPr/>
        </p:nvSpPr>
        <p:spPr>
          <a:xfrm>
            <a:off x="777240" y="1591056"/>
            <a:ext cx="3657600" cy="219456"/>
          </a:xfrm>
          <a:prstGeom prst="rect">
            <a:avLst/>
          </a:prstGeom>
          <a:noFill/>
          <a:ln/>
        </p:spPr>
        <p:txBody>
          <a:bodyPr wrap="square" lIns="0" tIns="0" rIns="0" bIns="0" rtlCol="0" anchor="t"/>
          <a:lstStyle/>
          <a:p>
            <a:pPr indent="0" marL="0">
              <a:buNone/>
            </a:pPr>
            <a:r>
              <a:rPr lang="en-US" sz="1000" b="1" spc="300" kern="0" dirty="0">
                <a:solidFill>
                  <a:srgbClr val="FF0068"/>
                </a:solidFill>
              </a:rPr>
              <a:t>PRIMARY ASK</a:t>
            </a:r>
            <a:endParaRPr lang="en-US" sz="1000" dirty="0"/>
          </a:p>
        </p:txBody>
      </p:sp>
      <p:sp>
        <p:nvSpPr>
          <p:cNvPr id="5" name="Text 3"/>
          <p:cNvSpPr txBox="1"/>
          <p:nvPr/>
        </p:nvSpPr>
        <p:spPr>
          <a:xfrm>
            <a:off x="777240" y="1828800"/>
            <a:ext cx="7498080" cy="640080"/>
          </a:xfrm>
          <a:prstGeom prst="rect">
            <a:avLst/>
          </a:prstGeom>
          <a:noFill/>
          <a:ln/>
        </p:spPr>
        <p:txBody>
          <a:bodyPr wrap="square" lIns="0" tIns="0" rIns="0" bIns="0" rtlCol="0" anchor="ctr"/>
          <a:lstStyle/>
          <a:p>
            <a:pPr indent="0" marL="0">
              <a:buNone/>
            </a:pPr>
            <a:r>
              <a:rPr lang="en-US" sz="2100" b="1" dirty="0">
                <a:solidFill>
                  <a:srgbClr val="FFFFFF"/>
                </a:solidFill>
              </a:rPr>
              <a:t>Replace Certain with conference and session management on Salesforce</a:t>
            </a:r>
            <a:endParaRPr lang="en-US" sz="2100" dirty="0"/>
          </a:p>
        </p:txBody>
      </p:sp>
      <p:sp>
        <p:nvSpPr>
          <p:cNvPr id="6" name="Text 4"/>
          <p:cNvSpPr txBox="1"/>
          <p:nvPr/>
        </p:nvSpPr>
        <p:spPr>
          <a:xfrm>
            <a:off x="8321040" y="1627632"/>
            <a:ext cx="3154680" cy="868680"/>
          </a:xfrm>
          <a:prstGeom prst="rect">
            <a:avLst/>
          </a:prstGeom>
          <a:noFill/>
          <a:ln/>
        </p:spPr>
        <p:txBody>
          <a:bodyPr wrap="square" lIns="0" tIns="0" rIns="0" bIns="0" rtlCol="0" anchor="ctr"/>
          <a:lstStyle/>
          <a:p>
            <a:pPr indent="0" marL="0">
              <a:buNone/>
            </a:pPr>
            <a:r>
              <a:rPr lang="en-US" sz="1150" dirty="0">
                <a:solidFill>
                  <a:srgbClr val="D9D9D9"/>
                </a:solidFill>
              </a:rPr>
              <a:t>1 to 2 multi-day conferences a year, with session management, for providers, caregivers and consumers. Authorize.net today, moving to Chase.</a:t>
            </a:r>
            <a:endParaRPr lang="en-US" sz="1150" dirty="0"/>
          </a:p>
        </p:txBody>
      </p:sp>
      <p:sp>
        <p:nvSpPr>
          <p:cNvPr id="7" name="Text 5"/>
          <p:cNvSpPr txBox="1"/>
          <p:nvPr/>
        </p:nvSpPr>
        <p:spPr>
          <a:xfrm>
            <a:off x="502920" y="2816352"/>
            <a:ext cx="11185855" cy="292608"/>
          </a:xfrm>
          <a:prstGeom prst="rect">
            <a:avLst/>
          </a:prstGeom>
          <a:noFill/>
          <a:ln/>
        </p:spPr>
        <p:txBody>
          <a:bodyPr wrap="square" lIns="0" tIns="0" rIns="0" bIns="0" rtlCol="0" anchor="t"/>
          <a:lstStyle/>
          <a:p>
            <a:pPr indent="0" marL="0">
              <a:buNone/>
            </a:pPr>
            <a:r>
              <a:rPr lang="en-US" sz="1400" b="1" dirty="0">
                <a:solidFill>
                  <a:schemeClr val="tx1"/>
                </a:solidFill>
              </a:rPr>
              <a:t>Classes and events stay as they are. Conferences are added to the same solution in eight weeks.</a:t>
            </a:r>
            <a:endParaRPr lang="en-US" sz="1400" dirty="0"/>
          </a:p>
        </p:txBody>
      </p:sp>
      <p:sp>
        <p:nvSpPr>
          <p:cNvPr id="8" name="Text 6"/>
          <p:cNvSpPr txBox="1"/>
          <p:nvPr/>
        </p:nvSpPr>
        <p:spPr>
          <a:xfrm>
            <a:off x="576072" y="3200400"/>
            <a:ext cx="2093976" cy="384048"/>
          </a:xfrm>
          <a:prstGeom prst="rect">
            <a:avLst/>
          </a:prstGeom>
          <a:noFill/>
          <a:ln/>
        </p:spPr>
        <p:txBody>
          <a:bodyPr wrap="square" lIns="0" tIns="0" rIns="0" bIns="0" rtlCol="0" anchor="b"/>
          <a:lstStyle/>
          <a:p>
            <a:pPr indent="0" marL="0">
              <a:buNone/>
            </a:pPr>
            <a:r>
              <a:rPr lang="en-US" sz="1400" b="1" dirty="0">
                <a:solidFill>
                  <a:schemeClr val="tx1"/>
                </a:solidFill>
              </a:rPr>
              <a:t>Area</a:t>
            </a:r>
            <a:endParaRPr lang="en-US" sz="1400" dirty="0"/>
          </a:p>
        </p:txBody>
      </p:sp>
      <p:sp>
        <p:nvSpPr>
          <p:cNvPr id="9" name="Text 7"/>
          <p:cNvSpPr txBox="1"/>
          <p:nvPr/>
        </p:nvSpPr>
        <p:spPr>
          <a:xfrm>
            <a:off x="2816352" y="3200400"/>
            <a:ext cx="4608576" cy="384048"/>
          </a:xfrm>
          <a:prstGeom prst="rect">
            <a:avLst/>
          </a:prstGeom>
          <a:noFill/>
          <a:ln/>
        </p:spPr>
        <p:txBody>
          <a:bodyPr wrap="square" lIns="0" tIns="0" rIns="0" bIns="0" rtlCol="0" anchor="b"/>
          <a:lstStyle/>
          <a:p>
            <a:pPr indent="0" marL="0">
              <a:buNone/>
            </a:pPr>
            <a:r>
              <a:rPr lang="en-US" sz="1400" b="1" dirty="0">
                <a:solidFill>
                  <a:schemeClr val="tx1"/>
                </a:solidFill>
              </a:rPr>
              <a:t>Today</a:t>
            </a:r>
            <a:endParaRPr lang="en-US" sz="1400" dirty="0"/>
          </a:p>
        </p:txBody>
      </p:sp>
      <p:sp>
        <p:nvSpPr>
          <p:cNvPr id="10" name="Text 8"/>
          <p:cNvSpPr txBox="1"/>
          <p:nvPr/>
        </p:nvSpPr>
        <p:spPr>
          <a:xfrm>
            <a:off x="7571232" y="3200400"/>
            <a:ext cx="4041648" cy="384048"/>
          </a:xfrm>
          <a:prstGeom prst="rect">
            <a:avLst/>
          </a:prstGeom>
          <a:noFill/>
          <a:ln/>
        </p:spPr>
        <p:txBody>
          <a:bodyPr wrap="square" lIns="0" tIns="0" rIns="0" bIns="0" rtlCol="0" anchor="b"/>
          <a:lstStyle/>
          <a:p>
            <a:pPr indent="0" marL="0">
              <a:buNone/>
            </a:pPr>
            <a:r>
              <a:rPr lang="en-US" sz="1400" b="1" dirty="0">
                <a:solidFill>
                  <a:schemeClr val="tx1"/>
                </a:solidFill>
              </a:rPr>
              <a:t>Where we take it</a:t>
            </a:r>
            <a:endParaRPr lang="en-US" sz="1400" dirty="0"/>
          </a:p>
        </p:txBody>
      </p:sp>
      <p:sp>
        <p:nvSpPr>
          <p:cNvPr id="11" name="Shape 9"/>
          <p:cNvSpPr/>
          <p:nvPr/>
        </p:nvSpPr>
        <p:spPr>
          <a:xfrm>
            <a:off x="502920" y="3657600"/>
            <a:ext cx="11183112" cy="0"/>
          </a:xfrm>
          <a:prstGeom prst="line">
            <a:avLst/>
          </a:prstGeom>
          <a:noFill/>
          <a:ln w="19050">
            <a:solidFill>
              <a:schemeClr val="tx1"/>
            </a:solidFill>
            <a:prstDash val="solid"/>
          </a:ln>
        </p:spPr>
      </p:sp>
      <p:sp>
        <p:nvSpPr>
          <p:cNvPr id="12" name="Text 10"/>
          <p:cNvSpPr txBox="1"/>
          <p:nvPr/>
        </p:nvSpPr>
        <p:spPr>
          <a:xfrm>
            <a:off x="576072" y="3730752"/>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Conferences</a:t>
            </a:r>
            <a:endParaRPr lang="en-US" sz="1250" dirty="0"/>
          </a:p>
        </p:txBody>
      </p:sp>
      <p:sp>
        <p:nvSpPr>
          <p:cNvPr id="13" name="Text 11"/>
          <p:cNvSpPr txBox="1"/>
          <p:nvPr/>
        </p:nvSpPr>
        <p:spPr>
          <a:xfrm>
            <a:off x="2816352" y="3730752"/>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for multi-day events; Authorize.net payments</a:t>
            </a:r>
            <a:endParaRPr lang="en-US" sz="1250" dirty="0"/>
          </a:p>
        </p:txBody>
      </p:sp>
      <p:sp>
        <p:nvSpPr>
          <p:cNvPr id="14" name="Text 12"/>
          <p:cNvSpPr txBox="1"/>
          <p:nvPr/>
        </p:nvSpPr>
        <p:spPr>
          <a:xfrm>
            <a:off x="7571232" y="3730752"/>
            <a:ext cx="4041648" cy="457200"/>
          </a:xfrm>
          <a:prstGeom prst="rect">
            <a:avLst/>
          </a:prstGeom>
          <a:noFill/>
          <a:ln/>
        </p:spPr>
        <p:txBody>
          <a:bodyPr wrap="square" lIns="0" tIns="0" rIns="0" bIns="0" rtlCol="0" anchor="ctr"/>
          <a:lstStyle/>
          <a:p>
            <a:pPr indent="0" marL="0">
              <a:buNone/>
            </a:pPr>
            <a:r>
              <a:rPr lang="en-US" sz="1250" dirty="0">
                <a:solidFill>
                  <a:srgbClr val="4D4D4D"/>
                </a:solidFill>
              </a:rPr>
              <a:t>Conference and session setup in today’s event solution, paid through Chase</a:t>
            </a:r>
            <a:endParaRPr lang="en-US" sz="1250" dirty="0"/>
          </a:p>
        </p:txBody>
      </p:sp>
      <p:sp>
        <p:nvSpPr>
          <p:cNvPr id="15" name="Shape 13"/>
          <p:cNvSpPr/>
          <p:nvPr/>
        </p:nvSpPr>
        <p:spPr>
          <a:xfrm>
            <a:off x="502920" y="4224528"/>
            <a:ext cx="11183112" cy="0"/>
          </a:xfrm>
          <a:prstGeom prst="line">
            <a:avLst/>
          </a:prstGeom>
          <a:noFill/>
          <a:ln w="9525">
            <a:solidFill>
              <a:srgbClr val="8C8C8C"/>
            </a:solidFill>
            <a:prstDash val="sysDot"/>
          </a:ln>
        </p:spPr>
      </p:sp>
      <p:sp>
        <p:nvSpPr>
          <p:cNvPr id="16" name="Text 14"/>
          <p:cNvSpPr txBox="1"/>
          <p:nvPr/>
        </p:nvSpPr>
        <p:spPr>
          <a:xfrm>
            <a:off x="576072" y="4297680"/>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Classes and events</a:t>
            </a:r>
            <a:endParaRPr lang="en-US" sz="1250" dirty="0"/>
          </a:p>
        </p:txBody>
      </p:sp>
      <p:sp>
        <p:nvSpPr>
          <p:cNvPr id="17" name="Text 15"/>
          <p:cNvSpPr txBox="1"/>
          <p:nvPr/>
        </p:nvSpPr>
        <p:spPr>
          <a:xfrm>
            <a:off x="2816352" y="4297680"/>
            <a:ext cx="4608576" cy="457200"/>
          </a:xfrm>
          <a:prstGeom prst="rect">
            <a:avLst/>
          </a:prstGeom>
          <a:noFill/>
          <a:ln/>
        </p:spPr>
        <p:txBody>
          <a:bodyPr wrap="square" lIns="0" tIns="0" rIns="0" bIns="0" rtlCol="0" anchor="ctr"/>
          <a:lstStyle/>
          <a:p>
            <a:pPr indent="0" marL="0">
              <a:buNone/>
            </a:pPr>
            <a:r>
              <a:rPr lang="en-US" sz="1250" dirty="0">
                <a:solidFill>
                  <a:srgbClr val="4D4D4D"/>
                </a:solidFill>
              </a:rPr>
              <a:t>Sitecore listings open a home-built Experience Cloud site; Chase payments and refunds</a:t>
            </a:r>
            <a:endParaRPr lang="en-US" sz="1250" dirty="0"/>
          </a:p>
        </p:txBody>
      </p:sp>
      <p:sp>
        <p:nvSpPr>
          <p:cNvPr id="18" name="Text 16"/>
          <p:cNvSpPr txBox="1"/>
          <p:nvPr/>
        </p:nvSpPr>
        <p:spPr>
          <a:xfrm>
            <a:off x="7571232" y="4297680"/>
            <a:ext cx="4041648" cy="457200"/>
          </a:xfrm>
          <a:prstGeom prst="rect">
            <a:avLst/>
          </a:prstGeom>
          <a:noFill/>
          <a:ln/>
        </p:spPr>
        <p:txBody>
          <a:bodyPr wrap="square" lIns="0" tIns="0" rIns="0" bIns="0" rtlCol="0" anchor="ctr"/>
          <a:lstStyle/>
          <a:p>
            <a:pPr indent="0" marL="0">
              <a:buNone/>
            </a:pPr>
            <a:r>
              <a:rPr lang="en-US" sz="1250" dirty="0">
                <a:solidFill>
                  <a:srgbClr val="4D4D4D"/>
                </a:solidFill>
              </a:rPr>
              <a:t>Keep as they are; conferences use the same site, payments and refunds</a:t>
            </a:r>
            <a:endParaRPr lang="en-US" sz="1250" dirty="0"/>
          </a:p>
        </p:txBody>
      </p:sp>
      <p:sp>
        <p:nvSpPr>
          <p:cNvPr id="19" name="Shape 17"/>
          <p:cNvSpPr/>
          <p:nvPr/>
        </p:nvSpPr>
        <p:spPr>
          <a:xfrm>
            <a:off x="502920" y="4791456"/>
            <a:ext cx="11183112" cy="0"/>
          </a:xfrm>
          <a:prstGeom prst="line">
            <a:avLst/>
          </a:prstGeom>
          <a:noFill/>
          <a:ln w="9525">
            <a:solidFill>
              <a:srgbClr val="8C8C8C"/>
            </a:solidFill>
            <a:prstDash val="sysDot"/>
          </a:ln>
        </p:spPr>
      </p:sp>
      <p:sp>
        <p:nvSpPr>
          <p:cNvPr id="20" name="Text 18"/>
          <p:cNvSpPr txBox="1"/>
          <p:nvPr/>
        </p:nvSpPr>
        <p:spPr>
          <a:xfrm>
            <a:off x="576072" y="4864608"/>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Online sessions</a:t>
            </a:r>
            <a:endParaRPr lang="en-US" sz="1250" dirty="0"/>
          </a:p>
        </p:txBody>
      </p:sp>
      <p:sp>
        <p:nvSpPr>
          <p:cNvPr id="21" name="Text 19"/>
          <p:cNvSpPr txBox="1"/>
          <p:nvPr/>
        </p:nvSpPr>
        <p:spPr>
          <a:xfrm>
            <a:off x="2816352" y="4864608"/>
            <a:ext cx="4608576" cy="457200"/>
          </a:xfrm>
          <a:prstGeom prst="rect">
            <a:avLst/>
          </a:prstGeom>
          <a:noFill/>
          <a:ln/>
        </p:spPr>
        <p:txBody>
          <a:bodyPr wrap="square" lIns="0" tIns="0" rIns="0" bIns="0" rtlCol="0" anchor="ctr"/>
          <a:lstStyle/>
          <a:p>
            <a:pPr indent="0" marL="0">
              <a:buNone/>
            </a:pPr>
            <a:r>
              <a:rPr lang="en-US" sz="1250" dirty="0">
                <a:solidFill>
                  <a:srgbClr val="4D4D4D"/>
                </a:solidFill>
              </a:rPr>
              <a:t>Certain video link, limited by IP restrictions</a:t>
            </a:r>
            <a:endParaRPr lang="en-US" sz="1250" dirty="0"/>
          </a:p>
        </p:txBody>
      </p:sp>
      <p:sp>
        <p:nvSpPr>
          <p:cNvPr id="22" name="Text 20"/>
          <p:cNvSpPr txBox="1"/>
          <p:nvPr/>
        </p:nvSpPr>
        <p:spPr>
          <a:xfrm>
            <a:off x="7571232" y="4864608"/>
            <a:ext cx="4041648" cy="457200"/>
          </a:xfrm>
          <a:prstGeom prst="rect">
            <a:avLst/>
          </a:prstGeom>
          <a:noFill/>
          <a:ln/>
        </p:spPr>
        <p:txBody>
          <a:bodyPr wrap="square" lIns="0" tIns="0" rIns="0" bIns="0" rtlCol="0" anchor="ctr"/>
          <a:lstStyle/>
          <a:p>
            <a:pPr indent="0" marL="0">
              <a:buNone/>
            </a:pPr>
            <a:r>
              <a:rPr lang="en-US" sz="1250" dirty="0">
                <a:solidFill>
                  <a:srgbClr val="4D4D4D"/>
                </a:solidFill>
              </a:rPr>
              <a:t>Personal Zoom or Teams links that work from anywhere</a:t>
            </a:r>
            <a:endParaRPr lang="en-US" sz="1250" dirty="0"/>
          </a:p>
        </p:txBody>
      </p:sp>
      <p:sp>
        <p:nvSpPr>
          <p:cNvPr id="23" name="Shape 21"/>
          <p:cNvSpPr/>
          <p:nvPr/>
        </p:nvSpPr>
        <p:spPr>
          <a:xfrm>
            <a:off x="502920" y="5358384"/>
            <a:ext cx="11183112" cy="0"/>
          </a:xfrm>
          <a:prstGeom prst="line">
            <a:avLst/>
          </a:prstGeom>
          <a:noFill/>
          <a:ln w="9525">
            <a:solidFill>
              <a:srgbClr val="8C8C8C"/>
            </a:solidFill>
            <a:prstDash val="sysDot"/>
          </a:ln>
        </p:spPr>
      </p:sp>
      <p:sp>
        <p:nvSpPr>
          <p:cNvPr id="24" name="Text 22"/>
          <p:cNvSpPr txBox="1"/>
          <p:nvPr/>
        </p:nvSpPr>
        <p:spPr>
          <a:xfrm>
            <a:off x="576072" y="5431536"/>
            <a:ext cx="2093976" cy="457200"/>
          </a:xfrm>
          <a:prstGeom prst="rect">
            <a:avLst/>
          </a:prstGeom>
          <a:noFill/>
          <a:ln/>
        </p:spPr>
        <p:txBody>
          <a:bodyPr wrap="square" lIns="0" tIns="0" rIns="0" bIns="0" rtlCol="0" anchor="ctr"/>
          <a:lstStyle/>
          <a:p>
            <a:pPr indent="0" marL="0">
              <a:buNone/>
            </a:pPr>
            <a:r>
              <a:rPr lang="en-US" sz="1250" b="1" dirty="0">
                <a:solidFill>
                  <a:schemeClr val="tx1"/>
                </a:solidFill>
              </a:rPr>
              <a:t>Platform</a:t>
            </a:r>
            <a:endParaRPr lang="en-US" sz="1250" dirty="0"/>
          </a:p>
        </p:txBody>
      </p:sp>
      <p:sp>
        <p:nvSpPr>
          <p:cNvPr id="25" name="Text 23"/>
          <p:cNvSpPr txBox="1"/>
          <p:nvPr/>
        </p:nvSpPr>
        <p:spPr>
          <a:xfrm>
            <a:off x="2816352" y="5431536"/>
            <a:ext cx="4608576" cy="457200"/>
          </a:xfrm>
          <a:prstGeom prst="rect">
            <a:avLst/>
          </a:prstGeom>
          <a:noFill/>
          <a:ln/>
        </p:spPr>
        <p:txBody>
          <a:bodyPr wrap="square" lIns="0" tIns="0" rIns="0" bIns="0" rtlCol="0" anchor="ctr"/>
          <a:lstStyle/>
          <a:p>
            <a:pPr indent="0" marL="0">
              <a:buNone/>
            </a:pPr>
            <a:r>
              <a:rPr lang="en-US" sz="1250" dirty="0">
                <a:solidFill>
                  <a:srgbClr val="4D4D4D"/>
                </a:solidFill>
              </a:rPr>
              <a:t>Health Cloud and Marketing Cloud; Epic not needed</a:t>
            </a:r>
            <a:endParaRPr lang="en-US" sz="1250" dirty="0"/>
          </a:p>
        </p:txBody>
      </p:sp>
      <p:sp>
        <p:nvSpPr>
          <p:cNvPr id="26" name="Text 24"/>
          <p:cNvSpPr txBox="1"/>
          <p:nvPr/>
        </p:nvSpPr>
        <p:spPr>
          <a:xfrm>
            <a:off x="7571232" y="5431536"/>
            <a:ext cx="4041648" cy="457200"/>
          </a:xfrm>
          <a:prstGeom prst="rect">
            <a:avLst/>
          </a:prstGeom>
          <a:noFill/>
          <a:ln/>
        </p:spPr>
        <p:txBody>
          <a:bodyPr wrap="square" lIns="0" tIns="0" rIns="0" bIns="0" rtlCol="0" anchor="ctr"/>
          <a:lstStyle/>
          <a:p>
            <a:pPr indent="0" marL="0">
              <a:buNone/>
            </a:pPr>
            <a:r>
              <a:rPr lang="en-US" sz="1250" dirty="0">
                <a:solidFill>
                  <a:srgbClr val="4D4D4D"/>
                </a:solidFill>
              </a:rPr>
              <a:t>Built on what Memorial Hermann already owns</a:t>
            </a:r>
            <a:endParaRPr lang="en-US" sz="1250" dirty="0"/>
          </a:p>
        </p:txBody>
      </p:sp>
      <p:sp>
        <p:nvSpPr>
          <p:cNvPr id="27" name="Shape 25"/>
          <p:cNvSpPr/>
          <p:nvPr/>
        </p:nvSpPr>
        <p:spPr>
          <a:xfrm>
            <a:off x="502920" y="5925312"/>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Build on what already works</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No rebuild and no data migration. Add conferences to today’s event solution and retire Certain.</a:t>
            </a:r>
            <a:endParaRPr lang="en-US" sz="1400" dirty="0"/>
          </a:p>
        </p:txBody>
      </p:sp>
      <p:sp>
        <p:nvSpPr>
          <p:cNvPr id="4" name="kir-KEEP"/>
          <p:cNvSpPr/>
          <p:nvPr/>
        </p:nvSpPr>
        <p:spPr>
          <a:xfrm>
            <a:off x="502920" y="1783080"/>
            <a:ext cx="2659304" cy="3794760"/>
          </a:xfrm>
          <a:prstGeom prst="roundRect">
            <a:avLst>
              <a:gd name="adj" fmla="val 4126"/>
            </a:avLst>
          </a:prstGeom>
          <a:solidFill>
            <a:srgbClr val="F2F2F2"/>
          </a:solidFill>
          <a:ln w="22225">
            <a:solidFill>
              <a:srgbClr val="00A9C0"/>
            </a:solidFill>
            <a:prstDash val="solid"/>
          </a:ln>
        </p:spPr>
      </p:sp>
      <p:sp>
        <p:nvSpPr>
          <p:cNvPr id="5" name="Text 3"/>
          <p:cNvSpPr txBox="1"/>
          <p:nvPr/>
        </p:nvSpPr>
        <p:spPr>
          <a:xfrm>
            <a:off x="704088" y="1984248"/>
            <a:ext cx="2256968" cy="292608"/>
          </a:xfrm>
          <a:prstGeom prst="rect">
            <a:avLst/>
          </a:prstGeom>
          <a:noFill/>
          <a:ln/>
        </p:spPr>
        <p:txBody>
          <a:bodyPr wrap="square" lIns="0" tIns="0" rIns="0" bIns="0" rtlCol="0" anchor="t"/>
          <a:lstStyle/>
          <a:p>
            <a:pPr indent="0" marL="0">
              <a:buNone/>
            </a:pPr>
            <a:r>
              <a:rPr lang="en-US" sz="1500" b="1" spc="300" kern="0" dirty="0">
                <a:solidFill>
                  <a:srgbClr val="007C8C"/>
                </a:solidFill>
              </a:rPr>
              <a:t>KEEP</a:t>
            </a:r>
            <a:endParaRPr lang="en-US" sz="1500" dirty="0"/>
          </a:p>
        </p:txBody>
      </p:sp>
      <p:sp>
        <p:nvSpPr>
          <p:cNvPr id="6" name="Text 4"/>
          <p:cNvSpPr txBox="1"/>
          <p:nvPr/>
        </p:nvSpPr>
        <p:spPr>
          <a:xfrm>
            <a:off x="704088"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Sitecore listings</a:t>
            </a:r>
            <a:endParaRPr lang="en-US" sz="1300" dirty="0"/>
          </a:p>
          <a:p>
            <a:pPr marL="342900" indent="-342900">
              <a:spcAft>
                <a:spcPts val="600"/>
              </a:spcAft>
              <a:buSzPct val="100000"/>
              <a:buChar char="•"/>
            </a:pPr>
            <a:r>
              <a:rPr lang="en-US" sz="1300" dirty="0">
                <a:solidFill>
                  <a:schemeClr val="tx1"/>
                </a:solidFill>
              </a:rPr>
              <a:t>Experience Cloud registration site</a:t>
            </a:r>
            <a:endParaRPr lang="en-US" sz="1300" dirty="0"/>
          </a:p>
          <a:p>
            <a:pPr marL="342900" indent="-342900">
              <a:spcAft>
                <a:spcPts val="600"/>
              </a:spcAft>
              <a:buSzPct val="100000"/>
              <a:buChar char="•"/>
            </a:pPr>
            <a:r>
              <a:rPr lang="en-US" sz="1300" dirty="0">
                <a:solidFill>
                  <a:schemeClr val="tx1"/>
                </a:solidFill>
              </a:rPr>
              <a:t>Chase payments, now for conferences too</a:t>
            </a:r>
            <a:endParaRPr lang="en-US" sz="1300" dirty="0"/>
          </a:p>
          <a:p>
            <a:pPr marL="342900" indent="-342900">
              <a:spcAft>
                <a:spcPts val="600"/>
              </a:spcAft>
              <a:buSzPct val="100000"/>
              <a:buChar char="•"/>
            </a:pPr>
            <a:r>
              <a:rPr lang="en-US" sz="1300" dirty="0">
                <a:solidFill>
                  <a:schemeClr val="tx1"/>
                </a:solidFill>
              </a:rPr>
              <a:t>Cancellation and refund workflows</a:t>
            </a:r>
            <a:endParaRPr lang="en-US" sz="1300" dirty="0"/>
          </a:p>
          <a:p>
            <a:pPr marL="342900" indent="-342900">
              <a:spcAft>
                <a:spcPts val="600"/>
              </a:spcAft>
              <a:buSzPct val="100000"/>
              <a:buChar char="•"/>
            </a:pPr>
            <a:r>
              <a:rPr lang="en-US" sz="1300" dirty="0">
                <a:solidFill>
                  <a:schemeClr val="tx1"/>
                </a:solidFill>
              </a:rPr>
              <a:t>Health Cloud and Marketing Cloud</a:t>
            </a:r>
            <a:endParaRPr lang="en-US" sz="1300" dirty="0"/>
          </a:p>
        </p:txBody>
      </p:sp>
      <p:sp>
        <p:nvSpPr>
          <p:cNvPr id="7" name="kir-ADD"/>
          <p:cNvSpPr/>
          <p:nvPr/>
        </p:nvSpPr>
        <p:spPr>
          <a:xfrm>
            <a:off x="3345104" y="1783080"/>
            <a:ext cx="2659304" cy="3794760"/>
          </a:xfrm>
          <a:prstGeom prst="roundRect">
            <a:avLst>
              <a:gd name="adj" fmla="val 4126"/>
            </a:avLst>
          </a:prstGeom>
          <a:solidFill>
            <a:srgbClr val="F2F2F2"/>
          </a:solidFill>
          <a:ln w="22225">
            <a:solidFill>
              <a:srgbClr val="D9B200"/>
            </a:solidFill>
            <a:prstDash val="solid"/>
          </a:ln>
        </p:spPr>
      </p:sp>
      <p:sp>
        <p:nvSpPr>
          <p:cNvPr id="8" name="Text 6"/>
          <p:cNvSpPr txBox="1"/>
          <p:nvPr/>
        </p:nvSpPr>
        <p:spPr>
          <a:xfrm>
            <a:off x="3546272" y="1984248"/>
            <a:ext cx="2256968" cy="292608"/>
          </a:xfrm>
          <a:prstGeom prst="rect">
            <a:avLst/>
          </a:prstGeom>
          <a:noFill/>
          <a:ln/>
        </p:spPr>
        <p:txBody>
          <a:bodyPr wrap="square" lIns="0" tIns="0" rIns="0" bIns="0" rtlCol="0" anchor="t"/>
          <a:lstStyle/>
          <a:p>
            <a:pPr indent="0" marL="0">
              <a:buNone/>
            </a:pPr>
            <a:r>
              <a:rPr lang="en-US" sz="1500" b="1" spc="300" kern="0" dirty="0">
                <a:solidFill>
                  <a:srgbClr val="7A6100"/>
                </a:solidFill>
              </a:rPr>
              <a:t>ADD</a:t>
            </a:r>
            <a:endParaRPr lang="en-US" sz="1500" dirty="0"/>
          </a:p>
        </p:txBody>
      </p:sp>
      <p:sp>
        <p:nvSpPr>
          <p:cNvPr id="9" name="Text 7"/>
          <p:cNvSpPr txBox="1"/>
          <p:nvPr/>
        </p:nvSpPr>
        <p:spPr>
          <a:xfrm>
            <a:off x="3546272"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Conference and session setup</a:t>
            </a:r>
            <a:endParaRPr lang="en-US" sz="1300" dirty="0"/>
          </a:p>
          <a:p>
            <a:pPr marL="342900" indent="-342900">
              <a:spcAft>
                <a:spcPts val="600"/>
              </a:spcAft>
              <a:buSzPct val="100000"/>
              <a:buChar char="•"/>
            </a:pPr>
            <a:r>
              <a:rPr lang="en-US" sz="1300" dirty="0">
                <a:solidFill>
                  <a:schemeClr val="tx1"/>
                </a:solidFill>
              </a:rPr>
              <a:t>My Agenda for attendees</a:t>
            </a:r>
            <a:endParaRPr lang="en-US" sz="1300" dirty="0"/>
          </a:p>
          <a:p>
            <a:pPr marL="342900" indent="-342900">
              <a:spcAft>
                <a:spcPts val="600"/>
              </a:spcAft>
              <a:buSzPct val="100000"/>
              <a:buChar char="•"/>
            </a:pPr>
            <a:r>
              <a:rPr lang="en-US" sz="1300" dirty="0">
                <a:solidFill>
                  <a:schemeClr val="tx1"/>
                </a:solidFill>
              </a:rPr>
              <a:t>Session seat limits and waitlists</a:t>
            </a:r>
            <a:endParaRPr lang="en-US" sz="1300" dirty="0"/>
          </a:p>
          <a:p>
            <a:pPr marL="342900" indent="-342900">
              <a:spcAft>
                <a:spcPts val="600"/>
              </a:spcAft>
              <a:buSzPct val="100000"/>
              <a:buChar char="•"/>
            </a:pPr>
            <a:r>
              <a:rPr lang="en-US" sz="1300" dirty="0">
                <a:solidFill>
                  <a:schemeClr val="tx1"/>
                </a:solidFill>
              </a:rPr>
              <a:t>Zoom or Teams join links</a:t>
            </a:r>
            <a:endParaRPr lang="en-US" sz="1300" dirty="0"/>
          </a:p>
          <a:p>
            <a:pPr marL="342900" indent="-342900">
              <a:spcAft>
                <a:spcPts val="600"/>
              </a:spcAft>
              <a:buSzPct val="100000"/>
              <a:buChar char="•"/>
            </a:pPr>
            <a:r>
              <a:rPr lang="en-US" sz="1300" dirty="0">
                <a:solidFill>
                  <a:schemeClr val="tx1"/>
                </a:solidFill>
              </a:rPr>
              <a:t>Badges, check-in and reporting</a:t>
            </a:r>
            <a:endParaRPr lang="en-US" sz="1300" dirty="0"/>
          </a:p>
        </p:txBody>
      </p:sp>
      <p:sp>
        <p:nvSpPr>
          <p:cNvPr id="10" name="kir-REPLACE"/>
          <p:cNvSpPr/>
          <p:nvPr/>
        </p:nvSpPr>
        <p:spPr>
          <a:xfrm>
            <a:off x="6187288" y="1783080"/>
            <a:ext cx="2659304" cy="3794760"/>
          </a:xfrm>
          <a:prstGeom prst="roundRect">
            <a:avLst>
              <a:gd name="adj" fmla="val 4126"/>
            </a:avLst>
          </a:prstGeom>
          <a:solidFill>
            <a:srgbClr val="000000"/>
          </a:solidFill>
          <a:ln w="22225">
            <a:solidFill>
              <a:srgbClr val="FF0068"/>
            </a:solidFill>
            <a:prstDash val="solid"/>
          </a:ln>
        </p:spPr>
      </p:sp>
      <p:sp>
        <p:nvSpPr>
          <p:cNvPr id="11" name="Text 9"/>
          <p:cNvSpPr txBox="1"/>
          <p:nvPr/>
        </p:nvSpPr>
        <p:spPr>
          <a:xfrm>
            <a:off x="6388456" y="1984248"/>
            <a:ext cx="2256968" cy="292608"/>
          </a:xfrm>
          <a:prstGeom prst="rect">
            <a:avLst/>
          </a:prstGeom>
          <a:noFill/>
          <a:ln/>
        </p:spPr>
        <p:txBody>
          <a:bodyPr wrap="square" lIns="0" tIns="0" rIns="0" bIns="0" rtlCol="0" anchor="t"/>
          <a:lstStyle/>
          <a:p>
            <a:pPr indent="0" marL="0">
              <a:buNone/>
            </a:pPr>
            <a:r>
              <a:rPr lang="en-US" sz="1500" b="1" spc="300" kern="0" dirty="0">
                <a:solidFill>
                  <a:srgbClr val="FF0068"/>
                </a:solidFill>
              </a:rPr>
              <a:t>REPLACE</a:t>
            </a:r>
            <a:endParaRPr lang="en-US" sz="1500" dirty="0"/>
          </a:p>
        </p:txBody>
      </p:sp>
      <p:sp>
        <p:nvSpPr>
          <p:cNvPr id="12" name="Text 10"/>
          <p:cNvSpPr txBox="1"/>
          <p:nvPr/>
        </p:nvSpPr>
        <p:spPr>
          <a:xfrm>
            <a:off x="6388456"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FFFFFF"/>
                </a:solidFill>
              </a:rPr>
              <a:t>Certain, with conference and session management in Salesforce</a:t>
            </a:r>
            <a:endParaRPr lang="en-US" sz="1300" dirty="0"/>
          </a:p>
          <a:p>
            <a:pPr marL="342900" indent="-342900">
              <a:spcAft>
                <a:spcPts val="600"/>
              </a:spcAft>
              <a:buSzPct val="100000"/>
              <a:buChar char="•"/>
            </a:pPr>
            <a:r>
              <a:rPr lang="en-US" sz="1300" dirty="0">
                <a:solidFill>
                  <a:srgbClr val="FFFFFF"/>
                </a:solidFill>
              </a:rPr>
              <a:t>Authorize.net, by reusing today’s Chase checkout</a:t>
            </a:r>
            <a:endParaRPr lang="en-US" sz="1300" dirty="0"/>
          </a:p>
          <a:p>
            <a:pPr marL="342900" indent="-342900">
              <a:spcAft>
                <a:spcPts val="600"/>
              </a:spcAft>
              <a:buSzPct val="100000"/>
              <a:buChar char="•"/>
            </a:pPr>
            <a:r>
              <a:rPr lang="en-US" sz="1300" dirty="0">
                <a:solidFill>
                  <a:srgbClr val="FFFFFF"/>
                </a:solidFill>
              </a:rPr>
              <a:t>Certain’s IP-restricted video link</a:t>
            </a:r>
            <a:endParaRPr lang="en-US" sz="1300" dirty="0"/>
          </a:p>
          <a:p>
            <a:pPr marL="342900" indent="-342900">
              <a:spcAft>
                <a:spcPts val="600"/>
              </a:spcAft>
              <a:buSzPct val="100000"/>
              <a:buChar char="•"/>
            </a:pPr>
            <a:r>
              <a:rPr lang="en-US" sz="1300" dirty="0">
                <a:solidFill>
                  <a:srgbClr val="FFFFFF"/>
                </a:solidFill>
              </a:rPr>
              <a:t>No data migration needed</a:t>
            </a:r>
            <a:endParaRPr lang="en-US" sz="1300" dirty="0"/>
          </a:p>
        </p:txBody>
      </p:sp>
      <p:sp>
        <p:nvSpPr>
          <p:cNvPr id="13" name="kir-LATER"/>
          <p:cNvSpPr/>
          <p:nvPr/>
        </p:nvSpPr>
        <p:spPr>
          <a:xfrm>
            <a:off x="9029471" y="1783080"/>
            <a:ext cx="2659304" cy="3794760"/>
          </a:xfrm>
          <a:prstGeom prst="roundRect">
            <a:avLst>
              <a:gd name="adj" fmla="val 4126"/>
            </a:avLst>
          </a:prstGeom>
          <a:solidFill>
            <a:srgbClr val="F2F2F2"/>
          </a:solidFill>
          <a:ln w="22225">
            <a:solidFill>
              <a:srgbClr val="8C8C96"/>
            </a:solidFill>
            <a:prstDash val="solid"/>
          </a:ln>
        </p:spPr>
      </p:sp>
      <p:sp>
        <p:nvSpPr>
          <p:cNvPr id="14" name="Text 12"/>
          <p:cNvSpPr txBox="1"/>
          <p:nvPr/>
        </p:nvSpPr>
        <p:spPr>
          <a:xfrm>
            <a:off x="9230639" y="1984248"/>
            <a:ext cx="2256968" cy="292608"/>
          </a:xfrm>
          <a:prstGeom prst="rect">
            <a:avLst/>
          </a:prstGeom>
          <a:noFill/>
          <a:ln/>
        </p:spPr>
        <p:txBody>
          <a:bodyPr wrap="square" lIns="0" tIns="0" rIns="0" bIns="0" rtlCol="0" anchor="t"/>
          <a:lstStyle/>
          <a:p>
            <a:pPr indent="0" marL="0">
              <a:buNone/>
            </a:pPr>
            <a:r>
              <a:rPr lang="en-US" sz="1500" b="1" spc="300" kern="0" dirty="0">
                <a:solidFill>
                  <a:srgbClr val="4D4D4D"/>
                </a:solidFill>
              </a:rPr>
              <a:t>LATER</a:t>
            </a:r>
            <a:endParaRPr lang="en-US" sz="1500" dirty="0"/>
          </a:p>
        </p:txBody>
      </p:sp>
      <p:sp>
        <p:nvSpPr>
          <p:cNvPr id="15" name="Text 13"/>
          <p:cNvSpPr txBox="1"/>
          <p:nvPr/>
        </p:nvSpPr>
        <p:spPr>
          <a:xfrm>
            <a:off x="9230639" y="2468880"/>
            <a:ext cx="2293544" cy="30175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Patient engagement initiatives (PEIs)</a:t>
            </a:r>
            <a:endParaRPr lang="en-US" sz="1300" dirty="0"/>
          </a:p>
          <a:p>
            <a:pPr marL="342900" indent="-342900">
              <a:spcAft>
                <a:spcPts val="600"/>
              </a:spcAft>
              <a:buSzPct val="100000"/>
              <a:buChar char="•"/>
            </a:pPr>
            <a:r>
              <a:rPr lang="en-US" sz="1300" dirty="0">
                <a:solidFill>
                  <a:schemeClr val="tx1"/>
                </a:solidFill>
              </a:rPr>
              <a:t>App adoption campaigns</a:t>
            </a:r>
            <a:endParaRPr lang="en-US" sz="1300" dirty="0"/>
          </a:p>
          <a:p>
            <a:pPr marL="342900" indent="-342900">
              <a:spcAft>
                <a:spcPts val="600"/>
              </a:spcAft>
              <a:buSzPct val="100000"/>
              <a:buChar char="•"/>
            </a:pPr>
            <a:r>
              <a:rPr lang="en-US" sz="1300" dirty="0">
                <a:solidFill>
                  <a:schemeClr val="tx1"/>
                </a:solidFill>
              </a:rPr>
              <a:t>Class improvements, if wanted</a:t>
            </a:r>
            <a:endParaRPr lang="en-US" sz="1300" dirty="0"/>
          </a:p>
          <a:p>
            <a:pPr marL="342900" indent="-342900">
              <a:spcAft>
                <a:spcPts val="600"/>
              </a:spcAft>
              <a:buSzPct val="100000"/>
              <a:buChar char="•"/>
            </a:pPr>
            <a:r>
              <a:rPr lang="en-US" sz="1300" dirty="0">
                <a:solidFill>
                  <a:schemeClr val="tx1"/>
                </a:solidFill>
              </a:rPr>
              <a:t>AI agents in a controlled harness</a:t>
            </a:r>
            <a:endParaRPr lang="en-US" sz="1300" dirty="0"/>
          </a:p>
        </p:txBody>
      </p:sp>
      <p:sp>
        <p:nvSpPr>
          <p:cNvPr id="16" name="Text 14"/>
          <p:cNvSpPr txBox="1"/>
          <p:nvPr/>
        </p:nvSpPr>
        <p:spPr>
          <a:xfrm>
            <a:off x="502920" y="5760720"/>
            <a:ext cx="11185855" cy="365760"/>
          </a:xfrm>
          <a:prstGeom prst="rect">
            <a:avLst/>
          </a:prstGeom>
          <a:noFill/>
          <a:ln/>
        </p:spPr>
        <p:txBody>
          <a:bodyPr wrap="square" lIns="0" tIns="0" rIns="0" bIns="0" rtlCol="0" anchor="t"/>
          <a:lstStyle/>
          <a:p>
            <a:pPr indent="0" marL="0">
              <a:buNone/>
            </a:pPr>
            <a:r>
              <a:rPr lang="en-US" sz="1300" i="1" dirty="0">
                <a:solidFill>
                  <a:srgbClr val="4D4D4D"/>
                </a:solidFill>
              </a:rPr>
              <a:t>Lowest-risk path: what works stays, the one tool you want gone goes, and conferences join the same data, payments and reporting.</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01  THE SOLUTION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Conferences added to the event solution you already run on Salesforce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Conferences inside your Salesforce org</a:t>
            </a:r>
            <a:endParaRPr lang="en-US" sz="3200" dirty="0"/>
          </a:p>
        </p:txBody>
      </p:sp>
      <p:sp>
        <p:nvSpPr>
          <p:cNvPr id="3" name="circle-1"/>
          <p:cNvSpPr/>
          <p:nvPr/>
        </p:nvSpPr>
        <p:spPr>
          <a:xfrm>
            <a:off x="502920" y="1691640"/>
            <a:ext cx="420624" cy="420624"/>
          </a:xfrm>
          <a:prstGeom prst="ellipse">
            <a:avLst/>
          </a:prstGeom>
          <a:ln w="15875">
            <a:solidFill>
              <a:schemeClr val="bg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50292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Register</a:t>
            </a:r>
            <a:endParaRPr lang="en-US" sz="2400" dirty="0"/>
          </a:p>
        </p:txBody>
      </p:sp>
      <p:sp>
        <p:nvSpPr>
          <p:cNvPr id="6" name="Text 4"/>
          <p:cNvSpPr txBox="1"/>
          <p:nvPr/>
        </p:nvSpPr>
        <p:spPr>
          <a:xfrm>
            <a:off x="502920" y="2724912"/>
            <a:ext cx="3291840" cy="320040"/>
          </a:xfrm>
          <a:prstGeom prst="rect">
            <a:avLst/>
          </a:prstGeom>
          <a:noFill/>
          <a:ln/>
        </p:spPr>
        <p:txBody>
          <a:bodyPr wrap="square" lIns="0" tIns="0" rIns="0" bIns="0" rtlCol="0" anchor="t"/>
          <a:lstStyle/>
          <a:p>
            <a:pPr indent="0" marL="0">
              <a:buNone/>
            </a:pPr>
            <a:r>
              <a:rPr lang="en-US" sz="1500" dirty="0">
                <a:solidFill>
                  <a:schemeClr val="accent1"/>
                </a:solidFill>
              </a:rPr>
              <a:t>Your existing website</a:t>
            </a:r>
            <a:endParaRPr lang="en-US" sz="1500" dirty="0"/>
          </a:p>
        </p:txBody>
      </p:sp>
      <p:sp>
        <p:nvSpPr>
          <p:cNvPr id="7" name="Text 5"/>
          <p:cNvSpPr txBox="1"/>
          <p:nvPr/>
        </p:nvSpPr>
        <p:spPr>
          <a:xfrm>
            <a:off x="50292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Sitecore listings and today’s Experience Cloud site</a:t>
            </a:r>
            <a:endParaRPr lang="en-US" sz="1400" dirty="0"/>
          </a:p>
          <a:p>
            <a:pPr marL="342900" indent="-342900">
              <a:spcAft>
                <a:spcPts val="600"/>
              </a:spcAft>
              <a:buSzPct val="100000"/>
              <a:buChar char="•"/>
            </a:pPr>
            <a:r>
              <a:rPr lang="en-US" sz="1400" dirty="0">
                <a:solidFill>
                  <a:srgbClr val="BFBFBF"/>
                </a:solidFill>
              </a:rPr>
              <a:t>Session picks and “My Agenda”</a:t>
            </a:r>
            <a:endParaRPr lang="en-US" sz="1400" dirty="0"/>
          </a:p>
          <a:p>
            <a:pPr marL="342900" indent="-342900">
              <a:spcAft>
                <a:spcPts val="600"/>
              </a:spcAft>
              <a:buSzPct val="100000"/>
              <a:buChar char="•"/>
            </a:pPr>
            <a:r>
              <a:rPr lang="en-US" sz="1400" dirty="0">
                <a:solidFill>
                  <a:srgbClr val="BFBFBF"/>
                </a:solidFill>
              </a:rPr>
              <a:t>Chase checkout and refunds</a:t>
            </a:r>
            <a:endParaRPr lang="en-US" sz="1400" dirty="0"/>
          </a:p>
        </p:txBody>
      </p:sp>
      <p:sp>
        <p:nvSpPr>
          <p:cNvPr id="8" name="Shape 6"/>
          <p:cNvSpPr/>
          <p:nvPr/>
        </p:nvSpPr>
        <p:spPr>
          <a:xfrm>
            <a:off x="3813048" y="1901952"/>
            <a:ext cx="411480" cy="0"/>
          </a:xfrm>
          <a:prstGeom prst="line">
            <a:avLst/>
          </a:prstGeom>
          <a:noFill/>
          <a:ln w="15875">
            <a:solidFill>
              <a:schemeClr val="bg1"/>
            </a:solidFill>
            <a:prstDash val="solid"/>
            <a:tailEnd type="triangle"/>
          </a:ln>
        </p:spPr>
      </p:sp>
      <p:sp>
        <p:nvSpPr>
          <p:cNvPr id="9" name="circle-2"/>
          <p:cNvSpPr/>
          <p:nvPr/>
        </p:nvSpPr>
        <p:spPr>
          <a:xfrm>
            <a:off x="4343400" y="1691640"/>
            <a:ext cx="420624" cy="420624"/>
          </a:xfrm>
          <a:prstGeom prst="ellipse">
            <a:avLst/>
          </a:prstGeom>
          <a:ln w="15875">
            <a:solidFill>
              <a:schemeClr val="bg1"/>
            </a:solidFill>
            <a:prstDash val="solid"/>
          </a:ln>
        </p:spPr>
      </p:sp>
      <p:sp>
        <p:nvSpPr>
          <p:cNvPr id="10" name="Text 8"/>
          <p:cNvSpPr txBox="1"/>
          <p:nvPr/>
        </p:nvSpPr>
        <p:spPr>
          <a:xfrm>
            <a:off x="43434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1" name="Text 9"/>
          <p:cNvSpPr txBox="1"/>
          <p:nvPr/>
        </p:nvSpPr>
        <p:spPr>
          <a:xfrm>
            <a:off x="434340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Manage</a:t>
            </a:r>
            <a:endParaRPr lang="en-US" sz="2400" dirty="0"/>
          </a:p>
        </p:txBody>
      </p:sp>
      <p:sp>
        <p:nvSpPr>
          <p:cNvPr id="12" name="Text 10"/>
          <p:cNvSpPr txBox="1"/>
          <p:nvPr/>
        </p:nvSpPr>
        <p:spPr>
          <a:xfrm>
            <a:off x="4343400" y="2724912"/>
            <a:ext cx="3291840" cy="320040"/>
          </a:xfrm>
          <a:prstGeom prst="rect">
            <a:avLst/>
          </a:prstGeom>
          <a:noFill/>
          <a:ln/>
        </p:spPr>
        <p:txBody>
          <a:bodyPr wrap="square" lIns="0" tIns="0" rIns="0" bIns="0" rtlCol="0" anchor="t"/>
          <a:lstStyle/>
          <a:p>
            <a:pPr indent="0" marL="0">
              <a:buNone/>
            </a:pPr>
            <a:r>
              <a:rPr lang="en-US" sz="1500" dirty="0">
                <a:solidFill>
                  <a:schemeClr val="accent2"/>
                </a:solidFill>
              </a:rPr>
              <a:t>Event solution in Salesforce</a:t>
            </a:r>
            <a:endParaRPr lang="en-US" sz="1500" dirty="0"/>
          </a:p>
        </p:txBody>
      </p:sp>
      <p:sp>
        <p:nvSpPr>
          <p:cNvPr id="13" name="Text 11"/>
          <p:cNvSpPr txBox="1"/>
          <p:nvPr/>
        </p:nvSpPr>
        <p:spPr>
          <a:xfrm>
            <a:off x="434340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Conferences, sessions, speakers, rooms</a:t>
            </a:r>
            <a:endParaRPr lang="en-US" sz="1400" dirty="0"/>
          </a:p>
          <a:p>
            <a:pPr marL="342900" indent="-342900">
              <a:spcAft>
                <a:spcPts val="600"/>
              </a:spcAft>
              <a:buSzPct val="100000"/>
              <a:buChar char="•"/>
            </a:pPr>
            <a:r>
              <a:rPr lang="en-US" sz="1400" dirty="0">
                <a:solidFill>
                  <a:srgbClr val="BFBFBF"/>
                </a:solidFill>
              </a:rPr>
              <a:t>Seat limits and waitlists</a:t>
            </a:r>
            <a:endParaRPr lang="en-US" sz="1400" dirty="0"/>
          </a:p>
          <a:p>
            <a:pPr marL="342900" indent="-342900">
              <a:spcAft>
                <a:spcPts val="600"/>
              </a:spcAft>
              <a:buSzPct val="100000"/>
              <a:buChar char="•"/>
            </a:pPr>
            <a:r>
              <a:rPr lang="en-US" sz="1400" dirty="0">
                <a:solidFill>
                  <a:srgbClr val="BFBFBF"/>
                </a:solidFill>
              </a:rPr>
              <a:t>QR check-in and reporting</a:t>
            </a:r>
            <a:endParaRPr lang="en-US" sz="1400" dirty="0"/>
          </a:p>
          <a:p>
            <a:pPr marL="342900" indent="-342900">
              <a:spcAft>
                <a:spcPts val="600"/>
              </a:spcAft>
              <a:buSzPct val="100000"/>
              <a:buChar char="•"/>
            </a:pPr>
            <a:r>
              <a:rPr lang="en-US" sz="1400" dirty="0">
                <a:solidFill>
                  <a:srgbClr val="BFBFBF"/>
                </a:solidFill>
              </a:rPr>
              <a:t>Registrants matched to Health Cloud</a:t>
            </a:r>
            <a:endParaRPr lang="en-US" sz="1400" dirty="0"/>
          </a:p>
        </p:txBody>
      </p:sp>
      <p:sp>
        <p:nvSpPr>
          <p:cNvPr id="14" name="Shape 12"/>
          <p:cNvSpPr/>
          <p:nvPr/>
        </p:nvSpPr>
        <p:spPr>
          <a:xfrm>
            <a:off x="7653528" y="1901952"/>
            <a:ext cx="411480" cy="0"/>
          </a:xfrm>
          <a:prstGeom prst="line">
            <a:avLst/>
          </a:prstGeom>
          <a:noFill/>
          <a:ln w="15875">
            <a:solidFill>
              <a:schemeClr val="bg1"/>
            </a:solidFill>
            <a:prstDash val="solid"/>
            <a:tailEnd type="triangle"/>
          </a:ln>
        </p:spPr>
      </p:sp>
      <p:sp>
        <p:nvSpPr>
          <p:cNvPr id="15" name="circle-3"/>
          <p:cNvSpPr/>
          <p:nvPr/>
        </p:nvSpPr>
        <p:spPr>
          <a:xfrm>
            <a:off x="8183880" y="1691640"/>
            <a:ext cx="420624" cy="420624"/>
          </a:xfrm>
          <a:prstGeom prst="ellipse">
            <a:avLst/>
          </a:prstGeom>
          <a:ln w="15875">
            <a:solidFill>
              <a:schemeClr val="bg1"/>
            </a:solidFill>
            <a:prstDash val="solid"/>
          </a:ln>
        </p:spPr>
      </p:sp>
      <p:sp>
        <p:nvSpPr>
          <p:cNvPr id="16" name="Text 14"/>
          <p:cNvSpPr txBox="1"/>
          <p:nvPr/>
        </p:nvSpPr>
        <p:spPr>
          <a:xfrm>
            <a:off x="818388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7" name="Text 15"/>
          <p:cNvSpPr txBox="1"/>
          <p:nvPr/>
        </p:nvSpPr>
        <p:spPr>
          <a:xfrm>
            <a:off x="8183880" y="2286000"/>
            <a:ext cx="3291840" cy="411480"/>
          </a:xfrm>
          <a:prstGeom prst="rect">
            <a:avLst/>
          </a:prstGeom>
          <a:noFill/>
          <a:ln/>
        </p:spPr>
        <p:txBody>
          <a:bodyPr wrap="square" lIns="0" tIns="0" rIns="0" bIns="0" rtlCol="0" anchor="t"/>
          <a:lstStyle/>
          <a:p>
            <a:pPr indent="0" marL="0">
              <a:buNone/>
            </a:pPr>
            <a:r>
              <a:rPr lang="en-US" sz="2400" b="1" dirty="0">
                <a:solidFill>
                  <a:schemeClr val="bg1"/>
                </a:solidFill>
              </a:rPr>
              <a:t>Engage</a:t>
            </a:r>
            <a:endParaRPr lang="en-US" sz="2400" dirty="0"/>
          </a:p>
        </p:txBody>
      </p:sp>
      <p:sp>
        <p:nvSpPr>
          <p:cNvPr id="18" name="Text 16"/>
          <p:cNvSpPr txBox="1"/>
          <p:nvPr/>
        </p:nvSpPr>
        <p:spPr>
          <a:xfrm>
            <a:off x="8183880" y="2724912"/>
            <a:ext cx="3291840" cy="320040"/>
          </a:xfrm>
          <a:prstGeom prst="rect">
            <a:avLst/>
          </a:prstGeom>
          <a:noFill/>
          <a:ln/>
        </p:spPr>
        <p:txBody>
          <a:bodyPr wrap="square" lIns="0" tIns="0" rIns="0" bIns="0" rtlCol="0" anchor="t"/>
          <a:lstStyle/>
          <a:p>
            <a:pPr indent="0" marL="0">
              <a:buNone/>
            </a:pPr>
            <a:r>
              <a:rPr lang="en-US" sz="1500" dirty="0">
                <a:solidFill>
                  <a:schemeClr val="accent3"/>
                </a:solidFill>
              </a:rPr>
              <a:t>Email and online sessions</a:t>
            </a:r>
            <a:endParaRPr lang="en-US" sz="1500" dirty="0"/>
          </a:p>
        </p:txBody>
      </p:sp>
      <p:sp>
        <p:nvSpPr>
          <p:cNvPr id="19" name="Text 17"/>
          <p:cNvSpPr txBox="1"/>
          <p:nvPr/>
        </p:nvSpPr>
        <p:spPr>
          <a:xfrm>
            <a:off x="8183880" y="3154680"/>
            <a:ext cx="3291840" cy="17373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BFBFBF"/>
                </a:solidFill>
              </a:rPr>
              <a:t>Confirmations and reminders</a:t>
            </a:r>
            <a:endParaRPr lang="en-US" sz="1400" dirty="0"/>
          </a:p>
          <a:p>
            <a:pPr marL="342900" indent="-342900">
              <a:spcAft>
                <a:spcPts val="600"/>
              </a:spcAft>
              <a:buSzPct val="100000"/>
              <a:buChar char="•"/>
            </a:pPr>
            <a:r>
              <a:rPr lang="en-US" sz="1400" dirty="0">
                <a:solidFill>
                  <a:srgbClr val="BFBFBF"/>
                </a:solidFill>
              </a:rPr>
              <a:t>Calendar invites and Zoom or Teams links</a:t>
            </a:r>
            <a:endParaRPr lang="en-US" sz="1400" dirty="0"/>
          </a:p>
          <a:p>
            <a:pPr marL="342900" indent="-342900">
              <a:spcAft>
                <a:spcPts val="600"/>
              </a:spcAft>
              <a:buSzPct val="100000"/>
              <a:buChar char="•"/>
            </a:pPr>
            <a:r>
              <a:rPr lang="en-US" sz="1400" dirty="0">
                <a:solidFill>
                  <a:srgbClr val="BFBFBF"/>
                </a:solidFill>
              </a:rPr>
              <a:t>PEIs on Marketing Cloud, later</a:t>
            </a:r>
            <a:endParaRPr lang="en-US" sz="1400" dirty="0"/>
          </a:p>
        </p:txBody>
      </p:sp>
      <p:sp>
        <p:nvSpPr>
          <p:cNvPr id="20" name="Text 18"/>
          <p:cNvSpPr txBox="1"/>
          <p:nvPr/>
        </p:nvSpPr>
        <p:spPr>
          <a:xfrm>
            <a:off x="502920" y="5138928"/>
            <a:ext cx="1828800" cy="274320"/>
          </a:xfrm>
          <a:prstGeom prst="rect">
            <a:avLst/>
          </a:prstGeom>
          <a:noFill/>
          <a:ln/>
        </p:spPr>
        <p:txBody>
          <a:bodyPr wrap="square" lIns="0" tIns="0" rIns="0" bIns="0" rtlCol="0" anchor="t"/>
          <a:lstStyle/>
          <a:p>
            <a:pPr indent="0" marL="0">
              <a:buNone/>
            </a:pPr>
            <a:r>
              <a:rPr lang="en-US" sz="1000" b="1" spc="300" kern="0" dirty="0">
                <a:solidFill>
                  <a:schemeClr val="bg1"/>
                </a:solidFill>
              </a:rPr>
              <a:t>CONNECTS TO</a:t>
            </a:r>
            <a:endParaRPr lang="en-US" sz="1000" dirty="0"/>
          </a:p>
        </p:txBody>
      </p:sp>
      <p:sp>
        <p:nvSpPr>
          <p:cNvPr id="21" name="Shape 19"/>
          <p:cNvSpPr/>
          <p:nvPr/>
        </p:nvSpPr>
        <p:spPr>
          <a:xfrm>
            <a:off x="502920" y="5486400"/>
            <a:ext cx="1691640" cy="384048"/>
          </a:xfrm>
          <a:prstGeom prst="roundRect">
            <a:avLst>
              <a:gd name="adj" fmla="val 50000"/>
            </a:avLst>
          </a:prstGeom>
          <a:ln w="19050">
            <a:solidFill>
              <a:schemeClr val="accent1"/>
            </a:solidFill>
            <a:prstDash val="solid"/>
          </a:ln>
        </p:spPr>
      </p:sp>
      <p:sp>
        <p:nvSpPr>
          <p:cNvPr id="22" name="Text 20"/>
          <p:cNvSpPr txBox="1"/>
          <p:nvPr/>
        </p:nvSpPr>
        <p:spPr>
          <a:xfrm>
            <a:off x="5029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Chase</a:t>
            </a:r>
            <a:endParaRPr lang="en-US" sz="1300" dirty="0"/>
          </a:p>
        </p:txBody>
      </p:sp>
      <p:sp>
        <p:nvSpPr>
          <p:cNvPr id="23" name="Shape 21"/>
          <p:cNvSpPr/>
          <p:nvPr/>
        </p:nvSpPr>
        <p:spPr>
          <a:xfrm>
            <a:off x="2377440" y="5486400"/>
            <a:ext cx="1691640" cy="384048"/>
          </a:xfrm>
          <a:prstGeom prst="roundRect">
            <a:avLst>
              <a:gd name="adj" fmla="val 50000"/>
            </a:avLst>
          </a:prstGeom>
          <a:ln w="19050">
            <a:solidFill>
              <a:schemeClr val="accent2"/>
            </a:solidFill>
            <a:prstDash val="solid"/>
          </a:ln>
        </p:spPr>
      </p:sp>
      <p:sp>
        <p:nvSpPr>
          <p:cNvPr id="24" name="Text 22"/>
          <p:cNvSpPr txBox="1"/>
          <p:nvPr/>
        </p:nvSpPr>
        <p:spPr>
          <a:xfrm>
            <a:off x="237744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Experience Cloud</a:t>
            </a:r>
            <a:endParaRPr lang="en-US" sz="1300" dirty="0"/>
          </a:p>
        </p:txBody>
      </p:sp>
      <p:sp>
        <p:nvSpPr>
          <p:cNvPr id="25" name="Shape 23"/>
          <p:cNvSpPr/>
          <p:nvPr/>
        </p:nvSpPr>
        <p:spPr>
          <a:xfrm>
            <a:off x="4251960" y="5486400"/>
            <a:ext cx="1691640" cy="384048"/>
          </a:xfrm>
          <a:prstGeom prst="roundRect">
            <a:avLst>
              <a:gd name="adj" fmla="val 50000"/>
            </a:avLst>
          </a:prstGeom>
          <a:ln w="19050">
            <a:solidFill>
              <a:schemeClr val="accent3"/>
            </a:solidFill>
            <a:prstDash val="solid"/>
          </a:ln>
        </p:spPr>
      </p:sp>
      <p:sp>
        <p:nvSpPr>
          <p:cNvPr id="26" name="Text 24"/>
          <p:cNvSpPr txBox="1"/>
          <p:nvPr/>
        </p:nvSpPr>
        <p:spPr>
          <a:xfrm>
            <a:off x="425196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Sitecore</a:t>
            </a:r>
            <a:endParaRPr lang="en-US" sz="1300" dirty="0"/>
          </a:p>
        </p:txBody>
      </p:sp>
      <p:sp>
        <p:nvSpPr>
          <p:cNvPr id="27" name="Shape 25"/>
          <p:cNvSpPr/>
          <p:nvPr/>
        </p:nvSpPr>
        <p:spPr>
          <a:xfrm>
            <a:off x="6126480" y="5486400"/>
            <a:ext cx="1691640" cy="384048"/>
          </a:xfrm>
          <a:prstGeom prst="roundRect">
            <a:avLst>
              <a:gd name="adj" fmla="val 50000"/>
            </a:avLst>
          </a:prstGeom>
          <a:ln w="19050">
            <a:solidFill>
              <a:schemeClr val="accent1"/>
            </a:solidFill>
            <a:prstDash val="solid"/>
          </a:ln>
        </p:spPr>
      </p:sp>
      <p:sp>
        <p:nvSpPr>
          <p:cNvPr id="28" name="Text 26"/>
          <p:cNvSpPr txBox="1"/>
          <p:nvPr/>
        </p:nvSpPr>
        <p:spPr>
          <a:xfrm>
            <a:off x="612648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Zoom / Teams</a:t>
            </a:r>
            <a:endParaRPr lang="en-US" sz="1300" dirty="0"/>
          </a:p>
        </p:txBody>
      </p:sp>
      <p:sp>
        <p:nvSpPr>
          <p:cNvPr id="29" name="Shape 27"/>
          <p:cNvSpPr/>
          <p:nvPr/>
        </p:nvSpPr>
        <p:spPr>
          <a:xfrm>
            <a:off x="8001000" y="5486400"/>
            <a:ext cx="1691640" cy="384048"/>
          </a:xfrm>
          <a:prstGeom prst="roundRect">
            <a:avLst>
              <a:gd name="adj" fmla="val 50000"/>
            </a:avLst>
          </a:prstGeom>
          <a:ln w="19050">
            <a:solidFill>
              <a:schemeClr val="accent2"/>
            </a:solidFill>
            <a:prstDash val="solid"/>
          </a:ln>
        </p:spPr>
      </p:sp>
      <p:sp>
        <p:nvSpPr>
          <p:cNvPr id="30" name="Text 28"/>
          <p:cNvSpPr txBox="1"/>
          <p:nvPr/>
        </p:nvSpPr>
        <p:spPr>
          <a:xfrm>
            <a:off x="800100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Health Cloud</a:t>
            </a:r>
            <a:endParaRPr lang="en-US" sz="1300" dirty="0"/>
          </a:p>
        </p:txBody>
      </p:sp>
      <p:sp>
        <p:nvSpPr>
          <p:cNvPr id="31" name="Shape 29"/>
          <p:cNvSpPr/>
          <p:nvPr/>
        </p:nvSpPr>
        <p:spPr>
          <a:xfrm>
            <a:off x="9875520" y="5486400"/>
            <a:ext cx="1691640" cy="384048"/>
          </a:xfrm>
          <a:prstGeom prst="roundRect">
            <a:avLst>
              <a:gd name="adj" fmla="val 50000"/>
            </a:avLst>
          </a:prstGeom>
          <a:ln w="19050">
            <a:solidFill>
              <a:schemeClr val="accent3"/>
            </a:solidFill>
            <a:prstDash val="solid"/>
          </a:ln>
        </p:spPr>
      </p:sp>
      <p:sp>
        <p:nvSpPr>
          <p:cNvPr id="32" name="Text 30"/>
          <p:cNvSpPr txBox="1"/>
          <p:nvPr/>
        </p:nvSpPr>
        <p:spPr>
          <a:xfrm>
            <a:off x="9875520" y="5486400"/>
            <a:ext cx="1691640" cy="384048"/>
          </a:xfrm>
          <a:prstGeom prst="rect">
            <a:avLst/>
          </a:prstGeom>
          <a:noFill/>
          <a:ln/>
        </p:spPr>
        <p:txBody>
          <a:bodyPr wrap="square" lIns="0" tIns="0" rIns="0" bIns="0" rtlCol="0" anchor="ctr"/>
          <a:lstStyle/>
          <a:p>
            <a:pPr algn="ctr" indent="0" marL="0">
              <a:buNone/>
            </a:pPr>
            <a:r>
              <a:rPr lang="en-US" sz="1300" b="1" dirty="0">
                <a:solidFill>
                  <a:schemeClr val="bg1"/>
                </a:solidFill>
              </a:rPr>
              <a:t>Marketing Cloud</a:t>
            </a:r>
            <a:endParaRPr lang="en-US" sz="1300" dirty="0"/>
          </a:p>
        </p:txBody>
      </p:sp>
      <p:sp>
        <p:nvSpPr>
          <p:cNvPr id="33" name="Text 31"/>
          <p:cNvSpPr txBox="1"/>
          <p:nvPr/>
        </p:nvSpPr>
        <p:spPr>
          <a:xfrm>
            <a:off x="502920" y="5989320"/>
            <a:ext cx="11185855" cy="274320"/>
          </a:xfrm>
          <a:prstGeom prst="rect">
            <a:avLst/>
          </a:prstGeom>
          <a:noFill/>
          <a:ln/>
        </p:spPr>
        <p:txBody>
          <a:bodyPr wrap="square" lIns="0" tIns="0" rIns="0" bIns="0" rtlCol="0" anchor="t"/>
          <a:lstStyle/>
          <a:p>
            <a:pPr indent="0" marL="0">
              <a:buNone/>
            </a:pPr>
            <a:r>
              <a:rPr lang="en-US" sz="1100" i="1" dirty="0">
                <a:solidFill>
                  <a:schemeClr val="accent1"/>
                </a:solidFill>
              </a:rPr>
              <a:t>Reliable, secure and scalable by design: waiting room and seat holds for busy events, encrypted data, full audit trail.</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Overall solution design</a:t>
            </a:r>
            <a:endParaRPr lang="en-US" sz="3200" dirty="0"/>
          </a:p>
        </p:txBody>
      </p:sp>
      <p:sp>
        <p:nvSpPr>
          <p:cNvPr id="3" name="Text 1"/>
          <p:cNvSpPr txBox="1"/>
          <p:nvPr/>
        </p:nvSpPr>
        <p:spPr>
          <a:xfrm>
            <a:off x="502920" y="1298448"/>
            <a:ext cx="10972800" cy="292608"/>
          </a:xfrm>
          <a:prstGeom prst="rect">
            <a:avLst/>
          </a:prstGeom>
          <a:noFill/>
          <a:ln/>
        </p:spPr>
        <p:txBody>
          <a:bodyPr wrap="square" lIns="0" tIns="0" rIns="0" bIns="0" rtlCol="0" anchor="t"/>
          <a:lstStyle/>
          <a:p>
            <a:pPr indent="0" marL="0">
              <a:buNone/>
            </a:pPr>
            <a:r>
              <a:rPr lang="en-US" sz="1400" dirty="0">
                <a:solidFill>
                  <a:srgbClr val="4D4D4D"/>
                </a:solidFill>
              </a:rPr>
              <a:t>Conferences added to your existing Experience Cloud site; replaces Certain</a:t>
            </a:r>
            <a:endParaRPr lang="en-US" sz="1400" dirty="0"/>
          </a:p>
        </p:txBody>
      </p:sp>
      <p:sp>
        <p:nvSpPr>
          <p:cNvPr id="4" name="participant-p"/>
          <p:cNvSpPr/>
          <p:nvPr/>
        </p:nvSpPr>
        <p:spPr>
          <a:xfrm>
            <a:off x="1472184" y="1755648"/>
            <a:ext cx="1357623" cy="475488"/>
          </a:xfrm>
          <a:prstGeom prst="roundRect">
            <a:avLst>
              <a:gd name="adj" fmla="val 15385"/>
            </a:avLst>
          </a:prstGeom>
          <a:solidFill>
            <a:srgbClr val="F2F2F2"/>
          </a:solidFill>
          <a:ln w="15875">
            <a:solidFill>
              <a:srgbClr val="B8B8C0"/>
            </a:solidFill>
            <a:prstDash val="solid"/>
          </a:ln>
        </p:spPr>
      </p:sp>
      <p:sp>
        <p:nvSpPr>
          <p:cNvPr id="5" name="Text 3"/>
          <p:cNvSpPr txBox="1"/>
          <p:nvPr/>
        </p:nvSpPr>
        <p:spPr>
          <a:xfrm>
            <a:off x="1508760"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6" name="Shape 4"/>
          <p:cNvSpPr/>
          <p:nvPr/>
        </p:nvSpPr>
        <p:spPr>
          <a:xfrm>
            <a:off x="2150995" y="2231136"/>
            <a:ext cx="0" cy="3822192"/>
          </a:xfrm>
          <a:prstGeom prst="line">
            <a:avLst/>
          </a:prstGeom>
          <a:noFill/>
          <a:ln w="12700">
            <a:solidFill>
              <a:srgbClr val="B0B0B8"/>
            </a:solidFill>
            <a:prstDash val="dash"/>
          </a:ln>
        </p:spPr>
      </p:sp>
      <p:sp>
        <p:nvSpPr>
          <p:cNvPr id="7" name="participant-ch"/>
          <p:cNvSpPr/>
          <p:nvPr/>
        </p:nvSpPr>
        <p:spPr>
          <a:xfrm>
            <a:off x="2939535" y="1755648"/>
            <a:ext cx="1357623" cy="475488"/>
          </a:xfrm>
          <a:prstGeom prst="roundRect">
            <a:avLst>
              <a:gd name="adj" fmla="val 15385"/>
            </a:avLst>
          </a:prstGeom>
          <a:solidFill>
            <a:srgbClr val="F2F2F2"/>
          </a:solidFill>
          <a:ln w="22225">
            <a:solidFill>
              <a:srgbClr val="00A9C0"/>
            </a:solidFill>
            <a:prstDash val="solid"/>
          </a:ln>
        </p:spPr>
      </p:sp>
      <p:sp>
        <p:nvSpPr>
          <p:cNvPr id="8" name="Text 6"/>
          <p:cNvSpPr txBox="1"/>
          <p:nvPr/>
        </p:nvSpPr>
        <p:spPr>
          <a:xfrm>
            <a:off x="297611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Website</a:t>
            </a:r>
            <a:endParaRPr lang="en-US" sz="1050" dirty="0"/>
          </a:p>
        </p:txBody>
      </p:sp>
      <p:sp>
        <p:nvSpPr>
          <p:cNvPr id="9" name="Shape 7"/>
          <p:cNvSpPr/>
          <p:nvPr/>
        </p:nvSpPr>
        <p:spPr>
          <a:xfrm>
            <a:off x="3618346" y="2231136"/>
            <a:ext cx="0" cy="3822192"/>
          </a:xfrm>
          <a:prstGeom prst="line">
            <a:avLst/>
          </a:prstGeom>
          <a:noFill/>
          <a:ln w="12700">
            <a:solidFill>
              <a:srgbClr val="B0B0B8"/>
            </a:solidFill>
            <a:prstDash val="dash"/>
          </a:ln>
        </p:spPr>
      </p:sp>
      <p:sp>
        <p:nvSpPr>
          <p:cNvPr id="10" name="participant-reg"/>
          <p:cNvSpPr/>
          <p:nvPr/>
        </p:nvSpPr>
        <p:spPr>
          <a:xfrm>
            <a:off x="4406885" y="1755648"/>
            <a:ext cx="1357623" cy="475488"/>
          </a:xfrm>
          <a:prstGeom prst="roundRect">
            <a:avLst>
              <a:gd name="adj" fmla="val 15385"/>
            </a:avLst>
          </a:prstGeom>
          <a:solidFill>
            <a:srgbClr val="F2F2F2"/>
          </a:solidFill>
          <a:ln w="22225">
            <a:solidFill>
              <a:srgbClr val="D9B200"/>
            </a:solidFill>
            <a:prstDash val="solid"/>
          </a:ln>
        </p:spPr>
      </p:sp>
      <p:sp>
        <p:nvSpPr>
          <p:cNvPr id="11" name="Text 9"/>
          <p:cNvSpPr txBox="1"/>
          <p:nvPr/>
        </p:nvSpPr>
        <p:spPr>
          <a:xfrm>
            <a:off x="4443461"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2" name="Shape 10"/>
          <p:cNvSpPr/>
          <p:nvPr/>
        </p:nvSpPr>
        <p:spPr>
          <a:xfrm>
            <a:off x="5085697" y="2231136"/>
            <a:ext cx="0" cy="3822192"/>
          </a:xfrm>
          <a:prstGeom prst="line">
            <a:avLst/>
          </a:prstGeom>
          <a:noFill/>
          <a:ln w="12700">
            <a:solidFill>
              <a:srgbClr val="B0B0B8"/>
            </a:solidFill>
            <a:prstDash val="dash"/>
          </a:ln>
        </p:spPr>
      </p:sp>
      <p:sp>
        <p:nvSpPr>
          <p:cNvPr id="13" name="participant-pay"/>
          <p:cNvSpPr/>
          <p:nvPr/>
        </p:nvSpPr>
        <p:spPr>
          <a:xfrm>
            <a:off x="5874236" y="1755648"/>
            <a:ext cx="1357623" cy="475488"/>
          </a:xfrm>
          <a:prstGeom prst="roundRect">
            <a:avLst>
              <a:gd name="adj" fmla="val 15385"/>
            </a:avLst>
          </a:prstGeom>
          <a:solidFill>
            <a:srgbClr val="F2F2F2"/>
          </a:solidFill>
          <a:ln w="15875">
            <a:solidFill>
              <a:srgbClr val="B8B8C0"/>
            </a:solidFill>
            <a:prstDash val="solid"/>
          </a:ln>
        </p:spPr>
      </p:sp>
      <p:sp>
        <p:nvSpPr>
          <p:cNvPr id="14" name="Text 12"/>
          <p:cNvSpPr txBox="1"/>
          <p:nvPr/>
        </p:nvSpPr>
        <p:spPr>
          <a:xfrm>
            <a:off x="5910812"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gateway (Chase)</a:t>
            </a:r>
            <a:endParaRPr lang="en-US" sz="1050" dirty="0"/>
          </a:p>
        </p:txBody>
      </p:sp>
      <p:sp>
        <p:nvSpPr>
          <p:cNvPr id="15" name="Shape 13"/>
          <p:cNvSpPr/>
          <p:nvPr/>
        </p:nvSpPr>
        <p:spPr>
          <a:xfrm>
            <a:off x="6553048" y="2231136"/>
            <a:ext cx="0" cy="3822192"/>
          </a:xfrm>
          <a:prstGeom prst="line">
            <a:avLst/>
          </a:prstGeom>
          <a:noFill/>
          <a:ln w="12700">
            <a:solidFill>
              <a:srgbClr val="B0B0B8"/>
            </a:solidFill>
            <a:prstDash val="dash"/>
          </a:ln>
        </p:spPr>
      </p:sp>
      <p:sp>
        <p:nvSpPr>
          <p:cNvPr id="16" name="participant-sf"/>
          <p:cNvSpPr/>
          <p:nvPr/>
        </p:nvSpPr>
        <p:spPr>
          <a:xfrm>
            <a:off x="7341587" y="1755648"/>
            <a:ext cx="1357623" cy="475488"/>
          </a:xfrm>
          <a:prstGeom prst="roundRect">
            <a:avLst>
              <a:gd name="adj" fmla="val 15385"/>
            </a:avLst>
          </a:prstGeom>
          <a:solidFill>
            <a:srgbClr val="F2F2F2"/>
          </a:solidFill>
          <a:ln w="22225">
            <a:solidFill>
              <a:srgbClr val="00A9C0"/>
            </a:solidFill>
            <a:prstDash val="solid"/>
          </a:ln>
        </p:spPr>
      </p:sp>
      <p:sp>
        <p:nvSpPr>
          <p:cNvPr id="17" name="Text 15"/>
          <p:cNvSpPr txBox="1"/>
          <p:nvPr/>
        </p:nvSpPr>
        <p:spPr>
          <a:xfrm>
            <a:off x="7378163"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event app</a:t>
            </a:r>
            <a:endParaRPr lang="en-US" sz="1050" dirty="0"/>
          </a:p>
        </p:txBody>
      </p:sp>
      <p:sp>
        <p:nvSpPr>
          <p:cNvPr id="18" name="Shape 16"/>
          <p:cNvSpPr/>
          <p:nvPr/>
        </p:nvSpPr>
        <p:spPr>
          <a:xfrm>
            <a:off x="8020398" y="2231136"/>
            <a:ext cx="0" cy="3822192"/>
          </a:xfrm>
          <a:prstGeom prst="line">
            <a:avLst/>
          </a:prstGeom>
          <a:noFill/>
          <a:ln w="12700">
            <a:solidFill>
              <a:srgbClr val="B0B0B8"/>
            </a:solidFill>
            <a:prstDash val="dash"/>
          </a:ln>
        </p:spPr>
      </p:sp>
      <p:sp>
        <p:nvSpPr>
          <p:cNvPr id="19" name="participant-mc"/>
          <p:cNvSpPr/>
          <p:nvPr/>
        </p:nvSpPr>
        <p:spPr>
          <a:xfrm>
            <a:off x="8808938" y="1755648"/>
            <a:ext cx="1357623" cy="475488"/>
          </a:xfrm>
          <a:prstGeom prst="roundRect">
            <a:avLst>
              <a:gd name="adj" fmla="val 15385"/>
            </a:avLst>
          </a:prstGeom>
          <a:solidFill>
            <a:srgbClr val="F2F2F2"/>
          </a:solidFill>
          <a:ln w="22225">
            <a:solidFill>
              <a:srgbClr val="FF0068"/>
            </a:solidFill>
            <a:prstDash val="solid"/>
          </a:ln>
        </p:spPr>
      </p:sp>
      <p:sp>
        <p:nvSpPr>
          <p:cNvPr id="20" name="Text 18"/>
          <p:cNvSpPr txBox="1"/>
          <p:nvPr/>
        </p:nvSpPr>
        <p:spPr>
          <a:xfrm>
            <a:off x="884551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 email</a:t>
            </a:r>
            <a:endParaRPr lang="en-US" sz="1050" dirty="0"/>
          </a:p>
        </p:txBody>
      </p:sp>
      <p:sp>
        <p:nvSpPr>
          <p:cNvPr id="21" name="Shape 19"/>
          <p:cNvSpPr/>
          <p:nvPr/>
        </p:nvSpPr>
        <p:spPr>
          <a:xfrm>
            <a:off x="9487749" y="2231136"/>
            <a:ext cx="0" cy="3822192"/>
          </a:xfrm>
          <a:prstGeom prst="line">
            <a:avLst/>
          </a:prstGeom>
          <a:noFill/>
          <a:ln w="12700">
            <a:solidFill>
              <a:srgbClr val="B0B0B8"/>
            </a:solidFill>
            <a:prstDash val="dash"/>
          </a:ln>
        </p:spPr>
      </p:sp>
      <p:sp>
        <p:nvSpPr>
          <p:cNvPr id="22" name="participant-st"/>
          <p:cNvSpPr/>
          <p:nvPr/>
        </p:nvSpPr>
        <p:spPr>
          <a:xfrm>
            <a:off x="10276288" y="1755648"/>
            <a:ext cx="1357623" cy="475488"/>
          </a:xfrm>
          <a:prstGeom prst="roundRect">
            <a:avLst>
              <a:gd name="adj" fmla="val 15385"/>
            </a:avLst>
          </a:prstGeom>
          <a:solidFill>
            <a:srgbClr val="F2F2F2"/>
          </a:solidFill>
          <a:ln w="15875">
            <a:solidFill>
              <a:srgbClr val="B8B8C0"/>
            </a:solidFill>
            <a:prstDash val="solid"/>
          </a:ln>
        </p:spPr>
      </p:sp>
      <p:sp>
        <p:nvSpPr>
          <p:cNvPr id="23" name="Text 21"/>
          <p:cNvSpPr txBox="1"/>
          <p:nvPr/>
        </p:nvSpPr>
        <p:spPr>
          <a:xfrm>
            <a:off x="10312864" y="1755648"/>
            <a:ext cx="1284471" cy="475488"/>
          </a:xfrm>
          <a:prstGeom prst="rect">
            <a:avLst/>
          </a:prstGeom>
          <a:noFill/>
          <a:ln/>
        </p:spPr>
        <p:txBody>
          <a:bodyPr wrap="square" lIns="0" tIns="0" rIns="0" bIns="0" rtlCol="0" anchor="ctr"/>
          <a:lstStyle/>
          <a:p>
            <a:pPr algn="ctr" indent="0" marL="0">
              <a:buNone/>
            </a:pPr>
            <a:r>
              <a:rPr lang="en-US" sz="1050" b="1" dirty="0">
                <a:solidFill>
                  <a:srgbClr val="000000"/>
                </a:solidFill>
              </a:rPr>
              <a:t>Event staff</a:t>
            </a:r>
            <a:endParaRPr lang="en-US" sz="1050" dirty="0"/>
          </a:p>
        </p:txBody>
      </p:sp>
      <p:sp>
        <p:nvSpPr>
          <p:cNvPr id="24" name="Shape 22"/>
          <p:cNvSpPr/>
          <p:nvPr/>
        </p:nvSpPr>
        <p:spPr>
          <a:xfrm>
            <a:off x="10955100" y="2231136"/>
            <a:ext cx="0" cy="3822192"/>
          </a:xfrm>
          <a:prstGeom prst="line">
            <a:avLst/>
          </a:prstGeom>
          <a:noFill/>
          <a:ln w="12700">
            <a:solidFill>
              <a:srgbClr val="B0B0B8"/>
            </a:solidFill>
            <a:prstDash val="dash"/>
          </a:ln>
        </p:spPr>
      </p:sp>
      <p:sp>
        <p:nvSpPr>
          <p:cNvPr id="25" name="Text 23"/>
          <p:cNvSpPr txBox="1"/>
          <p:nvPr/>
        </p:nvSpPr>
        <p:spPr>
          <a:xfrm>
            <a:off x="502920" y="237744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REGISTER</a:t>
            </a:r>
            <a:endParaRPr lang="en-US" sz="950" dirty="0"/>
          </a:p>
        </p:txBody>
      </p:sp>
      <p:sp>
        <p:nvSpPr>
          <p:cNvPr id="26" name="Shape 24"/>
          <p:cNvSpPr/>
          <p:nvPr/>
        </p:nvSpPr>
        <p:spPr>
          <a:xfrm>
            <a:off x="2150995" y="2511983"/>
            <a:ext cx="1467351" cy="0"/>
          </a:xfrm>
          <a:prstGeom prst="line">
            <a:avLst/>
          </a:prstGeom>
          <a:noFill/>
          <a:ln w="15875">
            <a:solidFill>
              <a:srgbClr val="1A1A1A"/>
            </a:solidFill>
            <a:prstDash val="solid"/>
            <a:tailEnd type="triangle"/>
          </a:ln>
        </p:spPr>
      </p:sp>
      <p:sp>
        <p:nvSpPr>
          <p:cNvPr id="27" name="Shape 25"/>
          <p:cNvSpPr/>
          <p:nvPr/>
        </p:nvSpPr>
        <p:spPr>
          <a:xfrm>
            <a:off x="2050411" y="2411399"/>
            <a:ext cx="201168" cy="201168"/>
          </a:xfrm>
          <a:prstGeom prst="ellipse">
            <a:avLst/>
          </a:prstGeom>
          <a:solidFill>
            <a:srgbClr val="00A9C0"/>
          </a:solidFill>
          <a:ln w="12700">
            <a:solidFill>
              <a:srgbClr val="00A9C0"/>
            </a:solidFill>
            <a:prstDash val="solid"/>
          </a:ln>
        </p:spPr>
      </p:sp>
      <p:sp>
        <p:nvSpPr>
          <p:cNvPr id="28" name="Text 26"/>
          <p:cNvSpPr txBox="1"/>
          <p:nvPr/>
        </p:nvSpPr>
        <p:spPr>
          <a:xfrm>
            <a:off x="2050411" y="24113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9" name="Text 27"/>
          <p:cNvSpPr txBox="1"/>
          <p:nvPr/>
        </p:nvSpPr>
        <p:spPr>
          <a:xfrm>
            <a:off x="2297299" y="2265095"/>
            <a:ext cx="1987906" cy="219456"/>
          </a:xfrm>
          <a:prstGeom prst="rect">
            <a:avLst/>
          </a:prstGeom>
          <a:noFill/>
          <a:ln/>
        </p:spPr>
        <p:txBody>
          <a:bodyPr wrap="square" lIns="0" tIns="0" rIns="0" bIns="0" rtlCol="0" anchor="b"/>
          <a:lstStyle/>
          <a:p>
            <a:pPr algn="ctr" indent="0" marL="0">
              <a:buNone/>
            </a:pPr>
            <a:r>
              <a:rPr lang="en-US" sz="1000" dirty="0">
                <a:solidFill>
                  <a:srgbClr val="000000"/>
                </a:solidFill>
              </a:rPr>
              <a:t>Find a class or conference</a:t>
            </a:r>
            <a:endParaRPr lang="en-US" sz="1000" dirty="0"/>
          </a:p>
        </p:txBody>
      </p:sp>
      <p:sp>
        <p:nvSpPr>
          <p:cNvPr id="30" name="Shape 28"/>
          <p:cNvSpPr/>
          <p:nvPr/>
        </p:nvSpPr>
        <p:spPr>
          <a:xfrm>
            <a:off x="3618346" y="2798964"/>
            <a:ext cx="1467351" cy="0"/>
          </a:xfrm>
          <a:prstGeom prst="line">
            <a:avLst/>
          </a:prstGeom>
          <a:noFill/>
          <a:ln w="15875">
            <a:solidFill>
              <a:srgbClr val="1A1A1A"/>
            </a:solidFill>
            <a:prstDash val="solid"/>
            <a:tailEnd type="triangle"/>
          </a:ln>
        </p:spPr>
      </p:sp>
      <p:sp>
        <p:nvSpPr>
          <p:cNvPr id="31" name="Shape 29"/>
          <p:cNvSpPr/>
          <p:nvPr/>
        </p:nvSpPr>
        <p:spPr>
          <a:xfrm>
            <a:off x="3517762" y="2698380"/>
            <a:ext cx="201168" cy="201168"/>
          </a:xfrm>
          <a:prstGeom prst="ellipse">
            <a:avLst/>
          </a:prstGeom>
          <a:solidFill>
            <a:srgbClr val="00A9C0"/>
          </a:solidFill>
          <a:ln w="12700">
            <a:solidFill>
              <a:srgbClr val="00A9C0"/>
            </a:solidFill>
            <a:prstDash val="solid"/>
          </a:ln>
        </p:spPr>
      </p:sp>
      <p:sp>
        <p:nvSpPr>
          <p:cNvPr id="32" name="Text 30"/>
          <p:cNvSpPr txBox="1"/>
          <p:nvPr/>
        </p:nvSpPr>
        <p:spPr>
          <a:xfrm>
            <a:off x="3517762" y="269838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3" name="Text 31"/>
          <p:cNvSpPr txBox="1"/>
          <p:nvPr/>
        </p:nvSpPr>
        <p:spPr>
          <a:xfrm>
            <a:off x="3764650" y="2552076"/>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Register and hold a seat</a:t>
            </a:r>
            <a:endParaRPr lang="en-US" sz="1000" dirty="0"/>
          </a:p>
        </p:txBody>
      </p:sp>
      <p:sp>
        <p:nvSpPr>
          <p:cNvPr id="34" name="Shape 32"/>
          <p:cNvSpPr/>
          <p:nvPr/>
        </p:nvSpPr>
        <p:spPr>
          <a:xfrm>
            <a:off x="2150995" y="3085945"/>
            <a:ext cx="2934701" cy="0"/>
          </a:xfrm>
          <a:prstGeom prst="line">
            <a:avLst/>
          </a:prstGeom>
          <a:noFill/>
          <a:ln w="15875">
            <a:solidFill>
              <a:srgbClr val="6B7280"/>
            </a:solidFill>
            <a:prstDash val="dash"/>
            <a:headEnd type="triangle"/>
          </a:ln>
        </p:spPr>
      </p:sp>
      <p:sp>
        <p:nvSpPr>
          <p:cNvPr id="35" name="Shape 33"/>
          <p:cNvSpPr/>
          <p:nvPr/>
        </p:nvSpPr>
        <p:spPr>
          <a:xfrm>
            <a:off x="4985113" y="2985361"/>
            <a:ext cx="201168" cy="201168"/>
          </a:xfrm>
          <a:prstGeom prst="ellipse">
            <a:avLst/>
          </a:prstGeom>
          <a:solidFill>
            <a:srgbClr val="00A9C0"/>
          </a:solidFill>
          <a:ln w="12700">
            <a:solidFill>
              <a:srgbClr val="00A9C0"/>
            </a:solidFill>
            <a:prstDash val="solid"/>
          </a:ln>
        </p:spPr>
      </p:sp>
      <p:sp>
        <p:nvSpPr>
          <p:cNvPr id="36" name="Text 34"/>
          <p:cNvSpPr txBox="1"/>
          <p:nvPr/>
        </p:nvSpPr>
        <p:spPr>
          <a:xfrm>
            <a:off x="4985113" y="29853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7" name="Text 35"/>
          <p:cNvSpPr txBox="1"/>
          <p:nvPr/>
        </p:nvSpPr>
        <p:spPr>
          <a:xfrm>
            <a:off x="2187571" y="2839057"/>
            <a:ext cx="2751821" cy="219456"/>
          </a:xfrm>
          <a:prstGeom prst="rect">
            <a:avLst/>
          </a:prstGeom>
          <a:noFill/>
          <a:ln/>
        </p:spPr>
        <p:txBody>
          <a:bodyPr wrap="square" lIns="0" tIns="0" rIns="0" bIns="0" rtlCol="0" anchor="b"/>
          <a:lstStyle/>
          <a:p>
            <a:pPr algn="ctr" indent="0" marL="0">
              <a:buNone/>
            </a:pPr>
            <a:r>
              <a:rPr lang="en-US" sz="1000" dirty="0">
                <a:solidFill>
                  <a:srgbClr val="4D4D4D"/>
                </a:solidFill>
              </a:rPr>
              <a:t>Seat held for 10 minutes</a:t>
            </a:r>
            <a:endParaRPr lang="en-US" sz="1000" dirty="0"/>
          </a:p>
        </p:txBody>
      </p:sp>
      <p:sp>
        <p:nvSpPr>
          <p:cNvPr id="38" name="Shape 36"/>
          <p:cNvSpPr/>
          <p:nvPr/>
        </p:nvSpPr>
        <p:spPr>
          <a:xfrm>
            <a:off x="502920" y="3183519"/>
            <a:ext cx="11141835" cy="0"/>
          </a:xfrm>
          <a:prstGeom prst="line">
            <a:avLst/>
          </a:prstGeom>
          <a:noFill/>
          <a:ln w="9525">
            <a:solidFill>
              <a:srgbClr val="D4D4DA"/>
            </a:solidFill>
            <a:prstDash val="sysDot"/>
          </a:ln>
        </p:spPr>
      </p:sp>
      <p:sp>
        <p:nvSpPr>
          <p:cNvPr id="39" name="Text 37"/>
          <p:cNvSpPr txBox="1"/>
          <p:nvPr/>
        </p:nvSpPr>
        <p:spPr>
          <a:xfrm>
            <a:off x="502920" y="3238383"/>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PAY</a:t>
            </a:r>
            <a:endParaRPr lang="en-US" sz="950" dirty="0"/>
          </a:p>
        </p:txBody>
      </p:sp>
      <p:sp>
        <p:nvSpPr>
          <p:cNvPr id="40" name="Shape 38"/>
          <p:cNvSpPr/>
          <p:nvPr/>
        </p:nvSpPr>
        <p:spPr>
          <a:xfrm>
            <a:off x="2150995" y="3372926"/>
            <a:ext cx="4402052" cy="0"/>
          </a:xfrm>
          <a:prstGeom prst="line">
            <a:avLst/>
          </a:prstGeom>
          <a:noFill/>
          <a:ln w="15875">
            <a:solidFill>
              <a:srgbClr val="1A1A1A"/>
            </a:solidFill>
            <a:prstDash val="solid"/>
            <a:tailEnd type="triangle"/>
          </a:ln>
        </p:spPr>
      </p:sp>
      <p:sp>
        <p:nvSpPr>
          <p:cNvPr id="41" name="Shape 39"/>
          <p:cNvSpPr/>
          <p:nvPr/>
        </p:nvSpPr>
        <p:spPr>
          <a:xfrm>
            <a:off x="2050411" y="3272342"/>
            <a:ext cx="201168" cy="201168"/>
          </a:xfrm>
          <a:prstGeom prst="ellipse">
            <a:avLst/>
          </a:prstGeom>
          <a:solidFill>
            <a:srgbClr val="00A9C0"/>
          </a:solidFill>
          <a:ln w="12700">
            <a:solidFill>
              <a:srgbClr val="00A9C0"/>
            </a:solidFill>
            <a:prstDash val="solid"/>
          </a:ln>
        </p:spPr>
      </p:sp>
      <p:sp>
        <p:nvSpPr>
          <p:cNvPr id="42" name="Text 40"/>
          <p:cNvSpPr txBox="1"/>
          <p:nvPr/>
        </p:nvSpPr>
        <p:spPr>
          <a:xfrm>
            <a:off x="2050411" y="32723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43" name="Text 41"/>
          <p:cNvSpPr txBox="1"/>
          <p:nvPr/>
        </p:nvSpPr>
        <p:spPr>
          <a:xfrm>
            <a:off x="2297299" y="3126038"/>
            <a:ext cx="4219172"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 (free events skip this)</a:t>
            </a:r>
            <a:endParaRPr lang="en-US" sz="1000" dirty="0"/>
          </a:p>
        </p:txBody>
      </p:sp>
      <p:sp>
        <p:nvSpPr>
          <p:cNvPr id="44" name="Shape 42"/>
          <p:cNvSpPr/>
          <p:nvPr/>
        </p:nvSpPr>
        <p:spPr>
          <a:xfrm>
            <a:off x="5085697" y="3659907"/>
            <a:ext cx="1467351" cy="0"/>
          </a:xfrm>
          <a:prstGeom prst="line">
            <a:avLst/>
          </a:prstGeom>
          <a:noFill/>
          <a:ln w="15875">
            <a:solidFill>
              <a:srgbClr val="6B7280"/>
            </a:solidFill>
            <a:prstDash val="dash"/>
            <a:headEnd type="triangle"/>
          </a:ln>
        </p:spPr>
      </p:sp>
      <p:sp>
        <p:nvSpPr>
          <p:cNvPr id="45" name="Shape 43"/>
          <p:cNvSpPr/>
          <p:nvPr/>
        </p:nvSpPr>
        <p:spPr>
          <a:xfrm>
            <a:off x="6452464" y="3559323"/>
            <a:ext cx="201168" cy="201168"/>
          </a:xfrm>
          <a:prstGeom prst="ellipse">
            <a:avLst/>
          </a:prstGeom>
          <a:solidFill>
            <a:srgbClr val="00A9C0"/>
          </a:solidFill>
          <a:ln w="12700">
            <a:solidFill>
              <a:srgbClr val="00A9C0"/>
            </a:solidFill>
            <a:prstDash val="solid"/>
          </a:ln>
        </p:spPr>
      </p:sp>
      <p:sp>
        <p:nvSpPr>
          <p:cNvPr id="46" name="Text 44"/>
          <p:cNvSpPr txBox="1"/>
          <p:nvPr/>
        </p:nvSpPr>
        <p:spPr>
          <a:xfrm>
            <a:off x="6452464" y="35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7" name="Text 45"/>
          <p:cNvSpPr txBox="1"/>
          <p:nvPr/>
        </p:nvSpPr>
        <p:spPr>
          <a:xfrm>
            <a:off x="3674516" y="3413019"/>
            <a:ext cx="2732227" cy="219456"/>
          </a:xfrm>
          <a:prstGeom prst="rect">
            <a:avLst/>
          </a:prstGeom>
          <a:noFill/>
          <a:ln/>
        </p:spPr>
        <p:txBody>
          <a:bodyPr wrap="square" lIns="0" tIns="0" rIns="0" bIns="0" rtlCol="0" anchor="b"/>
          <a:lstStyle/>
          <a:p>
            <a:pPr algn="ctr" indent="0" marL="0">
              <a:buNone/>
            </a:pPr>
            <a:r>
              <a:rPr lang="en-US" sz="1000" dirty="0">
                <a:solidFill>
                  <a:srgbClr val="4D4D4D"/>
                </a:solidFill>
              </a:rPr>
              <a:t>Signed webhook (payment confirmation)</a:t>
            </a:r>
            <a:endParaRPr lang="en-US" sz="1000" dirty="0"/>
          </a:p>
        </p:txBody>
      </p:sp>
      <p:sp>
        <p:nvSpPr>
          <p:cNvPr id="48" name="Shape 46"/>
          <p:cNvSpPr/>
          <p:nvPr/>
        </p:nvSpPr>
        <p:spPr>
          <a:xfrm>
            <a:off x="5085697" y="3946888"/>
            <a:ext cx="2934701" cy="0"/>
          </a:xfrm>
          <a:prstGeom prst="line">
            <a:avLst/>
          </a:prstGeom>
          <a:noFill/>
          <a:ln w="15875">
            <a:solidFill>
              <a:srgbClr val="1A1A1A"/>
            </a:solidFill>
            <a:prstDash val="solid"/>
            <a:tailEnd type="triangle"/>
          </a:ln>
        </p:spPr>
      </p:sp>
      <p:sp>
        <p:nvSpPr>
          <p:cNvPr id="49" name="Shape 47"/>
          <p:cNvSpPr/>
          <p:nvPr/>
        </p:nvSpPr>
        <p:spPr>
          <a:xfrm>
            <a:off x="4985113" y="3846304"/>
            <a:ext cx="201168" cy="201168"/>
          </a:xfrm>
          <a:prstGeom prst="ellipse">
            <a:avLst/>
          </a:prstGeom>
          <a:solidFill>
            <a:srgbClr val="00A9C0"/>
          </a:solidFill>
          <a:ln w="12700">
            <a:solidFill>
              <a:srgbClr val="00A9C0"/>
            </a:solidFill>
            <a:prstDash val="solid"/>
          </a:ln>
        </p:spPr>
      </p:sp>
      <p:sp>
        <p:nvSpPr>
          <p:cNvPr id="50" name="Text 48"/>
          <p:cNvSpPr txBox="1"/>
          <p:nvPr/>
        </p:nvSpPr>
        <p:spPr>
          <a:xfrm>
            <a:off x="4985113" y="38463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51" name="Text 49"/>
          <p:cNvSpPr txBox="1"/>
          <p:nvPr/>
        </p:nvSpPr>
        <p:spPr>
          <a:xfrm>
            <a:off x="5232001" y="3700000"/>
            <a:ext cx="3205886"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(queued, duplicate-safe)</a:t>
            </a:r>
            <a:endParaRPr lang="en-US" sz="1000" dirty="0"/>
          </a:p>
        </p:txBody>
      </p:sp>
      <p:sp>
        <p:nvSpPr>
          <p:cNvPr id="52" name="Shape 50"/>
          <p:cNvSpPr/>
          <p:nvPr/>
        </p:nvSpPr>
        <p:spPr>
          <a:xfrm>
            <a:off x="502920" y="4044462"/>
            <a:ext cx="11141835" cy="0"/>
          </a:xfrm>
          <a:prstGeom prst="line">
            <a:avLst/>
          </a:prstGeom>
          <a:noFill/>
          <a:ln w="9525">
            <a:solidFill>
              <a:srgbClr val="D4D4DA"/>
            </a:solidFill>
            <a:prstDash val="sysDot"/>
          </a:ln>
        </p:spPr>
      </p:sp>
      <p:sp>
        <p:nvSpPr>
          <p:cNvPr id="53" name="Text 51"/>
          <p:cNvSpPr txBox="1"/>
          <p:nvPr/>
        </p:nvSpPr>
        <p:spPr>
          <a:xfrm>
            <a:off x="502920" y="4099326"/>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CONFIRM</a:t>
            </a:r>
            <a:endParaRPr lang="en-US" sz="950" dirty="0"/>
          </a:p>
        </p:txBody>
      </p:sp>
      <p:sp>
        <p:nvSpPr>
          <p:cNvPr id="54" name="Shape 52"/>
          <p:cNvSpPr/>
          <p:nvPr/>
        </p:nvSpPr>
        <p:spPr>
          <a:xfrm>
            <a:off x="8020398" y="4233869"/>
            <a:ext cx="1467351" cy="0"/>
          </a:xfrm>
          <a:prstGeom prst="line">
            <a:avLst/>
          </a:prstGeom>
          <a:noFill/>
          <a:ln w="15875">
            <a:solidFill>
              <a:srgbClr val="1A1A1A"/>
            </a:solidFill>
            <a:prstDash val="solid"/>
            <a:tailEnd type="triangle"/>
          </a:ln>
        </p:spPr>
      </p:sp>
      <p:sp>
        <p:nvSpPr>
          <p:cNvPr id="55" name="Shape 53"/>
          <p:cNvSpPr/>
          <p:nvPr/>
        </p:nvSpPr>
        <p:spPr>
          <a:xfrm>
            <a:off x="7919814" y="4133285"/>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919814" y="41332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7" name="Text 55"/>
          <p:cNvSpPr txBox="1"/>
          <p:nvPr/>
        </p:nvSpPr>
        <p:spPr>
          <a:xfrm>
            <a:off x="8166702" y="3986981"/>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58" name="Shape 56"/>
          <p:cNvSpPr/>
          <p:nvPr/>
        </p:nvSpPr>
        <p:spPr>
          <a:xfrm>
            <a:off x="2150995" y="4520850"/>
            <a:ext cx="7336754" cy="0"/>
          </a:xfrm>
          <a:prstGeom prst="line">
            <a:avLst/>
          </a:prstGeom>
          <a:noFill/>
          <a:ln w="15875">
            <a:solidFill>
              <a:srgbClr val="6B7280"/>
            </a:solidFill>
            <a:prstDash val="dash"/>
            <a:headEnd type="triangle"/>
          </a:ln>
        </p:spPr>
      </p:sp>
      <p:sp>
        <p:nvSpPr>
          <p:cNvPr id="59" name="Shape 57"/>
          <p:cNvSpPr/>
          <p:nvPr/>
        </p:nvSpPr>
        <p:spPr>
          <a:xfrm>
            <a:off x="9387165" y="4420266"/>
            <a:ext cx="201168" cy="201168"/>
          </a:xfrm>
          <a:prstGeom prst="ellipse">
            <a:avLst/>
          </a:prstGeom>
          <a:solidFill>
            <a:srgbClr val="00A9C0"/>
          </a:solidFill>
          <a:ln w="12700">
            <a:solidFill>
              <a:srgbClr val="00A9C0"/>
            </a:solidFill>
            <a:prstDash val="solid"/>
          </a:ln>
        </p:spPr>
      </p:sp>
      <p:sp>
        <p:nvSpPr>
          <p:cNvPr id="60" name="Text 58"/>
          <p:cNvSpPr txBox="1"/>
          <p:nvPr/>
        </p:nvSpPr>
        <p:spPr>
          <a:xfrm>
            <a:off x="9387165" y="4420266"/>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61" name="Text 59"/>
          <p:cNvSpPr txBox="1"/>
          <p:nvPr/>
        </p:nvSpPr>
        <p:spPr>
          <a:xfrm>
            <a:off x="2187571" y="4273962"/>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 Zoom or Teams link</a:t>
            </a:r>
            <a:endParaRPr lang="en-US" sz="1000" dirty="0"/>
          </a:p>
        </p:txBody>
      </p:sp>
      <p:sp>
        <p:nvSpPr>
          <p:cNvPr id="62" name="Shape 60"/>
          <p:cNvSpPr/>
          <p:nvPr/>
        </p:nvSpPr>
        <p:spPr>
          <a:xfrm>
            <a:off x="502920" y="4618423"/>
            <a:ext cx="11141835" cy="0"/>
          </a:xfrm>
          <a:prstGeom prst="line">
            <a:avLst/>
          </a:prstGeom>
          <a:noFill/>
          <a:ln w="9525">
            <a:solidFill>
              <a:srgbClr val="D4D4DA"/>
            </a:solidFill>
            <a:prstDash val="sysDot"/>
          </a:ln>
        </p:spPr>
      </p:sp>
      <p:sp>
        <p:nvSpPr>
          <p:cNvPr id="63" name="Text 61"/>
          <p:cNvSpPr txBox="1"/>
          <p:nvPr/>
        </p:nvSpPr>
        <p:spPr>
          <a:xfrm>
            <a:off x="502920" y="4673287"/>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ATTEND</a:t>
            </a:r>
            <a:endParaRPr lang="en-US" sz="950" dirty="0"/>
          </a:p>
        </p:txBody>
      </p:sp>
      <p:sp>
        <p:nvSpPr>
          <p:cNvPr id="64" name="Shape 62"/>
          <p:cNvSpPr/>
          <p:nvPr/>
        </p:nvSpPr>
        <p:spPr>
          <a:xfrm>
            <a:off x="8020398" y="4807831"/>
            <a:ext cx="2934701" cy="0"/>
          </a:xfrm>
          <a:prstGeom prst="line">
            <a:avLst/>
          </a:prstGeom>
          <a:noFill/>
          <a:ln w="15875">
            <a:solidFill>
              <a:srgbClr val="1A1A1A"/>
            </a:solidFill>
            <a:prstDash val="solid"/>
            <a:headEnd type="triangle"/>
          </a:ln>
        </p:spPr>
      </p:sp>
      <p:sp>
        <p:nvSpPr>
          <p:cNvPr id="65" name="Shape 63"/>
          <p:cNvSpPr/>
          <p:nvPr/>
        </p:nvSpPr>
        <p:spPr>
          <a:xfrm>
            <a:off x="10854516" y="4707247"/>
            <a:ext cx="201168" cy="201168"/>
          </a:xfrm>
          <a:prstGeom prst="ellipse">
            <a:avLst/>
          </a:prstGeom>
          <a:solidFill>
            <a:srgbClr val="00A9C0"/>
          </a:solidFill>
          <a:ln w="12700">
            <a:solidFill>
              <a:srgbClr val="00A9C0"/>
            </a:solidFill>
            <a:prstDash val="solid"/>
          </a:ln>
        </p:spPr>
      </p:sp>
      <p:sp>
        <p:nvSpPr>
          <p:cNvPr id="66" name="Text 64"/>
          <p:cNvSpPr txBox="1"/>
          <p:nvPr/>
        </p:nvSpPr>
        <p:spPr>
          <a:xfrm>
            <a:off x="10854516" y="47072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7" name="Text 65"/>
          <p:cNvSpPr txBox="1"/>
          <p:nvPr/>
        </p:nvSpPr>
        <p:spPr>
          <a:xfrm>
            <a:off x="8056974" y="4560943"/>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QR check-in at the door</a:t>
            </a:r>
            <a:endParaRPr lang="en-US" sz="1000" dirty="0"/>
          </a:p>
        </p:txBody>
      </p:sp>
      <p:sp>
        <p:nvSpPr>
          <p:cNvPr id="68" name="Shape 66"/>
          <p:cNvSpPr/>
          <p:nvPr/>
        </p:nvSpPr>
        <p:spPr>
          <a:xfrm>
            <a:off x="502920" y="4905404"/>
            <a:ext cx="11141835" cy="0"/>
          </a:xfrm>
          <a:prstGeom prst="line">
            <a:avLst/>
          </a:prstGeom>
          <a:noFill/>
          <a:ln w="9525">
            <a:solidFill>
              <a:srgbClr val="D4D4DA"/>
            </a:solidFill>
            <a:prstDash val="sysDot"/>
          </a:ln>
        </p:spPr>
      </p:sp>
      <p:sp>
        <p:nvSpPr>
          <p:cNvPr id="69" name="Text 67"/>
          <p:cNvSpPr txBox="1"/>
          <p:nvPr/>
        </p:nvSpPr>
        <p:spPr>
          <a:xfrm>
            <a:off x="502920" y="4960268"/>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ENGAGE</a:t>
            </a:r>
            <a:endParaRPr lang="en-US" sz="950" dirty="0"/>
          </a:p>
        </p:txBody>
      </p:sp>
      <p:sp>
        <p:nvSpPr>
          <p:cNvPr id="70" name="Shape 68"/>
          <p:cNvSpPr/>
          <p:nvPr/>
        </p:nvSpPr>
        <p:spPr>
          <a:xfrm>
            <a:off x="8020398" y="5094812"/>
            <a:ext cx="1467351" cy="0"/>
          </a:xfrm>
          <a:prstGeom prst="line">
            <a:avLst/>
          </a:prstGeom>
          <a:noFill/>
          <a:ln w="15875">
            <a:solidFill>
              <a:srgbClr val="1A1A1A"/>
            </a:solidFill>
            <a:prstDash val="solid"/>
            <a:tailEnd type="triangle"/>
          </a:ln>
        </p:spPr>
      </p:sp>
      <p:sp>
        <p:nvSpPr>
          <p:cNvPr id="71" name="Shape 69"/>
          <p:cNvSpPr/>
          <p:nvPr/>
        </p:nvSpPr>
        <p:spPr>
          <a:xfrm>
            <a:off x="7919814" y="4994228"/>
            <a:ext cx="201168" cy="201168"/>
          </a:xfrm>
          <a:prstGeom prst="ellipse">
            <a:avLst/>
          </a:prstGeom>
          <a:solidFill>
            <a:srgbClr val="00A9C0"/>
          </a:solidFill>
          <a:ln w="12700">
            <a:solidFill>
              <a:srgbClr val="00A9C0"/>
            </a:solidFill>
            <a:prstDash val="solid"/>
          </a:ln>
        </p:spPr>
      </p:sp>
      <p:sp>
        <p:nvSpPr>
          <p:cNvPr id="72" name="Text 70"/>
          <p:cNvSpPr txBox="1"/>
          <p:nvPr/>
        </p:nvSpPr>
        <p:spPr>
          <a:xfrm>
            <a:off x="7919814" y="4994228"/>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73" name="Text 71"/>
          <p:cNvSpPr txBox="1"/>
          <p:nvPr/>
        </p:nvSpPr>
        <p:spPr>
          <a:xfrm>
            <a:off x="8166702" y="4847924"/>
            <a:ext cx="1852574" cy="219456"/>
          </a:xfrm>
          <a:prstGeom prst="rect">
            <a:avLst/>
          </a:prstGeom>
          <a:noFill/>
          <a:ln/>
        </p:spPr>
        <p:txBody>
          <a:bodyPr wrap="square" lIns="0" tIns="0" rIns="0" bIns="0" rtlCol="0" anchor="b"/>
          <a:lstStyle/>
          <a:p>
            <a:pPr algn="ctr" indent="0" marL="0">
              <a:buNone/>
            </a:pPr>
            <a:r>
              <a:rPr lang="en-US" sz="1000" dirty="0">
                <a:solidFill>
                  <a:srgbClr val="000000"/>
                </a:solidFill>
              </a:rPr>
              <a:t>Attendance and interests</a:t>
            </a:r>
            <a:endParaRPr lang="en-US" sz="1000" dirty="0"/>
          </a:p>
        </p:txBody>
      </p:sp>
      <p:sp>
        <p:nvSpPr>
          <p:cNvPr id="74" name="Shape 72"/>
          <p:cNvSpPr/>
          <p:nvPr/>
        </p:nvSpPr>
        <p:spPr>
          <a:xfrm>
            <a:off x="2150995" y="5381793"/>
            <a:ext cx="7336754" cy="0"/>
          </a:xfrm>
          <a:prstGeom prst="line">
            <a:avLst/>
          </a:prstGeom>
          <a:noFill/>
          <a:ln w="15875">
            <a:solidFill>
              <a:srgbClr val="6B7280"/>
            </a:solidFill>
            <a:prstDash val="dash"/>
            <a:headEnd type="triangle"/>
          </a:ln>
        </p:spPr>
      </p:sp>
      <p:sp>
        <p:nvSpPr>
          <p:cNvPr id="75" name="Shape 73"/>
          <p:cNvSpPr/>
          <p:nvPr/>
        </p:nvSpPr>
        <p:spPr>
          <a:xfrm>
            <a:off x="9387165" y="5281209"/>
            <a:ext cx="201168" cy="201168"/>
          </a:xfrm>
          <a:prstGeom prst="ellipse">
            <a:avLst/>
          </a:prstGeom>
          <a:solidFill>
            <a:srgbClr val="00A9C0"/>
          </a:solidFill>
          <a:ln w="12700">
            <a:solidFill>
              <a:srgbClr val="00A9C0"/>
            </a:solidFill>
            <a:prstDash val="solid"/>
          </a:ln>
        </p:spPr>
      </p:sp>
      <p:sp>
        <p:nvSpPr>
          <p:cNvPr id="76" name="Text 74"/>
          <p:cNvSpPr txBox="1"/>
          <p:nvPr/>
        </p:nvSpPr>
        <p:spPr>
          <a:xfrm>
            <a:off x="9387165" y="52812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77" name="Text 75"/>
          <p:cNvSpPr txBox="1"/>
          <p:nvPr/>
        </p:nvSpPr>
        <p:spPr>
          <a:xfrm>
            <a:off x="2187571" y="5134905"/>
            <a:ext cx="7153874" cy="219456"/>
          </a:xfrm>
          <a:prstGeom prst="rect">
            <a:avLst/>
          </a:prstGeom>
          <a:noFill/>
          <a:ln/>
        </p:spPr>
        <p:txBody>
          <a:bodyPr wrap="square" lIns="0" tIns="0" rIns="0" bIns="0" rtlCol="0" anchor="b"/>
          <a:lstStyle/>
          <a:p>
            <a:pPr algn="ctr" indent="0" marL="0">
              <a:buNone/>
            </a:pPr>
            <a:r>
              <a:rPr lang="en-US" sz="1000" dirty="0">
                <a:solidFill>
                  <a:srgbClr val="4D4D4D"/>
                </a:solidFill>
              </a:rPr>
              <a:t>PEIs: thank you, next class, app, find a doctor</a:t>
            </a:r>
            <a:endParaRPr lang="en-US" sz="1000" dirty="0"/>
          </a:p>
        </p:txBody>
      </p:sp>
      <p:sp>
        <p:nvSpPr>
          <p:cNvPr id="78" name="Shape 76"/>
          <p:cNvSpPr/>
          <p:nvPr/>
        </p:nvSpPr>
        <p:spPr>
          <a:xfrm>
            <a:off x="502920" y="5479366"/>
            <a:ext cx="11141835" cy="0"/>
          </a:xfrm>
          <a:prstGeom prst="line">
            <a:avLst/>
          </a:prstGeom>
          <a:noFill/>
          <a:ln w="9525">
            <a:solidFill>
              <a:srgbClr val="D4D4DA"/>
            </a:solidFill>
            <a:prstDash val="sysDot"/>
          </a:ln>
        </p:spPr>
      </p:sp>
      <p:sp>
        <p:nvSpPr>
          <p:cNvPr id="79" name="Text 77"/>
          <p:cNvSpPr txBox="1"/>
          <p:nvPr/>
        </p:nvSpPr>
        <p:spPr>
          <a:xfrm>
            <a:off x="502920" y="5534230"/>
            <a:ext cx="868680" cy="228600"/>
          </a:xfrm>
          <a:prstGeom prst="rect">
            <a:avLst/>
          </a:prstGeom>
          <a:noFill/>
          <a:ln/>
        </p:spPr>
        <p:txBody>
          <a:bodyPr wrap="square" lIns="0" tIns="0" rIns="0" bIns="0" rtlCol="0" anchor="t"/>
          <a:lstStyle/>
          <a:p>
            <a:pPr indent="0" marL="0">
              <a:buNone/>
            </a:pPr>
            <a:r>
              <a:rPr lang="en-US" sz="950" b="1" spc="200" kern="0" dirty="0">
                <a:solidFill>
                  <a:srgbClr val="007C8C"/>
                </a:solidFill>
              </a:rPr>
              <a:t>GROW</a:t>
            </a:r>
            <a:endParaRPr lang="en-US" sz="950" dirty="0"/>
          </a:p>
        </p:txBody>
      </p:sp>
      <p:sp>
        <p:nvSpPr>
          <p:cNvPr id="80" name="Shape 78"/>
          <p:cNvSpPr/>
          <p:nvPr/>
        </p:nvSpPr>
        <p:spPr>
          <a:xfrm>
            <a:off x="8020398" y="5668774"/>
            <a:ext cx="2934701" cy="0"/>
          </a:xfrm>
          <a:prstGeom prst="line">
            <a:avLst/>
          </a:prstGeom>
          <a:noFill/>
          <a:ln w="15875">
            <a:solidFill>
              <a:srgbClr val="6B7280"/>
            </a:solidFill>
            <a:prstDash val="dash"/>
            <a:tailEnd type="triangle"/>
          </a:ln>
        </p:spPr>
      </p:sp>
      <p:sp>
        <p:nvSpPr>
          <p:cNvPr id="81" name="Shape 79"/>
          <p:cNvSpPr/>
          <p:nvPr/>
        </p:nvSpPr>
        <p:spPr>
          <a:xfrm>
            <a:off x="7919814" y="5568190"/>
            <a:ext cx="201168" cy="201168"/>
          </a:xfrm>
          <a:prstGeom prst="ellipse">
            <a:avLst/>
          </a:prstGeom>
          <a:solidFill>
            <a:srgbClr val="00A9C0"/>
          </a:solidFill>
          <a:ln w="12700">
            <a:solidFill>
              <a:srgbClr val="00A9C0"/>
            </a:solidFill>
            <a:prstDash val="solid"/>
          </a:ln>
        </p:spPr>
      </p:sp>
      <p:sp>
        <p:nvSpPr>
          <p:cNvPr id="82" name="Text 80"/>
          <p:cNvSpPr txBox="1"/>
          <p:nvPr/>
        </p:nvSpPr>
        <p:spPr>
          <a:xfrm>
            <a:off x="7919814" y="556819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83" name="Text 81"/>
          <p:cNvSpPr txBox="1"/>
          <p:nvPr/>
        </p:nvSpPr>
        <p:spPr>
          <a:xfrm>
            <a:off x="8166702" y="5421886"/>
            <a:ext cx="2799893" cy="219456"/>
          </a:xfrm>
          <a:prstGeom prst="rect">
            <a:avLst/>
          </a:prstGeom>
          <a:noFill/>
          <a:ln/>
        </p:spPr>
        <p:txBody>
          <a:bodyPr wrap="square" lIns="0" tIns="0" rIns="0" bIns="0" rtlCol="0" anchor="b"/>
          <a:lstStyle/>
          <a:p>
            <a:pPr algn="ctr" indent="0" marL="0">
              <a:buNone/>
            </a:pPr>
            <a:r>
              <a:rPr lang="en-US" sz="1000" dirty="0">
                <a:solidFill>
                  <a:srgbClr val="4D4D4D"/>
                </a:solidFill>
              </a:rPr>
              <a:t>Dashboards, waitlist and demand alerts</a:t>
            </a:r>
            <a:endParaRPr lang="en-US" sz="1000" dirty="0"/>
          </a:p>
        </p:txBody>
      </p:sp>
      <p:sp>
        <p:nvSpPr>
          <p:cNvPr id="84" name="Shape 82"/>
          <p:cNvSpPr/>
          <p:nvPr/>
        </p:nvSpPr>
        <p:spPr>
          <a:xfrm>
            <a:off x="8020398" y="5955754"/>
            <a:ext cx="2934701" cy="0"/>
          </a:xfrm>
          <a:prstGeom prst="line">
            <a:avLst/>
          </a:prstGeom>
          <a:noFill/>
          <a:ln w="15875">
            <a:solidFill>
              <a:srgbClr val="1A1A1A"/>
            </a:solidFill>
            <a:prstDash val="solid"/>
            <a:headEnd type="triangle"/>
          </a:ln>
        </p:spPr>
      </p:sp>
      <p:sp>
        <p:nvSpPr>
          <p:cNvPr id="85" name="Shape 83"/>
          <p:cNvSpPr/>
          <p:nvPr/>
        </p:nvSpPr>
        <p:spPr>
          <a:xfrm>
            <a:off x="10854516" y="5855170"/>
            <a:ext cx="201168" cy="201168"/>
          </a:xfrm>
          <a:prstGeom prst="ellipse">
            <a:avLst/>
          </a:prstGeom>
          <a:solidFill>
            <a:srgbClr val="00A9C0"/>
          </a:solidFill>
          <a:ln w="12700">
            <a:solidFill>
              <a:srgbClr val="00A9C0"/>
            </a:solidFill>
            <a:prstDash val="solid"/>
          </a:ln>
        </p:spPr>
      </p:sp>
      <p:sp>
        <p:nvSpPr>
          <p:cNvPr id="86" name="Text 84"/>
          <p:cNvSpPr txBox="1"/>
          <p:nvPr/>
        </p:nvSpPr>
        <p:spPr>
          <a:xfrm>
            <a:off x="10854516" y="5855170"/>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7" name="Text 85"/>
          <p:cNvSpPr txBox="1"/>
          <p:nvPr/>
        </p:nvSpPr>
        <p:spPr>
          <a:xfrm>
            <a:off x="8056974" y="5708866"/>
            <a:ext cx="2751821" cy="219456"/>
          </a:xfrm>
          <a:prstGeom prst="rect">
            <a:avLst/>
          </a:prstGeom>
          <a:noFill/>
          <a:ln/>
        </p:spPr>
        <p:txBody>
          <a:bodyPr wrap="square" lIns="0" tIns="0" rIns="0" bIns="0" rtlCol="0" anchor="b"/>
          <a:lstStyle/>
          <a:p>
            <a:pPr algn="ctr" indent="0" marL="0">
              <a:buNone/>
            </a:pPr>
            <a:r>
              <a:rPr lang="en-US" sz="1000" dirty="0">
                <a:solidFill>
                  <a:srgbClr val="000000"/>
                </a:solidFill>
              </a:rPr>
              <a:t>Add a session in one click</a:t>
            </a:r>
            <a:endParaRPr lang="en-US" sz="1000" dirty="0"/>
          </a:p>
        </p:txBody>
      </p:sp>
      <p:sp>
        <p:nvSpPr>
          <p:cNvPr id="88" name="Text 86"/>
          <p:cNvSpPr txBox="1"/>
          <p:nvPr/>
        </p:nvSpPr>
        <p:spPr>
          <a:xfrm>
            <a:off x="502920" y="6108192"/>
            <a:ext cx="8229600" cy="237744"/>
          </a:xfrm>
          <a:prstGeom prst="rect">
            <a:avLst/>
          </a:prstGeom>
          <a:noFill/>
          <a:ln/>
        </p:spPr>
        <p:txBody>
          <a:bodyPr wrap="square" lIns="0" tIns="0" rIns="0" bIns="0" rtlCol="0" anchor="t"/>
          <a:lstStyle/>
          <a:p>
            <a:pPr indent="0" marL="0">
              <a:buNone/>
            </a:pPr>
            <a:r>
              <a:rPr lang="en-US" sz="1050" i="1" dirty="0">
                <a:solidFill>
                  <a:srgbClr val="4D4D4D"/>
                </a:solidFill>
              </a:rPr>
              <a:t>Classes and conferences share this flow; conferences add sessions, speakers and My Agenda.</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Registrant view: find it, book it, pay, add to calendar</a:t>
            </a:r>
            <a:endParaRPr lang="en-US" sz="3200" dirty="0"/>
          </a:p>
        </p:txBody>
      </p:sp>
      <p:pic>
        <p:nvPicPr>
          <p:cNvPr id="3" name="11-web-booking-flow.png" descr="/home/user/presales_memorial-hermann/deck/mockups/png/11-web-booking-flow.png">    </p:cNvPr>
          <p:cNvPicPr>
            <a:picLocks noChangeAspect="1"/>
          </p:cNvPicPr>
          <p:nvPr/>
        </p:nvPicPr>
        <p:blipFill>
          <a:blip r:embed="rId1"/>
          <a:stretch>
            <a:fillRect/>
          </a:stretch>
        </p:blipFill>
        <p:spPr>
          <a:xfrm>
            <a:off x="792328" y="1444752"/>
            <a:ext cx="10607040" cy="4463796"/>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598932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Web only: listings stay on Sitecore, booking runs on the existing Experience Cloud site, payment on Chase’s hosted page.</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Staff view: set up a conference and its sessions</a:t>
            </a:r>
            <a:endParaRPr lang="en-US" sz="3200" dirty="0"/>
          </a:p>
        </p:txBody>
      </p:sp>
      <p:pic>
        <p:nvPicPr>
          <p:cNvPr id="3" name="09-staff-conference-setup.png" descr="/home/user/presales_memorial-hermann/deck/mockups/png/09-staff-conference-setup.png">    </p:cNvPr>
          <p:cNvPicPr>
            <a:picLocks noChangeAspect="1"/>
          </p:cNvPicPr>
          <p:nvPr/>
        </p:nvPicPr>
        <p:blipFill>
          <a:blip r:embed="rId1"/>
          <a:stretch>
            <a:fillRect/>
          </a:stretch>
        </p:blipFill>
        <p:spPr>
          <a:xfrm>
            <a:off x="502920" y="1600200"/>
            <a:ext cx="8138160" cy="4069080"/>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8961120" y="1600200"/>
            <a:ext cx="2724912" cy="365760"/>
          </a:xfrm>
          <a:prstGeom prst="rect">
            <a:avLst/>
          </a:prstGeom>
          <a:noFill/>
          <a:ln/>
        </p:spPr>
        <p:txBody>
          <a:bodyPr wrap="square" lIns="0" tIns="0" rIns="0" bIns="0" rtlCol="0" anchor="t"/>
          <a:lstStyle/>
          <a:p>
            <a:pPr indent="0" marL="0">
              <a:buNone/>
            </a:pPr>
            <a:r>
              <a:rPr lang="en-US" sz="1800" b="1" dirty="0">
                <a:solidFill>
                  <a:srgbClr val="000000"/>
                </a:solidFill>
              </a:rPr>
              <a:t>How organizers work</a:t>
            </a:r>
            <a:endParaRPr lang="en-US" sz="1800" dirty="0"/>
          </a:p>
        </p:txBody>
      </p:sp>
      <p:sp>
        <p:nvSpPr>
          <p:cNvPr id="5" name="Shape 2"/>
          <p:cNvSpPr/>
          <p:nvPr/>
        </p:nvSpPr>
        <p:spPr>
          <a:xfrm>
            <a:off x="8961120" y="2139696"/>
            <a:ext cx="54864" cy="548640"/>
          </a:xfrm>
          <a:prstGeom prst="rect">
            <a:avLst/>
          </a:prstGeom>
          <a:solidFill>
            <a:srgbClr val="C8005A"/>
          </a:solidFill>
          <a:ln w="12700">
            <a:solidFill>
              <a:srgbClr val="C8005A"/>
            </a:solidFill>
            <a:prstDash val="solid"/>
          </a:ln>
        </p:spPr>
      </p:sp>
      <p:sp>
        <p:nvSpPr>
          <p:cNvPr id="6" name="Text 3"/>
          <p:cNvSpPr txBox="1"/>
          <p:nvPr/>
        </p:nvSpPr>
        <p:spPr>
          <a:xfrm>
            <a:off x="9144000" y="2103120"/>
            <a:ext cx="2542032" cy="256032"/>
          </a:xfrm>
          <a:prstGeom prst="rect">
            <a:avLst/>
          </a:prstGeom>
          <a:noFill/>
          <a:ln/>
        </p:spPr>
        <p:txBody>
          <a:bodyPr wrap="square" lIns="0" tIns="0" rIns="0" bIns="0" rtlCol="0" anchor="t"/>
          <a:lstStyle/>
          <a:p>
            <a:pPr indent="0" marL="0">
              <a:buNone/>
            </a:pPr>
            <a:r>
              <a:rPr lang="en-US" sz="1300" b="1" dirty="0">
                <a:solidFill>
                  <a:srgbClr val="000000"/>
                </a:solidFill>
              </a:rPr>
              <a:t>One form for every event</a:t>
            </a:r>
            <a:endParaRPr lang="en-US" sz="1300" dirty="0"/>
          </a:p>
        </p:txBody>
      </p:sp>
      <p:sp>
        <p:nvSpPr>
          <p:cNvPr id="7" name="Text 4"/>
          <p:cNvSpPr txBox="1"/>
          <p:nvPr/>
        </p:nvSpPr>
        <p:spPr>
          <a:xfrm>
            <a:off x="9144000" y="2368296"/>
            <a:ext cx="2542032" cy="384048"/>
          </a:xfrm>
          <a:prstGeom prst="rect">
            <a:avLst/>
          </a:prstGeom>
          <a:noFill/>
          <a:ln/>
        </p:spPr>
        <p:txBody>
          <a:bodyPr wrap="square" lIns="0" tIns="0" rIns="0" bIns="0" rtlCol="0" anchor="t"/>
          <a:lstStyle/>
          <a:p>
            <a:pPr indent="0" marL="0">
              <a:buNone/>
            </a:pPr>
            <a:r>
              <a:rPr lang="en-US" sz="1100" dirty="0">
                <a:solidFill>
                  <a:srgbClr val="4D4D4D"/>
                </a:solidFill>
              </a:rPr>
              <a:t>Pick class, event or conference; dates, venue, capacity</a:t>
            </a:r>
            <a:endParaRPr lang="en-US" sz="1100" dirty="0"/>
          </a:p>
        </p:txBody>
      </p:sp>
      <p:sp>
        <p:nvSpPr>
          <p:cNvPr id="8" name="Shape 5"/>
          <p:cNvSpPr/>
          <p:nvPr/>
        </p:nvSpPr>
        <p:spPr>
          <a:xfrm>
            <a:off x="8961120" y="2852928"/>
            <a:ext cx="54864" cy="548640"/>
          </a:xfrm>
          <a:prstGeom prst="rect">
            <a:avLst/>
          </a:prstGeom>
          <a:solidFill>
            <a:srgbClr val="C8005A"/>
          </a:solidFill>
          <a:ln w="12700">
            <a:solidFill>
              <a:srgbClr val="C8005A"/>
            </a:solidFill>
            <a:prstDash val="solid"/>
          </a:ln>
        </p:spPr>
      </p:sp>
      <p:sp>
        <p:nvSpPr>
          <p:cNvPr id="9" name="Text 6"/>
          <p:cNvSpPr txBox="1"/>
          <p:nvPr/>
        </p:nvSpPr>
        <p:spPr>
          <a:xfrm>
            <a:off x="9144000" y="2816352"/>
            <a:ext cx="2542032" cy="256032"/>
          </a:xfrm>
          <a:prstGeom prst="rect">
            <a:avLst/>
          </a:prstGeom>
          <a:noFill/>
          <a:ln/>
        </p:spPr>
        <p:txBody>
          <a:bodyPr wrap="square" lIns="0" tIns="0" rIns="0" bIns="0" rtlCol="0" anchor="t"/>
          <a:lstStyle/>
          <a:p>
            <a:pPr indent="0" marL="0">
              <a:buNone/>
            </a:pPr>
            <a:r>
              <a:rPr lang="en-US" sz="1300" b="1" dirty="0">
                <a:solidFill>
                  <a:srgbClr val="000000"/>
                </a:solidFill>
              </a:rPr>
              <a:t>Ticket types per audience</a:t>
            </a:r>
            <a:endParaRPr lang="en-US" sz="1300" dirty="0"/>
          </a:p>
        </p:txBody>
      </p:sp>
      <p:sp>
        <p:nvSpPr>
          <p:cNvPr id="10" name="Text 7"/>
          <p:cNvSpPr txBox="1"/>
          <p:nvPr/>
        </p:nvSpPr>
        <p:spPr>
          <a:xfrm>
            <a:off x="9144000" y="3081528"/>
            <a:ext cx="2542032" cy="384048"/>
          </a:xfrm>
          <a:prstGeom prst="rect">
            <a:avLst/>
          </a:prstGeom>
          <a:noFill/>
          <a:ln/>
        </p:spPr>
        <p:txBody>
          <a:bodyPr wrap="square" lIns="0" tIns="0" rIns="0" bIns="0" rtlCol="0" anchor="t"/>
          <a:lstStyle/>
          <a:p>
            <a:pPr indent="0" marL="0">
              <a:buNone/>
            </a:pPr>
            <a:r>
              <a:rPr lang="en-US" sz="1100" dirty="0">
                <a:solidFill>
                  <a:srgbClr val="4D4D4D"/>
                </a:solidFill>
              </a:rPr>
              <a:t>Provider, nurse, caregiver and community prices</a:t>
            </a:r>
            <a:endParaRPr lang="en-US" sz="1100" dirty="0"/>
          </a:p>
        </p:txBody>
      </p:sp>
      <p:sp>
        <p:nvSpPr>
          <p:cNvPr id="11" name="Shape 8"/>
          <p:cNvSpPr/>
          <p:nvPr/>
        </p:nvSpPr>
        <p:spPr>
          <a:xfrm>
            <a:off x="8961120" y="3566160"/>
            <a:ext cx="54864" cy="548640"/>
          </a:xfrm>
          <a:prstGeom prst="rect">
            <a:avLst/>
          </a:prstGeom>
          <a:solidFill>
            <a:srgbClr val="C8005A"/>
          </a:solidFill>
          <a:ln w="12700">
            <a:solidFill>
              <a:srgbClr val="C8005A"/>
            </a:solidFill>
            <a:prstDash val="solid"/>
          </a:ln>
        </p:spPr>
      </p:sp>
      <p:sp>
        <p:nvSpPr>
          <p:cNvPr id="12" name="Text 9"/>
          <p:cNvSpPr txBox="1"/>
          <p:nvPr/>
        </p:nvSpPr>
        <p:spPr>
          <a:xfrm>
            <a:off x="9144000" y="3529584"/>
            <a:ext cx="2542032" cy="256032"/>
          </a:xfrm>
          <a:prstGeom prst="rect">
            <a:avLst/>
          </a:prstGeom>
          <a:noFill/>
          <a:ln/>
        </p:spPr>
        <p:txBody>
          <a:bodyPr wrap="square" lIns="0" tIns="0" rIns="0" bIns="0" rtlCol="0" anchor="t"/>
          <a:lstStyle/>
          <a:p>
            <a:pPr indent="0" marL="0">
              <a:buNone/>
            </a:pPr>
            <a:r>
              <a:rPr lang="en-US" sz="1300" b="1" dirty="0">
                <a:solidFill>
                  <a:srgbClr val="000000"/>
                </a:solidFill>
              </a:rPr>
              <a:t>Sessions in minutes</a:t>
            </a:r>
            <a:endParaRPr lang="en-US" sz="1300" dirty="0"/>
          </a:p>
        </p:txBody>
      </p:sp>
      <p:sp>
        <p:nvSpPr>
          <p:cNvPr id="13" name="Text 10"/>
          <p:cNvSpPr txBox="1"/>
          <p:nvPr/>
        </p:nvSpPr>
        <p:spPr>
          <a:xfrm>
            <a:off x="9144000" y="3794760"/>
            <a:ext cx="2542032" cy="384048"/>
          </a:xfrm>
          <a:prstGeom prst="rect">
            <a:avLst/>
          </a:prstGeom>
          <a:noFill/>
          <a:ln/>
        </p:spPr>
        <p:txBody>
          <a:bodyPr wrap="square" lIns="0" tIns="0" rIns="0" bIns="0" rtlCol="0" anchor="t"/>
          <a:lstStyle/>
          <a:p>
            <a:pPr indent="0" marL="0">
              <a:buNone/>
            </a:pPr>
            <a:r>
              <a:rPr lang="en-US" sz="1100" dirty="0">
                <a:solidFill>
                  <a:srgbClr val="4D4D4D"/>
                </a:solidFill>
              </a:rPr>
              <a:t>Day, time, room, track, speaker, seat limit, CME [to confirm]</a:t>
            </a:r>
            <a:endParaRPr lang="en-US" sz="1100" dirty="0"/>
          </a:p>
        </p:txBody>
      </p:sp>
      <p:sp>
        <p:nvSpPr>
          <p:cNvPr id="14" name="Shape 11"/>
          <p:cNvSpPr/>
          <p:nvPr/>
        </p:nvSpPr>
        <p:spPr>
          <a:xfrm>
            <a:off x="8961120" y="4279392"/>
            <a:ext cx="54864" cy="548640"/>
          </a:xfrm>
          <a:prstGeom prst="rect">
            <a:avLst/>
          </a:prstGeom>
          <a:solidFill>
            <a:srgbClr val="C8005A"/>
          </a:solidFill>
          <a:ln w="12700">
            <a:solidFill>
              <a:srgbClr val="C8005A"/>
            </a:solidFill>
            <a:prstDash val="solid"/>
          </a:ln>
        </p:spPr>
      </p:sp>
      <p:sp>
        <p:nvSpPr>
          <p:cNvPr id="15" name="Text 12"/>
          <p:cNvSpPr txBox="1"/>
          <p:nvPr/>
        </p:nvSpPr>
        <p:spPr>
          <a:xfrm>
            <a:off x="9144000" y="4242816"/>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Payment and journey</a:t>
            </a:r>
            <a:endParaRPr lang="en-US" sz="1300" dirty="0"/>
          </a:p>
        </p:txBody>
      </p:sp>
      <p:sp>
        <p:nvSpPr>
          <p:cNvPr id="16" name="Text 13"/>
          <p:cNvSpPr txBox="1"/>
          <p:nvPr/>
        </p:nvSpPr>
        <p:spPr>
          <a:xfrm>
            <a:off x="9144000" y="4507992"/>
            <a:ext cx="2542032" cy="384048"/>
          </a:xfrm>
          <a:prstGeom prst="rect">
            <a:avLst/>
          </a:prstGeom>
          <a:noFill/>
          <a:ln/>
        </p:spPr>
        <p:txBody>
          <a:bodyPr wrap="square" lIns="0" tIns="0" rIns="0" bIns="0" rtlCol="0" anchor="t"/>
          <a:lstStyle/>
          <a:p>
            <a:pPr indent="0" marL="0">
              <a:buNone/>
            </a:pPr>
            <a:r>
              <a:rPr lang="en-US" sz="1100" dirty="0">
                <a:solidFill>
                  <a:srgbClr val="4D4D4D"/>
                </a:solidFill>
              </a:rPr>
              <a:t>Chase checkout and a Marketing Cloud journey set per event</a:t>
            </a:r>
            <a:endParaRPr lang="en-US" sz="1100" dirty="0"/>
          </a:p>
        </p:txBody>
      </p:sp>
      <p:sp>
        <p:nvSpPr>
          <p:cNvPr id="17" name="Shape 14"/>
          <p:cNvSpPr/>
          <p:nvPr/>
        </p:nvSpPr>
        <p:spPr>
          <a:xfrm>
            <a:off x="8961120" y="4992624"/>
            <a:ext cx="54864" cy="548640"/>
          </a:xfrm>
          <a:prstGeom prst="rect">
            <a:avLst/>
          </a:prstGeom>
          <a:solidFill>
            <a:srgbClr val="C8005A"/>
          </a:solidFill>
          <a:ln w="12700">
            <a:solidFill>
              <a:srgbClr val="C8005A"/>
            </a:solidFill>
            <a:prstDash val="solid"/>
          </a:ln>
        </p:spPr>
      </p:sp>
      <p:sp>
        <p:nvSpPr>
          <p:cNvPr id="18" name="Text 15"/>
          <p:cNvSpPr txBox="1"/>
          <p:nvPr/>
        </p:nvSpPr>
        <p:spPr>
          <a:xfrm>
            <a:off x="9144000" y="4956048"/>
            <a:ext cx="2542032" cy="256032"/>
          </a:xfrm>
          <a:prstGeom prst="rect">
            <a:avLst/>
          </a:prstGeom>
          <a:noFill/>
          <a:ln/>
        </p:spPr>
        <p:txBody>
          <a:bodyPr wrap="square" lIns="0" tIns="0" rIns="0" bIns="0" rtlCol="0" anchor="t"/>
          <a:lstStyle/>
          <a:p>
            <a:pPr indent="0" marL="0">
              <a:buNone/>
            </a:pPr>
            <a:r>
              <a:rPr lang="en-US" sz="1300" b="1" dirty="0">
                <a:solidFill>
                  <a:srgbClr val="000000"/>
                </a:solidFill>
              </a:rPr>
              <a:t>Publish</a:t>
            </a:r>
            <a:endParaRPr lang="en-US" sz="1300" dirty="0"/>
          </a:p>
        </p:txBody>
      </p:sp>
      <p:sp>
        <p:nvSpPr>
          <p:cNvPr id="19" name="Text 16"/>
          <p:cNvSpPr txBox="1"/>
          <p:nvPr/>
        </p:nvSpPr>
        <p:spPr>
          <a:xfrm>
            <a:off x="9144000" y="5221224"/>
            <a:ext cx="2542032" cy="384048"/>
          </a:xfrm>
          <a:prstGeom prst="rect">
            <a:avLst/>
          </a:prstGeom>
          <a:noFill/>
          <a:ln/>
        </p:spPr>
        <p:txBody>
          <a:bodyPr wrap="square" lIns="0" tIns="0" rIns="0" bIns="0" rtlCol="0" anchor="t"/>
          <a:lstStyle/>
          <a:p>
            <a:pPr indent="0" marL="0">
              <a:buNone/>
            </a:pPr>
            <a:r>
              <a:rPr lang="en-US" sz="1100" dirty="0">
                <a:solidFill>
                  <a:srgbClr val="4D4D4D"/>
                </a:solidFill>
              </a:rPr>
              <a:t>The agenda appears on the website</a:t>
            </a:r>
            <a:endParaRPr lang="en-US" sz="1100" dirty="0"/>
          </a:p>
        </p:txBody>
      </p:sp>
      <p:sp>
        <p:nvSpPr>
          <p:cNvPr id="20" name="Text 17"/>
          <p:cNvSpPr txBox="1"/>
          <p:nvPr/>
        </p:nvSpPr>
        <p:spPr>
          <a:xfrm>
            <a:off x="502920" y="5852160"/>
            <a:ext cx="8138160" cy="274320"/>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A standard Salesforce Lightning app, so Memorial Hermann’s admins can own it after launch.</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Fully booked? Capture interest and invite them first</a:t>
            </a:r>
            <a:endParaRPr lang="en-US" sz="3200" dirty="0"/>
          </a:p>
        </p:txBody>
      </p:sp>
      <p:pic>
        <p:nvPicPr>
          <p:cNvPr id="3" name="10-interest-list.png" descr="/home/user/presales_memorial-hermann/deck/mockups/png/10-interest-list.png">    </p:cNvPr>
          <p:cNvPicPr>
            <a:picLocks noChangeAspect="1"/>
          </p:cNvPicPr>
          <p:nvPr/>
        </p:nvPicPr>
        <p:blipFill>
          <a:blip r:embed="rId1"/>
          <a:stretch>
            <a:fillRect/>
          </a:stretch>
        </p:blipFill>
        <p:spPr>
          <a:xfrm>
            <a:off x="502920" y="1481328"/>
            <a:ext cx="11185855" cy="4474342"/>
          </a:xfrm>
          <a:prstGeom prst="rect">
            <a:avLst/>
          </a:prstGeom>
          <a:effectLst>
            <a:outerShdw sx="100000" sy="100000" kx="0" ky="0" algn="bl" rotWithShape="0" blurRad="101600" dist="25400" dir="5400000">
              <a:srgbClr val="000000">
                <a:alpha val="25000"/>
              </a:srgbClr>
            </a:outerShdw>
          </a:effectLst>
        </p:spPr>
      </p:pic>
      <p:sp>
        <p:nvSpPr>
          <p:cNvPr id="4" name="Text 1"/>
          <p:cNvSpPr txBox="1"/>
          <p:nvPr/>
        </p:nvSpPr>
        <p:spPr>
          <a:xfrm>
            <a:off x="502920" y="6035040"/>
            <a:ext cx="11185855" cy="256032"/>
          </a:xfrm>
          <a:prstGeom prst="rect">
            <a:avLst/>
          </a:prstGeom>
          <a:noFill/>
          <a:ln/>
        </p:spPr>
        <p:txBody>
          <a:bodyPr wrap="square" lIns="0" tIns="0" rIns="0" bIns="0" rtlCol="0" anchor="t"/>
          <a:lstStyle/>
          <a:p>
            <a:pPr indent="0" marL="0">
              <a:buNone/>
            </a:pPr>
            <a:r>
              <a:rPr lang="en-US" sz="1050" i="1" dirty="0">
                <a:solidFill>
                  <a:srgbClr val="4D4D4D"/>
                </a:solidFill>
              </a:rPr>
              <a:t>Concept mockup, sample data. Works for classes, events and conference sessions. Head-start window [to confirm].</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Every seat filled, no interested person lost</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When interest outruns seats: a popular class or a conference opening</a:t>
            </a:r>
            <a:endParaRPr lang="en-US" sz="1400" dirty="0"/>
          </a:p>
        </p:txBody>
      </p:sp>
      <p:sp>
        <p:nvSpPr>
          <p:cNvPr id="4" name="step-1"/>
          <p:cNvSpPr/>
          <p:nvPr/>
        </p:nvSpPr>
        <p:spPr>
          <a:xfrm>
            <a:off x="502920" y="1874520"/>
            <a:ext cx="2011680" cy="1325880"/>
          </a:xfrm>
          <a:prstGeom prst="roundRect">
            <a:avLst>
              <a:gd name="adj" fmla="val 8276"/>
            </a:avLst>
          </a:prstGeom>
          <a:solidFill>
            <a:srgbClr val="111114"/>
          </a:solidFill>
          <a:ln w="19050">
            <a:solidFill>
              <a:srgbClr val="00D6F2"/>
            </a:solidFill>
            <a:prstDash val="solid"/>
          </a:ln>
        </p:spPr>
      </p:sp>
      <p:pic>
        <p:nvPicPr>
          <p:cNvPr id="5" name="Image 0" descr="preencoded.png">    </p:cNvPr>
          <p:cNvPicPr>
            <a:picLocks noChangeAspect="1"/>
          </p:cNvPicPr>
          <p:nvPr/>
        </p:nvPicPr>
        <p:blipFill>
          <a:blip r:embed="rId1"/>
          <a:stretch>
            <a:fillRect/>
          </a:stretch>
        </p:blipFill>
        <p:spPr>
          <a:xfrm>
            <a:off x="667512" y="2039112"/>
            <a:ext cx="292608" cy="292608"/>
          </a:xfrm>
          <a:prstGeom prst="rect">
            <a:avLst/>
          </a:prstGeom>
        </p:spPr>
      </p:pic>
      <p:sp>
        <p:nvSpPr>
          <p:cNvPr id="6" name="Text 3"/>
          <p:cNvSpPr txBox="1"/>
          <p:nvPr/>
        </p:nvSpPr>
        <p:spPr>
          <a:xfrm>
            <a:off x="2103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1</a:t>
            </a:r>
            <a:endParaRPr lang="en-US" sz="1200" dirty="0"/>
          </a:p>
        </p:txBody>
      </p:sp>
      <p:sp>
        <p:nvSpPr>
          <p:cNvPr id="7" name="Text 4"/>
          <p:cNvSpPr txBox="1"/>
          <p:nvPr/>
        </p:nvSpPr>
        <p:spPr>
          <a:xfrm>
            <a:off x="667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Edge protection</a:t>
            </a:r>
            <a:endParaRPr lang="en-US" sz="1400" dirty="0"/>
          </a:p>
        </p:txBody>
      </p:sp>
      <p:sp>
        <p:nvSpPr>
          <p:cNvPr id="8" name="Text 5"/>
          <p:cNvSpPr txBox="1"/>
          <p:nvPr/>
        </p:nvSpPr>
        <p:spPr>
          <a:xfrm>
            <a:off x="667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Cached pages, bot defense, rate limits</a:t>
            </a:r>
            <a:endParaRPr lang="en-US" sz="1100" dirty="0"/>
          </a:p>
        </p:txBody>
      </p:sp>
      <p:sp>
        <p:nvSpPr>
          <p:cNvPr id="9" name="Shape 6"/>
          <p:cNvSpPr/>
          <p:nvPr/>
        </p:nvSpPr>
        <p:spPr>
          <a:xfrm>
            <a:off x="2542032" y="2537460"/>
            <a:ext cx="219456" cy="0"/>
          </a:xfrm>
          <a:prstGeom prst="line">
            <a:avLst/>
          </a:prstGeom>
          <a:noFill/>
          <a:ln w="15875">
            <a:solidFill>
              <a:schemeClr val="bg1"/>
            </a:solidFill>
            <a:prstDash val="solid"/>
            <a:tailEnd type="triangle"/>
          </a:ln>
        </p:spPr>
      </p:sp>
      <p:sp>
        <p:nvSpPr>
          <p:cNvPr id="10" name="step-2"/>
          <p:cNvSpPr/>
          <p:nvPr/>
        </p:nvSpPr>
        <p:spPr>
          <a:xfrm>
            <a:off x="2788920" y="1874520"/>
            <a:ext cx="2011680" cy="1325880"/>
          </a:xfrm>
          <a:prstGeom prst="roundRect">
            <a:avLst>
              <a:gd name="adj" fmla="val 8276"/>
            </a:avLst>
          </a:prstGeom>
          <a:solidFill>
            <a:srgbClr val="111114"/>
          </a:solidFill>
          <a:ln w="19050">
            <a:solidFill>
              <a:srgbClr val="FED700"/>
            </a:solidFill>
            <a:prstDash val="solid"/>
          </a:ln>
        </p:spPr>
      </p:sp>
      <p:pic>
        <p:nvPicPr>
          <p:cNvPr id="11" name="Image 1" descr="preencoded.png">    </p:cNvPr>
          <p:cNvPicPr>
            <a:picLocks noChangeAspect="1"/>
          </p:cNvPicPr>
          <p:nvPr/>
        </p:nvPicPr>
        <p:blipFill>
          <a:blip r:embed="rId2"/>
          <a:stretch>
            <a:fillRect/>
          </a:stretch>
        </p:blipFill>
        <p:spPr>
          <a:xfrm>
            <a:off x="2953512" y="2039112"/>
            <a:ext cx="292608" cy="292608"/>
          </a:xfrm>
          <a:prstGeom prst="rect">
            <a:avLst/>
          </a:prstGeom>
        </p:spPr>
      </p:pic>
      <p:sp>
        <p:nvSpPr>
          <p:cNvPr id="12" name="Text 8"/>
          <p:cNvSpPr txBox="1"/>
          <p:nvPr/>
        </p:nvSpPr>
        <p:spPr>
          <a:xfrm>
            <a:off x="4389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2</a:t>
            </a:r>
            <a:endParaRPr lang="en-US" sz="1200" dirty="0"/>
          </a:p>
        </p:txBody>
      </p:sp>
      <p:sp>
        <p:nvSpPr>
          <p:cNvPr id="13" name="Text 9"/>
          <p:cNvSpPr txBox="1"/>
          <p:nvPr/>
        </p:nvSpPr>
        <p:spPr>
          <a:xfrm>
            <a:off x="2953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Fair waiting room</a:t>
            </a:r>
            <a:endParaRPr lang="en-US" sz="1400" dirty="0"/>
          </a:p>
        </p:txBody>
      </p:sp>
      <p:sp>
        <p:nvSpPr>
          <p:cNvPr id="14" name="Text 10"/>
          <p:cNvSpPr txBox="1"/>
          <p:nvPr/>
        </p:nvSpPr>
        <p:spPr>
          <a:xfrm>
            <a:off x="2953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Admits people in arrival order</a:t>
            </a:r>
            <a:endParaRPr lang="en-US" sz="1100" dirty="0"/>
          </a:p>
        </p:txBody>
      </p:sp>
      <p:sp>
        <p:nvSpPr>
          <p:cNvPr id="15" name="Shape 11"/>
          <p:cNvSpPr/>
          <p:nvPr/>
        </p:nvSpPr>
        <p:spPr>
          <a:xfrm>
            <a:off x="4828032" y="2537460"/>
            <a:ext cx="219456" cy="0"/>
          </a:xfrm>
          <a:prstGeom prst="line">
            <a:avLst/>
          </a:prstGeom>
          <a:noFill/>
          <a:ln w="15875">
            <a:solidFill>
              <a:schemeClr val="bg1"/>
            </a:solidFill>
            <a:prstDash val="solid"/>
            <a:tailEnd type="triangle"/>
          </a:ln>
        </p:spPr>
      </p:sp>
      <p:sp>
        <p:nvSpPr>
          <p:cNvPr id="16" name="step-3"/>
          <p:cNvSpPr/>
          <p:nvPr/>
        </p:nvSpPr>
        <p:spPr>
          <a:xfrm>
            <a:off x="5074920" y="1874520"/>
            <a:ext cx="2011680" cy="1325880"/>
          </a:xfrm>
          <a:prstGeom prst="roundRect">
            <a:avLst>
              <a:gd name="adj" fmla="val 8276"/>
            </a:avLst>
          </a:prstGeom>
          <a:solidFill>
            <a:srgbClr val="111114"/>
          </a:solidFill>
          <a:ln w="19050">
            <a:solidFill>
              <a:srgbClr val="FF0068"/>
            </a:solidFill>
            <a:prstDash val="solid"/>
          </a:ln>
        </p:spPr>
      </p:sp>
      <p:pic>
        <p:nvPicPr>
          <p:cNvPr id="17" name="Image 2" descr="preencoded.png">    </p:cNvPr>
          <p:cNvPicPr>
            <a:picLocks noChangeAspect="1"/>
          </p:cNvPicPr>
          <p:nvPr/>
        </p:nvPicPr>
        <p:blipFill>
          <a:blip r:embed="rId3"/>
          <a:stretch>
            <a:fillRect/>
          </a:stretch>
        </p:blipFill>
        <p:spPr>
          <a:xfrm>
            <a:off x="5239512" y="2039112"/>
            <a:ext cx="292608" cy="292608"/>
          </a:xfrm>
          <a:prstGeom prst="rect">
            <a:avLst/>
          </a:prstGeom>
        </p:spPr>
      </p:pic>
      <p:sp>
        <p:nvSpPr>
          <p:cNvPr id="18" name="Text 13"/>
          <p:cNvSpPr txBox="1"/>
          <p:nvPr/>
        </p:nvSpPr>
        <p:spPr>
          <a:xfrm>
            <a:off x="6675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3</a:t>
            </a:r>
            <a:endParaRPr lang="en-US" sz="1200" dirty="0"/>
          </a:p>
        </p:txBody>
      </p:sp>
      <p:sp>
        <p:nvSpPr>
          <p:cNvPr id="19" name="Text 14"/>
          <p:cNvSpPr txBox="1"/>
          <p:nvPr/>
        </p:nvSpPr>
        <p:spPr>
          <a:xfrm>
            <a:off x="5239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Seat hold</a:t>
            </a:r>
            <a:endParaRPr lang="en-US" sz="1400" dirty="0"/>
          </a:p>
        </p:txBody>
      </p:sp>
      <p:sp>
        <p:nvSpPr>
          <p:cNvPr id="20" name="Text 15"/>
          <p:cNvSpPr txBox="1"/>
          <p:nvPr/>
        </p:nvSpPr>
        <p:spPr>
          <a:xfrm>
            <a:off x="5239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10-minute hold; a seat can never be sold twice</a:t>
            </a:r>
            <a:endParaRPr lang="en-US" sz="1100" dirty="0"/>
          </a:p>
        </p:txBody>
      </p:sp>
      <p:sp>
        <p:nvSpPr>
          <p:cNvPr id="21" name="Shape 16"/>
          <p:cNvSpPr/>
          <p:nvPr/>
        </p:nvSpPr>
        <p:spPr>
          <a:xfrm>
            <a:off x="7114032" y="2537460"/>
            <a:ext cx="219456" cy="0"/>
          </a:xfrm>
          <a:prstGeom prst="line">
            <a:avLst/>
          </a:prstGeom>
          <a:noFill/>
          <a:ln w="15875">
            <a:solidFill>
              <a:schemeClr val="bg1"/>
            </a:solidFill>
            <a:prstDash val="solid"/>
            <a:tailEnd type="triangle"/>
          </a:ln>
        </p:spPr>
      </p:sp>
      <p:sp>
        <p:nvSpPr>
          <p:cNvPr id="22" name="step-4"/>
          <p:cNvSpPr/>
          <p:nvPr/>
        </p:nvSpPr>
        <p:spPr>
          <a:xfrm>
            <a:off x="7360920" y="1874520"/>
            <a:ext cx="2011680" cy="1325880"/>
          </a:xfrm>
          <a:prstGeom prst="roundRect">
            <a:avLst>
              <a:gd name="adj" fmla="val 8276"/>
            </a:avLst>
          </a:prstGeom>
          <a:solidFill>
            <a:srgbClr val="111114"/>
          </a:solidFill>
          <a:ln w="19050">
            <a:solidFill>
              <a:srgbClr val="FED700"/>
            </a:solidFill>
            <a:prstDash val="solid"/>
          </a:ln>
        </p:spPr>
      </p:sp>
      <p:pic>
        <p:nvPicPr>
          <p:cNvPr id="23" name="Image 3" descr="preencoded.png">    </p:cNvPr>
          <p:cNvPicPr>
            <a:picLocks noChangeAspect="1"/>
          </p:cNvPicPr>
          <p:nvPr/>
        </p:nvPicPr>
        <p:blipFill>
          <a:blip r:embed="rId4"/>
          <a:stretch>
            <a:fillRect/>
          </a:stretch>
        </p:blipFill>
        <p:spPr>
          <a:xfrm>
            <a:off x="7525512" y="2039112"/>
            <a:ext cx="292608" cy="292608"/>
          </a:xfrm>
          <a:prstGeom prst="rect">
            <a:avLst/>
          </a:prstGeom>
        </p:spPr>
      </p:pic>
      <p:sp>
        <p:nvSpPr>
          <p:cNvPr id="24" name="Text 18"/>
          <p:cNvSpPr txBox="1"/>
          <p:nvPr/>
        </p:nvSpPr>
        <p:spPr>
          <a:xfrm>
            <a:off x="8961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4</a:t>
            </a:r>
            <a:endParaRPr lang="en-US" sz="1200" dirty="0"/>
          </a:p>
        </p:txBody>
      </p:sp>
      <p:sp>
        <p:nvSpPr>
          <p:cNvPr id="25" name="Text 19"/>
          <p:cNvSpPr txBox="1"/>
          <p:nvPr/>
        </p:nvSpPr>
        <p:spPr>
          <a:xfrm>
            <a:off x="7525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Hosted payment</a:t>
            </a:r>
            <a:endParaRPr lang="en-US" sz="1400" dirty="0"/>
          </a:p>
        </p:txBody>
      </p:sp>
      <p:sp>
        <p:nvSpPr>
          <p:cNvPr id="26" name="Text 20"/>
          <p:cNvSpPr txBox="1"/>
          <p:nvPr/>
        </p:nvSpPr>
        <p:spPr>
          <a:xfrm>
            <a:off x="7525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Paid = confirmed; unpaid seats return</a:t>
            </a:r>
            <a:endParaRPr lang="en-US" sz="1100" dirty="0"/>
          </a:p>
        </p:txBody>
      </p:sp>
      <p:sp>
        <p:nvSpPr>
          <p:cNvPr id="27" name="Shape 21"/>
          <p:cNvSpPr/>
          <p:nvPr/>
        </p:nvSpPr>
        <p:spPr>
          <a:xfrm>
            <a:off x="9400032" y="2537460"/>
            <a:ext cx="219456" cy="0"/>
          </a:xfrm>
          <a:prstGeom prst="line">
            <a:avLst/>
          </a:prstGeom>
          <a:noFill/>
          <a:ln w="15875">
            <a:solidFill>
              <a:schemeClr val="bg1"/>
            </a:solidFill>
            <a:prstDash val="solid"/>
            <a:tailEnd type="triangle"/>
          </a:ln>
        </p:spPr>
      </p:sp>
      <p:sp>
        <p:nvSpPr>
          <p:cNvPr id="28" name="step-5"/>
          <p:cNvSpPr/>
          <p:nvPr/>
        </p:nvSpPr>
        <p:spPr>
          <a:xfrm>
            <a:off x="9646920" y="1874520"/>
            <a:ext cx="2011680" cy="1325880"/>
          </a:xfrm>
          <a:prstGeom prst="roundRect">
            <a:avLst>
              <a:gd name="adj" fmla="val 8276"/>
            </a:avLst>
          </a:prstGeom>
          <a:solidFill>
            <a:srgbClr val="111114"/>
          </a:solidFill>
          <a:ln w="19050">
            <a:solidFill>
              <a:srgbClr val="00D6F2"/>
            </a:solidFill>
            <a:prstDash val="solid"/>
          </a:ln>
        </p:spPr>
      </p:sp>
      <p:pic>
        <p:nvPicPr>
          <p:cNvPr id="29" name="Image 4" descr="preencoded.png">    </p:cNvPr>
          <p:cNvPicPr>
            <a:picLocks noChangeAspect="1"/>
          </p:cNvPicPr>
          <p:nvPr/>
        </p:nvPicPr>
        <p:blipFill>
          <a:blip r:embed="rId5"/>
          <a:stretch>
            <a:fillRect/>
          </a:stretch>
        </p:blipFill>
        <p:spPr>
          <a:xfrm>
            <a:off x="9811512" y="2039112"/>
            <a:ext cx="292608" cy="292608"/>
          </a:xfrm>
          <a:prstGeom prst="rect">
            <a:avLst/>
          </a:prstGeom>
        </p:spPr>
      </p:pic>
      <p:sp>
        <p:nvSpPr>
          <p:cNvPr id="30" name="Text 23"/>
          <p:cNvSpPr txBox="1"/>
          <p:nvPr/>
        </p:nvSpPr>
        <p:spPr>
          <a:xfrm>
            <a:off x="11247120" y="2020824"/>
            <a:ext cx="274320" cy="274320"/>
          </a:xfrm>
          <a:prstGeom prst="rect">
            <a:avLst/>
          </a:prstGeom>
          <a:noFill/>
          <a:ln/>
        </p:spPr>
        <p:txBody>
          <a:bodyPr wrap="square" lIns="0" tIns="0" rIns="0" bIns="0" rtlCol="0" anchor="t"/>
          <a:lstStyle/>
          <a:p>
            <a:pPr algn="r" indent="0" marL="0">
              <a:buNone/>
            </a:pPr>
            <a:r>
              <a:rPr lang="en-US" sz="1200" dirty="0">
                <a:solidFill>
                  <a:srgbClr val="BFBFBF"/>
                </a:solidFill>
              </a:rPr>
              <a:t>5</a:t>
            </a:r>
            <a:endParaRPr lang="en-US" sz="1200" dirty="0"/>
          </a:p>
        </p:txBody>
      </p:sp>
      <p:sp>
        <p:nvSpPr>
          <p:cNvPr id="31" name="Text 24"/>
          <p:cNvSpPr txBox="1"/>
          <p:nvPr/>
        </p:nvSpPr>
        <p:spPr>
          <a:xfrm>
            <a:off x="9811512" y="2423160"/>
            <a:ext cx="1737360" cy="274320"/>
          </a:xfrm>
          <a:prstGeom prst="rect">
            <a:avLst/>
          </a:prstGeom>
          <a:noFill/>
          <a:ln/>
        </p:spPr>
        <p:txBody>
          <a:bodyPr wrap="square" lIns="0" tIns="0" rIns="0" bIns="0" rtlCol="0" anchor="t"/>
          <a:lstStyle/>
          <a:p>
            <a:pPr indent="0" marL="0">
              <a:buNone/>
            </a:pPr>
            <a:r>
              <a:rPr lang="en-US" sz="1400" b="1" dirty="0">
                <a:solidFill>
                  <a:schemeClr val="bg1"/>
                </a:solidFill>
              </a:rPr>
              <a:t>Salesforce</a:t>
            </a:r>
            <a:endParaRPr lang="en-US" sz="1400" dirty="0"/>
          </a:p>
        </p:txBody>
      </p:sp>
      <p:sp>
        <p:nvSpPr>
          <p:cNvPr id="32" name="Text 25"/>
          <p:cNvSpPr txBox="1"/>
          <p:nvPr/>
        </p:nvSpPr>
        <p:spPr>
          <a:xfrm>
            <a:off x="9811512" y="2715768"/>
            <a:ext cx="1737360" cy="457200"/>
          </a:xfrm>
          <a:prstGeom prst="rect">
            <a:avLst/>
          </a:prstGeom>
          <a:noFill/>
          <a:ln/>
        </p:spPr>
        <p:txBody>
          <a:bodyPr wrap="square" lIns="0" tIns="0" rIns="0" bIns="0" rtlCol="0" anchor="t"/>
          <a:lstStyle/>
          <a:p>
            <a:pPr indent="0" marL="0">
              <a:buNone/>
            </a:pPr>
            <a:r>
              <a:rPr lang="en-US" sz="1100" dirty="0">
                <a:solidFill>
                  <a:srgbClr val="BFBFBF"/>
                </a:solidFill>
              </a:rPr>
              <a:t>Queued and retried; never lost</a:t>
            </a:r>
            <a:endParaRPr lang="en-US" sz="1100" dirty="0"/>
          </a:p>
        </p:txBody>
      </p:sp>
      <p:sp>
        <p:nvSpPr>
          <p:cNvPr id="33" name="Text 26"/>
          <p:cNvSpPr txBox="1"/>
          <p:nvPr/>
        </p:nvSpPr>
        <p:spPr>
          <a:xfrm>
            <a:off x="502920" y="3520440"/>
            <a:ext cx="5486400" cy="274320"/>
          </a:xfrm>
          <a:prstGeom prst="rect">
            <a:avLst/>
          </a:prstGeom>
          <a:noFill/>
          <a:ln/>
        </p:spPr>
        <p:txBody>
          <a:bodyPr wrap="square" lIns="0" tIns="0" rIns="0" bIns="0" rtlCol="0" anchor="t"/>
          <a:lstStyle/>
          <a:p>
            <a:pPr indent="0" marL="0">
              <a:buNone/>
            </a:pPr>
            <a:r>
              <a:rPr lang="en-US" sz="1000" b="1" spc="300" kern="0" dirty="0">
                <a:solidFill>
                  <a:schemeClr val="bg1"/>
                </a:solidFill>
              </a:rPr>
              <a:t>WHERE EVERY CLICK ENDS UP</a:t>
            </a:r>
            <a:endParaRPr lang="en-US" sz="1000" dirty="0"/>
          </a:p>
        </p:txBody>
      </p:sp>
      <p:sp>
        <p:nvSpPr>
          <p:cNvPr id="34" name="Shape 27"/>
          <p:cNvSpPr/>
          <p:nvPr/>
        </p:nvSpPr>
        <p:spPr>
          <a:xfrm>
            <a:off x="502920" y="3840480"/>
            <a:ext cx="2514600" cy="1783080"/>
          </a:xfrm>
          <a:prstGeom prst="roundRect">
            <a:avLst>
              <a:gd name="adj" fmla="val 6154"/>
            </a:avLst>
          </a:prstGeom>
          <a:solidFill>
            <a:srgbClr val="17171B"/>
          </a:solidFill>
          <a:ln w="12700">
            <a:solidFill>
              <a:srgbClr val="3A3A42"/>
            </a:solidFill>
            <a:prstDash val="solid"/>
          </a:ln>
        </p:spPr>
      </p:sp>
      <p:sp>
        <p:nvSpPr>
          <p:cNvPr id="35" name="Text 28"/>
          <p:cNvSpPr txBox="1"/>
          <p:nvPr/>
        </p:nvSpPr>
        <p:spPr>
          <a:xfrm>
            <a:off x="704088" y="3950208"/>
            <a:ext cx="2286000" cy="640080"/>
          </a:xfrm>
          <a:prstGeom prst="rect">
            <a:avLst/>
          </a:prstGeom>
          <a:noFill/>
          <a:ln/>
        </p:spPr>
        <p:txBody>
          <a:bodyPr wrap="square" lIns="0" tIns="0" rIns="0" bIns="0" rtlCol="0" anchor="t"/>
          <a:lstStyle/>
          <a:p>
            <a:pPr indent="0" marL="0">
              <a:buNone/>
            </a:pPr>
            <a:r>
              <a:rPr lang="en-US" sz="3200" dirty="0">
                <a:solidFill>
                  <a:srgbClr val="00D6F2"/>
                </a:solidFill>
                <a:latin typeface="Trenda IG Text Light" pitchFamily="34" charset="0"/>
                <a:ea typeface="Trenda IG Text Light" pitchFamily="34" charset="-122"/>
                <a:cs typeface="Trenda IG Text Light" pitchFamily="34" charset="-120"/>
              </a:rPr>
              <a:t>30</a:t>
            </a:r>
            <a:endParaRPr lang="en-US" sz="3200" dirty="0"/>
          </a:p>
        </p:txBody>
      </p:sp>
      <p:sp>
        <p:nvSpPr>
          <p:cNvPr id="36" name="Text 29"/>
          <p:cNvSpPr txBox="1"/>
          <p:nvPr/>
        </p:nvSpPr>
        <p:spPr>
          <a:xfrm>
            <a:off x="70408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Confirmed seats</a:t>
            </a:r>
            <a:endParaRPr lang="en-US" sz="1400" dirty="0"/>
          </a:p>
        </p:txBody>
      </p:sp>
      <p:sp>
        <p:nvSpPr>
          <p:cNvPr id="37" name="Text 30"/>
          <p:cNvSpPr txBox="1"/>
          <p:nvPr/>
        </p:nvSpPr>
        <p:spPr>
          <a:xfrm>
            <a:off x="70408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Paid, ticketed, QR check-in sent</a:t>
            </a:r>
            <a:endParaRPr lang="en-US" sz="1100" dirty="0"/>
          </a:p>
        </p:txBody>
      </p:sp>
      <p:sp>
        <p:nvSpPr>
          <p:cNvPr id="38" name="Shape 31"/>
          <p:cNvSpPr/>
          <p:nvPr/>
        </p:nvSpPr>
        <p:spPr>
          <a:xfrm>
            <a:off x="3200400" y="3840480"/>
            <a:ext cx="2514600" cy="1783080"/>
          </a:xfrm>
          <a:prstGeom prst="roundRect">
            <a:avLst>
              <a:gd name="adj" fmla="val 6154"/>
            </a:avLst>
          </a:prstGeom>
          <a:solidFill>
            <a:srgbClr val="17171B"/>
          </a:solidFill>
          <a:ln w="12700">
            <a:solidFill>
              <a:srgbClr val="3A3A42"/>
            </a:solidFill>
            <a:prstDash val="solid"/>
          </a:ln>
        </p:spPr>
      </p:sp>
      <p:sp>
        <p:nvSpPr>
          <p:cNvPr id="39" name="Text 32"/>
          <p:cNvSpPr txBox="1"/>
          <p:nvPr/>
        </p:nvSpPr>
        <p:spPr>
          <a:xfrm>
            <a:off x="3401568" y="3950208"/>
            <a:ext cx="2286000" cy="640080"/>
          </a:xfrm>
          <a:prstGeom prst="rect">
            <a:avLst/>
          </a:prstGeom>
          <a:noFill/>
          <a:ln/>
        </p:spPr>
        <p:txBody>
          <a:bodyPr wrap="square" lIns="0" tIns="0" rIns="0" bIns="0" rtlCol="0" anchor="t"/>
          <a:lstStyle/>
          <a:p>
            <a:pPr indent="0" marL="0">
              <a:buNone/>
            </a:pPr>
            <a:r>
              <a:rPr lang="en-US" sz="3200" dirty="0">
                <a:solidFill>
                  <a:srgbClr val="FED700"/>
                </a:solidFill>
                <a:latin typeface="Trenda IG Text Light" pitchFamily="34" charset="0"/>
                <a:ea typeface="Trenda IG Text Light" pitchFamily="34" charset="-122"/>
                <a:cs typeface="Trenda IG Text Light" pitchFamily="34" charset="-120"/>
              </a:rPr>
              <a:t>60</a:t>
            </a:r>
            <a:endParaRPr lang="en-US" sz="3200" dirty="0"/>
          </a:p>
        </p:txBody>
      </p:sp>
      <p:sp>
        <p:nvSpPr>
          <p:cNvPr id="40" name="Text 33"/>
          <p:cNvSpPr txBox="1"/>
          <p:nvPr/>
        </p:nvSpPr>
        <p:spPr>
          <a:xfrm>
            <a:off x="340156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waitlist</a:t>
            </a:r>
            <a:endParaRPr lang="en-US" sz="1400" dirty="0"/>
          </a:p>
        </p:txBody>
      </p:sp>
      <p:sp>
        <p:nvSpPr>
          <p:cNvPr id="41" name="Text 34"/>
          <p:cNvSpPr txBox="1"/>
          <p:nvPr/>
        </p:nvSpPr>
        <p:spPr>
          <a:xfrm>
            <a:off x="340156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Freed seats offered by SMS with a 2-hour claim window</a:t>
            </a:r>
            <a:endParaRPr lang="en-US" sz="1100" dirty="0"/>
          </a:p>
        </p:txBody>
      </p:sp>
      <p:sp>
        <p:nvSpPr>
          <p:cNvPr id="42" name="Shape 35"/>
          <p:cNvSpPr/>
          <p:nvPr/>
        </p:nvSpPr>
        <p:spPr>
          <a:xfrm>
            <a:off x="5897880" y="3840480"/>
            <a:ext cx="2514600" cy="1783080"/>
          </a:xfrm>
          <a:prstGeom prst="roundRect">
            <a:avLst>
              <a:gd name="adj" fmla="val 6154"/>
            </a:avLst>
          </a:prstGeom>
          <a:solidFill>
            <a:srgbClr val="17171B"/>
          </a:solidFill>
          <a:ln w="12700">
            <a:solidFill>
              <a:srgbClr val="3A3A42"/>
            </a:solidFill>
            <a:prstDash val="solid"/>
          </a:ln>
        </p:spPr>
      </p:sp>
      <p:sp>
        <p:nvSpPr>
          <p:cNvPr id="43" name="Text 36"/>
          <p:cNvSpPr txBox="1"/>
          <p:nvPr/>
        </p:nvSpPr>
        <p:spPr>
          <a:xfrm>
            <a:off x="6099048" y="3950208"/>
            <a:ext cx="2286000" cy="640080"/>
          </a:xfrm>
          <a:prstGeom prst="rect">
            <a:avLst/>
          </a:prstGeom>
          <a:noFill/>
          <a:ln/>
        </p:spPr>
        <p:txBody>
          <a:bodyPr wrap="square" lIns="0" tIns="0" rIns="0" bIns="0" rtlCol="0" anchor="t"/>
          <a:lstStyle/>
          <a:p>
            <a:pPr indent="0" marL="0">
              <a:buNone/>
            </a:pPr>
            <a:r>
              <a:rPr lang="en-US" sz="3200" dirty="0">
                <a:solidFill>
                  <a:srgbClr val="FF0068"/>
                </a:solidFill>
                <a:latin typeface="Trenda IG Text Light" pitchFamily="34" charset="0"/>
                <a:ea typeface="Trenda IG Text Light" pitchFamily="34" charset="-122"/>
                <a:cs typeface="Trenda IG Text Light" pitchFamily="34" charset="-120"/>
              </a:rPr>
              <a:t>All others</a:t>
            </a:r>
            <a:endParaRPr lang="en-US" sz="3200" dirty="0"/>
          </a:p>
        </p:txBody>
      </p:sp>
      <p:sp>
        <p:nvSpPr>
          <p:cNvPr id="44" name="Text 37"/>
          <p:cNvSpPr txBox="1"/>
          <p:nvPr/>
        </p:nvSpPr>
        <p:spPr>
          <a:xfrm>
            <a:off x="6099048" y="4617720"/>
            <a:ext cx="2286000" cy="274320"/>
          </a:xfrm>
          <a:prstGeom prst="rect">
            <a:avLst/>
          </a:prstGeom>
          <a:noFill/>
          <a:ln/>
        </p:spPr>
        <p:txBody>
          <a:bodyPr wrap="square" lIns="0" tIns="0" rIns="0" bIns="0" rtlCol="0" anchor="t"/>
          <a:lstStyle/>
          <a:p>
            <a:pPr indent="0" marL="0">
              <a:buNone/>
            </a:pPr>
            <a:r>
              <a:rPr lang="en-US" sz="1400" b="1" dirty="0">
                <a:solidFill>
                  <a:schemeClr val="bg1"/>
                </a:solidFill>
              </a:rPr>
              <a:t>On the interest list</a:t>
            </a:r>
            <a:endParaRPr lang="en-US" sz="1400" dirty="0"/>
          </a:p>
        </p:txBody>
      </p:sp>
      <p:sp>
        <p:nvSpPr>
          <p:cNvPr id="45" name="Text 38"/>
          <p:cNvSpPr txBox="1"/>
          <p:nvPr/>
        </p:nvSpPr>
        <p:spPr>
          <a:xfrm>
            <a:off x="6099048" y="4919472"/>
            <a:ext cx="2148840" cy="594360"/>
          </a:xfrm>
          <a:prstGeom prst="rect">
            <a:avLst/>
          </a:prstGeom>
          <a:noFill/>
          <a:ln/>
        </p:spPr>
        <p:txBody>
          <a:bodyPr wrap="square" lIns="0" tIns="0" rIns="0" bIns="0" rtlCol="0" anchor="t"/>
          <a:lstStyle/>
          <a:p>
            <a:pPr indent="0" marL="0">
              <a:buNone/>
            </a:pPr>
            <a:r>
              <a:rPr lang="en-US" sz="1100" dirty="0">
                <a:solidFill>
                  <a:srgbClr val="BFBFBF"/>
                </a:solidFill>
              </a:rPr>
              <a:t>Told the moment a new date opens</a:t>
            </a:r>
            <a:endParaRPr lang="en-US" sz="1100" dirty="0"/>
          </a:p>
        </p:txBody>
      </p:sp>
      <p:sp>
        <p:nvSpPr>
          <p:cNvPr id="46" name="Shape 39"/>
          <p:cNvSpPr/>
          <p:nvPr/>
        </p:nvSpPr>
        <p:spPr>
          <a:xfrm>
            <a:off x="8778240" y="3840480"/>
            <a:ext cx="2910535" cy="1783080"/>
          </a:xfrm>
          <a:prstGeom prst="roundRect">
            <a:avLst>
              <a:gd name="adj" fmla="val 6154"/>
            </a:avLst>
          </a:prstGeom>
          <a:ln w="19050">
            <a:solidFill>
              <a:srgbClr val="FF0068"/>
            </a:solidFill>
            <a:prstDash val="dash"/>
          </a:ln>
        </p:spPr>
      </p:sp>
      <p:pic>
        <p:nvPicPr>
          <p:cNvPr id="47" name="Image 5" descr="preencoded.png">    </p:cNvPr>
          <p:cNvPicPr>
            <a:picLocks noChangeAspect="1"/>
          </p:cNvPicPr>
          <p:nvPr/>
        </p:nvPicPr>
        <p:blipFill>
          <a:blip r:embed="rId6"/>
          <a:stretch>
            <a:fillRect/>
          </a:stretch>
        </p:blipFill>
        <p:spPr>
          <a:xfrm>
            <a:off x="8961120" y="3986784"/>
            <a:ext cx="274320" cy="274320"/>
          </a:xfrm>
          <a:prstGeom prst="rect">
            <a:avLst/>
          </a:prstGeom>
        </p:spPr>
      </p:pic>
      <p:sp>
        <p:nvSpPr>
          <p:cNvPr id="48" name="Text 40"/>
          <p:cNvSpPr txBox="1"/>
          <p:nvPr/>
        </p:nvSpPr>
        <p:spPr>
          <a:xfrm>
            <a:off x="9326880" y="3968496"/>
            <a:ext cx="2224735" cy="310896"/>
          </a:xfrm>
          <a:prstGeom prst="rect">
            <a:avLst/>
          </a:prstGeom>
          <a:noFill/>
          <a:ln/>
        </p:spPr>
        <p:txBody>
          <a:bodyPr wrap="square" lIns="0" tIns="0" rIns="0" bIns="0" rtlCol="0" anchor="t"/>
          <a:lstStyle/>
          <a:p>
            <a:pPr indent="0" marL="0">
              <a:buNone/>
            </a:pPr>
            <a:r>
              <a:rPr lang="en-US" sz="1300" b="1" dirty="0">
                <a:solidFill>
                  <a:schemeClr val="bg1"/>
                </a:solidFill>
              </a:rPr>
              <a:t>Turn overflow into sessions</a:t>
            </a:r>
            <a:endParaRPr lang="en-US" sz="1300" dirty="0"/>
          </a:p>
        </p:txBody>
      </p:sp>
      <p:sp>
        <p:nvSpPr>
          <p:cNvPr id="49" name="Text 41"/>
          <p:cNvSpPr txBox="1"/>
          <p:nvPr/>
        </p:nvSpPr>
        <p:spPr>
          <a:xfrm>
            <a:off x="8961120" y="4370832"/>
            <a:ext cx="2590495" cy="1188720"/>
          </a:xfrm>
          <a:prstGeom prst="rect">
            <a:avLst/>
          </a:prstGeom>
          <a:noFill/>
          <a:ln/>
        </p:spPr>
        <p:txBody>
          <a:bodyPr wrap="square" lIns="0" tIns="0" rIns="0" bIns="0" rtlCol="0" anchor="t"/>
          <a:lstStyle/>
          <a:p>
            <a:pPr marL="342900" indent="-342900">
              <a:spcAft>
                <a:spcPts val="400"/>
              </a:spcAft>
              <a:buSzPct val="100000"/>
              <a:buFont typeface="+mj-lt"/>
              <a:buAutoNum type="arabicPeriod" startAt="1"/>
            </a:pPr>
            <a:r>
              <a:rPr lang="en-US" sz="1100" dirty="0">
                <a:solidFill>
                  <a:srgbClr val="BFBFBF"/>
                </a:solidFill>
              </a:rPr>
              <a:t>Demand passes 3× the seats</a:t>
            </a:r>
            <a:endParaRPr lang="en-US" sz="1100" dirty="0"/>
          </a:p>
          <a:p>
            <a:pPr marL="342900" indent="-342900">
              <a:spcAft>
                <a:spcPts val="400"/>
              </a:spcAft>
              <a:buSzPct val="100000"/>
              <a:buFont typeface="+mj-lt"/>
              <a:buAutoNum type="arabicPeriod" startAt="1"/>
            </a:pPr>
            <a:r>
              <a:rPr lang="en-US" sz="1100" dirty="0">
                <a:solidFill>
                  <a:srgbClr val="BFBFBF"/>
                </a:solidFill>
              </a:rPr>
              <a:t>Staff add a session in one click</a:t>
            </a:r>
            <a:endParaRPr lang="en-US" sz="1100" dirty="0"/>
          </a:p>
          <a:p>
            <a:pPr marL="342900" indent="-342900">
              <a:spcAft>
                <a:spcPts val="400"/>
              </a:spcAft>
              <a:buSzPct val="100000"/>
              <a:buFont typeface="+mj-lt"/>
              <a:buAutoNum type="arabicPeriod" startAt="1"/>
            </a:pPr>
            <a:r>
              <a:rPr lang="en-US" sz="1100" dirty="0">
                <a:solidFill>
                  <a:srgbClr val="BFBFBF"/>
                </a:solidFill>
              </a:rPr>
              <a:t>Waitlist offered first, then the interest list</a:t>
            </a:r>
            <a:endParaRPr lang="en-US" sz="1100" dirty="0"/>
          </a:p>
        </p:txBody>
      </p:sp>
      <p:sp>
        <p:nvSpPr>
          <p:cNvPr id="50" name="Shape 42"/>
          <p:cNvSpPr/>
          <p:nvPr/>
        </p:nvSpPr>
        <p:spPr>
          <a:xfrm>
            <a:off x="8430768" y="4727448"/>
            <a:ext cx="320040" cy="0"/>
          </a:xfrm>
          <a:prstGeom prst="line">
            <a:avLst/>
          </a:prstGeom>
          <a:noFill/>
          <a:ln w="15875">
            <a:solidFill>
              <a:srgbClr val="FF0068"/>
            </a:solidFill>
            <a:prstDash val="dash"/>
            <a:tailEnd type="triangle"/>
          </a:ln>
        </p:spPr>
      </p:sp>
      <p:sp>
        <p:nvSpPr>
          <p:cNvPr id="51" name="Text 43"/>
          <p:cNvSpPr txBox="1"/>
          <p:nvPr/>
        </p:nvSpPr>
        <p:spPr>
          <a:xfrm>
            <a:off x="502920" y="5806440"/>
            <a:ext cx="11155680" cy="320040"/>
          </a:xfrm>
          <a:prstGeom prst="rect">
            <a:avLst/>
          </a:prstGeom>
          <a:noFill/>
          <a:ln/>
        </p:spPr>
        <p:txBody>
          <a:bodyPr wrap="square" lIns="0" tIns="0" rIns="0" bIns="0" rtlCol="0" anchor="t"/>
          <a:lstStyle/>
          <a:p>
            <a:pPr indent="0" marL="0">
              <a:buNone/>
            </a:pPr>
            <a:r>
              <a:rPr lang="en-US" sz="1100" i="1" dirty="0">
                <a:solidFill>
                  <a:schemeClr val="accent1"/>
                </a:solidFill>
              </a:rPr>
              <a:t>Reliable: queued, idempotent writes and auto-released holds.   Scalable: only admitted traffic reaches Salesforce.   Secure: bot defense on every hot event.</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registration and seat flow</a:t>
            </a:r>
            <a:endParaRPr lang="en-US" sz="3200" dirty="0"/>
          </a:p>
        </p:txBody>
      </p:sp>
      <p:sp>
        <p:nvSpPr>
          <p:cNvPr id="3" name="participant-p"/>
          <p:cNvSpPr/>
          <p:nvPr/>
        </p:nvSpPr>
        <p:spPr>
          <a:xfrm>
            <a:off x="557784" y="1463040"/>
            <a:ext cx="1488251"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a:t>
            </a:r>
            <a:endParaRPr lang="en-US" sz="1050" dirty="0"/>
          </a:p>
        </p:txBody>
      </p:sp>
      <p:sp>
        <p:nvSpPr>
          <p:cNvPr id="5" name="Shape 3"/>
          <p:cNvSpPr/>
          <p:nvPr/>
        </p:nvSpPr>
        <p:spPr>
          <a:xfrm>
            <a:off x="1301910" y="1938528"/>
            <a:ext cx="0" cy="4233672"/>
          </a:xfrm>
          <a:prstGeom prst="line">
            <a:avLst/>
          </a:prstGeom>
          <a:noFill/>
          <a:ln w="12700">
            <a:solidFill>
              <a:srgbClr val="B0B0B8"/>
            </a:solidFill>
            <a:prstDash val="dash"/>
          </a:ln>
        </p:spPr>
      </p:sp>
      <p:sp>
        <p:nvSpPr>
          <p:cNvPr id="6" name="participant-edge"/>
          <p:cNvSpPr/>
          <p:nvPr/>
        </p:nvSpPr>
        <p:spPr>
          <a:xfrm>
            <a:off x="2155763" y="1463040"/>
            <a:ext cx="1488251" cy="475488"/>
          </a:xfrm>
          <a:prstGeom prst="roundRect">
            <a:avLst>
              <a:gd name="adj" fmla="val 15385"/>
            </a:avLst>
          </a:prstGeom>
          <a:solidFill>
            <a:srgbClr val="F2F2F2"/>
          </a:solidFill>
          <a:ln w="22225">
            <a:solidFill>
              <a:srgbClr val="00A9C0"/>
            </a:solidFill>
            <a:prstDash val="solid"/>
          </a:ln>
        </p:spPr>
      </p:sp>
      <p:sp>
        <p:nvSpPr>
          <p:cNvPr id="7" name="Text 5"/>
          <p:cNvSpPr txBox="1"/>
          <p:nvPr/>
        </p:nvSpPr>
        <p:spPr>
          <a:xfrm>
            <a:off x="219233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Edge and waiting room</a:t>
            </a:r>
            <a:endParaRPr lang="en-US" sz="1050" dirty="0"/>
          </a:p>
        </p:txBody>
      </p:sp>
      <p:sp>
        <p:nvSpPr>
          <p:cNvPr id="8" name="Shape 6"/>
          <p:cNvSpPr/>
          <p:nvPr/>
        </p:nvSpPr>
        <p:spPr>
          <a:xfrm>
            <a:off x="2899889" y="1938528"/>
            <a:ext cx="0" cy="4233672"/>
          </a:xfrm>
          <a:prstGeom prst="line">
            <a:avLst/>
          </a:prstGeom>
          <a:noFill/>
          <a:ln w="12700">
            <a:solidFill>
              <a:srgbClr val="B0B0B8"/>
            </a:solidFill>
            <a:prstDash val="dash"/>
          </a:ln>
        </p:spPr>
      </p:sp>
      <p:sp>
        <p:nvSpPr>
          <p:cNvPr id="9" name="participant-reg"/>
          <p:cNvSpPr/>
          <p:nvPr/>
        </p:nvSpPr>
        <p:spPr>
          <a:xfrm>
            <a:off x="3753743" y="1463040"/>
            <a:ext cx="1488251" cy="475488"/>
          </a:xfrm>
          <a:prstGeom prst="roundRect">
            <a:avLst>
              <a:gd name="adj" fmla="val 15385"/>
            </a:avLst>
          </a:prstGeom>
          <a:solidFill>
            <a:srgbClr val="F2F2F2"/>
          </a:solidFill>
          <a:ln w="22225">
            <a:solidFill>
              <a:srgbClr val="D9B200"/>
            </a:solidFill>
            <a:prstDash val="solid"/>
          </a:ln>
        </p:spPr>
      </p:sp>
      <p:sp>
        <p:nvSpPr>
          <p:cNvPr id="10" name="Text 8"/>
          <p:cNvSpPr txBox="1"/>
          <p:nvPr/>
        </p:nvSpPr>
        <p:spPr>
          <a:xfrm>
            <a:off x="3790319"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11" name="Shape 9"/>
          <p:cNvSpPr/>
          <p:nvPr/>
        </p:nvSpPr>
        <p:spPr>
          <a:xfrm>
            <a:off x="4497868" y="1938528"/>
            <a:ext cx="0" cy="4233672"/>
          </a:xfrm>
          <a:prstGeom prst="line">
            <a:avLst/>
          </a:prstGeom>
          <a:noFill/>
          <a:ln w="12700">
            <a:solidFill>
              <a:srgbClr val="B0B0B8"/>
            </a:solidFill>
            <a:prstDash val="dash"/>
          </a:ln>
        </p:spPr>
      </p:sp>
      <p:sp>
        <p:nvSpPr>
          <p:cNvPr id="12" name="participant-inv"/>
          <p:cNvSpPr/>
          <p:nvPr/>
        </p:nvSpPr>
        <p:spPr>
          <a:xfrm>
            <a:off x="5351722" y="1463040"/>
            <a:ext cx="1488251" cy="475488"/>
          </a:xfrm>
          <a:prstGeom prst="roundRect">
            <a:avLst>
              <a:gd name="adj" fmla="val 15385"/>
            </a:avLst>
          </a:prstGeom>
          <a:solidFill>
            <a:srgbClr val="F2F2F2"/>
          </a:solidFill>
          <a:ln w="22225">
            <a:solidFill>
              <a:srgbClr val="D9B200"/>
            </a:solidFill>
            <a:prstDash val="solid"/>
          </a:ln>
        </p:spPr>
      </p:sp>
      <p:sp>
        <p:nvSpPr>
          <p:cNvPr id="13" name="Text 11"/>
          <p:cNvSpPr txBox="1"/>
          <p:nvPr/>
        </p:nvSpPr>
        <p:spPr>
          <a:xfrm>
            <a:off x="5388298"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Seat inventory</a:t>
            </a:r>
            <a:endParaRPr lang="en-US" sz="1050" dirty="0"/>
          </a:p>
        </p:txBody>
      </p:sp>
      <p:sp>
        <p:nvSpPr>
          <p:cNvPr id="14" name="Shape 12"/>
          <p:cNvSpPr/>
          <p:nvPr/>
        </p:nvSpPr>
        <p:spPr>
          <a:xfrm>
            <a:off x="6095848" y="1938528"/>
            <a:ext cx="0" cy="4233672"/>
          </a:xfrm>
          <a:prstGeom prst="line">
            <a:avLst/>
          </a:prstGeom>
          <a:noFill/>
          <a:ln w="12700">
            <a:solidFill>
              <a:srgbClr val="B0B0B8"/>
            </a:solidFill>
            <a:prstDash val="dash"/>
          </a:ln>
        </p:spPr>
      </p:sp>
      <p:sp>
        <p:nvSpPr>
          <p:cNvPr id="15" name="participant-pay"/>
          <p:cNvSpPr/>
          <p:nvPr/>
        </p:nvSpPr>
        <p:spPr>
          <a:xfrm>
            <a:off x="6949701" y="1463040"/>
            <a:ext cx="1488251" cy="475488"/>
          </a:xfrm>
          <a:prstGeom prst="roundRect">
            <a:avLst>
              <a:gd name="adj" fmla="val 15385"/>
            </a:avLst>
          </a:prstGeom>
          <a:solidFill>
            <a:srgbClr val="F2F2F2"/>
          </a:solidFill>
          <a:ln w="15875">
            <a:solidFill>
              <a:srgbClr val="B8B8C0"/>
            </a:solidFill>
            <a:prstDash val="solid"/>
          </a:ln>
        </p:spPr>
      </p:sp>
      <p:sp>
        <p:nvSpPr>
          <p:cNvPr id="16" name="Text 14"/>
          <p:cNvSpPr txBox="1"/>
          <p:nvPr/>
        </p:nvSpPr>
        <p:spPr>
          <a:xfrm>
            <a:off x="698627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Payment page</a:t>
            </a:r>
            <a:endParaRPr lang="en-US" sz="1050" dirty="0"/>
          </a:p>
        </p:txBody>
      </p:sp>
      <p:sp>
        <p:nvSpPr>
          <p:cNvPr id="17" name="Shape 15"/>
          <p:cNvSpPr/>
          <p:nvPr/>
        </p:nvSpPr>
        <p:spPr>
          <a:xfrm>
            <a:off x="7693827" y="1938528"/>
            <a:ext cx="0" cy="4233672"/>
          </a:xfrm>
          <a:prstGeom prst="line">
            <a:avLst/>
          </a:prstGeom>
          <a:noFill/>
          <a:ln w="12700">
            <a:solidFill>
              <a:srgbClr val="B0B0B8"/>
            </a:solidFill>
            <a:prstDash val="dash"/>
          </a:ln>
        </p:spPr>
      </p:sp>
      <p:sp>
        <p:nvSpPr>
          <p:cNvPr id="18" name="participant-sf"/>
          <p:cNvSpPr/>
          <p:nvPr/>
        </p:nvSpPr>
        <p:spPr>
          <a:xfrm>
            <a:off x="8547681" y="1463040"/>
            <a:ext cx="1488251" cy="475488"/>
          </a:xfrm>
          <a:prstGeom prst="roundRect">
            <a:avLst>
              <a:gd name="adj" fmla="val 15385"/>
            </a:avLst>
          </a:prstGeom>
          <a:solidFill>
            <a:srgbClr val="F2F2F2"/>
          </a:solidFill>
          <a:ln w="22225">
            <a:solidFill>
              <a:srgbClr val="00A9C0"/>
            </a:solidFill>
            <a:prstDash val="solid"/>
          </a:ln>
        </p:spPr>
      </p:sp>
      <p:sp>
        <p:nvSpPr>
          <p:cNvPr id="19" name="Text 17"/>
          <p:cNvSpPr txBox="1"/>
          <p:nvPr/>
        </p:nvSpPr>
        <p:spPr>
          <a:xfrm>
            <a:off x="8584257"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20" name="Shape 18"/>
          <p:cNvSpPr/>
          <p:nvPr/>
        </p:nvSpPr>
        <p:spPr>
          <a:xfrm>
            <a:off x="9291806" y="1938528"/>
            <a:ext cx="0" cy="4233672"/>
          </a:xfrm>
          <a:prstGeom prst="line">
            <a:avLst/>
          </a:prstGeom>
          <a:noFill/>
          <a:ln w="12700">
            <a:solidFill>
              <a:srgbClr val="B0B0B8"/>
            </a:solidFill>
            <a:prstDash val="dash"/>
          </a:ln>
        </p:spPr>
      </p:sp>
      <p:sp>
        <p:nvSpPr>
          <p:cNvPr id="21" name="participant-mc"/>
          <p:cNvSpPr/>
          <p:nvPr/>
        </p:nvSpPr>
        <p:spPr>
          <a:xfrm>
            <a:off x="10145660" y="1463040"/>
            <a:ext cx="1488251" cy="475488"/>
          </a:xfrm>
          <a:prstGeom prst="roundRect">
            <a:avLst>
              <a:gd name="adj" fmla="val 15385"/>
            </a:avLst>
          </a:prstGeom>
          <a:solidFill>
            <a:srgbClr val="F2F2F2"/>
          </a:solidFill>
          <a:ln w="22225">
            <a:solidFill>
              <a:srgbClr val="FF0068"/>
            </a:solidFill>
            <a:prstDash val="solid"/>
          </a:ln>
        </p:spPr>
      </p:sp>
      <p:sp>
        <p:nvSpPr>
          <p:cNvPr id="22" name="Text 20"/>
          <p:cNvSpPr txBox="1"/>
          <p:nvPr/>
        </p:nvSpPr>
        <p:spPr>
          <a:xfrm>
            <a:off x="10182236" y="1463040"/>
            <a:ext cx="1415099" cy="475488"/>
          </a:xfrm>
          <a:prstGeom prst="rect">
            <a:avLst/>
          </a:prstGeom>
          <a:noFill/>
          <a:ln/>
        </p:spPr>
        <p:txBody>
          <a:bodyPr wrap="square" lIns="0" tIns="0" rIns="0" bIns="0" rtlCol="0" anchor="ctr"/>
          <a:lstStyle/>
          <a:p>
            <a:pPr algn="ctr" indent="0" marL="0">
              <a:buNone/>
            </a:pPr>
            <a:r>
              <a:rPr lang="en-US" sz="1050" b="1" dirty="0">
                <a:solidFill>
                  <a:srgbClr val="000000"/>
                </a:solidFill>
              </a:rPr>
              <a:t>Marketing Cloud</a:t>
            </a:r>
            <a:endParaRPr lang="en-US" sz="1050" dirty="0"/>
          </a:p>
        </p:txBody>
      </p:sp>
      <p:sp>
        <p:nvSpPr>
          <p:cNvPr id="23" name="Shape 21"/>
          <p:cNvSpPr/>
          <p:nvPr/>
        </p:nvSpPr>
        <p:spPr>
          <a:xfrm>
            <a:off x="10889786" y="1938528"/>
            <a:ext cx="0" cy="4233672"/>
          </a:xfrm>
          <a:prstGeom prst="line">
            <a:avLst/>
          </a:prstGeom>
          <a:noFill/>
          <a:ln w="12700">
            <a:solidFill>
              <a:srgbClr val="B0B0B8"/>
            </a:solidFill>
            <a:prstDash val="dash"/>
          </a:ln>
        </p:spPr>
      </p:sp>
      <p:sp>
        <p:nvSpPr>
          <p:cNvPr id="24" name="Shape 22"/>
          <p:cNvSpPr/>
          <p:nvPr/>
        </p:nvSpPr>
        <p:spPr>
          <a:xfrm>
            <a:off x="1301910" y="2192216"/>
            <a:ext cx="1597979" cy="0"/>
          </a:xfrm>
          <a:prstGeom prst="line">
            <a:avLst/>
          </a:prstGeom>
          <a:noFill/>
          <a:ln w="15875">
            <a:solidFill>
              <a:srgbClr val="1A1A1A"/>
            </a:solidFill>
            <a:prstDash val="solid"/>
            <a:tailEnd type="triangle"/>
          </a:ln>
        </p:spPr>
      </p:sp>
      <p:sp>
        <p:nvSpPr>
          <p:cNvPr id="25" name="Shape 23"/>
          <p:cNvSpPr/>
          <p:nvPr/>
        </p:nvSpPr>
        <p:spPr>
          <a:xfrm>
            <a:off x="1201326" y="2091632"/>
            <a:ext cx="201168" cy="201168"/>
          </a:xfrm>
          <a:prstGeom prst="ellipse">
            <a:avLst/>
          </a:prstGeom>
          <a:solidFill>
            <a:srgbClr val="00A9C0"/>
          </a:solidFill>
          <a:ln w="12700">
            <a:solidFill>
              <a:srgbClr val="00A9C0"/>
            </a:solidFill>
            <a:prstDash val="solid"/>
          </a:ln>
        </p:spPr>
      </p:sp>
      <p:sp>
        <p:nvSpPr>
          <p:cNvPr id="26" name="Text 24"/>
          <p:cNvSpPr txBox="1"/>
          <p:nvPr/>
        </p:nvSpPr>
        <p:spPr>
          <a:xfrm>
            <a:off x="1201326" y="209163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27" name="Text 25"/>
          <p:cNvSpPr txBox="1"/>
          <p:nvPr/>
        </p:nvSpPr>
        <p:spPr>
          <a:xfrm>
            <a:off x="1448214" y="1945328"/>
            <a:ext cx="1415099" cy="219456"/>
          </a:xfrm>
          <a:prstGeom prst="rect">
            <a:avLst/>
          </a:prstGeom>
          <a:noFill/>
          <a:ln/>
        </p:spPr>
        <p:txBody>
          <a:bodyPr wrap="square" lIns="0" tIns="0" rIns="0" bIns="0" rtlCol="0" anchor="b"/>
          <a:lstStyle/>
          <a:p>
            <a:pPr algn="ctr" indent="0" marL="0">
              <a:buNone/>
            </a:pPr>
            <a:r>
              <a:rPr lang="en-US" sz="1000" dirty="0">
                <a:solidFill>
                  <a:srgbClr val="000000"/>
                </a:solidFill>
              </a:rPr>
              <a:t>Click Register</a:t>
            </a:r>
            <a:endParaRPr lang="en-US" sz="1000" dirty="0"/>
          </a:p>
        </p:txBody>
      </p:sp>
      <p:sp>
        <p:nvSpPr>
          <p:cNvPr id="28" name="Shape 26"/>
          <p:cNvSpPr/>
          <p:nvPr/>
        </p:nvSpPr>
        <p:spPr>
          <a:xfrm>
            <a:off x="1301910" y="2438045"/>
            <a:ext cx="1597979" cy="0"/>
          </a:xfrm>
          <a:prstGeom prst="line">
            <a:avLst/>
          </a:prstGeom>
          <a:noFill/>
          <a:ln w="15875">
            <a:solidFill>
              <a:srgbClr val="6B7280"/>
            </a:solidFill>
            <a:prstDash val="dash"/>
            <a:headEnd type="triangle"/>
          </a:ln>
        </p:spPr>
      </p:sp>
      <p:sp>
        <p:nvSpPr>
          <p:cNvPr id="29" name="Shape 27"/>
          <p:cNvSpPr/>
          <p:nvPr/>
        </p:nvSpPr>
        <p:spPr>
          <a:xfrm>
            <a:off x="2799305" y="2337461"/>
            <a:ext cx="201168" cy="201168"/>
          </a:xfrm>
          <a:prstGeom prst="ellipse">
            <a:avLst/>
          </a:prstGeom>
          <a:solidFill>
            <a:srgbClr val="00A9C0"/>
          </a:solidFill>
          <a:ln w="12700">
            <a:solidFill>
              <a:srgbClr val="00A9C0"/>
            </a:solidFill>
            <a:prstDash val="solid"/>
          </a:ln>
        </p:spPr>
      </p:sp>
      <p:sp>
        <p:nvSpPr>
          <p:cNvPr id="30" name="Text 28"/>
          <p:cNvSpPr txBox="1"/>
          <p:nvPr/>
        </p:nvSpPr>
        <p:spPr>
          <a:xfrm>
            <a:off x="2799305" y="23374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31" name="Text 29"/>
          <p:cNvSpPr txBox="1"/>
          <p:nvPr/>
        </p:nvSpPr>
        <p:spPr>
          <a:xfrm>
            <a:off x="1239339" y="2191157"/>
            <a:ext cx="1514246" cy="219456"/>
          </a:xfrm>
          <a:prstGeom prst="rect">
            <a:avLst/>
          </a:prstGeom>
          <a:noFill/>
          <a:ln/>
        </p:spPr>
        <p:txBody>
          <a:bodyPr wrap="square" lIns="0" tIns="0" rIns="0" bIns="0" rtlCol="0" anchor="b"/>
          <a:lstStyle/>
          <a:p>
            <a:pPr algn="ctr" indent="0" marL="0">
              <a:buNone/>
            </a:pPr>
            <a:r>
              <a:rPr lang="en-US" sz="1000" dirty="0">
                <a:solidFill>
                  <a:srgbClr val="4D4D4D"/>
                </a:solidFill>
              </a:rPr>
              <a:t>Place in line shown</a:t>
            </a:r>
            <a:endParaRPr lang="en-US" sz="1000" dirty="0"/>
          </a:p>
        </p:txBody>
      </p:sp>
      <p:sp>
        <p:nvSpPr>
          <p:cNvPr id="32" name="Shape 30"/>
          <p:cNvSpPr/>
          <p:nvPr/>
        </p:nvSpPr>
        <p:spPr>
          <a:xfrm>
            <a:off x="2899889" y="2683875"/>
            <a:ext cx="1597979" cy="0"/>
          </a:xfrm>
          <a:prstGeom prst="line">
            <a:avLst/>
          </a:prstGeom>
          <a:noFill/>
          <a:ln w="15875">
            <a:solidFill>
              <a:srgbClr val="1A1A1A"/>
            </a:solidFill>
            <a:prstDash val="solid"/>
            <a:tailEnd type="triangle"/>
          </a:ln>
        </p:spPr>
      </p:sp>
      <p:sp>
        <p:nvSpPr>
          <p:cNvPr id="33" name="Shape 31"/>
          <p:cNvSpPr/>
          <p:nvPr/>
        </p:nvSpPr>
        <p:spPr>
          <a:xfrm>
            <a:off x="2799305" y="2583291"/>
            <a:ext cx="201168" cy="201168"/>
          </a:xfrm>
          <a:prstGeom prst="ellipse">
            <a:avLst/>
          </a:prstGeom>
          <a:solidFill>
            <a:srgbClr val="00A9C0"/>
          </a:solidFill>
          <a:ln w="12700">
            <a:solidFill>
              <a:srgbClr val="00A9C0"/>
            </a:solidFill>
            <a:prstDash val="solid"/>
          </a:ln>
        </p:spPr>
      </p:sp>
      <p:sp>
        <p:nvSpPr>
          <p:cNvPr id="34" name="Text 32"/>
          <p:cNvSpPr txBox="1"/>
          <p:nvPr/>
        </p:nvSpPr>
        <p:spPr>
          <a:xfrm>
            <a:off x="2799305" y="258329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35" name="Text 33"/>
          <p:cNvSpPr txBox="1"/>
          <p:nvPr/>
        </p:nvSpPr>
        <p:spPr>
          <a:xfrm>
            <a:off x="3046193" y="2436987"/>
            <a:ext cx="1581912" cy="219456"/>
          </a:xfrm>
          <a:prstGeom prst="rect">
            <a:avLst/>
          </a:prstGeom>
          <a:noFill/>
          <a:ln/>
        </p:spPr>
        <p:txBody>
          <a:bodyPr wrap="square" lIns="0" tIns="0" rIns="0" bIns="0" rtlCol="0" anchor="b"/>
          <a:lstStyle/>
          <a:p>
            <a:pPr algn="ctr" indent="0" marL="0">
              <a:buNone/>
            </a:pPr>
            <a:r>
              <a:rPr lang="en-US" sz="1000" dirty="0">
                <a:solidFill>
                  <a:srgbClr val="000000"/>
                </a:solidFill>
              </a:rPr>
              <a:t>Admit at a safe rate</a:t>
            </a:r>
            <a:endParaRPr lang="en-US" sz="1000" dirty="0"/>
          </a:p>
        </p:txBody>
      </p:sp>
      <p:sp>
        <p:nvSpPr>
          <p:cNvPr id="36" name="Shape 34"/>
          <p:cNvSpPr/>
          <p:nvPr/>
        </p:nvSpPr>
        <p:spPr>
          <a:xfrm>
            <a:off x="4497868" y="2929705"/>
            <a:ext cx="1597979" cy="0"/>
          </a:xfrm>
          <a:prstGeom prst="line">
            <a:avLst/>
          </a:prstGeom>
          <a:noFill/>
          <a:ln w="15875">
            <a:solidFill>
              <a:srgbClr val="1A1A1A"/>
            </a:solidFill>
            <a:prstDash val="solid"/>
            <a:tailEnd type="triangle"/>
          </a:ln>
        </p:spPr>
      </p:sp>
      <p:sp>
        <p:nvSpPr>
          <p:cNvPr id="37" name="Shape 35"/>
          <p:cNvSpPr/>
          <p:nvPr/>
        </p:nvSpPr>
        <p:spPr>
          <a:xfrm>
            <a:off x="4397284" y="2829121"/>
            <a:ext cx="201168" cy="201168"/>
          </a:xfrm>
          <a:prstGeom prst="ellipse">
            <a:avLst/>
          </a:prstGeom>
          <a:solidFill>
            <a:srgbClr val="00A9C0"/>
          </a:solidFill>
          <a:ln w="12700">
            <a:solidFill>
              <a:srgbClr val="00A9C0"/>
            </a:solidFill>
            <a:prstDash val="solid"/>
          </a:ln>
        </p:spPr>
      </p:sp>
      <p:sp>
        <p:nvSpPr>
          <p:cNvPr id="38" name="Text 36"/>
          <p:cNvSpPr txBox="1"/>
          <p:nvPr/>
        </p:nvSpPr>
        <p:spPr>
          <a:xfrm>
            <a:off x="4397284" y="282912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9" name="Text 37"/>
          <p:cNvSpPr txBox="1"/>
          <p:nvPr/>
        </p:nvSpPr>
        <p:spPr>
          <a:xfrm>
            <a:off x="4644172" y="2682817"/>
            <a:ext cx="1717243" cy="219456"/>
          </a:xfrm>
          <a:prstGeom prst="rect">
            <a:avLst/>
          </a:prstGeom>
          <a:noFill/>
          <a:ln/>
        </p:spPr>
        <p:txBody>
          <a:bodyPr wrap="square" lIns="0" tIns="0" rIns="0" bIns="0" rtlCol="0" anchor="b"/>
          <a:lstStyle/>
          <a:p>
            <a:pPr algn="ctr" indent="0" marL="0">
              <a:buNone/>
            </a:pPr>
            <a:r>
              <a:rPr lang="en-US" sz="1000" dirty="0">
                <a:solidFill>
                  <a:srgbClr val="000000"/>
                </a:solidFill>
              </a:rPr>
              <a:t>Hold one seat (atomic)</a:t>
            </a:r>
            <a:endParaRPr lang="en-US" sz="1000" dirty="0"/>
          </a:p>
        </p:txBody>
      </p:sp>
      <p:sp>
        <p:nvSpPr>
          <p:cNvPr id="40" name="Shape 38"/>
          <p:cNvSpPr/>
          <p:nvPr/>
        </p:nvSpPr>
        <p:spPr>
          <a:xfrm>
            <a:off x="605723" y="2995745"/>
            <a:ext cx="1783080" cy="219456"/>
          </a:xfrm>
          <a:prstGeom prst="roundRect">
            <a:avLst>
              <a:gd name="adj" fmla="val 20833"/>
            </a:avLst>
          </a:prstGeom>
          <a:solidFill>
            <a:srgbClr val="FFF6CC"/>
          </a:solidFill>
          <a:ln w="12700">
            <a:solidFill>
              <a:srgbClr val="D9B200"/>
            </a:solidFill>
            <a:prstDash val="solid"/>
          </a:ln>
        </p:spPr>
      </p:sp>
      <p:sp>
        <p:nvSpPr>
          <p:cNvPr id="41" name="Text 39"/>
          <p:cNvSpPr txBox="1"/>
          <p:nvPr/>
        </p:nvSpPr>
        <p:spPr>
          <a:xfrm>
            <a:off x="605723" y="2995745"/>
            <a:ext cx="1783080" cy="219456"/>
          </a:xfrm>
          <a:prstGeom prst="rect">
            <a:avLst/>
          </a:prstGeom>
          <a:noFill/>
          <a:ln/>
        </p:spPr>
        <p:txBody>
          <a:bodyPr wrap="square" lIns="0" tIns="0" rIns="0" bIns="0" rtlCol="0" anchor="ctr"/>
          <a:lstStyle/>
          <a:p>
            <a:pPr algn="ctr" indent="0" marL="0">
              <a:buNone/>
            </a:pPr>
            <a:r>
              <a:rPr lang="en-US" sz="950" b="1" dirty="0">
                <a:solidFill>
                  <a:srgbClr val="6B5600"/>
                </a:solidFill>
              </a:rPr>
              <a:t>If a seat is available</a:t>
            </a:r>
            <a:endParaRPr lang="en-US" sz="950" dirty="0"/>
          </a:p>
        </p:txBody>
      </p:sp>
      <p:sp>
        <p:nvSpPr>
          <p:cNvPr id="42" name="Shape 40"/>
          <p:cNvSpPr/>
          <p:nvPr/>
        </p:nvSpPr>
        <p:spPr>
          <a:xfrm>
            <a:off x="4497868" y="3359907"/>
            <a:ext cx="1597979" cy="0"/>
          </a:xfrm>
          <a:prstGeom prst="line">
            <a:avLst/>
          </a:prstGeom>
          <a:noFill/>
          <a:ln w="15875">
            <a:solidFill>
              <a:srgbClr val="6B7280"/>
            </a:solidFill>
            <a:prstDash val="dash"/>
            <a:headEnd type="triangle"/>
          </a:ln>
        </p:spPr>
      </p:sp>
      <p:sp>
        <p:nvSpPr>
          <p:cNvPr id="43" name="Shape 41"/>
          <p:cNvSpPr/>
          <p:nvPr/>
        </p:nvSpPr>
        <p:spPr>
          <a:xfrm>
            <a:off x="5995264" y="3259323"/>
            <a:ext cx="201168" cy="201168"/>
          </a:xfrm>
          <a:prstGeom prst="ellipse">
            <a:avLst/>
          </a:prstGeom>
          <a:solidFill>
            <a:srgbClr val="00A9C0"/>
          </a:solidFill>
          <a:ln w="12700">
            <a:solidFill>
              <a:srgbClr val="00A9C0"/>
            </a:solidFill>
            <a:prstDash val="solid"/>
          </a:ln>
        </p:spPr>
      </p:sp>
      <p:sp>
        <p:nvSpPr>
          <p:cNvPr id="44" name="Text 42"/>
          <p:cNvSpPr txBox="1"/>
          <p:nvPr/>
        </p:nvSpPr>
        <p:spPr>
          <a:xfrm>
            <a:off x="5995264" y="32593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45" name="Text 43"/>
          <p:cNvSpPr txBox="1"/>
          <p:nvPr/>
        </p:nvSpPr>
        <p:spPr>
          <a:xfrm>
            <a:off x="4096969" y="3113019"/>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Hold granted, 10 minutes</a:t>
            </a:r>
            <a:endParaRPr lang="en-US" sz="1000" dirty="0"/>
          </a:p>
        </p:txBody>
      </p:sp>
      <p:sp>
        <p:nvSpPr>
          <p:cNvPr id="46" name="Shape 44"/>
          <p:cNvSpPr/>
          <p:nvPr/>
        </p:nvSpPr>
        <p:spPr>
          <a:xfrm>
            <a:off x="1301910" y="3605737"/>
            <a:ext cx="3195959" cy="0"/>
          </a:xfrm>
          <a:prstGeom prst="line">
            <a:avLst/>
          </a:prstGeom>
          <a:noFill/>
          <a:ln w="15875">
            <a:solidFill>
              <a:srgbClr val="6B7280"/>
            </a:solidFill>
            <a:prstDash val="dash"/>
            <a:headEnd type="triangle"/>
          </a:ln>
        </p:spPr>
      </p:sp>
      <p:sp>
        <p:nvSpPr>
          <p:cNvPr id="47" name="Shape 45"/>
          <p:cNvSpPr/>
          <p:nvPr/>
        </p:nvSpPr>
        <p:spPr>
          <a:xfrm>
            <a:off x="4397284" y="3505153"/>
            <a:ext cx="201168" cy="201168"/>
          </a:xfrm>
          <a:prstGeom prst="ellipse">
            <a:avLst/>
          </a:prstGeom>
          <a:solidFill>
            <a:srgbClr val="00A9C0"/>
          </a:solidFill>
          <a:ln w="12700">
            <a:solidFill>
              <a:srgbClr val="00A9C0"/>
            </a:solidFill>
            <a:prstDash val="solid"/>
          </a:ln>
        </p:spPr>
      </p:sp>
      <p:sp>
        <p:nvSpPr>
          <p:cNvPr id="48" name="Text 46"/>
          <p:cNvSpPr txBox="1"/>
          <p:nvPr/>
        </p:nvSpPr>
        <p:spPr>
          <a:xfrm>
            <a:off x="4397284" y="350515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49" name="Text 47"/>
          <p:cNvSpPr txBox="1"/>
          <p:nvPr/>
        </p:nvSpPr>
        <p:spPr>
          <a:xfrm>
            <a:off x="1338486" y="335884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Your seat is held, pay now</a:t>
            </a:r>
            <a:endParaRPr lang="en-US" sz="1000" dirty="0"/>
          </a:p>
        </p:txBody>
      </p:sp>
      <p:sp>
        <p:nvSpPr>
          <p:cNvPr id="50" name="Shape 48"/>
          <p:cNvSpPr/>
          <p:nvPr/>
        </p:nvSpPr>
        <p:spPr>
          <a:xfrm>
            <a:off x="1301910" y="3851567"/>
            <a:ext cx="6391917" cy="0"/>
          </a:xfrm>
          <a:prstGeom prst="line">
            <a:avLst/>
          </a:prstGeom>
          <a:noFill/>
          <a:ln w="15875">
            <a:solidFill>
              <a:srgbClr val="1A1A1A"/>
            </a:solidFill>
            <a:prstDash val="solid"/>
            <a:tailEnd type="triangle"/>
          </a:ln>
        </p:spPr>
      </p:sp>
      <p:sp>
        <p:nvSpPr>
          <p:cNvPr id="51" name="Shape 49"/>
          <p:cNvSpPr/>
          <p:nvPr/>
        </p:nvSpPr>
        <p:spPr>
          <a:xfrm>
            <a:off x="1201326" y="3750983"/>
            <a:ext cx="201168" cy="201168"/>
          </a:xfrm>
          <a:prstGeom prst="ellipse">
            <a:avLst/>
          </a:prstGeom>
          <a:solidFill>
            <a:srgbClr val="00A9C0"/>
          </a:solidFill>
          <a:ln w="12700">
            <a:solidFill>
              <a:srgbClr val="00A9C0"/>
            </a:solidFill>
            <a:prstDash val="solid"/>
          </a:ln>
        </p:spPr>
      </p:sp>
      <p:sp>
        <p:nvSpPr>
          <p:cNvPr id="52" name="Text 50"/>
          <p:cNvSpPr txBox="1"/>
          <p:nvPr/>
        </p:nvSpPr>
        <p:spPr>
          <a:xfrm>
            <a:off x="1201326" y="375098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53" name="Text 51"/>
          <p:cNvSpPr txBox="1"/>
          <p:nvPr/>
        </p:nvSpPr>
        <p:spPr>
          <a:xfrm>
            <a:off x="1448214" y="3604679"/>
            <a:ext cx="6209037" cy="219456"/>
          </a:xfrm>
          <a:prstGeom prst="rect">
            <a:avLst/>
          </a:prstGeom>
          <a:noFill/>
          <a:ln/>
        </p:spPr>
        <p:txBody>
          <a:bodyPr wrap="square" lIns="0" tIns="0" rIns="0" bIns="0" rtlCol="0" anchor="b"/>
          <a:lstStyle/>
          <a:p>
            <a:pPr algn="ctr" indent="0" marL="0">
              <a:buNone/>
            </a:pPr>
            <a:r>
              <a:rPr lang="en-US" sz="1000" dirty="0">
                <a:solidFill>
                  <a:srgbClr val="000000"/>
                </a:solidFill>
              </a:rPr>
              <a:t>Pay on hosted page</a:t>
            </a:r>
            <a:endParaRPr lang="en-US" sz="1000" dirty="0"/>
          </a:p>
        </p:txBody>
      </p:sp>
      <p:sp>
        <p:nvSpPr>
          <p:cNvPr id="54" name="Shape 52"/>
          <p:cNvSpPr/>
          <p:nvPr/>
        </p:nvSpPr>
        <p:spPr>
          <a:xfrm>
            <a:off x="4497868" y="4097397"/>
            <a:ext cx="3195959" cy="0"/>
          </a:xfrm>
          <a:prstGeom prst="line">
            <a:avLst/>
          </a:prstGeom>
          <a:noFill/>
          <a:ln w="15875">
            <a:solidFill>
              <a:srgbClr val="6B7280"/>
            </a:solidFill>
            <a:prstDash val="dash"/>
            <a:headEnd type="triangle"/>
          </a:ln>
        </p:spPr>
      </p:sp>
      <p:sp>
        <p:nvSpPr>
          <p:cNvPr id="55" name="Shape 53"/>
          <p:cNvSpPr/>
          <p:nvPr/>
        </p:nvSpPr>
        <p:spPr>
          <a:xfrm>
            <a:off x="7593243" y="3996813"/>
            <a:ext cx="201168" cy="201168"/>
          </a:xfrm>
          <a:prstGeom prst="ellipse">
            <a:avLst/>
          </a:prstGeom>
          <a:solidFill>
            <a:srgbClr val="00A9C0"/>
          </a:solidFill>
          <a:ln w="12700">
            <a:solidFill>
              <a:srgbClr val="00A9C0"/>
            </a:solidFill>
            <a:prstDash val="solid"/>
          </a:ln>
        </p:spPr>
      </p:sp>
      <p:sp>
        <p:nvSpPr>
          <p:cNvPr id="56" name="Text 54"/>
          <p:cNvSpPr txBox="1"/>
          <p:nvPr/>
        </p:nvSpPr>
        <p:spPr>
          <a:xfrm>
            <a:off x="7593243" y="399681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57" name="Text 55"/>
          <p:cNvSpPr txBox="1"/>
          <p:nvPr/>
        </p:nvSpPr>
        <p:spPr>
          <a:xfrm>
            <a:off x="4534444" y="3850509"/>
            <a:ext cx="3013079" cy="219456"/>
          </a:xfrm>
          <a:prstGeom prst="rect">
            <a:avLst/>
          </a:prstGeom>
          <a:noFill/>
          <a:ln/>
        </p:spPr>
        <p:txBody>
          <a:bodyPr wrap="square" lIns="0" tIns="0" rIns="0" bIns="0" rtlCol="0" anchor="b"/>
          <a:lstStyle/>
          <a:p>
            <a:pPr algn="ctr" indent="0" marL="0">
              <a:buNone/>
            </a:pPr>
            <a:r>
              <a:rPr lang="en-US" sz="1000" dirty="0">
                <a:solidFill>
                  <a:srgbClr val="4D4D4D"/>
                </a:solidFill>
              </a:rPr>
              <a:t>Signed payment webhook</a:t>
            </a:r>
            <a:endParaRPr lang="en-US" sz="1000" dirty="0"/>
          </a:p>
        </p:txBody>
      </p:sp>
      <p:sp>
        <p:nvSpPr>
          <p:cNvPr id="58" name="Shape 56"/>
          <p:cNvSpPr/>
          <p:nvPr/>
        </p:nvSpPr>
        <p:spPr>
          <a:xfrm>
            <a:off x="4497868" y="4343226"/>
            <a:ext cx="4793938" cy="0"/>
          </a:xfrm>
          <a:prstGeom prst="line">
            <a:avLst/>
          </a:prstGeom>
          <a:noFill/>
          <a:ln w="15875">
            <a:solidFill>
              <a:srgbClr val="1A1A1A"/>
            </a:solidFill>
            <a:prstDash val="solid"/>
            <a:tailEnd type="triangle"/>
          </a:ln>
        </p:spPr>
      </p:sp>
      <p:sp>
        <p:nvSpPr>
          <p:cNvPr id="59" name="Shape 57"/>
          <p:cNvSpPr/>
          <p:nvPr/>
        </p:nvSpPr>
        <p:spPr>
          <a:xfrm>
            <a:off x="4397284" y="4242642"/>
            <a:ext cx="201168" cy="201168"/>
          </a:xfrm>
          <a:prstGeom prst="ellipse">
            <a:avLst/>
          </a:prstGeom>
          <a:solidFill>
            <a:srgbClr val="00A9C0"/>
          </a:solidFill>
          <a:ln w="12700">
            <a:solidFill>
              <a:srgbClr val="00A9C0"/>
            </a:solidFill>
            <a:prstDash val="solid"/>
          </a:ln>
        </p:spPr>
      </p:sp>
      <p:sp>
        <p:nvSpPr>
          <p:cNvPr id="60" name="Text 58"/>
          <p:cNvSpPr txBox="1"/>
          <p:nvPr/>
        </p:nvSpPr>
        <p:spPr>
          <a:xfrm>
            <a:off x="4397284" y="424264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9</a:t>
            </a:r>
            <a:endParaRPr lang="en-US" sz="800" dirty="0"/>
          </a:p>
        </p:txBody>
      </p:sp>
      <p:sp>
        <p:nvSpPr>
          <p:cNvPr id="61" name="Text 59"/>
          <p:cNvSpPr txBox="1"/>
          <p:nvPr/>
        </p:nvSpPr>
        <p:spPr>
          <a:xfrm>
            <a:off x="4644172" y="4096338"/>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Create registration (idempotent, via queue)</a:t>
            </a:r>
            <a:endParaRPr lang="en-US" sz="1000" dirty="0"/>
          </a:p>
        </p:txBody>
      </p:sp>
      <p:sp>
        <p:nvSpPr>
          <p:cNvPr id="62" name="Shape 60"/>
          <p:cNvSpPr/>
          <p:nvPr/>
        </p:nvSpPr>
        <p:spPr>
          <a:xfrm>
            <a:off x="9291806" y="4589056"/>
            <a:ext cx="1597979" cy="0"/>
          </a:xfrm>
          <a:prstGeom prst="line">
            <a:avLst/>
          </a:prstGeom>
          <a:noFill/>
          <a:ln w="15875">
            <a:solidFill>
              <a:srgbClr val="1A1A1A"/>
            </a:solidFill>
            <a:prstDash val="solid"/>
            <a:tailEnd type="triangle"/>
          </a:ln>
        </p:spPr>
      </p:sp>
      <p:sp>
        <p:nvSpPr>
          <p:cNvPr id="63" name="Shape 61"/>
          <p:cNvSpPr/>
          <p:nvPr/>
        </p:nvSpPr>
        <p:spPr>
          <a:xfrm>
            <a:off x="9191222" y="4488472"/>
            <a:ext cx="201168" cy="201168"/>
          </a:xfrm>
          <a:prstGeom prst="ellipse">
            <a:avLst/>
          </a:prstGeom>
          <a:solidFill>
            <a:srgbClr val="00A9C0"/>
          </a:solidFill>
          <a:ln w="12700">
            <a:solidFill>
              <a:srgbClr val="00A9C0"/>
            </a:solidFill>
            <a:prstDash val="solid"/>
          </a:ln>
        </p:spPr>
      </p:sp>
      <p:sp>
        <p:nvSpPr>
          <p:cNvPr id="64" name="Text 62"/>
          <p:cNvSpPr txBox="1"/>
          <p:nvPr/>
        </p:nvSpPr>
        <p:spPr>
          <a:xfrm>
            <a:off x="9191222" y="448847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10</a:t>
            </a:r>
            <a:endParaRPr lang="en-US" sz="800" dirty="0"/>
          </a:p>
        </p:txBody>
      </p:sp>
      <p:sp>
        <p:nvSpPr>
          <p:cNvPr id="65" name="Text 63"/>
          <p:cNvSpPr txBox="1"/>
          <p:nvPr/>
        </p:nvSpPr>
        <p:spPr>
          <a:xfrm>
            <a:off x="9438110" y="4342168"/>
            <a:ext cx="1446581" cy="219456"/>
          </a:xfrm>
          <a:prstGeom prst="rect">
            <a:avLst/>
          </a:prstGeom>
          <a:noFill/>
          <a:ln/>
        </p:spPr>
        <p:txBody>
          <a:bodyPr wrap="square" lIns="0" tIns="0" rIns="0" bIns="0" rtlCol="0" anchor="b"/>
          <a:lstStyle/>
          <a:p>
            <a:pPr algn="ctr" indent="0" marL="0">
              <a:buNone/>
            </a:pPr>
            <a:r>
              <a:rPr lang="en-US" sz="1000" dirty="0">
                <a:solidFill>
                  <a:srgbClr val="000000"/>
                </a:solidFill>
              </a:rPr>
              <a:t>Registration event</a:t>
            </a:r>
            <a:endParaRPr lang="en-US" sz="1000" dirty="0"/>
          </a:p>
        </p:txBody>
      </p:sp>
      <p:sp>
        <p:nvSpPr>
          <p:cNvPr id="66" name="Shape 64"/>
          <p:cNvSpPr/>
          <p:nvPr/>
        </p:nvSpPr>
        <p:spPr>
          <a:xfrm>
            <a:off x="1301910" y="4834886"/>
            <a:ext cx="9587876" cy="0"/>
          </a:xfrm>
          <a:prstGeom prst="line">
            <a:avLst/>
          </a:prstGeom>
          <a:noFill/>
          <a:ln w="15875">
            <a:solidFill>
              <a:srgbClr val="6B7280"/>
            </a:solidFill>
            <a:prstDash val="dash"/>
            <a:headEnd type="triangle"/>
          </a:ln>
        </p:spPr>
      </p:sp>
      <p:sp>
        <p:nvSpPr>
          <p:cNvPr id="67" name="Shape 65"/>
          <p:cNvSpPr/>
          <p:nvPr/>
        </p:nvSpPr>
        <p:spPr>
          <a:xfrm>
            <a:off x="10789202" y="4734302"/>
            <a:ext cx="201168" cy="201168"/>
          </a:xfrm>
          <a:prstGeom prst="ellipse">
            <a:avLst/>
          </a:prstGeom>
          <a:solidFill>
            <a:srgbClr val="00A9C0"/>
          </a:solidFill>
          <a:ln w="12700">
            <a:solidFill>
              <a:srgbClr val="00A9C0"/>
            </a:solidFill>
            <a:prstDash val="solid"/>
          </a:ln>
        </p:spPr>
      </p:sp>
      <p:sp>
        <p:nvSpPr>
          <p:cNvPr id="68" name="Text 66"/>
          <p:cNvSpPr txBox="1"/>
          <p:nvPr/>
        </p:nvSpPr>
        <p:spPr>
          <a:xfrm>
            <a:off x="10789202" y="4734302"/>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11</a:t>
            </a:r>
            <a:endParaRPr lang="en-US" sz="800" dirty="0"/>
          </a:p>
        </p:txBody>
      </p:sp>
      <p:sp>
        <p:nvSpPr>
          <p:cNvPr id="69" name="Text 67"/>
          <p:cNvSpPr txBox="1"/>
          <p:nvPr/>
        </p:nvSpPr>
        <p:spPr>
          <a:xfrm>
            <a:off x="1338486" y="4587998"/>
            <a:ext cx="9404996" cy="219456"/>
          </a:xfrm>
          <a:prstGeom prst="rect">
            <a:avLst/>
          </a:prstGeom>
          <a:noFill/>
          <a:ln/>
        </p:spPr>
        <p:txBody>
          <a:bodyPr wrap="square" lIns="0" tIns="0" rIns="0" bIns="0" rtlCol="0" anchor="b"/>
          <a:lstStyle/>
          <a:p>
            <a:pPr algn="ctr" indent="0" marL="0">
              <a:buNone/>
            </a:pPr>
            <a:r>
              <a:rPr lang="en-US" sz="1000" dirty="0">
                <a:solidFill>
                  <a:srgbClr val="4D4D4D"/>
                </a:solidFill>
              </a:rPr>
              <a:t>Confirmation, QR code, calendar invite</a:t>
            </a:r>
            <a:endParaRPr lang="en-US" sz="1000" dirty="0"/>
          </a:p>
        </p:txBody>
      </p:sp>
      <p:sp>
        <p:nvSpPr>
          <p:cNvPr id="70" name="Shape 68"/>
          <p:cNvSpPr/>
          <p:nvPr/>
        </p:nvSpPr>
        <p:spPr>
          <a:xfrm>
            <a:off x="550859" y="4955044"/>
            <a:ext cx="11089976" cy="0"/>
          </a:xfrm>
          <a:prstGeom prst="line">
            <a:avLst/>
          </a:prstGeom>
          <a:noFill/>
          <a:ln w="12700">
            <a:solidFill>
              <a:srgbClr val="9A9AA2"/>
            </a:solidFill>
            <a:prstDash val="dash"/>
          </a:ln>
        </p:spPr>
      </p:sp>
      <p:sp>
        <p:nvSpPr>
          <p:cNvPr id="71" name="Shape 69"/>
          <p:cNvSpPr/>
          <p:nvPr/>
        </p:nvSpPr>
        <p:spPr>
          <a:xfrm>
            <a:off x="605723" y="4919214"/>
            <a:ext cx="1280160" cy="219456"/>
          </a:xfrm>
          <a:prstGeom prst="roundRect">
            <a:avLst>
              <a:gd name="adj" fmla="val 20833"/>
            </a:avLst>
          </a:prstGeom>
          <a:solidFill>
            <a:srgbClr val="FFF6CC"/>
          </a:solidFill>
          <a:ln w="12700">
            <a:solidFill>
              <a:srgbClr val="D9B200"/>
            </a:solidFill>
            <a:prstDash val="solid"/>
          </a:ln>
        </p:spPr>
      </p:sp>
      <p:sp>
        <p:nvSpPr>
          <p:cNvPr id="72" name="Text 70"/>
          <p:cNvSpPr txBox="1"/>
          <p:nvPr/>
        </p:nvSpPr>
        <p:spPr>
          <a:xfrm>
            <a:off x="605723" y="4919214"/>
            <a:ext cx="1280160" cy="219456"/>
          </a:xfrm>
          <a:prstGeom prst="rect">
            <a:avLst/>
          </a:prstGeom>
          <a:noFill/>
          <a:ln/>
        </p:spPr>
        <p:txBody>
          <a:bodyPr wrap="square" lIns="0" tIns="0" rIns="0" bIns="0" rtlCol="0" anchor="ctr"/>
          <a:lstStyle/>
          <a:p>
            <a:pPr algn="ctr" indent="0" marL="0">
              <a:buNone/>
            </a:pPr>
            <a:r>
              <a:rPr lang="en-US" sz="950" b="1" dirty="0">
                <a:solidFill>
                  <a:srgbClr val="6B5600"/>
                </a:solidFill>
              </a:rPr>
              <a:t>If sold out</a:t>
            </a:r>
            <a:endParaRPr lang="en-US" sz="950" dirty="0"/>
          </a:p>
        </p:txBody>
      </p:sp>
      <p:sp>
        <p:nvSpPr>
          <p:cNvPr id="73" name="Shape 71"/>
          <p:cNvSpPr/>
          <p:nvPr/>
        </p:nvSpPr>
        <p:spPr>
          <a:xfrm>
            <a:off x="4497868" y="5265088"/>
            <a:ext cx="1597979" cy="0"/>
          </a:xfrm>
          <a:prstGeom prst="line">
            <a:avLst/>
          </a:prstGeom>
          <a:noFill/>
          <a:ln w="15875">
            <a:solidFill>
              <a:srgbClr val="6B7280"/>
            </a:solidFill>
            <a:prstDash val="dash"/>
            <a:headEnd type="triangle"/>
          </a:ln>
        </p:spPr>
      </p:sp>
      <p:sp>
        <p:nvSpPr>
          <p:cNvPr id="74" name="Shape 72"/>
          <p:cNvSpPr/>
          <p:nvPr/>
        </p:nvSpPr>
        <p:spPr>
          <a:xfrm>
            <a:off x="5995264" y="5164504"/>
            <a:ext cx="201168" cy="201168"/>
          </a:xfrm>
          <a:prstGeom prst="ellipse">
            <a:avLst/>
          </a:prstGeom>
          <a:solidFill>
            <a:srgbClr val="00A9C0"/>
          </a:solidFill>
          <a:ln w="12700">
            <a:solidFill>
              <a:srgbClr val="00A9C0"/>
            </a:solidFill>
            <a:prstDash val="solid"/>
          </a:ln>
        </p:spPr>
      </p:sp>
      <p:sp>
        <p:nvSpPr>
          <p:cNvPr id="75" name="Text 73"/>
          <p:cNvSpPr txBox="1"/>
          <p:nvPr/>
        </p:nvSpPr>
        <p:spPr>
          <a:xfrm>
            <a:off x="5995264" y="516450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12</a:t>
            </a:r>
            <a:endParaRPr lang="en-US" sz="800" dirty="0"/>
          </a:p>
        </p:txBody>
      </p:sp>
      <p:sp>
        <p:nvSpPr>
          <p:cNvPr id="76" name="Text 74"/>
          <p:cNvSpPr txBox="1"/>
          <p:nvPr/>
        </p:nvSpPr>
        <p:spPr>
          <a:xfrm>
            <a:off x="4534444" y="5018200"/>
            <a:ext cx="1415099" cy="219456"/>
          </a:xfrm>
          <a:prstGeom prst="rect">
            <a:avLst/>
          </a:prstGeom>
          <a:noFill/>
          <a:ln/>
        </p:spPr>
        <p:txBody>
          <a:bodyPr wrap="square" lIns="0" tIns="0" rIns="0" bIns="0" rtlCol="0" anchor="b"/>
          <a:lstStyle/>
          <a:p>
            <a:pPr algn="ctr" indent="0" marL="0">
              <a:buNone/>
            </a:pPr>
            <a:r>
              <a:rPr lang="en-US" sz="1000" dirty="0">
                <a:solidFill>
                  <a:srgbClr val="4D4D4D"/>
                </a:solidFill>
              </a:rPr>
              <a:t>No seats left</a:t>
            </a:r>
            <a:endParaRPr lang="en-US" sz="1000" dirty="0"/>
          </a:p>
        </p:txBody>
      </p:sp>
      <p:sp>
        <p:nvSpPr>
          <p:cNvPr id="77" name="Shape 75"/>
          <p:cNvSpPr/>
          <p:nvPr/>
        </p:nvSpPr>
        <p:spPr>
          <a:xfrm>
            <a:off x="1301910" y="5510918"/>
            <a:ext cx="3195959" cy="0"/>
          </a:xfrm>
          <a:prstGeom prst="line">
            <a:avLst/>
          </a:prstGeom>
          <a:noFill/>
          <a:ln w="15875">
            <a:solidFill>
              <a:srgbClr val="6B7280"/>
            </a:solidFill>
            <a:prstDash val="dash"/>
            <a:headEnd type="triangle"/>
          </a:ln>
        </p:spPr>
      </p:sp>
      <p:sp>
        <p:nvSpPr>
          <p:cNvPr id="78" name="Shape 76"/>
          <p:cNvSpPr/>
          <p:nvPr/>
        </p:nvSpPr>
        <p:spPr>
          <a:xfrm>
            <a:off x="4397284" y="5410334"/>
            <a:ext cx="201168" cy="201168"/>
          </a:xfrm>
          <a:prstGeom prst="ellipse">
            <a:avLst/>
          </a:prstGeom>
          <a:solidFill>
            <a:srgbClr val="00A9C0"/>
          </a:solidFill>
          <a:ln w="12700">
            <a:solidFill>
              <a:srgbClr val="00A9C0"/>
            </a:solidFill>
            <a:prstDash val="solid"/>
          </a:ln>
        </p:spPr>
      </p:sp>
      <p:sp>
        <p:nvSpPr>
          <p:cNvPr id="79" name="Text 77"/>
          <p:cNvSpPr txBox="1"/>
          <p:nvPr/>
        </p:nvSpPr>
        <p:spPr>
          <a:xfrm>
            <a:off x="4397284" y="541033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13</a:t>
            </a:r>
            <a:endParaRPr lang="en-US" sz="800" dirty="0"/>
          </a:p>
        </p:txBody>
      </p:sp>
      <p:sp>
        <p:nvSpPr>
          <p:cNvPr id="80" name="Text 78"/>
          <p:cNvSpPr txBox="1"/>
          <p:nvPr/>
        </p:nvSpPr>
        <p:spPr>
          <a:xfrm>
            <a:off x="1281009" y="5264030"/>
            <a:ext cx="3070555" cy="219456"/>
          </a:xfrm>
          <a:prstGeom prst="rect">
            <a:avLst/>
          </a:prstGeom>
          <a:noFill/>
          <a:ln/>
        </p:spPr>
        <p:txBody>
          <a:bodyPr wrap="square" lIns="0" tIns="0" rIns="0" bIns="0" rtlCol="0" anchor="b"/>
          <a:lstStyle/>
          <a:p>
            <a:pPr algn="ctr" indent="0" marL="0">
              <a:buNone/>
            </a:pPr>
            <a:r>
              <a:rPr lang="en-US" sz="1000" dirty="0">
                <a:solidFill>
                  <a:srgbClr val="4D4D4D"/>
                </a:solidFill>
              </a:rPr>
              <a:t>Join waitlist or get notified of new dates</a:t>
            </a:r>
            <a:endParaRPr lang="en-US" sz="1000" dirty="0"/>
          </a:p>
        </p:txBody>
      </p:sp>
      <p:sp>
        <p:nvSpPr>
          <p:cNvPr id="81" name="Shape 79"/>
          <p:cNvSpPr/>
          <p:nvPr/>
        </p:nvSpPr>
        <p:spPr>
          <a:xfrm>
            <a:off x="4497868" y="5756748"/>
            <a:ext cx="4793938" cy="0"/>
          </a:xfrm>
          <a:prstGeom prst="line">
            <a:avLst/>
          </a:prstGeom>
          <a:noFill/>
          <a:ln w="15875">
            <a:solidFill>
              <a:srgbClr val="1A1A1A"/>
            </a:solidFill>
            <a:prstDash val="solid"/>
            <a:tailEnd type="triangle"/>
          </a:ln>
        </p:spPr>
      </p:sp>
      <p:sp>
        <p:nvSpPr>
          <p:cNvPr id="82" name="Shape 80"/>
          <p:cNvSpPr/>
          <p:nvPr/>
        </p:nvSpPr>
        <p:spPr>
          <a:xfrm>
            <a:off x="4397284" y="5656164"/>
            <a:ext cx="201168" cy="201168"/>
          </a:xfrm>
          <a:prstGeom prst="ellipse">
            <a:avLst/>
          </a:prstGeom>
          <a:solidFill>
            <a:srgbClr val="00A9C0"/>
          </a:solidFill>
          <a:ln w="12700">
            <a:solidFill>
              <a:srgbClr val="00A9C0"/>
            </a:solidFill>
            <a:prstDash val="solid"/>
          </a:ln>
        </p:spPr>
      </p:sp>
      <p:sp>
        <p:nvSpPr>
          <p:cNvPr id="83" name="Text 81"/>
          <p:cNvSpPr txBox="1"/>
          <p:nvPr/>
        </p:nvSpPr>
        <p:spPr>
          <a:xfrm>
            <a:off x="4397284" y="5656164"/>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14</a:t>
            </a:r>
            <a:endParaRPr lang="en-US" sz="800" dirty="0"/>
          </a:p>
        </p:txBody>
      </p:sp>
      <p:sp>
        <p:nvSpPr>
          <p:cNvPr id="84" name="Text 82"/>
          <p:cNvSpPr txBox="1"/>
          <p:nvPr/>
        </p:nvSpPr>
        <p:spPr>
          <a:xfrm>
            <a:off x="4644172" y="5509860"/>
            <a:ext cx="4611058" cy="219456"/>
          </a:xfrm>
          <a:prstGeom prst="rect">
            <a:avLst/>
          </a:prstGeom>
          <a:noFill/>
          <a:ln/>
        </p:spPr>
        <p:txBody>
          <a:bodyPr wrap="square" lIns="0" tIns="0" rIns="0" bIns="0" rtlCol="0" anchor="b"/>
          <a:lstStyle/>
          <a:p>
            <a:pPr algn="ctr" indent="0" marL="0">
              <a:buNone/>
            </a:pPr>
            <a:r>
              <a:rPr lang="en-US" sz="1000" dirty="0">
                <a:solidFill>
                  <a:srgbClr val="000000"/>
                </a:solidFill>
              </a:rPr>
              <a:t>Waitlist or interest record</a:t>
            </a:r>
            <a:endParaRPr lang="en-US" sz="1000" dirty="0"/>
          </a:p>
        </p:txBody>
      </p:sp>
      <p:sp>
        <p:nvSpPr>
          <p:cNvPr id="85" name="Shape 83"/>
          <p:cNvSpPr/>
          <p:nvPr/>
        </p:nvSpPr>
        <p:spPr>
          <a:xfrm>
            <a:off x="550859" y="3049863"/>
            <a:ext cx="11089976" cy="2833487"/>
          </a:xfrm>
          <a:prstGeom prst="rect">
            <a:avLst/>
          </a:prstGeom>
          <a:ln w="12700">
            <a:solidFill>
              <a:srgbClr val="9A9AA2"/>
            </a:solidFill>
            <a:prstDash val="dash"/>
          </a:ln>
        </p:spPr>
      </p:sp>
      <p:sp>
        <p:nvSpPr>
          <p:cNvPr id="86" name="Shape 84"/>
          <p:cNvSpPr/>
          <p:nvPr/>
        </p:nvSpPr>
        <p:spPr>
          <a:xfrm>
            <a:off x="3778778" y="5963245"/>
            <a:ext cx="3036161" cy="172081"/>
          </a:xfrm>
          <a:prstGeom prst="rect">
            <a:avLst/>
          </a:prstGeom>
          <a:solidFill>
            <a:srgbClr val="FED700"/>
          </a:solidFill>
          <a:ln w="12700">
            <a:solidFill>
              <a:srgbClr val="FED700"/>
            </a:solidFill>
            <a:prstDash val="solid"/>
          </a:ln>
        </p:spPr>
      </p:sp>
      <p:sp>
        <p:nvSpPr>
          <p:cNvPr id="87" name="Text 85"/>
          <p:cNvSpPr txBox="1"/>
          <p:nvPr/>
        </p:nvSpPr>
        <p:spPr>
          <a:xfrm>
            <a:off x="3851930" y="5963245"/>
            <a:ext cx="2889857" cy="172081"/>
          </a:xfrm>
          <a:prstGeom prst="rect">
            <a:avLst/>
          </a:prstGeom>
          <a:noFill/>
          <a:ln/>
        </p:spPr>
        <p:txBody>
          <a:bodyPr wrap="square" lIns="0" tIns="0" rIns="0" bIns="0" rtlCol="0" anchor="ctr"/>
          <a:lstStyle/>
          <a:p>
            <a:pPr algn="ctr" indent="0" marL="0">
              <a:buNone/>
            </a:pPr>
            <a:r>
              <a:rPr lang="en-US" sz="1000" b="1" dirty="0">
                <a:solidFill>
                  <a:srgbClr val="000000"/>
                </a:solidFill>
              </a:rPr>
              <a:t>Unpaid holds expire and return to the pool</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Payments and data security by design</a:t>
            </a:r>
            <a:endParaRPr lang="en-US" sz="3200" dirty="0"/>
          </a:p>
        </p:txBody>
      </p:sp>
      <p:sp>
        <p:nvSpPr>
          <p:cNvPr id="3" name="Text 1"/>
          <p:cNvSpPr txBox="1"/>
          <p:nvPr/>
        </p:nvSpPr>
        <p:spPr>
          <a:xfrm>
            <a:off x="502920" y="1463040"/>
            <a:ext cx="5303520" cy="365760"/>
          </a:xfrm>
          <a:prstGeom prst="rect">
            <a:avLst/>
          </a:prstGeom>
          <a:noFill/>
          <a:ln/>
        </p:spPr>
        <p:txBody>
          <a:bodyPr wrap="square" lIns="0" tIns="0" rIns="0" bIns="0" rtlCol="0" anchor="t"/>
          <a:lstStyle/>
          <a:p>
            <a:pPr indent="0" marL="0">
              <a:buNone/>
            </a:pPr>
            <a:r>
              <a:rPr lang="en-US" sz="1700" b="1" dirty="0">
                <a:solidFill>
                  <a:schemeClr val="tx1"/>
                </a:solidFill>
              </a:rPr>
              <a:t>Card data never enters our systems</a:t>
            </a:r>
            <a:endParaRPr lang="en-US" sz="1700" dirty="0"/>
          </a:p>
        </p:txBody>
      </p:sp>
      <p:sp>
        <p:nvSpPr>
          <p:cNvPr id="4" name="Shape 2"/>
          <p:cNvSpPr/>
          <p:nvPr/>
        </p:nvSpPr>
        <p:spPr>
          <a:xfrm>
            <a:off x="502920" y="1965960"/>
            <a:ext cx="3383280" cy="2011680"/>
          </a:xfrm>
          <a:prstGeom prst="roundRect">
            <a:avLst>
              <a:gd name="adj" fmla="val 4545"/>
            </a:avLst>
          </a:prstGeom>
          <a:ln w="15875">
            <a:solidFill>
              <a:srgbClr val="FF0068"/>
            </a:solidFill>
            <a:prstDash val="dash"/>
          </a:ln>
        </p:spPr>
      </p:sp>
      <p:sp>
        <p:nvSpPr>
          <p:cNvPr id="5" name="Shape 3"/>
          <p:cNvSpPr/>
          <p:nvPr/>
        </p:nvSpPr>
        <p:spPr>
          <a:xfrm>
            <a:off x="731520" y="2103120"/>
            <a:ext cx="2926080" cy="731520"/>
          </a:xfrm>
          <a:prstGeom prst="roundRect">
            <a:avLst>
              <a:gd name="adj" fmla="val 10000"/>
            </a:avLst>
          </a:prstGeom>
          <a:solidFill>
            <a:srgbClr val="F2F2F2"/>
          </a:solidFill>
          <a:ln w="12700">
            <a:solidFill>
              <a:srgbClr val="D0D0D6"/>
            </a:solidFill>
            <a:prstDash val="solid"/>
          </a:ln>
        </p:spPr>
      </p:sp>
      <p:pic>
        <p:nvPicPr>
          <p:cNvPr id="6" name="Image 0" descr="preencoded.png">    </p:cNvPr>
          <p:cNvPicPr>
            <a:picLocks noChangeAspect="1"/>
          </p:cNvPicPr>
          <p:nvPr/>
        </p:nvPicPr>
        <p:blipFill>
          <a:blip r:embed="rId1"/>
          <a:stretch>
            <a:fillRect/>
          </a:stretch>
        </p:blipFill>
        <p:spPr>
          <a:xfrm>
            <a:off x="868680" y="2331720"/>
            <a:ext cx="274320" cy="274320"/>
          </a:xfrm>
          <a:prstGeom prst="rect">
            <a:avLst/>
          </a:prstGeom>
        </p:spPr>
      </p:pic>
      <p:sp>
        <p:nvSpPr>
          <p:cNvPr id="7" name="Text 4"/>
          <p:cNvSpPr txBox="1"/>
          <p:nvPr/>
        </p:nvSpPr>
        <p:spPr>
          <a:xfrm>
            <a:off x="1261872" y="2185416"/>
            <a:ext cx="2304288" cy="256032"/>
          </a:xfrm>
          <a:prstGeom prst="rect">
            <a:avLst/>
          </a:prstGeom>
          <a:noFill/>
          <a:ln/>
        </p:spPr>
        <p:txBody>
          <a:bodyPr wrap="square" lIns="0" tIns="0" rIns="0" bIns="0" rtlCol="0" anchor="t"/>
          <a:lstStyle/>
          <a:p>
            <a:pPr indent="0" marL="0">
              <a:buNone/>
            </a:pPr>
            <a:r>
              <a:rPr lang="en-US" sz="1200" b="1" dirty="0">
                <a:solidFill>
                  <a:schemeClr val="tx1"/>
                </a:solidFill>
              </a:rPr>
              <a:t>Registrant</a:t>
            </a:r>
            <a:endParaRPr lang="en-US" sz="1200" dirty="0"/>
          </a:p>
        </p:txBody>
      </p:sp>
      <p:sp>
        <p:nvSpPr>
          <p:cNvPr id="8" name="Text 5"/>
          <p:cNvSpPr txBox="1"/>
          <p:nvPr/>
        </p:nvSpPr>
        <p:spPr>
          <a:xfrm>
            <a:off x="1261872" y="2441448"/>
            <a:ext cx="2304288" cy="365760"/>
          </a:xfrm>
          <a:prstGeom prst="rect">
            <a:avLst/>
          </a:prstGeom>
          <a:noFill/>
          <a:ln/>
        </p:spPr>
        <p:txBody>
          <a:bodyPr wrap="square" lIns="0" tIns="0" rIns="0" bIns="0" rtlCol="0" anchor="t"/>
          <a:lstStyle/>
          <a:p>
            <a:pPr indent="0" marL="0">
              <a:buNone/>
            </a:pPr>
            <a:r>
              <a:rPr lang="en-US" sz="1050" dirty="0">
                <a:solidFill>
                  <a:srgbClr val="4D4D4D"/>
                </a:solidFill>
              </a:rPr>
              <a:t>Website or Experience Cloud site</a:t>
            </a:r>
            <a:endParaRPr lang="en-US" sz="1050" dirty="0"/>
          </a:p>
        </p:txBody>
      </p:sp>
      <p:sp>
        <p:nvSpPr>
          <p:cNvPr id="9" name="Shape 6"/>
          <p:cNvSpPr/>
          <p:nvPr/>
        </p:nvSpPr>
        <p:spPr>
          <a:xfrm>
            <a:off x="2194560" y="2852928"/>
            <a:ext cx="0" cy="237744"/>
          </a:xfrm>
          <a:prstGeom prst="line">
            <a:avLst/>
          </a:prstGeom>
          <a:noFill/>
          <a:ln w="15875">
            <a:solidFill>
              <a:srgbClr val="000000"/>
            </a:solidFill>
            <a:prstDash val="solid"/>
            <a:tailEnd type="triangle"/>
          </a:ln>
        </p:spPr>
      </p:sp>
      <p:sp>
        <p:nvSpPr>
          <p:cNvPr id="10" name="Shape 7"/>
          <p:cNvSpPr/>
          <p:nvPr/>
        </p:nvSpPr>
        <p:spPr>
          <a:xfrm>
            <a:off x="731520" y="3108960"/>
            <a:ext cx="2926080" cy="731520"/>
          </a:xfrm>
          <a:prstGeom prst="roundRect">
            <a:avLst>
              <a:gd name="adj" fmla="val 10000"/>
            </a:avLst>
          </a:prstGeom>
          <a:solidFill>
            <a:srgbClr val="F2F2F2"/>
          </a:solidFill>
          <a:ln w="12700">
            <a:solidFill>
              <a:srgbClr val="D0D0D6"/>
            </a:solidFill>
            <a:prstDash val="solid"/>
          </a:ln>
        </p:spPr>
      </p:sp>
      <p:pic>
        <p:nvPicPr>
          <p:cNvPr id="11" name="Image 1" descr="preencoded.png">    </p:cNvPr>
          <p:cNvPicPr>
            <a:picLocks noChangeAspect="1"/>
          </p:cNvPicPr>
          <p:nvPr/>
        </p:nvPicPr>
        <p:blipFill>
          <a:blip r:embed="rId2"/>
          <a:stretch>
            <a:fillRect/>
          </a:stretch>
        </p:blipFill>
        <p:spPr>
          <a:xfrm>
            <a:off x="868680" y="3337560"/>
            <a:ext cx="274320" cy="274320"/>
          </a:xfrm>
          <a:prstGeom prst="rect">
            <a:avLst/>
          </a:prstGeom>
        </p:spPr>
      </p:pic>
      <p:sp>
        <p:nvSpPr>
          <p:cNvPr id="12" name="Text 8"/>
          <p:cNvSpPr txBox="1"/>
          <p:nvPr/>
        </p:nvSpPr>
        <p:spPr>
          <a:xfrm>
            <a:off x="1261872" y="3191256"/>
            <a:ext cx="2304288" cy="256032"/>
          </a:xfrm>
          <a:prstGeom prst="rect">
            <a:avLst/>
          </a:prstGeom>
          <a:noFill/>
          <a:ln/>
        </p:spPr>
        <p:txBody>
          <a:bodyPr wrap="square" lIns="0" tIns="0" rIns="0" bIns="0" rtlCol="0" anchor="t"/>
          <a:lstStyle/>
          <a:p>
            <a:pPr indent="0" marL="0">
              <a:buNone/>
            </a:pPr>
            <a:r>
              <a:rPr lang="en-US" sz="1200" b="1" dirty="0">
                <a:solidFill>
                  <a:schemeClr val="tx1"/>
                </a:solidFill>
              </a:rPr>
              <a:t>Chase hosted page</a:t>
            </a:r>
            <a:endParaRPr lang="en-US" sz="1200" dirty="0"/>
          </a:p>
        </p:txBody>
      </p:sp>
      <p:sp>
        <p:nvSpPr>
          <p:cNvPr id="13" name="Text 9"/>
          <p:cNvSpPr txBox="1"/>
          <p:nvPr/>
        </p:nvSpPr>
        <p:spPr>
          <a:xfrm>
            <a:off x="1261872" y="3447288"/>
            <a:ext cx="2304288" cy="365760"/>
          </a:xfrm>
          <a:prstGeom prst="rect">
            <a:avLst/>
          </a:prstGeom>
          <a:noFill/>
          <a:ln/>
        </p:spPr>
        <p:txBody>
          <a:bodyPr wrap="square" lIns="0" tIns="0" rIns="0" bIns="0" rtlCol="0" anchor="t"/>
          <a:lstStyle/>
          <a:p>
            <a:pPr indent="0" marL="0">
              <a:buNone/>
            </a:pPr>
            <a:r>
              <a:rPr lang="en-US" sz="1050" dirty="0">
                <a:solidFill>
                  <a:srgbClr val="4D4D4D"/>
                </a:solidFill>
              </a:rPr>
              <a:t>Card typed here (Chase, as for classes today)</a:t>
            </a:r>
            <a:endParaRPr lang="en-US" sz="1050" dirty="0"/>
          </a:p>
        </p:txBody>
      </p:sp>
      <p:sp>
        <p:nvSpPr>
          <p:cNvPr id="14" name="Shape 10"/>
          <p:cNvSpPr/>
          <p:nvPr/>
        </p:nvSpPr>
        <p:spPr>
          <a:xfrm>
            <a:off x="2194560" y="3858768"/>
            <a:ext cx="0" cy="347472"/>
          </a:xfrm>
          <a:prstGeom prst="line">
            <a:avLst/>
          </a:prstGeom>
          <a:noFill/>
          <a:ln w="15875">
            <a:solidFill>
              <a:srgbClr val="000000"/>
            </a:solidFill>
            <a:prstDash val="solid"/>
            <a:tailEnd type="triangle"/>
          </a:ln>
        </p:spPr>
      </p:sp>
      <p:sp>
        <p:nvSpPr>
          <p:cNvPr id="15" name="Shape 11"/>
          <p:cNvSpPr/>
          <p:nvPr/>
        </p:nvSpPr>
        <p:spPr>
          <a:xfrm>
            <a:off x="731520" y="4224528"/>
            <a:ext cx="2926080" cy="731520"/>
          </a:xfrm>
          <a:prstGeom prst="roundRect">
            <a:avLst>
              <a:gd name="adj" fmla="val 10000"/>
            </a:avLst>
          </a:prstGeom>
          <a:solidFill>
            <a:srgbClr val="F2F2F2"/>
          </a:solidFill>
          <a:ln w="12700">
            <a:solidFill>
              <a:srgbClr val="D0D0D6"/>
            </a:solidFill>
            <a:prstDash val="solid"/>
          </a:ln>
        </p:spPr>
      </p:sp>
      <p:pic>
        <p:nvPicPr>
          <p:cNvPr id="16" name="Image 2" descr="preencoded.png">    </p:cNvPr>
          <p:cNvPicPr>
            <a:picLocks noChangeAspect="1"/>
          </p:cNvPicPr>
          <p:nvPr/>
        </p:nvPicPr>
        <p:blipFill>
          <a:blip r:embed="rId3"/>
          <a:stretch>
            <a:fillRect/>
          </a:stretch>
        </p:blipFill>
        <p:spPr>
          <a:xfrm>
            <a:off x="868680" y="4453128"/>
            <a:ext cx="274320" cy="274320"/>
          </a:xfrm>
          <a:prstGeom prst="rect">
            <a:avLst/>
          </a:prstGeom>
        </p:spPr>
      </p:pic>
      <p:sp>
        <p:nvSpPr>
          <p:cNvPr id="17" name="Text 12"/>
          <p:cNvSpPr txBox="1"/>
          <p:nvPr/>
        </p:nvSpPr>
        <p:spPr>
          <a:xfrm>
            <a:off x="1261872" y="430682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Signed webhook</a:t>
            </a:r>
            <a:endParaRPr lang="en-US" sz="1200" dirty="0"/>
          </a:p>
        </p:txBody>
      </p:sp>
      <p:sp>
        <p:nvSpPr>
          <p:cNvPr id="18" name="Text 13"/>
          <p:cNvSpPr txBox="1"/>
          <p:nvPr/>
        </p:nvSpPr>
        <p:spPr>
          <a:xfrm>
            <a:off x="1261872" y="456285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last 4 digits, approval code</a:t>
            </a:r>
            <a:endParaRPr lang="en-US" sz="1050" dirty="0"/>
          </a:p>
        </p:txBody>
      </p:sp>
      <p:sp>
        <p:nvSpPr>
          <p:cNvPr id="19" name="Shape 14"/>
          <p:cNvSpPr/>
          <p:nvPr/>
        </p:nvSpPr>
        <p:spPr>
          <a:xfrm>
            <a:off x="2194560" y="4974336"/>
            <a:ext cx="0" cy="237744"/>
          </a:xfrm>
          <a:prstGeom prst="line">
            <a:avLst/>
          </a:prstGeom>
          <a:noFill/>
          <a:ln w="15875">
            <a:solidFill>
              <a:srgbClr val="000000"/>
            </a:solidFill>
            <a:prstDash val="solid"/>
            <a:tailEnd type="triangle"/>
          </a:ln>
        </p:spPr>
      </p:sp>
      <p:sp>
        <p:nvSpPr>
          <p:cNvPr id="20" name="Shape 15"/>
          <p:cNvSpPr/>
          <p:nvPr/>
        </p:nvSpPr>
        <p:spPr>
          <a:xfrm>
            <a:off x="731520" y="5230368"/>
            <a:ext cx="2926080" cy="731520"/>
          </a:xfrm>
          <a:prstGeom prst="roundRect">
            <a:avLst>
              <a:gd name="adj" fmla="val 10000"/>
            </a:avLst>
          </a:prstGeom>
          <a:solidFill>
            <a:srgbClr val="F2F2F2"/>
          </a:solidFill>
          <a:ln w="12700">
            <a:solidFill>
              <a:srgbClr val="D0D0D6"/>
            </a:solidFill>
            <a:prstDash val="solid"/>
          </a:ln>
        </p:spPr>
      </p:sp>
      <p:pic>
        <p:nvPicPr>
          <p:cNvPr id="21" name="Image 3" descr="preencoded.png">    </p:cNvPr>
          <p:cNvPicPr>
            <a:picLocks noChangeAspect="1"/>
          </p:cNvPicPr>
          <p:nvPr/>
        </p:nvPicPr>
        <p:blipFill>
          <a:blip r:embed="rId4"/>
          <a:stretch>
            <a:fillRect/>
          </a:stretch>
        </p:blipFill>
        <p:spPr>
          <a:xfrm>
            <a:off x="868680" y="5458968"/>
            <a:ext cx="274320" cy="274320"/>
          </a:xfrm>
          <a:prstGeom prst="rect">
            <a:avLst/>
          </a:prstGeom>
        </p:spPr>
      </p:pic>
      <p:sp>
        <p:nvSpPr>
          <p:cNvPr id="22" name="Text 16"/>
          <p:cNvSpPr txBox="1"/>
          <p:nvPr/>
        </p:nvSpPr>
        <p:spPr>
          <a:xfrm>
            <a:off x="1261872" y="5312664"/>
            <a:ext cx="2304288" cy="256032"/>
          </a:xfrm>
          <a:prstGeom prst="rect">
            <a:avLst/>
          </a:prstGeom>
          <a:noFill/>
          <a:ln/>
        </p:spPr>
        <p:txBody>
          <a:bodyPr wrap="square" lIns="0" tIns="0" rIns="0" bIns="0" rtlCol="0" anchor="t"/>
          <a:lstStyle/>
          <a:p>
            <a:pPr indent="0" marL="0">
              <a:buNone/>
            </a:pPr>
            <a:r>
              <a:rPr lang="en-US" sz="1200" b="1" dirty="0">
                <a:solidFill>
                  <a:schemeClr val="tx1"/>
                </a:solidFill>
              </a:rPr>
              <a:t>Salesforce payment record</a:t>
            </a:r>
            <a:endParaRPr lang="en-US" sz="1200" dirty="0"/>
          </a:p>
        </p:txBody>
      </p:sp>
      <p:sp>
        <p:nvSpPr>
          <p:cNvPr id="23" name="Text 17"/>
          <p:cNvSpPr txBox="1"/>
          <p:nvPr/>
        </p:nvSpPr>
        <p:spPr>
          <a:xfrm>
            <a:off x="1261872" y="5568696"/>
            <a:ext cx="2304288" cy="365760"/>
          </a:xfrm>
          <a:prstGeom prst="rect">
            <a:avLst/>
          </a:prstGeom>
          <a:noFill/>
          <a:ln/>
        </p:spPr>
        <p:txBody>
          <a:bodyPr wrap="square" lIns="0" tIns="0" rIns="0" bIns="0" rtlCol="0" anchor="t"/>
          <a:lstStyle/>
          <a:p>
            <a:pPr indent="0" marL="0">
              <a:buNone/>
            </a:pPr>
            <a:r>
              <a:rPr lang="en-US" sz="1050" dirty="0">
                <a:solidFill>
                  <a:srgbClr val="4D4D4D"/>
                </a:solidFill>
              </a:rPr>
              <a:t>Token reference, last 4, amount, status</a:t>
            </a:r>
            <a:endParaRPr lang="en-US" sz="1050" dirty="0"/>
          </a:p>
        </p:txBody>
      </p:sp>
      <p:sp>
        <p:nvSpPr>
          <p:cNvPr id="24" name="Text 18"/>
          <p:cNvSpPr txBox="1"/>
          <p:nvPr/>
        </p:nvSpPr>
        <p:spPr>
          <a:xfrm>
            <a:off x="4069080" y="2103120"/>
            <a:ext cx="1920240" cy="274320"/>
          </a:xfrm>
          <a:prstGeom prst="rect">
            <a:avLst/>
          </a:prstGeom>
          <a:noFill/>
          <a:ln/>
        </p:spPr>
        <p:txBody>
          <a:bodyPr wrap="square" lIns="0" tIns="0" rIns="0" bIns="0" rtlCol="0" anchor="t"/>
          <a:lstStyle/>
          <a:p>
            <a:pPr indent="0" marL="0">
              <a:buNone/>
            </a:pPr>
            <a:r>
              <a:rPr lang="en-US" sz="900" b="1" spc="200" kern="0" dirty="0">
                <a:solidFill>
                  <a:srgbClr val="C8005A"/>
                </a:solidFill>
              </a:rPr>
              <a:t>CARD DATA ZONE</a:t>
            </a:r>
            <a:endParaRPr lang="en-US" sz="900" dirty="0"/>
          </a:p>
        </p:txBody>
      </p:sp>
      <p:sp>
        <p:nvSpPr>
          <p:cNvPr id="25" name="Text 19"/>
          <p:cNvSpPr txBox="1"/>
          <p:nvPr/>
        </p:nvSpPr>
        <p:spPr>
          <a:xfrm>
            <a:off x="4069080" y="2377440"/>
            <a:ext cx="1920240" cy="1280160"/>
          </a:xfrm>
          <a:prstGeom prst="rect">
            <a:avLst/>
          </a:prstGeom>
          <a:noFill/>
          <a:ln/>
        </p:spPr>
        <p:txBody>
          <a:bodyPr wrap="square" lIns="0" tIns="0" rIns="0" bIns="0" rtlCol="0" anchor="t"/>
          <a:lstStyle/>
          <a:p>
            <a:pPr indent="0" marL="0">
              <a:buNone/>
            </a:pPr>
            <a:r>
              <a:rPr lang="en-US" sz="1100" dirty="0">
                <a:solidFill>
                  <a:srgbClr val="4D4D4D"/>
                </a:solidFill>
              </a:rPr>
              <a:t>Card numbers go straight to the payment gateway. PCI scope stays at the simplest level (SAQ A) [to confirm].</a:t>
            </a:r>
            <a:endParaRPr lang="en-US" sz="1100" dirty="0"/>
          </a:p>
        </p:txBody>
      </p:sp>
      <p:sp>
        <p:nvSpPr>
          <p:cNvPr id="26" name="Text 20"/>
          <p:cNvSpPr txBox="1"/>
          <p:nvPr/>
        </p:nvSpPr>
        <p:spPr>
          <a:xfrm>
            <a:off x="4069080" y="4206240"/>
            <a:ext cx="1920240" cy="274320"/>
          </a:xfrm>
          <a:prstGeom prst="rect">
            <a:avLst/>
          </a:prstGeom>
          <a:noFill/>
          <a:ln/>
        </p:spPr>
        <p:txBody>
          <a:bodyPr wrap="square" lIns="0" tIns="0" rIns="0" bIns="0" rtlCol="0" anchor="t"/>
          <a:lstStyle/>
          <a:p>
            <a:pPr indent="0" marL="0">
              <a:buNone/>
            </a:pPr>
            <a:r>
              <a:rPr lang="en-US" sz="900" b="1" spc="200" kern="0" dirty="0">
                <a:solidFill>
                  <a:schemeClr val="tx1"/>
                </a:solidFill>
              </a:rPr>
              <a:t>OUR SYSTEMS</a:t>
            </a:r>
            <a:endParaRPr lang="en-US" sz="900" dirty="0"/>
          </a:p>
        </p:txBody>
      </p:sp>
      <p:sp>
        <p:nvSpPr>
          <p:cNvPr id="27" name="Text 21"/>
          <p:cNvSpPr txBox="1"/>
          <p:nvPr/>
        </p:nvSpPr>
        <p:spPr>
          <a:xfrm>
            <a:off x="4069080" y="4480560"/>
            <a:ext cx="1920240" cy="1280160"/>
          </a:xfrm>
          <a:prstGeom prst="rect">
            <a:avLst/>
          </a:prstGeom>
          <a:noFill/>
          <a:ln/>
        </p:spPr>
        <p:txBody>
          <a:bodyPr wrap="square" lIns="0" tIns="0" rIns="0" bIns="0" rtlCol="0" anchor="t"/>
          <a:lstStyle/>
          <a:p>
            <a:pPr indent="0" marL="0">
              <a:buNone/>
            </a:pPr>
            <a:r>
              <a:rPr lang="en-US" sz="1100" dirty="0">
                <a:solidFill>
                  <a:srgbClr val="4D4D4D"/>
                </a:solidFill>
              </a:rPr>
              <a:t>No card number, CVV or expiry stored. Refunds by token. Signed, idempotent webhooks. Daily reconciliation.</a:t>
            </a:r>
            <a:endParaRPr lang="en-US" sz="1100" dirty="0"/>
          </a:p>
        </p:txBody>
      </p:sp>
      <p:sp>
        <p:nvSpPr>
          <p:cNvPr id="28" name="Text 22"/>
          <p:cNvSpPr txBox="1"/>
          <p:nvPr/>
        </p:nvSpPr>
        <p:spPr>
          <a:xfrm>
            <a:off x="6263640" y="1463040"/>
            <a:ext cx="5422392" cy="365760"/>
          </a:xfrm>
          <a:prstGeom prst="rect">
            <a:avLst/>
          </a:prstGeom>
          <a:noFill/>
          <a:ln/>
        </p:spPr>
        <p:txBody>
          <a:bodyPr wrap="square" lIns="0" tIns="0" rIns="0" bIns="0" rtlCol="0" anchor="t"/>
          <a:lstStyle/>
          <a:p>
            <a:pPr indent="0" marL="0">
              <a:buNone/>
            </a:pPr>
            <a:r>
              <a:rPr lang="en-US" sz="1700" b="1" dirty="0">
                <a:solidFill>
                  <a:schemeClr val="tx1"/>
                </a:solidFill>
              </a:rPr>
              <a:t>Registrant and patient data, protected in layers</a:t>
            </a:r>
            <a:endParaRPr lang="en-US" sz="1700" dirty="0"/>
          </a:p>
        </p:txBody>
      </p:sp>
      <p:sp>
        <p:nvSpPr>
          <p:cNvPr id="29" name="layer-Edge"/>
          <p:cNvSpPr/>
          <p:nvPr/>
        </p:nvSpPr>
        <p:spPr>
          <a:xfrm>
            <a:off x="6263640" y="1920240"/>
            <a:ext cx="5422392" cy="676656"/>
          </a:xfrm>
          <a:prstGeom prst="roundRect">
            <a:avLst>
              <a:gd name="adj" fmla="val 13514"/>
            </a:avLst>
          </a:prstGeom>
          <a:solidFill>
            <a:srgbClr val="F2F2F2"/>
          </a:solidFill>
          <a:ln w="12700">
            <a:solidFill>
              <a:srgbClr val="D0D0D6"/>
            </a:solidFill>
            <a:prstDash val="solid"/>
          </a:ln>
        </p:spPr>
      </p:sp>
      <p:sp>
        <p:nvSpPr>
          <p:cNvPr id="30" name="Shape 24"/>
          <p:cNvSpPr/>
          <p:nvPr/>
        </p:nvSpPr>
        <p:spPr>
          <a:xfrm>
            <a:off x="6409944" y="2057400"/>
            <a:ext cx="402336" cy="402336"/>
          </a:xfrm>
          <a:prstGeom prst="ellipse">
            <a:avLst/>
          </a:prstGeom>
          <a:solidFill>
            <a:srgbClr val="FFFFFF"/>
          </a:solidFill>
          <a:ln w="12700">
            <a:solidFill>
              <a:srgbClr val="C8C8CE"/>
            </a:solidFill>
            <a:prstDash val="solid"/>
          </a:ln>
        </p:spPr>
      </p:sp>
      <p:pic>
        <p:nvPicPr>
          <p:cNvPr id="31" name="Image 4" descr="preencoded.png">    </p:cNvPr>
          <p:cNvPicPr>
            <a:picLocks noChangeAspect="1"/>
          </p:cNvPicPr>
          <p:nvPr/>
        </p:nvPicPr>
        <p:blipFill>
          <a:blip r:embed="rId5"/>
          <a:stretch>
            <a:fillRect/>
          </a:stretch>
        </p:blipFill>
        <p:spPr>
          <a:xfrm>
            <a:off x="6510528" y="2157984"/>
            <a:ext cx="201168" cy="201168"/>
          </a:xfrm>
          <a:prstGeom prst="rect">
            <a:avLst/>
          </a:prstGeom>
        </p:spPr>
      </p:pic>
      <p:sp>
        <p:nvSpPr>
          <p:cNvPr id="32" name="Text 25"/>
          <p:cNvSpPr txBox="1"/>
          <p:nvPr/>
        </p:nvSpPr>
        <p:spPr>
          <a:xfrm>
            <a:off x="6949440" y="2011680"/>
            <a:ext cx="1280160" cy="274320"/>
          </a:xfrm>
          <a:prstGeom prst="rect">
            <a:avLst/>
          </a:prstGeom>
          <a:noFill/>
          <a:ln/>
        </p:spPr>
        <p:txBody>
          <a:bodyPr wrap="square" lIns="0" tIns="0" rIns="0" bIns="0" rtlCol="0" anchor="t"/>
          <a:lstStyle/>
          <a:p>
            <a:pPr indent="0" marL="0">
              <a:buNone/>
            </a:pPr>
            <a:r>
              <a:rPr lang="en-US" sz="1300" b="1" dirty="0">
                <a:solidFill>
                  <a:srgbClr val="000000"/>
                </a:solidFill>
              </a:rPr>
              <a:t>Edge</a:t>
            </a:r>
            <a:endParaRPr lang="en-US" sz="1300" dirty="0"/>
          </a:p>
        </p:txBody>
      </p:sp>
      <p:sp>
        <p:nvSpPr>
          <p:cNvPr id="33" name="Text 26"/>
          <p:cNvSpPr txBox="1"/>
          <p:nvPr/>
        </p:nvSpPr>
        <p:spPr>
          <a:xfrm>
            <a:off x="6949440" y="2267712"/>
            <a:ext cx="4599432" cy="292608"/>
          </a:xfrm>
          <a:prstGeom prst="rect">
            <a:avLst/>
          </a:prstGeom>
          <a:noFill/>
          <a:ln/>
        </p:spPr>
        <p:txBody>
          <a:bodyPr wrap="square" lIns="0" tIns="0" rIns="0" bIns="0" rtlCol="0" anchor="t"/>
          <a:lstStyle/>
          <a:p>
            <a:pPr indent="0" marL="0">
              <a:buNone/>
            </a:pPr>
            <a:r>
              <a:rPr lang="en-US" sz="1100" dirty="0">
                <a:solidFill>
                  <a:srgbClr val="4D4D4D"/>
                </a:solidFill>
              </a:rPr>
              <a:t>TLS 1.2+, web application firewall, bot defense, rate limits</a:t>
            </a:r>
            <a:endParaRPr lang="en-US" sz="1100" dirty="0"/>
          </a:p>
        </p:txBody>
      </p:sp>
      <p:sp>
        <p:nvSpPr>
          <p:cNvPr id="34" name="layer-Access"/>
          <p:cNvSpPr/>
          <p:nvPr/>
        </p:nvSpPr>
        <p:spPr>
          <a:xfrm>
            <a:off x="6373368" y="2688336"/>
            <a:ext cx="5312664" cy="676656"/>
          </a:xfrm>
          <a:prstGeom prst="roundRect">
            <a:avLst>
              <a:gd name="adj" fmla="val 13514"/>
            </a:avLst>
          </a:prstGeom>
          <a:solidFill>
            <a:srgbClr val="F2F2F2"/>
          </a:solidFill>
          <a:ln w="12700">
            <a:solidFill>
              <a:srgbClr val="D0D0D6"/>
            </a:solidFill>
            <a:prstDash val="solid"/>
          </a:ln>
        </p:spPr>
      </p:sp>
      <p:sp>
        <p:nvSpPr>
          <p:cNvPr id="35" name="Shape 28"/>
          <p:cNvSpPr/>
          <p:nvPr/>
        </p:nvSpPr>
        <p:spPr>
          <a:xfrm>
            <a:off x="6519672" y="2825496"/>
            <a:ext cx="402336" cy="402336"/>
          </a:xfrm>
          <a:prstGeom prst="ellipse">
            <a:avLst/>
          </a:prstGeom>
          <a:solidFill>
            <a:srgbClr val="FFFFFF"/>
          </a:solidFill>
          <a:ln w="12700">
            <a:solidFill>
              <a:srgbClr val="C8C8CE"/>
            </a:solidFill>
            <a:prstDash val="solid"/>
          </a:ln>
        </p:spPr>
      </p:sp>
      <p:pic>
        <p:nvPicPr>
          <p:cNvPr id="36" name="Image 5" descr="preencoded.png">    </p:cNvPr>
          <p:cNvPicPr>
            <a:picLocks noChangeAspect="1"/>
          </p:cNvPicPr>
          <p:nvPr/>
        </p:nvPicPr>
        <p:blipFill>
          <a:blip r:embed="rId6"/>
          <a:stretch>
            <a:fillRect/>
          </a:stretch>
        </p:blipFill>
        <p:spPr>
          <a:xfrm>
            <a:off x="6620256" y="2926080"/>
            <a:ext cx="201168" cy="201168"/>
          </a:xfrm>
          <a:prstGeom prst="rect">
            <a:avLst/>
          </a:prstGeom>
        </p:spPr>
      </p:pic>
      <p:sp>
        <p:nvSpPr>
          <p:cNvPr id="37" name="Text 29"/>
          <p:cNvSpPr txBox="1"/>
          <p:nvPr/>
        </p:nvSpPr>
        <p:spPr>
          <a:xfrm>
            <a:off x="7059168" y="2779776"/>
            <a:ext cx="1280160" cy="274320"/>
          </a:xfrm>
          <a:prstGeom prst="rect">
            <a:avLst/>
          </a:prstGeom>
          <a:noFill/>
          <a:ln/>
        </p:spPr>
        <p:txBody>
          <a:bodyPr wrap="square" lIns="0" tIns="0" rIns="0" bIns="0" rtlCol="0" anchor="t"/>
          <a:lstStyle/>
          <a:p>
            <a:pPr indent="0" marL="0">
              <a:buNone/>
            </a:pPr>
            <a:r>
              <a:rPr lang="en-US" sz="1300" b="1" dirty="0">
                <a:solidFill>
                  <a:srgbClr val="000000"/>
                </a:solidFill>
              </a:rPr>
              <a:t>Access</a:t>
            </a:r>
            <a:endParaRPr lang="en-US" sz="1300" dirty="0"/>
          </a:p>
        </p:txBody>
      </p:sp>
      <p:sp>
        <p:nvSpPr>
          <p:cNvPr id="38" name="Text 30"/>
          <p:cNvSpPr txBox="1"/>
          <p:nvPr/>
        </p:nvSpPr>
        <p:spPr>
          <a:xfrm>
            <a:off x="7059168" y="3035808"/>
            <a:ext cx="4489704" cy="292608"/>
          </a:xfrm>
          <a:prstGeom prst="rect">
            <a:avLst/>
          </a:prstGeom>
          <a:noFill/>
          <a:ln/>
        </p:spPr>
        <p:txBody>
          <a:bodyPr wrap="square" lIns="0" tIns="0" rIns="0" bIns="0" rtlCol="0" anchor="t"/>
          <a:lstStyle/>
          <a:p>
            <a:pPr indent="0" marL="0">
              <a:buNone/>
            </a:pPr>
            <a:r>
              <a:rPr lang="en-US" sz="1100" dirty="0">
                <a:solidFill>
                  <a:srgbClr val="4D4D4D"/>
                </a:solidFill>
              </a:rPr>
              <a:t>SSO with MFA for staff; least-privilege permission sets</a:t>
            </a:r>
            <a:endParaRPr lang="en-US" sz="1100" dirty="0"/>
          </a:p>
        </p:txBody>
      </p:sp>
      <p:sp>
        <p:nvSpPr>
          <p:cNvPr id="39" name="layer-Data"/>
          <p:cNvSpPr/>
          <p:nvPr/>
        </p:nvSpPr>
        <p:spPr>
          <a:xfrm>
            <a:off x="6483096" y="3456432"/>
            <a:ext cx="5202936" cy="676656"/>
          </a:xfrm>
          <a:prstGeom prst="roundRect">
            <a:avLst>
              <a:gd name="adj" fmla="val 13514"/>
            </a:avLst>
          </a:prstGeom>
          <a:solidFill>
            <a:srgbClr val="000000"/>
          </a:solidFill>
          <a:ln w="12700">
            <a:solidFill>
              <a:srgbClr val="D0D0D6"/>
            </a:solidFill>
            <a:prstDash val="solid"/>
          </a:ln>
        </p:spPr>
      </p:sp>
      <p:sp>
        <p:nvSpPr>
          <p:cNvPr id="40" name="Shape 32"/>
          <p:cNvSpPr/>
          <p:nvPr/>
        </p:nvSpPr>
        <p:spPr>
          <a:xfrm>
            <a:off x="6629400" y="3593592"/>
            <a:ext cx="402336" cy="402336"/>
          </a:xfrm>
          <a:prstGeom prst="ellipse">
            <a:avLst/>
          </a:prstGeom>
          <a:solidFill>
            <a:srgbClr val="00D6F2"/>
          </a:solidFill>
          <a:ln w="12700">
            <a:solidFill>
              <a:srgbClr val="00D6F2"/>
            </a:solidFill>
            <a:prstDash val="solid"/>
          </a:ln>
        </p:spPr>
      </p:sp>
      <p:pic>
        <p:nvPicPr>
          <p:cNvPr id="41" name="Image 6" descr="preencoded.png">    </p:cNvPr>
          <p:cNvPicPr>
            <a:picLocks noChangeAspect="1"/>
          </p:cNvPicPr>
          <p:nvPr/>
        </p:nvPicPr>
        <p:blipFill>
          <a:blip r:embed="rId7"/>
          <a:stretch>
            <a:fillRect/>
          </a:stretch>
        </p:blipFill>
        <p:spPr>
          <a:xfrm>
            <a:off x="6729984" y="3694176"/>
            <a:ext cx="201168" cy="201168"/>
          </a:xfrm>
          <a:prstGeom prst="rect">
            <a:avLst/>
          </a:prstGeom>
        </p:spPr>
      </p:pic>
      <p:sp>
        <p:nvSpPr>
          <p:cNvPr id="42" name="Text 33"/>
          <p:cNvSpPr txBox="1"/>
          <p:nvPr/>
        </p:nvSpPr>
        <p:spPr>
          <a:xfrm>
            <a:off x="7168896" y="3547872"/>
            <a:ext cx="1280160" cy="274320"/>
          </a:xfrm>
          <a:prstGeom prst="rect">
            <a:avLst/>
          </a:prstGeom>
          <a:noFill/>
          <a:ln/>
        </p:spPr>
        <p:txBody>
          <a:bodyPr wrap="square" lIns="0" tIns="0" rIns="0" bIns="0" rtlCol="0" anchor="t"/>
          <a:lstStyle/>
          <a:p>
            <a:pPr indent="0" marL="0">
              <a:buNone/>
            </a:pPr>
            <a:r>
              <a:rPr lang="en-US" sz="1300" b="1" dirty="0">
                <a:solidFill>
                  <a:srgbClr val="FFFFFF"/>
                </a:solidFill>
              </a:rPr>
              <a:t>Data</a:t>
            </a:r>
            <a:endParaRPr lang="en-US" sz="1300" dirty="0"/>
          </a:p>
        </p:txBody>
      </p:sp>
      <p:sp>
        <p:nvSpPr>
          <p:cNvPr id="43" name="Text 34"/>
          <p:cNvSpPr txBox="1"/>
          <p:nvPr/>
        </p:nvSpPr>
        <p:spPr>
          <a:xfrm>
            <a:off x="7168896" y="3803904"/>
            <a:ext cx="4379976" cy="292608"/>
          </a:xfrm>
          <a:prstGeom prst="rect">
            <a:avLst/>
          </a:prstGeom>
          <a:noFill/>
          <a:ln/>
        </p:spPr>
        <p:txBody>
          <a:bodyPr wrap="square" lIns="0" tIns="0" rIns="0" bIns="0" rtlCol="0" anchor="t"/>
          <a:lstStyle/>
          <a:p>
            <a:pPr indent="0" marL="0">
              <a:buNone/>
            </a:pPr>
            <a:r>
              <a:rPr lang="en-US" sz="1100" dirty="0">
                <a:solidFill>
                  <a:srgbClr val="D9D9D9"/>
                </a:solidFill>
              </a:rPr>
              <a:t>Shield Platform Encryption on sensitive fields; field-level security</a:t>
            </a:r>
            <a:endParaRPr lang="en-US" sz="1100" dirty="0"/>
          </a:p>
        </p:txBody>
      </p:sp>
      <p:sp>
        <p:nvSpPr>
          <p:cNvPr id="44" name="layer-Monitoring"/>
          <p:cNvSpPr/>
          <p:nvPr/>
        </p:nvSpPr>
        <p:spPr>
          <a:xfrm>
            <a:off x="6592824" y="4224528"/>
            <a:ext cx="5093208" cy="676656"/>
          </a:xfrm>
          <a:prstGeom prst="roundRect">
            <a:avLst>
              <a:gd name="adj" fmla="val 13514"/>
            </a:avLst>
          </a:prstGeom>
          <a:solidFill>
            <a:srgbClr val="F2F2F2"/>
          </a:solidFill>
          <a:ln w="12700">
            <a:solidFill>
              <a:srgbClr val="D0D0D6"/>
            </a:solidFill>
            <a:prstDash val="solid"/>
          </a:ln>
        </p:spPr>
      </p:sp>
      <p:sp>
        <p:nvSpPr>
          <p:cNvPr id="45" name="Shape 36"/>
          <p:cNvSpPr/>
          <p:nvPr/>
        </p:nvSpPr>
        <p:spPr>
          <a:xfrm>
            <a:off x="6739128" y="4361688"/>
            <a:ext cx="402336" cy="402336"/>
          </a:xfrm>
          <a:prstGeom prst="ellipse">
            <a:avLst/>
          </a:prstGeom>
          <a:solidFill>
            <a:srgbClr val="FFFFFF"/>
          </a:solidFill>
          <a:ln w="12700">
            <a:solidFill>
              <a:srgbClr val="C8C8CE"/>
            </a:solidFill>
            <a:prstDash val="solid"/>
          </a:ln>
        </p:spPr>
      </p:sp>
      <p:pic>
        <p:nvPicPr>
          <p:cNvPr id="46" name="Image 7" descr="preencoded.png">    </p:cNvPr>
          <p:cNvPicPr>
            <a:picLocks noChangeAspect="1"/>
          </p:cNvPicPr>
          <p:nvPr/>
        </p:nvPicPr>
        <p:blipFill>
          <a:blip r:embed="rId8"/>
          <a:stretch>
            <a:fillRect/>
          </a:stretch>
        </p:blipFill>
        <p:spPr>
          <a:xfrm>
            <a:off x="6839712" y="4462272"/>
            <a:ext cx="201168" cy="201168"/>
          </a:xfrm>
          <a:prstGeom prst="rect">
            <a:avLst/>
          </a:prstGeom>
        </p:spPr>
      </p:pic>
      <p:sp>
        <p:nvSpPr>
          <p:cNvPr id="47" name="Text 37"/>
          <p:cNvSpPr txBox="1"/>
          <p:nvPr/>
        </p:nvSpPr>
        <p:spPr>
          <a:xfrm>
            <a:off x="7278624" y="4315968"/>
            <a:ext cx="1280160" cy="274320"/>
          </a:xfrm>
          <a:prstGeom prst="rect">
            <a:avLst/>
          </a:prstGeom>
          <a:noFill/>
          <a:ln/>
        </p:spPr>
        <p:txBody>
          <a:bodyPr wrap="square" lIns="0" tIns="0" rIns="0" bIns="0" rtlCol="0" anchor="t"/>
          <a:lstStyle/>
          <a:p>
            <a:pPr indent="0" marL="0">
              <a:buNone/>
            </a:pPr>
            <a:r>
              <a:rPr lang="en-US" sz="1300" b="1" dirty="0">
                <a:solidFill>
                  <a:srgbClr val="000000"/>
                </a:solidFill>
              </a:rPr>
              <a:t>Monitoring</a:t>
            </a:r>
            <a:endParaRPr lang="en-US" sz="1300" dirty="0"/>
          </a:p>
        </p:txBody>
      </p:sp>
      <p:sp>
        <p:nvSpPr>
          <p:cNvPr id="48" name="Text 38"/>
          <p:cNvSpPr txBox="1"/>
          <p:nvPr/>
        </p:nvSpPr>
        <p:spPr>
          <a:xfrm>
            <a:off x="7278624" y="4572000"/>
            <a:ext cx="4270248" cy="292608"/>
          </a:xfrm>
          <a:prstGeom prst="rect">
            <a:avLst/>
          </a:prstGeom>
          <a:noFill/>
          <a:ln/>
        </p:spPr>
        <p:txBody>
          <a:bodyPr wrap="square" lIns="0" tIns="0" rIns="0" bIns="0" rtlCol="0" anchor="t"/>
          <a:lstStyle/>
          <a:p>
            <a:pPr indent="0" marL="0">
              <a:buNone/>
            </a:pPr>
            <a:r>
              <a:rPr lang="en-US" sz="1100" dirty="0">
                <a:solidFill>
                  <a:srgbClr val="4D4D4D"/>
                </a:solidFill>
              </a:rPr>
              <a:t>Event Monitoring, Field Audit Trail, real-time alerts</a:t>
            </a:r>
            <a:endParaRPr lang="en-US" sz="1100" dirty="0"/>
          </a:p>
        </p:txBody>
      </p:sp>
      <p:sp>
        <p:nvSpPr>
          <p:cNvPr id="49" name="layer-Governance"/>
          <p:cNvSpPr/>
          <p:nvPr/>
        </p:nvSpPr>
        <p:spPr>
          <a:xfrm>
            <a:off x="6702552" y="4992624"/>
            <a:ext cx="4983480" cy="676656"/>
          </a:xfrm>
          <a:prstGeom prst="roundRect">
            <a:avLst>
              <a:gd name="adj" fmla="val 13514"/>
            </a:avLst>
          </a:prstGeom>
          <a:solidFill>
            <a:srgbClr val="F2F2F2"/>
          </a:solidFill>
          <a:ln w="12700">
            <a:solidFill>
              <a:srgbClr val="D0D0D6"/>
            </a:solidFill>
            <a:prstDash val="solid"/>
          </a:ln>
        </p:spPr>
      </p:sp>
      <p:sp>
        <p:nvSpPr>
          <p:cNvPr id="50" name="Shape 40"/>
          <p:cNvSpPr/>
          <p:nvPr/>
        </p:nvSpPr>
        <p:spPr>
          <a:xfrm>
            <a:off x="6848856" y="5129784"/>
            <a:ext cx="402336" cy="402336"/>
          </a:xfrm>
          <a:prstGeom prst="ellipse">
            <a:avLst/>
          </a:prstGeom>
          <a:solidFill>
            <a:srgbClr val="FFFFFF"/>
          </a:solidFill>
          <a:ln w="12700">
            <a:solidFill>
              <a:srgbClr val="C8C8CE"/>
            </a:solidFill>
            <a:prstDash val="solid"/>
          </a:ln>
        </p:spPr>
      </p:sp>
      <p:pic>
        <p:nvPicPr>
          <p:cNvPr id="51" name="Image 8" descr="preencoded.png">    </p:cNvPr>
          <p:cNvPicPr>
            <a:picLocks noChangeAspect="1"/>
          </p:cNvPicPr>
          <p:nvPr/>
        </p:nvPicPr>
        <p:blipFill>
          <a:blip r:embed="rId9"/>
          <a:stretch>
            <a:fillRect/>
          </a:stretch>
        </p:blipFill>
        <p:spPr>
          <a:xfrm>
            <a:off x="6949440" y="5230368"/>
            <a:ext cx="201168" cy="201168"/>
          </a:xfrm>
          <a:prstGeom prst="rect">
            <a:avLst/>
          </a:prstGeom>
        </p:spPr>
      </p:pic>
      <p:sp>
        <p:nvSpPr>
          <p:cNvPr id="52" name="Text 41"/>
          <p:cNvSpPr txBox="1"/>
          <p:nvPr/>
        </p:nvSpPr>
        <p:spPr>
          <a:xfrm>
            <a:off x="7388352" y="5084064"/>
            <a:ext cx="1280160" cy="274320"/>
          </a:xfrm>
          <a:prstGeom prst="rect">
            <a:avLst/>
          </a:prstGeom>
          <a:noFill/>
          <a:ln/>
        </p:spPr>
        <p:txBody>
          <a:bodyPr wrap="square" lIns="0" tIns="0" rIns="0" bIns="0" rtlCol="0" anchor="t"/>
          <a:lstStyle/>
          <a:p>
            <a:pPr indent="0" marL="0">
              <a:buNone/>
            </a:pPr>
            <a:r>
              <a:rPr lang="en-US" sz="1300" b="1" dirty="0">
                <a:solidFill>
                  <a:srgbClr val="000000"/>
                </a:solidFill>
              </a:rPr>
              <a:t>Governance</a:t>
            </a:r>
            <a:endParaRPr lang="en-US" sz="1300" dirty="0"/>
          </a:p>
        </p:txBody>
      </p:sp>
      <p:sp>
        <p:nvSpPr>
          <p:cNvPr id="53" name="Text 42"/>
          <p:cNvSpPr txBox="1"/>
          <p:nvPr/>
        </p:nvSpPr>
        <p:spPr>
          <a:xfrm>
            <a:off x="7388352" y="5340096"/>
            <a:ext cx="4160520" cy="292608"/>
          </a:xfrm>
          <a:prstGeom prst="rect">
            <a:avLst/>
          </a:prstGeom>
          <a:noFill/>
          <a:ln/>
        </p:spPr>
        <p:txBody>
          <a:bodyPr wrap="square" lIns="0" tIns="0" rIns="0" bIns="0" rtlCol="0" anchor="t"/>
          <a:lstStyle/>
          <a:p>
            <a:pPr indent="0" marL="0">
              <a:buNone/>
            </a:pPr>
            <a:r>
              <a:rPr lang="en-US" sz="1100" dirty="0">
                <a:solidFill>
                  <a:srgbClr val="4D4D4D"/>
                </a:solidFill>
              </a:rPr>
              <a:t>BAA [to confirm], data retention, no tracking pixels, pen tests</a:t>
            </a:r>
            <a:endParaRPr lang="en-US" sz="1100" dirty="0"/>
          </a:p>
        </p:txBody>
      </p:sp>
      <p:sp>
        <p:nvSpPr>
          <p:cNvPr id="54" name="Text 43"/>
          <p:cNvSpPr txBox="1"/>
          <p:nvPr/>
        </p:nvSpPr>
        <p:spPr>
          <a:xfrm>
            <a:off x="6263640" y="5852160"/>
            <a:ext cx="5422392" cy="274320"/>
          </a:xfrm>
          <a:prstGeom prst="rect">
            <a:avLst/>
          </a:prstGeom>
          <a:noFill/>
          <a:ln/>
        </p:spPr>
        <p:txBody>
          <a:bodyPr wrap="square" lIns="0" tIns="0" rIns="0" bIns="0" rtlCol="0" anchor="t"/>
          <a:lstStyle/>
          <a:p>
            <a:pPr indent="0" marL="0">
              <a:buNone/>
            </a:pPr>
            <a:r>
              <a:rPr lang="en-US" sz="1100" i="1" dirty="0">
                <a:solidFill>
                  <a:srgbClr val="4D4D4D"/>
                </a:solidFill>
              </a:rPr>
              <a:t>Class topics are treated as sensitive: signing up for a diabetes class implies a health condition.</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Design detail: payment sequence</a:t>
            </a:r>
            <a:endParaRPr lang="en-US" sz="3200" dirty="0"/>
          </a:p>
        </p:txBody>
      </p:sp>
      <p:sp>
        <p:nvSpPr>
          <p:cNvPr id="3" name="participant-p"/>
          <p:cNvSpPr/>
          <p:nvPr/>
        </p:nvSpPr>
        <p:spPr>
          <a:xfrm>
            <a:off x="557784" y="1508760"/>
            <a:ext cx="1764792" cy="475488"/>
          </a:xfrm>
          <a:prstGeom prst="roundRect">
            <a:avLst>
              <a:gd name="adj" fmla="val 15385"/>
            </a:avLst>
          </a:prstGeom>
          <a:solidFill>
            <a:srgbClr val="F2F2F2"/>
          </a:solidFill>
          <a:ln w="15875">
            <a:solidFill>
              <a:srgbClr val="B8B8C0"/>
            </a:solidFill>
            <a:prstDash val="solid"/>
          </a:ln>
        </p:spPr>
      </p:sp>
      <p:sp>
        <p:nvSpPr>
          <p:cNvPr id="4" name="Text 2"/>
          <p:cNvSpPr txBox="1"/>
          <p:nvPr/>
        </p:nvSpPr>
        <p:spPr>
          <a:xfrm>
            <a:off x="59436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Registrant (web)</a:t>
            </a:r>
            <a:endParaRPr lang="en-US" sz="1050" dirty="0"/>
          </a:p>
        </p:txBody>
      </p:sp>
      <p:sp>
        <p:nvSpPr>
          <p:cNvPr id="5" name="Shape 3"/>
          <p:cNvSpPr/>
          <p:nvPr/>
        </p:nvSpPr>
        <p:spPr>
          <a:xfrm>
            <a:off x="1440180" y="1984248"/>
            <a:ext cx="0" cy="4050792"/>
          </a:xfrm>
          <a:prstGeom prst="line">
            <a:avLst/>
          </a:prstGeom>
          <a:noFill/>
          <a:ln w="12700">
            <a:solidFill>
              <a:srgbClr val="B0B0B8"/>
            </a:solidFill>
            <a:prstDash val="dash"/>
          </a:ln>
        </p:spPr>
      </p:sp>
      <p:sp>
        <p:nvSpPr>
          <p:cNvPr id="6" name="participant-reg"/>
          <p:cNvSpPr/>
          <p:nvPr/>
        </p:nvSpPr>
        <p:spPr>
          <a:xfrm>
            <a:off x="2432304" y="1508760"/>
            <a:ext cx="1764792" cy="475488"/>
          </a:xfrm>
          <a:prstGeom prst="roundRect">
            <a:avLst>
              <a:gd name="adj" fmla="val 15385"/>
            </a:avLst>
          </a:prstGeom>
          <a:solidFill>
            <a:srgbClr val="F2F2F2"/>
          </a:solidFill>
          <a:ln w="22225">
            <a:solidFill>
              <a:srgbClr val="D9B200"/>
            </a:solidFill>
            <a:prstDash val="solid"/>
          </a:ln>
        </p:spPr>
      </p:sp>
      <p:sp>
        <p:nvSpPr>
          <p:cNvPr id="7" name="Text 5"/>
          <p:cNvSpPr txBox="1"/>
          <p:nvPr/>
        </p:nvSpPr>
        <p:spPr>
          <a:xfrm>
            <a:off x="246888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Registration service</a:t>
            </a:r>
            <a:endParaRPr lang="en-US" sz="1050" dirty="0"/>
          </a:p>
        </p:txBody>
      </p:sp>
      <p:sp>
        <p:nvSpPr>
          <p:cNvPr id="8" name="Shape 6"/>
          <p:cNvSpPr/>
          <p:nvPr/>
        </p:nvSpPr>
        <p:spPr>
          <a:xfrm>
            <a:off x="3314700" y="1984248"/>
            <a:ext cx="0" cy="4050792"/>
          </a:xfrm>
          <a:prstGeom prst="line">
            <a:avLst/>
          </a:prstGeom>
          <a:noFill/>
          <a:ln w="12700">
            <a:solidFill>
              <a:srgbClr val="B0B0B8"/>
            </a:solidFill>
            <a:prstDash val="dash"/>
          </a:ln>
        </p:spPr>
      </p:sp>
      <p:sp>
        <p:nvSpPr>
          <p:cNvPr id="9" name="participant-gw"/>
          <p:cNvSpPr/>
          <p:nvPr/>
        </p:nvSpPr>
        <p:spPr>
          <a:xfrm>
            <a:off x="4306824" y="1508760"/>
            <a:ext cx="1764792" cy="475488"/>
          </a:xfrm>
          <a:prstGeom prst="roundRect">
            <a:avLst>
              <a:gd name="adj" fmla="val 15385"/>
            </a:avLst>
          </a:prstGeom>
          <a:solidFill>
            <a:srgbClr val="F2F2F2"/>
          </a:solidFill>
          <a:ln w="22225">
            <a:solidFill>
              <a:srgbClr val="FF0068"/>
            </a:solidFill>
            <a:prstDash val="solid"/>
          </a:ln>
        </p:spPr>
      </p:sp>
      <p:sp>
        <p:nvSpPr>
          <p:cNvPr id="10" name="Text 8"/>
          <p:cNvSpPr txBox="1"/>
          <p:nvPr/>
        </p:nvSpPr>
        <p:spPr>
          <a:xfrm>
            <a:off x="434340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Chase hosted page</a:t>
            </a:r>
            <a:endParaRPr lang="en-US" sz="1050" dirty="0"/>
          </a:p>
        </p:txBody>
      </p:sp>
      <p:sp>
        <p:nvSpPr>
          <p:cNvPr id="11" name="Shape 9"/>
          <p:cNvSpPr/>
          <p:nvPr/>
        </p:nvSpPr>
        <p:spPr>
          <a:xfrm>
            <a:off x="5189220" y="1984248"/>
            <a:ext cx="0" cy="4050792"/>
          </a:xfrm>
          <a:prstGeom prst="line">
            <a:avLst/>
          </a:prstGeom>
          <a:noFill/>
          <a:ln w="12700">
            <a:solidFill>
              <a:srgbClr val="B0B0B8"/>
            </a:solidFill>
            <a:prstDash val="dash"/>
          </a:ln>
        </p:spPr>
      </p:sp>
      <p:sp>
        <p:nvSpPr>
          <p:cNvPr id="12" name="participant-sf"/>
          <p:cNvSpPr/>
          <p:nvPr/>
        </p:nvSpPr>
        <p:spPr>
          <a:xfrm>
            <a:off x="6181344" y="1508760"/>
            <a:ext cx="1764792" cy="475488"/>
          </a:xfrm>
          <a:prstGeom prst="roundRect">
            <a:avLst>
              <a:gd name="adj" fmla="val 15385"/>
            </a:avLst>
          </a:prstGeom>
          <a:solidFill>
            <a:srgbClr val="F2F2F2"/>
          </a:solidFill>
          <a:ln w="22225">
            <a:solidFill>
              <a:srgbClr val="00A9C0"/>
            </a:solidFill>
            <a:prstDash val="solid"/>
          </a:ln>
        </p:spPr>
      </p:sp>
      <p:sp>
        <p:nvSpPr>
          <p:cNvPr id="13" name="Text 11"/>
          <p:cNvSpPr txBox="1"/>
          <p:nvPr/>
        </p:nvSpPr>
        <p:spPr>
          <a:xfrm>
            <a:off x="6217920" y="1508760"/>
            <a:ext cx="1691640" cy="475488"/>
          </a:xfrm>
          <a:prstGeom prst="rect">
            <a:avLst/>
          </a:prstGeom>
          <a:noFill/>
          <a:ln/>
        </p:spPr>
        <p:txBody>
          <a:bodyPr wrap="square" lIns="0" tIns="0" rIns="0" bIns="0" rtlCol="0" anchor="ctr"/>
          <a:lstStyle/>
          <a:p>
            <a:pPr algn="ctr" indent="0" marL="0">
              <a:buNone/>
            </a:pPr>
            <a:r>
              <a:rPr lang="en-US" sz="1050" b="1" dirty="0">
                <a:solidFill>
                  <a:srgbClr val="000000"/>
                </a:solidFill>
              </a:rPr>
              <a:t>Salesforce</a:t>
            </a:r>
            <a:endParaRPr lang="en-US" sz="1050" dirty="0"/>
          </a:p>
        </p:txBody>
      </p:sp>
      <p:sp>
        <p:nvSpPr>
          <p:cNvPr id="14" name="Shape 12"/>
          <p:cNvSpPr/>
          <p:nvPr/>
        </p:nvSpPr>
        <p:spPr>
          <a:xfrm>
            <a:off x="7063740" y="1984248"/>
            <a:ext cx="0" cy="4050792"/>
          </a:xfrm>
          <a:prstGeom prst="line">
            <a:avLst/>
          </a:prstGeom>
          <a:noFill/>
          <a:ln w="12700">
            <a:solidFill>
              <a:srgbClr val="B0B0B8"/>
            </a:solidFill>
            <a:prstDash val="dash"/>
          </a:ln>
        </p:spPr>
      </p:sp>
      <p:sp>
        <p:nvSpPr>
          <p:cNvPr id="15" name="Shape 13"/>
          <p:cNvSpPr/>
          <p:nvPr/>
        </p:nvSpPr>
        <p:spPr>
          <a:xfrm>
            <a:off x="3314700" y="2358193"/>
            <a:ext cx="1874520" cy="0"/>
          </a:xfrm>
          <a:prstGeom prst="line">
            <a:avLst/>
          </a:prstGeom>
          <a:noFill/>
          <a:ln w="15875">
            <a:solidFill>
              <a:srgbClr val="1A1A1A"/>
            </a:solidFill>
            <a:prstDash val="solid"/>
            <a:tailEnd type="triangle"/>
          </a:ln>
        </p:spPr>
      </p:sp>
      <p:sp>
        <p:nvSpPr>
          <p:cNvPr id="16" name="Shape 14"/>
          <p:cNvSpPr/>
          <p:nvPr/>
        </p:nvSpPr>
        <p:spPr>
          <a:xfrm>
            <a:off x="3214116" y="2257609"/>
            <a:ext cx="201168" cy="201168"/>
          </a:xfrm>
          <a:prstGeom prst="ellipse">
            <a:avLst/>
          </a:prstGeom>
          <a:solidFill>
            <a:srgbClr val="00A9C0"/>
          </a:solidFill>
          <a:ln w="12700">
            <a:solidFill>
              <a:srgbClr val="00A9C0"/>
            </a:solidFill>
            <a:prstDash val="solid"/>
          </a:ln>
        </p:spPr>
      </p:sp>
      <p:sp>
        <p:nvSpPr>
          <p:cNvPr id="17" name="Text 15"/>
          <p:cNvSpPr txBox="1"/>
          <p:nvPr/>
        </p:nvSpPr>
        <p:spPr>
          <a:xfrm>
            <a:off x="3214116" y="225760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1</a:t>
            </a:r>
            <a:endParaRPr lang="en-US" sz="800" dirty="0"/>
          </a:p>
        </p:txBody>
      </p:sp>
      <p:sp>
        <p:nvSpPr>
          <p:cNvPr id="18" name="Text 16"/>
          <p:cNvSpPr txBox="1"/>
          <p:nvPr/>
        </p:nvSpPr>
        <p:spPr>
          <a:xfrm>
            <a:off x="3461004" y="2111305"/>
            <a:ext cx="3070555" cy="219456"/>
          </a:xfrm>
          <a:prstGeom prst="rect">
            <a:avLst/>
          </a:prstGeom>
          <a:noFill/>
          <a:ln/>
        </p:spPr>
        <p:txBody>
          <a:bodyPr wrap="square" lIns="0" tIns="0" rIns="0" bIns="0" rtlCol="0" anchor="b"/>
          <a:lstStyle/>
          <a:p>
            <a:pPr algn="ctr" indent="0" marL="0">
              <a:buNone/>
            </a:pPr>
            <a:r>
              <a:rPr lang="en-US" sz="1000" dirty="0">
                <a:solidFill>
                  <a:srgbClr val="000000"/>
                </a:solidFill>
              </a:rPr>
              <a:t>Create payment session (amount, reference)</a:t>
            </a:r>
            <a:endParaRPr lang="en-US" sz="1000" dirty="0"/>
          </a:p>
        </p:txBody>
      </p:sp>
      <p:sp>
        <p:nvSpPr>
          <p:cNvPr id="19" name="Shape 17"/>
          <p:cNvSpPr/>
          <p:nvPr/>
        </p:nvSpPr>
        <p:spPr>
          <a:xfrm>
            <a:off x="3314700" y="2786231"/>
            <a:ext cx="1874520" cy="0"/>
          </a:xfrm>
          <a:prstGeom prst="line">
            <a:avLst/>
          </a:prstGeom>
          <a:noFill/>
          <a:ln w="15875">
            <a:solidFill>
              <a:srgbClr val="6B7280"/>
            </a:solidFill>
            <a:prstDash val="dash"/>
            <a:headEnd type="triangle"/>
          </a:ln>
        </p:spPr>
      </p:sp>
      <p:sp>
        <p:nvSpPr>
          <p:cNvPr id="20" name="Shape 18"/>
          <p:cNvSpPr/>
          <p:nvPr/>
        </p:nvSpPr>
        <p:spPr>
          <a:xfrm>
            <a:off x="5088636" y="2685647"/>
            <a:ext cx="201168" cy="201168"/>
          </a:xfrm>
          <a:prstGeom prst="ellipse">
            <a:avLst/>
          </a:prstGeom>
          <a:solidFill>
            <a:srgbClr val="00A9C0"/>
          </a:solidFill>
          <a:ln w="12700">
            <a:solidFill>
              <a:srgbClr val="00A9C0"/>
            </a:solidFill>
            <a:prstDash val="solid"/>
          </a:ln>
        </p:spPr>
      </p:sp>
      <p:sp>
        <p:nvSpPr>
          <p:cNvPr id="21" name="Text 19"/>
          <p:cNvSpPr txBox="1"/>
          <p:nvPr/>
        </p:nvSpPr>
        <p:spPr>
          <a:xfrm>
            <a:off x="5088636" y="2685647"/>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2</a:t>
            </a:r>
            <a:endParaRPr lang="en-US" sz="800" dirty="0"/>
          </a:p>
        </p:txBody>
      </p:sp>
      <p:sp>
        <p:nvSpPr>
          <p:cNvPr id="22" name="Text 20"/>
          <p:cNvSpPr txBox="1"/>
          <p:nvPr/>
        </p:nvSpPr>
        <p:spPr>
          <a:xfrm>
            <a:off x="3351276" y="2539343"/>
            <a:ext cx="1691640" cy="219456"/>
          </a:xfrm>
          <a:prstGeom prst="rect">
            <a:avLst/>
          </a:prstGeom>
          <a:noFill/>
          <a:ln/>
        </p:spPr>
        <p:txBody>
          <a:bodyPr wrap="square" lIns="0" tIns="0" rIns="0" bIns="0" rtlCol="0" anchor="b"/>
          <a:lstStyle/>
          <a:p>
            <a:pPr algn="ctr" indent="0" marL="0">
              <a:buNone/>
            </a:pPr>
            <a:r>
              <a:rPr lang="en-US" sz="1000" dirty="0">
                <a:solidFill>
                  <a:srgbClr val="4D4D4D"/>
                </a:solidFill>
              </a:rPr>
              <a:t>Session token</a:t>
            </a:r>
            <a:endParaRPr lang="en-US" sz="1000" dirty="0"/>
          </a:p>
        </p:txBody>
      </p:sp>
      <p:sp>
        <p:nvSpPr>
          <p:cNvPr id="23" name="Shape 21"/>
          <p:cNvSpPr/>
          <p:nvPr/>
        </p:nvSpPr>
        <p:spPr>
          <a:xfrm>
            <a:off x="1440180" y="3214269"/>
            <a:ext cx="1874520" cy="0"/>
          </a:xfrm>
          <a:prstGeom prst="line">
            <a:avLst/>
          </a:prstGeom>
          <a:noFill/>
          <a:ln w="15875">
            <a:solidFill>
              <a:srgbClr val="6B7280"/>
            </a:solidFill>
            <a:prstDash val="dash"/>
            <a:headEnd type="triangle"/>
          </a:ln>
        </p:spPr>
      </p:sp>
      <p:sp>
        <p:nvSpPr>
          <p:cNvPr id="24" name="Shape 22"/>
          <p:cNvSpPr/>
          <p:nvPr/>
        </p:nvSpPr>
        <p:spPr>
          <a:xfrm>
            <a:off x="3214116" y="3113685"/>
            <a:ext cx="201168" cy="201168"/>
          </a:xfrm>
          <a:prstGeom prst="ellipse">
            <a:avLst/>
          </a:prstGeom>
          <a:solidFill>
            <a:srgbClr val="00A9C0"/>
          </a:solidFill>
          <a:ln w="12700">
            <a:solidFill>
              <a:srgbClr val="00A9C0"/>
            </a:solidFill>
            <a:prstDash val="solid"/>
          </a:ln>
        </p:spPr>
      </p:sp>
      <p:sp>
        <p:nvSpPr>
          <p:cNvPr id="25" name="Text 23"/>
          <p:cNvSpPr txBox="1"/>
          <p:nvPr/>
        </p:nvSpPr>
        <p:spPr>
          <a:xfrm>
            <a:off x="3214116" y="31136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3</a:t>
            </a:r>
            <a:endParaRPr lang="en-US" sz="800" dirty="0"/>
          </a:p>
        </p:txBody>
      </p:sp>
      <p:sp>
        <p:nvSpPr>
          <p:cNvPr id="26" name="Text 24"/>
          <p:cNvSpPr txBox="1"/>
          <p:nvPr/>
        </p:nvSpPr>
        <p:spPr>
          <a:xfrm>
            <a:off x="1315822" y="2967381"/>
            <a:ext cx="1852574" cy="219456"/>
          </a:xfrm>
          <a:prstGeom prst="rect">
            <a:avLst/>
          </a:prstGeom>
          <a:noFill/>
          <a:ln/>
        </p:spPr>
        <p:txBody>
          <a:bodyPr wrap="square" lIns="0" tIns="0" rIns="0" bIns="0" rtlCol="0" anchor="b"/>
          <a:lstStyle/>
          <a:p>
            <a:pPr algn="ctr" indent="0" marL="0">
              <a:buNone/>
            </a:pPr>
            <a:r>
              <a:rPr lang="en-US" sz="1000" dirty="0">
                <a:solidFill>
                  <a:srgbClr val="4D4D4D"/>
                </a:solidFill>
              </a:rPr>
              <a:t>Open hosted payment page</a:t>
            </a:r>
            <a:endParaRPr lang="en-US" sz="1000" dirty="0"/>
          </a:p>
        </p:txBody>
      </p:sp>
      <p:sp>
        <p:nvSpPr>
          <p:cNvPr id="27" name="Shape 25"/>
          <p:cNvSpPr/>
          <p:nvPr/>
        </p:nvSpPr>
        <p:spPr>
          <a:xfrm>
            <a:off x="1440180" y="3642307"/>
            <a:ext cx="3749040" cy="0"/>
          </a:xfrm>
          <a:prstGeom prst="line">
            <a:avLst/>
          </a:prstGeom>
          <a:noFill/>
          <a:ln w="15875">
            <a:solidFill>
              <a:srgbClr val="1A1A1A"/>
            </a:solidFill>
            <a:prstDash val="solid"/>
            <a:tailEnd type="triangle"/>
          </a:ln>
        </p:spPr>
      </p:sp>
      <p:sp>
        <p:nvSpPr>
          <p:cNvPr id="28" name="Shape 26"/>
          <p:cNvSpPr/>
          <p:nvPr/>
        </p:nvSpPr>
        <p:spPr>
          <a:xfrm>
            <a:off x="1339596" y="3541723"/>
            <a:ext cx="201168" cy="201168"/>
          </a:xfrm>
          <a:prstGeom prst="ellipse">
            <a:avLst/>
          </a:prstGeom>
          <a:solidFill>
            <a:srgbClr val="00A9C0"/>
          </a:solidFill>
          <a:ln w="12700">
            <a:solidFill>
              <a:srgbClr val="00A9C0"/>
            </a:solidFill>
            <a:prstDash val="solid"/>
          </a:ln>
        </p:spPr>
      </p:sp>
      <p:sp>
        <p:nvSpPr>
          <p:cNvPr id="29" name="Text 27"/>
          <p:cNvSpPr txBox="1"/>
          <p:nvPr/>
        </p:nvSpPr>
        <p:spPr>
          <a:xfrm>
            <a:off x="1339596" y="3541723"/>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4</a:t>
            </a:r>
            <a:endParaRPr lang="en-US" sz="800" dirty="0"/>
          </a:p>
        </p:txBody>
      </p:sp>
      <p:sp>
        <p:nvSpPr>
          <p:cNvPr id="30" name="Text 28"/>
          <p:cNvSpPr txBox="1"/>
          <p:nvPr/>
        </p:nvSpPr>
        <p:spPr>
          <a:xfrm>
            <a:off x="1586484" y="3395419"/>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Card details typed into the Chase page</a:t>
            </a:r>
            <a:endParaRPr lang="en-US" sz="1000" dirty="0"/>
          </a:p>
        </p:txBody>
      </p:sp>
      <p:sp>
        <p:nvSpPr>
          <p:cNvPr id="31" name="Shape 29"/>
          <p:cNvSpPr/>
          <p:nvPr/>
        </p:nvSpPr>
        <p:spPr>
          <a:xfrm>
            <a:off x="1440180" y="4070345"/>
            <a:ext cx="3749040" cy="0"/>
          </a:xfrm>
          <a:prstGeom prst="line">
            <a:avLst/>
          </a:prstGeom>
          <a:noFill/>
          <a:ln w="15875">
            <a:solidFill>
              <a:srgbClr val="6B7280"/>
            </a:solidFill>
            <a:prstDash val="dash"/>
            <a:headEnd type="triangle"/>
          </a:ln>
        </p:spPr>
      </p:sp>
      <p:sp>
        <p:nvSpPr>
          <p:cNvPr id="32" name="Shape 30"/>
          <p:cNvSpPr/>
          <p:nvPr/>
        </p:nvSpPr>
        <p:spPr>
          <a:xfrm>
            <a:off x="5088636" y="3969761"/>
            <a:ext cx="201168" cy="201168"/>
          </a:xfrm>
          <a:prstGeom prst="ellipse">
            <a:avLst/>
          </a:prstGeom>
          <a:solidFill>
            <a:srgbClr val="00A9C0"/>
          </a:solidFill>
          <a:ln w="12700">
            <a:solidFill>
              <a:srgbClr val="00A9C0"/>
            </a:solidFill>
            <a:prstDash val="solid"/>
          </a:ln>
        </p:spPr>
      </p:sp>
      <p:sp>
        <p:nvSpPr>
          <p:cNvPr id="33" name="Text 31"/>
          <p:cNvSpPr txBox="1"/>
          <p:nvPr/>
        </p:nvSpPr>
        <p:spPr>
          <a:xfrm>
            <a:off x="5088636" y="3969761"/>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5</a:t>
            </a:r>
            <a:endParaRPr lang="en-US" sz="800" dirty="0"/>
          </a:p>
        </p:txBody>
      </p:sp>
      <p:sp>
        <p:nvSpPr>
          <p:cNvPr id="34" name="Text 32"/>
          <p:cNvSpPr txBox="1"/>
          <p:nvPr/>
        </p:nvSpPr>
        <p:spPr>
          <a:xfrm>
            <a:off x="1476756" y="3823457"/>
            <a:ext cx="3566160" cy="219456"/>
          </a:xfrm>
          <a:prstGeom prst="rect">
            <a:avLst/>
          </a:prstGeom>
          <a:noFill/>
          <a:ln/>
        </p:spPr>
        <p:txBody>
          <a:bodyPr wrap="square" lIns="0" tIns="0" rIns="0" bIns="0" rtlCol="0" anchor="b"/>
          <a:lstStyle/>
          <a:p>
            <a:pPr algn="ctr" indent="0" marL="0">
              <a:buNone/>
            </a:pPr>
            <a:r>
              <a:rPr lang="en-US" sz="1000" dirty="0">
                <a:solidFill>
                  <a:srgbClr val="4D4D4D"/>
                </a:solidFill>
              </a:rPr>
              <a:t>Approved</a:t>
            </a:r>
            <a:endParaRPr lang="en-US" sz="1000" dirty="0"/>
          </a:p>
        </p:txBody>
      </p:sp>
      <p:sp>
        <p:nvSpPr>
          <p:cNvPr id="35" name="Shape 33"/>
          <p:cNvSpPr/>
          <p:nvPr/>
        </p:nvSpPr>
        <p:spPr>
          <a:xfrm>
            <a:off x="3314700" y="4498383"/>
            <a:ext cx="1874520" cy="0"/>
          </a:xfrm>
          <a:prstGeom prst="line">
            <a:avLst/>
          </a:prstGeom>
          <a:noFill/>
          <a:ln w="15875">
            <a:solidFill>
              <a:srgbClr val="1A1A1A"/>
            </a:solidFill>
            <a:prstDash val="solid"/>
            <a:headEnd type="triangle"/>
          </a:ln>
        </p:spPr>
      </p:sp>
      <p:sp>
        <p:nvSpPr>
          <p:cNvPr id="36" name="Shape 34"/>
          <p:cNvSpPr/>
          <p:nvPr/>
        </p:nvSpPr>
        <p:spPr>
          <a:xfrm>
            <a:off x="5088636" y="4397799"/>
            <a:ext cx="201168" cy="201168"/>
          </a:xfrm>
          <a:prstGeom prst="ellipse">
            <a:avLst/>
          </a:prstGeom>
          <a:solidFill>
            <a:srgbClr val="00A9C0"/>
          </a:solidFill>
          <a:ln w="12700">
            <a:solidFill>
              <a:srgbClr val="00A9C0"/>
            </a:solidFill>
            <a:prstDash val="solid"/>
          </a:ln>
        </p:spPr>
      </p:sp>
      <p:sp>
        <p:nvSpPr>
          <p:cNvPr id="37" name="Text 35"/>
          <p:cNvSpPr txBox="1"/>
          <p:nvPr/>
        </p:nvSpPr>
        <p:spPr>
          <a:xfrm>
            <a:off x="5088636" y="43977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6</a:t>
            </a:r>
            <a:endParaRPr lang="en-US" sz="800" dirty="0"/>
          </a:p>
        </p:txBody>
      </p:sp>
      <p:sp>
        <p:nvSpPr>
          <p:cNvPr id="38" name="Text 36"/>
          <p:cNvSpPr txBox="1"/>
          <p:nvPr/>
        </p:nvSpPr>
        <p:spPr>
          <a:xfrm>
            <a:off x="1769364" y="4251495"/>
            <a:ext cx="3273552" cy="219456"/>
          </a:xfrm>
          <a:prstGeom prst="rect">
            <a:avLst/>
          </a:prstGeom>
          <a:noFill/>
          <a:ln/>
        </p:spPr>
        <p:txBody>
          <a:bodyPr wrap="square" lIns="0" tIns="0" rIns="0" bIns="0" rtlCol="0" anchor="b"/>
          <a:lstStyle/>
          <a:p>
            <a:pPr algn="ctr" indent="0" marL="0">
              <a:buNone/>
            </a:pPr>
            <a:r>
              <a:rPr lang="en-US" sz="1000" dirty="0">
                <a:solidFill>
                  <a:srgbClr val="000000"/>
                </a:solidFill>
              </a:rPr>
              <a:t>Signed webhook (token, last 4, approval code)</a:t>
            </a:r>
            <a:endParaRPr lang="en-US" sz="1000" dirty="0"/>
          </a:p>
        </p:txBody>
      </p:sp>
      <p:sp>
        <p:nvSpPr>
          <p:cNvPr id="39" name="Shape 37"/>
          <p:cNvSpPr/>
          <p:nvPr/>
        </p:nvSpPr>
        <p:spPr>
          <a:xfrm>
            <a:off x="3314700" y="4831183"/>
            <a:ext cx="320040" cy="0"/>
          </a:xfrm>
          <a:prstGeom prst="line">
            <a:avLst/>
          </a:prstGeom>
          <a:noFill/>
          <a:ln w="15875">
            <a:solidFill>
              <a:srgbClr val="1A1A1A"/>
            </a:solidFill>
            <a:prstDash val="solid"/>
          </a:ln>
        </p:spPr>
      </p:sp>
      <p:sp>
        <p:nvSpPr>
          <p:cNvPr id="40" name="Shape 38"/>
          <p:cNvSpPr/>
          <p:nvPr/>
        </p:nvSpPr>
        <p:spPr>
          <a:xfrm>
            <a:off x="3634740" y="4831183"/>
            <a:ext cx="0" cy="240771"/>
          </a:xfrm>
          <a:prstGeom prst="line">
            <a:avLst/>
          </a:prstGeom>
          <a:noFill/>
          <a:ln w="15875">
            <a:solidFill>
              <a:srgbClr val="1A1A1A"/>
            </a:solidFill>
            <a:prstDash val="solid"/>
          </a:ln>
        </p:spPr>
      </p:sp>
      <p:sp>
        <p:nvSpPr>
          <p:cNvPr id="41" name="Shape 39"/>
          <p:cNvSpPr/>
          <p:nvPr/>
        </p:nvSpPr>
        <p:spPr>
          <a:xfrm>
            <a:off x="3314700" y="5071954"/>
            <a:ext cx="320040" cy="0"/>
          </a:xfrm>
          <a:prstGeom prst="line">
            <a:avLst/>
          </a:prstGeom>
          <a:noFill/>
          <a:ln w="15875">
            <a:solidFill>
              <a:srgbClr val="1A1A1A"/>
            </a:solidFill>
            <a:prstDash val="solid"/>
            <a:headEnd type="triangle"/>
          </a:ln>
        </p:spPr>
      </p:sp>
      <p:sp>
        <p:nvSpPr>
          <p:cNvPr id="42" name="Shape 40"/>
          <p:cNvSpPr/>
          <p:nvPr/>
        </p:nvSpPr>
        <p:spPr>
          <a:xfrm>
            <a:off x="3214116" y="4730599"/>
            <a:ext cx="201168" cy="201168"/>
          </a:xfrm>
          <a:prstGeom prst="ellipse">
            <a:avLst/>
          </a:prstGeom>
          <a:solidFill>
            <a:srgbClr val="00A9C0"/>
          </a:solidFill>
          <a:ln w="12700">
            <a:solidFill>
              <a:srgbClr val="00A9C0"/>
            </a:solidFill>
            <a:prstDash val="solid"/>
          </a:ln>
        </p:spPr>
      </p:sp>
      <p:sp>
        <p:nvSpPr>
          <p:cNvPr id="43" name="Text 41"/>
          <p:cNvSpPr txBox="1"/>
          <p:nvPr/>
        </p:nvSpPr>
        <p:spPr>
          <a:xfrm>
            <a:off x="3214116" y="4730599"/>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7</a:t>
            </a:r>
            <a:endParaRPr lang="en-US" sz="800" dirty="0"/>
          </a:p>
        </p:txBody>
      </p:sp>
      <p:sp>
        <p:nvSpPr>
          <p:cNvPr id="44" name="Text 42"/>
          <p:cNvSpPr txBox="1"/>
          <p:nvPr/>
        </p:nvSpPr>
        <p:spPr>
          <a:xfrm>
            <a:off x="3753612" y="4812895"/>
            <a:ext cx="2377440" cy="277347"/>
          </a:xfrm>
          <a:prstGeom prst="rect">
            <a:avLst/>
          </a:prstGeom>
          <a:noFill/>
          <a:ln/>
        </p:spPr>
        <p:txBody>
          <a:bodyPr wrap="square" lIns="0" tIns="0" rIns="0" bIns="0" rtlCol="0" anchor="ctr"/>
          <a:lstStyle/>
          <a:p>
            <a:pPr indent="0" marL="0">
              <a:buNone/>
            </a:pPr>
            <a:r>
              <a:rPr lang="en-US" sz="1000" dirty="0">
                <a:solidFill>
                  <a:srgbClr val="000000"/>
                </a:solidFill>
              </a:rPr>
              <a:t>Verify signature, idempotency check</a:t>
            </a:r>
            <a:endParaRPr lang="en-US" sz="1000" dirty="0"/>
          </a:p>
        </p:txBody>
      </p:sp>
      <p:sp>
        <p:nvSpPr>
          <p:cNvPr id="45" name="Shape 43"/>
          <p:cNvSpPr/>
          <p:nvPr/>
        </p:nvSpPr>
        <p:spPr>
          <a:xfrm>
            <a:off x="3314700" y="5461469"/>
            <a:ext cx="3749040" cy="0"/>
          </a:xfrm>
          <a:prstGeom prst="line">
            <a:avLst/>
          </a:prstGeom>
          <a:noFill/>
          <a:ln w="15875">
            <a:solidFill>
              <a:srgbClr val="1A1A1A"/>
            </a:solidFill>
            <a:prstDash val="solid"/>
            <a:tailEnd type="triangle"/>
          </a:ln>
        </p:spPr>
      </p:sp>
      <p:sp>
        <p:nvSpPr>
          <p:cNvPr id="46" name="Shape 44"/>
          <p:cNvSpPr/>
          <p:nvPr/>
        </p:nvSpPr>
        <p:spPr>
          <a:xfrm>
            <a:off x="3214116" y="5360885"/>
            <a:ext cx="201168" cy="201168"/>
          </a:xfrm>
          <a:prstGeom prst="ellipse">
            <a:avLst/>
          </a:prstGeom>
          <a:solidFill>
            <a:srgbClr val="00A9C0"/>
          </a:solidFill>
          <a:ln w="12700">
            <a:solidFill>
              <a:srgbClr val="00A9C0"/>
            </a:solidFill>
            <a:prstDash val="solid"/>
          </a:ln>
        </p:spPr>
      </p:sp>
      <p:sp>
        <p:nvSpPr>
          <p:cNvPr id="47" name="Text 45"/>
          <p:cNvSpPr txBox="1"/>
          <p:nvPr/>
        </p:nvSpPr>
        <p:spPr>
          <a:xfrm>
            <a:off x="3214116" y="5360885"/>
            <a:ext cx="201168" cy="201168"/>
          </a:xfrm>
          <a:prstGeom prst="rect">
            <a:avLst/>
          </a:prstGeom>
          <a:noFill/>
          <a:ln/>
        </p:spPr>
        <p:txBody>
          <a:bodyPr wrap="square" lIns="0" tIns="0" rIns="0" bIns="0" rtlCol="0" anchor="ctr"/>
          <a:lstStyle/>
          <a:p>
            <a:pPr algn="ctr" indent="0" marL="0">
              <a:buNone/>
            </a:pPr>
            <a:r>
              <a:rPr lang="en-US" sz="800" b="1" dirty="0">
                <a:solidFill>
                  <a:srgbClr val="000000"/>
                </a:solidFill>
              </a:rPr>
              <a:t>8</a:t>
            </a:r>
            <a:endParaRPr lang="en-US" sz="800" dirty="0"/>
          </a:p>
        </p:txBody>
      </p:sp>
      <p:sp>
        <p:nvSpPr>
          <p:cNvPr id="48" name="Text 46"/>
          <p:cNvSpPr txBox="1"/>
          <p:nvPr/>
        </p:nvSpPr>
        <p:spPr>
          <a:xfrm>
            <a:off x="3461004" y="5214581"/>
            <a:ext cx="3566160" cy="219456"/>
          </a:xfrm>
          <a:prstGeom prst="rect">
            <a:avLst/>
          </a:prstGeom>
          <a:noFill/>
          <a:ln/>
        </p:spPr>
        <p:txBody>
          <a:bodyPr wrap="square" lIns="0" tIns="0" rIns="0" bIns="0" rtlCol="0" anchor="b"/>
          <a:lstStyle/>
          <a:p>
            <a:pPr algn="ctr" indent="0" marL="0">
              <a:buNone/>
            </a:pPr>
            <a:r>
              <a:rPr lang="en-US" sz="1000" dirty="0">
                <a:solidFill>
                  <a:srgbClr val="000000"/>
                </a:solidFill>
              </a:rPr>
              <a:t>Payment record: token, last 4, amount, status</a:t>
            </a:r>
            <a:endParaRPr lang="en-US" sz="1000" dirty="0"/>
          </a:p>
        </p:txBody>
      </p:sp>
      <p:sp>
        <p:nvSpPr>
          <p:cNvPr id="49" name="Shape 47"/>
          <p:cNvSpPr/>
          <p:nvPr/>
        </p:nvSpPr>
        <p:spPr>
          <a:xfrm>
            <a:off x="4345686" y="5671208"/>
            <a:ext cx="3561588" cy="299627"/>
          </a:xfrm>
          <a:prstGeom prst="rect">
            <a:avLst/>
          </a:prstGeom>
          <a:solidFill>
            <a:srgbClr val="FED700"/>
          </a:solidFill>
          <a:ln w="12700">
            <a:solidFill>
              <a:srgbClr val="FED700"/>
            </a:solidFill>
            <a:prstDash val="solid"/>
          </a:ln>
        </p:spPr>
      </p:sp>
      <p:sp>
        <p:nvSpPr>
          <p:cNvPr id="50" name="Text 48"/>
          <p:cNvSpPr txBox="1"/>
          <p:nvPr/>
        </p:nvSpPr>
        <p:spPr>
          <a:xfrm>
            <a:off x="4418838" y="5671208"/>
            <a:ext cx="3415284" cy="299627"/>
          </a:xfrm>
          <a:prstGeom prst="rect">
            <a:avLst/>
          </a:prstGeom>
          <a:noFill/>
          <a:ln/>
        </p:spPr>
        <p:txBody>
          <a:bodyPr wrap="square" lIns="0" tIns="0" rIns="0" bIns="0" rtlCol="0" anchor="ctr"/>
          <a:lstStyle/>
          <a:p>
            <a:pPr algn="ctr" indent="0" marL="0">
              <a:buNone/>
            </a:pPr>
            <a:r>
              <a:rPr lang="en-US" sz="1000" b="1" dirty="0">
                <a:solidFill>
                  <a:srgbClr val="000000"/>
                </a:solidFill>
              </a:rPr>
              <a:t>No card number, CVV or expiry is ever stored</a:t>
            </a:r>
            <a:endParaRPr lang="en-US" sz="1000" dirty="0"/>
          </a:p>
        </p:txBody>
      </p:sp>
      <p:sp>
        <p:nvSpPr>
          <p:cNvPr id="51" name="Text 49"/>
          <p:cNvSpPr txBox="1"/>
          <p:nvPr/>
        </p:nvSpPr>
        <p:spPr>
          <a:xfrm>
            <a:off x="8412480" y="15544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One gateway: Chase</a:t>
            </a:r>
            <a:endParaRPr lang="en-US" sz="1600" dirty="0"/>
          </a:p>
        </p:txBody>
      </p:sp>
      <p:sp>
        <p:nvSpPr>
          <p:cNvPr id="52" name="Shape 50"/>
          <p:cNvSpPr/>
          <p:nvPr/>
        </p:nvSpPr>
        <p:spPr>
          <a:xfrm>
            <a:off x="8412480" y="1965960"/>
            <a:ext cx="3273552" cy="1078992"/>
          </a:xfrm>
          <a:prstGeom prst="roundRect">
            <a:avLst>
              <a:gd name="adj" fmla="val 8475"/>
            </a:avLst>
          </a:prstGeom>
          <a:solidFill>
            <a:srgbClr val="F2F2F2"/>
          </a:solidFill>
          <a:ln w="12700">
            <a:solidFill>
              <a:srgbClr val="D0D0D6"/>
            </a:solidFill>
            <a:prstDash val="solid"/>
          </a:ln>
        </p:spPr>
      </p:sp>
      <p:sp>
        <p:nvSpPr>
          <p:cNvPr id="53" name="Text 51"/>
          <p:cNvSpPr txBox="1"/>
          <p:nvPr/>
        </p:nvSpPr>
        <p:spPr>
          <a:xfrm>
            <a:off x="8595360" y="2075688"/>
            <a:ext cx="2907792" cy="201168"/>
          </a:xfrm>
          <a:prstGeom prst="rect">
            <a:avLst/>
          </a:prstGeom>
          <a:noFill/>
          <a:ln/>
        </p:spPr>
        <p:txBody>
          <a:bodyPr wrap="square" lIns="0" tIns="0" rIns="0" bIns="0" rtlCol="0" anchor="t"/>
          <a:lstStyle/>
          <a:p>
            <a:pPr indent="0" marL="0">
              <a:buNone/>
            </a:pPr>
            <a:r>
              <a:rPr lang="en-US" sz="900" b="1" spc="200" kern="0" dirty="0">
                <a:solidFill>
                  <a:srgbClr val="007C8C"/>
                </a:solidFill>
              </a:rPr>
              <a:t>RECOMMENDED</a:t>
            </a:r>
            <a:endParaRPr lang="en-US" sz="900" dirty="0"/>
          </a:p>
        </p:txBody>
      </p:sp>
      <p:sp>
        <p:nvSpPr>
          <p:cNvPr id="54" name="Text 52"/>
          <p:cNvSpPr txBox="1"/>
          <p:nvPr/>
        </p:nvSpPr>
        <p:spPr>
          <a:xfrm>
            <a:off x="8595360" y="2295144"/>
            <a:ext cx="2907792" cy="274320"/>
          </a:xfrm>
          <a:prstGeom prst="rect">
            <a:avLst/>
          </a:prstGeom>
          <a:noFill/>
          <a:ln/>
        </p:spPr>
        <p:txBody>
          <a:bodyPr wrap="square" lIns="0" tIns="0" rIns="0" bIns="0" rtlCol="0" anchor="t"/>
          <a:lstStyle/>
          <a:p>
            <a:pPr indent="0" marL="0">
              <a:buNone/>
            </a:pPr>
            <a:r>
              <a:rPr lang="en-US" sz="1300" b="1" dirty="0">
                <a:solidFill>
                  <a:schemeClr val="tx1"/>
                </a:solidFill>
              </a:rPr>
              <a:t>Chase for every event</a:t>
            </a:r>
            <a:endParaRPr lang="en-US" sz="1300" dirty="0"/>
          </a:p>
        </p:txBody>
      </p:sp>
      <p:sp>
        <p:nvSpPr>
          <p:cNvPr id="55" name="Text 53"/>
          <p:cNvSpPr txBox="1"/>
          <p:nvPr/>
        </p:nvSpPr>
        <p:spPr>
          <a:xfrm>
            <a:off x="8595360" y="2587752"/>
            <a:ext cx="2907792" cy="411480"/>
          </a:xfrm>
          <a:prstGeom prst="rect">
            <a:avLst/>
          </a:prstGeom>
          <a:noFill/>
          <a:ln/>
        </p:spPr>
        <p:txBody>
          <a:bodyPr wrap="square" lIns="0" tIns="0" rIns="0" bIns="0" rtlCol="0" anchor="t"/>
          <a:lstStyle/>
          <a:p>
            <a:pPr indent="0" marL="0">
              <a:buNone/>
            </a:pPr>
            <a:r>
              <a:rPr lang="en-US" sz="1100" dirty="0">
                <a:solidFill>
                  <a:srgbClr val="4D4D4D"/>
                </a:solidFill>
              </a:rPr>
              <a:t>Reuse today’s class integration; Authorize.net kept only for past refunds</a:t>
            </a:r>
            <a:endParaRPr lang="en-US" sz="1100" dirty="0"/>
          </a:p>
        </p:txBody>
      </p:sp>
      <p:sp>
        <p:nvSpPr>
          <p:cNvPr id="56" name="Shape 54"/>
          <p:cNvSpPr/>
          <p:nvPr/>
        </p:nvSpPr>
        <p:spPr>
          <a:xfrm>
            <a:off x="8412480" y="3172968"/>
            <a:ext cx="3273552" cy="1078992"/>
          </a:xfrm>
          <a:prstGeom prst="roundRect">
            <a:avLst>
              <a:gd name="adj" fmla="val 8475"/>
            </a:avLst>
          </a:prstGeom>
          <a:solidFill>
            <a:srgbClr val="F2F2F2"/>
          </a:solidFill>
          <a:ln w="12700">
            <a:solidFill>
              <a:srgbClr val="D0D0D6"/>
            </a:solidFill>
            <a:prstDash val="solid"/>
          </a:ln>
        </p:spPr>
      </p:sp>
      <p:sp>
        <p:nvSpPr>
          <p:cNvPr id="57" name="Text 55"/>
          <p:cNvSpPr txBox="1"/>
          <p:nvPr/>
        </p:nvSpPr>
        <p:spPr>
          <a:xfrm>
            <a:off x="8595360" y="3282696"/>
            <a:ext cx="2907792" cy="201168"/>
          </a:xfrm>
          <a:prstGeom prst="rect">
            <a:avLst/>
          </a:prstGeom>
          <a:noFill/>
          <a:ln/>
        </p:spPr>
        <p:txBody>
          <a:bodyPr wrap="square" lIns="0" tIns="0" rIns="0" bIns="0" rtlCol="0" anchor="t"/>
          <a:lstStyle/>
          <a:p>
            <a:pPr indent="0" marL="0">
              <a:buNone/>
            </a:pPr>
            <a:r>
              <a:rPr lang="en-US" sz="900" b="1" spc="200" kern="0" dirty="0">
                <a:solidFill>
                  <a:srgbClr val="C8005A"/>
                </a:solidFill>
              </a:rPr>
              <a:t>TO CONFIRM</a:t>
            </a:r>
            <a:endParaRPr lang="en-US" sz="900" dirty="0"/>
          </a:p>
        </p:txBody>
      </p:sp>
      <p:sp>
        <p:nvSpPr>
          <p:cNvPr id="58" name="Text 56"/>
          <p:cNvSpPr txBox="1"/>
          <p:nvPr/>
        </p:nvSpPr>
        <p:spPr>
          <a:xfrm>
            <a:off x="8595360" y="3502152"/>
            <a:ext cx="2907792" cy="274320"/>
          </a:xfrm>
          <a:prstGeom prst="rect">
            <a:avLst/>
          </a:prstGeom>
          <a:noFill/>
          <a:ln/>
        </p:spPr>
        <p:txBody>
          <a:bodyPr wrap="square" lIns="0" tIns="0" rIns="0" bIns="0" rtlCol="0" anchor="t"/>
          <a:lstStyle/>
          <a:p>
            <a:pPr indent="0" marL="0">
              <a:buNone/>
            </a:pPr>
            <a:r>
              <a:rPr lang="en-US" sz="1300" b="1" dirty="0">
                <a:solidFill>
                  <a:schemeClr val="tx1"/>
                </a:solidFill>
              </a:rPr>
              <a:t>Finance sign-off</a:t>
            </a:r>
            <a:endParaRPr lang="en-US" sz="1300" dirty="0"/>
          </a:p>
        </p:txBody>
      </p:sp>
      <p:sp>
        <p:nvSpPr>
          <p:cNvPr id="59" name="Text 57"/>
          <p:cNvSpPr txBox="1"/>
          <p:nvPr/>
        </p:nvSpPr>
        <p:spPr>
          <a:xfrm>
            <a:off x="8595360" y="3794760"/>
            <a:ext cx="2907792" cy="411480"/>
          </a:xfrm>
          <a:prstGeom prst="rect">
            <a:avLst/>
          </a:prstGeom>
          <a:noFill/>
          <a:ln/>
        </p:spPr>
        <p:txBody>
          <a:bodyPr wrap="square" lIns="0" tIns="0" rIns="0" bIns="0" rtlCol="0" anchor="t"/>
          <a:lstStyle/>
          <a:p>
            <a:pPr indent="0" marL="0">
              <a:buNone/>
            </a:pPr>
            <a:r>
              <a:rPr lang="en-US" sz="1100" dirty="0">
                <a:solidFill>
                  <a:srgbClr val="4D4D4D"/>
                </a:solidFill>
              </a:rPr>
              <a:t>Chase merchant setup for conference fees [to confirm]</a:t>
            </a:r>
            <a:endParaRPr lang="en-US" sz="1100" dirty="0"/>
          </a:p>
        </p:txBody>
      </p:sp>
      <p:sp>
        <p:nvSpPr>
          <p:cNvPr id="60" name="Text 58"/>
          <p:cNvSpPr txBox="1"/>
          <p:nvPr/>
        </p:nvSpPr>
        <p:spPr>
          <a:xfrm>
            <a:off x="8412480" y="4526280"/>
            <a:ext cx="3273552" cy="320040"/>
          </a:xfrm>
          <a:prstGeom prst="rect">
            <a:avLst/>
          </a:prstGeom>
          <a:noFill/>
          <a:ln/>
        </p:spPr>
        <p:txBody>
          <a:bodyPr wrap="square" lIns="0" tIns="0" rIns="0" bIns="0" rtlCol="0" anchor="t"/>
          <a:lstStyle/>
          <a:p>
            <a:pPr indent="0" marL="0">
              <a:buNone/>
            </a:pPr>
            <a:r>
              <a:rPr lang="en-US" sz="1600" b="1" dirty="0">
                <a:solidFill>
                  <a:schemeClr val="tx1"/>
                </a:solidFill>
              </a:rPr>
              <a:t>After payment</a:t>
            </a:r>
            <a:endParaRPr lang="en-US" sz="1600" dirty="0"/>
          </a:p>
        </p:txBody>
      </p:sp>
      <p:sp>
        <p:nvSpPr>
          <p:cNvPr id="61" name="Text 59"/>
          <p:cNvSpPr txBox="1"/>
          <p:nvPr/>
        </p:nvSpPr>
        <p:spPr>
          <a:xfrm>
            <a:off x="8412480" y="4892040"/>
            <a:ext cx="3273552"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D4D4D"/>
                </a:solidFill>
              </a:rPr>
              <a:t>Cancellations and refunds through today’s Chase workflows</a:t>
            </a:r>
            <a:endParaRPr lang="en-US" sz="1200" dirty="0"/>
          </a:p>
          <a:p>
            <a:pPr marL="342900" indent="-342900">
              <a:spcAft>
                <a:spcPts val="400"/>
              </a:spcAft>
              <a:buSzPct val="100000"/>
              <a:buChar char="•"/>
            </a:pPr>
            <a:r>
              <a:rPr lang="en-US" sz="1200" dirty="0">
                <a:solidFill>
                  <a:srgbClr val="4D4D4D"/>
                </a:solidFill>
              </a:rPr>
              <a:t>Automatic receipts</a:t>
            </a:r>
            <a:endParaRPr lang="en-US" sz="1200" dirty="0"/>
          </a:p>
          <a:p>
            <a:pPr marL="342900" indent="-342900">
              <a:spcAft>
                <a:spcPts val="400"/>
              </a:spcAft>
              <a:buSzPct val="100000"/>
              <a:buChar char="•"/>
            </a:pPr>
            <a:r>
              <a:rPr lang="en-US" sz="1200" dirty="0">
                <a:solidFill>
                  <a:srgbClr val="4D4D4D"/>
                </a:solidFill>
              </a:rPr>
              <a:t>Daily settlement reconciliation</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02  DELIVERY PLAN</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Four sprints: conferences live in eight weeks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Delivery timeline</a:t>
            </a:r>
            <a:endParaRPr lang="en-US" sz="3200" dirty="0"/>
          </a:p>
        </p:txBody>
      </p:sp>
      <p:sp>
        <p:nvSpPr>
          <p:cNvPr id="3" name="Text 1"/>
          <p:cNvSpPr txBox="1"/>
          <p:nvPr/>
        </p:nvSpPr>
        <p:spPr>
          <a:xfrm>
            <a:off x="502920" y="1325880"/>
            <a:ext cx="7315200" cy="320040"/>
          </a:xfrm>
          <a:prstGeom prst="rect">
            <a:avLst/>
          </a:prstGeom>
          <a:noFill/>
          <a:ln/>
        </p:spPr>
        <p:txBody>
          <a:bodyPr wrap="square" lIns="0" tIns="0" rIns="0" bIns="0" rtlCol="0" anchor="t"/>
          <a:lstStyle/>
          <a:p>
            <a:pPr indent="0" marL="0">
              <a:buNone/>
            </a:pPr>
            <a:r>
              <a:rPr lang="en-US" sz="1400" dirty="0">
                <a:solidFill>
                  <a:srgbClr val="BFBFBF"/>
                </a:solidFill>
              </a:rPr>
              <a:t>Indicative; confirmed after the current-state walkthrough</a:t>
            </a:r>
            <a:endParaRPr lang="en-US" sz="1400" dirty="0"/>
          </a:p>
        </p:txBody>
      </p:sp>
      <p:sp>
        <p:nvSpPr>
          <p:cNvPr id="4" name="Shape 2"/>
          <p:cNvSpPr/>
          <p:nvPr/>
        </p:nvSpPr>
        <p:spPr>
          <a:xfrm>
            <a:off x="621792" y="3611880"/>
            <a:ext cx="10948111" cy="0"/>
          </a:xfrm>
          <a:prstGeom prst="line">
            <a:avLst/>
          </a:prstGeom>
          <a:noFill/>
          <a:ln w="38100">
            <a:solidFill>
              <a:schemeClr val="bg1"/>
            </a:solidFill>
            <a:prstDash val="solid"/>
          </a:ln>
        </p:spPr>
      </p:sp>
      <p:sp>
        <p:nvSpPr>
          <p:cNvPr id="5" name="Shape 3"/>
          <p:cNvSpPr/>
          <p:nvPr/>
        </p:nvSpPr>
        <p:spPr>
          <a:xfrm>
            <a:off x="502920" y="3493008"/>
            <a:ext cx="237744" cy="237744"/>
          </a:xfrm>
          <a:prstGeom prst="ellipse">
            <a:avLst/>
          </a:prstGeom>
          <a:solidFill>
            <a:schemeClr val="bg1"/>
          </a:solidFill>
          <a:ln w="12700">
            <a:solidFill>
              <a:schemeClr val="bg1"/>
            </a:solidFill>
            <a:prstDash val="solid"/>
          </a:ln>
        </p:spPr>
      </p:sp>
      <p:sp>
        <p:nvSpPr>
          <p:cNvPr id="6" name="Shape 4"/>
          <p:cNvSpPr/>
          <p:nvPr/>
        </p:nvSpPr>
        <p:spPr>
          <a:xfrm>
            <a:off x="11451031" y="3493008"/>
            <a:ext cx="237744" cy="237744"/>
          </a:xfrm>
          <a:prstGeom prst="ellipse">
            <a:avLst/>
          </a:prstGeom>
          <a:solidFill>
            <a:schemeClr val="bg1"/>
          </a:solidFill>
          <a:ln w="12700">
            <a:solidFill>
              <a:schemeClr val="bg1"/>
            </a:solidFill>
            <a:prstDash val="solid"/>
          </a:ln>
        </p:spPr>
      </p:sp>
      <p:sp>
        <p:nvSpPr>
          <p:cNvPr id="7" name="Shape 5"/>
          <p:cNvSpPr/>
          <p:nvPr/>
        </p:nvSpPr>
        <p:spPr>
          <a:xfrm>
            <a:off x="1051560" y="3840480"/>
            <a:ext cx="0" cy="1143000"/>
          </a:xfrm>
          <a:prstGeom prst="line">
            <a:avLst/>
          </a:prstGeom>
          <a:noFill/>
          <a:ln w="15875">
            <a:solidFill>
              <a:schemeClr val="bg1"/>
            </a:solidFill>
            <a:prstDash val="sysDot"/>
          </a:ln>
        </p:spPr>
      </p:sp>
      <p:sp>
        <p:nvSpPr>
          <p:cNvPr id="8" name="Text 6"/>
          <p:cNvSpPr txBox="1"/>
          <p:nvPr/>
        </p:nvSpPr>
        <p:spPr>
          <a:xfrm>
            <a:off x="123444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1-2  ·  Assess and design</a:t>
            </a:r>
            <a:endParaRPr lang="en-US" sz="1300" dirty="0"/>
          </a:p>
        </p:txBody>
      </p:sp>
      <p:sp>
        <p:nvSpPr>
          <p:cNvPr id="9" name="Text 7"/>
          <p:cNvSpPr txBox="1"/>
          <p:nvPr/>
        </p:nvSpPr>
        <p:spPr>
          <a:xfrm>
            <a:off x="123444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Walk through today’s Experience Cloud site and Certain; design the conference extension</a:t>
            </a:r>
            <a:endParaRPr lang="en-US" sz="1200" dirty="0"/>
          </a:p>
        </p:txBody>
      </p:sp>
      <p:sp>
        <p:nvSpPr>
          <p:cNvPr id="10" name="Shape 8"/>
          <p:cNvSpPr/>
          <p:nvPr/>
        </p:nvSpPr>
        <p:spPr>
          <a:xfrm>
            <a:off x="969264" y="3529584"/>
            <a:ext cx="164592" cy="164592"/>
          </a:xfrm>
          <a:prstGeom prst="ellipse">
            <a:avLst/>
          </a:prstGeom>
          <a:solidFill>
            <a:schemeClr val="accent2"/>
          </a:solidFill>
          <a:ln w="12700">
            <a:solidFill>
              <a:schemeClr val="accent2"/>
            </a:solidFill>
            <a:prstDash val="solid"/>
          </a:ln>
        </p:spPr>
      </p:sp>
      <p:sp>
        <p:nvSpPr>
          <p:cNvPr id="11" name="Shape 9"/>
          <p:cNvSpPr/>
          <p:nvPr/>
        </p:nvSpPr>
        <p:spPr>
          <a:xfrm>
            <a:off x="3520440" y="2240280"/>
            <a:ext cx="0" cy="1143000"/>
          </a:xfrm>
          <a:prstGeom prst="line">
            <a:avLst/>
          </a:prstGeom>
          <a:noFill/>
          <a:ln w="15875">
            <a:solidFill>
              <a:schemeClr val="bg1"/>
            </a:solidFill>
            <a:prstDash val="sysDot"/>
          </a:ln>
        </p:spPr>
      </p:sp>
      <p:sp>
        <p:nvSpPr>
          <p:cNvPr id="12" name="Text 10"/>
          <p:cNvSpPr txBox="1"/>
          <p:nvPr/>
        </p:nvSpPr>
        <p:spPr>
          <a:xfrm>
            <a:off x="3703320" y="22402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3-6  ·  Build</a:t>
            </a:r>
            <a:endParaRPr lang="en-US" sz="1300" dirty="0"/>
          </a:p>
        </p:txBody>
      </p:sp>
      <p:sp>
        <p:nvSpPr>
          <p:cNvPr id="13" name="Text 11"/>
          <p:cNvSpPr txBox="1"/>
          <p:nvPr/>
        </p:nvSpPr>
        <p:spPr>
          <a:xfrm>
            <a:off x="3703320" y="2606040"/>
            <a:ext cx="3017520" cy="777240"/>
          </a:xfrm>
          <a:prstGeom prst="rect">
            <a:avLst/>
          </a:prstGeom>
          <a:noFill/>
          <a:ln/>
        </p:spPr>
        <p:txBody>
          <a:bodyPr wrap="square" lIns="0" tIns="0" rIns="0" bIns="0" rtlCol="0" anchor="t"/>
          <a:lstStyle/>
          <a:p>
            <a:pPr indent="0" marL="0">
              <a:buNone/>
            </a:pPr>
            <a:r>
              <a:rPr lang="en-US" sz="1200" dirty="0">
                <a:solidFill>
                  <a:schemeClr val="bg1"/>
                </a:solidFill>
              </a:rPr>
              <a:t>Sessions, speakers, My Agenda, seat limits and waitlists, Chase checkout, Zoom or Teams links</a:t>
            </a:r>
            <a:endParaRPr lang="en-US" sz="1200" dirty="0"/>
          </a:p>
        </p:txBody>
      </p:sp>
      <p:sp>
        <p:nvSpPr>
          <p:cNvPr id="14" name="Shape 12"/>
          <p:cNvSpPr/>
          <p:nvPr/>
        </p:nvSpPr>
        <p:spPr>
          <a:xfrm>
            <a:off x="3438144" y="3529584"/>
            <a:ext cx="164592" cy="164592"/>
          </a:xfrm>
          <a:prstGeom prst="ellipse">
            <a:avLst/>
          </a:prstGeom>
          <a:solidFill>
            <a:schemeClr val="accent2"/>
          </a:solidFill>
          <a:ln w="12700">
            <a:solidFill>
              <a:schemeClr val="accent2"/>
            </a:solidFill>
            <a:prstDash val="solid"/>
          </a:ln>
        </p:spPr>
      </p:sp>
      <p:sp>
        <p:nvSpPr>
          <p:cNvPr id="15" name="Shape 13"/>
          <p:cNvSpPr/>
          <p:nvPr/>
        </p:nvSpPr>
        <p:spPr>
          <a:xfrm>
            <a:off x="6355080" y="3840480"/>
            <a:ext cx="0" cy="1143000"/>
          </a:xfrm>
          <a:prstGeom prst="line">
            <a:avLst/>
          </a:prstGeom>
          <a:noFill/>
          <a:ln w="15875">
            <a:solidFill>
              <a:schemeClr val="bg1"/>
            </a:solidFill>
            <a:prstDash val="sysDot"/>
          </a:ln>
        </p:spPr>
      </p:sp>
      <p:sp>
        <p:nvSpPr>
          <p:cNvPr id="16" name="Text 14"/>
          <p:cNvSpPr txBox="1"/>
          <p:nvPr/>
        </p:nvSpPr>
        <p:spPr>
          <a:xfrm>
            <a:off x="6537960" y="3840480"/>
            <a:ext cx="3017520" cy="292608"/>
          </a:xfrm>
          <a:prstGeom prst="rect">
            <a:avLst/>
          </a:prstGeom>
          <a:noFill/>
          <a:ln/>
        </p:spPr>
        <p:txBody>
          <a:bodyPr wrap="square" lIns="0" tIns="0" rIns="0" bIns="0" rtlCol="0" anchor="t"/>
          <a:lstStyle/>
          <a:p>
            <a:pPr indent="0" marL="0">
              <a:buNone/>
            </a:pPr>
            <a:r>
              <a:rPr lang="en-US" sz="1300" b="1" dirty="0">
                <a:solidFill>
                  <a:schemeClr val="bg1"/>
                </a:solidFill>
              </a:rPr>
              <a:t>Weeks 7-8  ·  Test and go live</a:t>
            </a:r>
            <a:endParaRPr lang="en-US" sz="1300" dirty="0"/>
          </a:p>
        </p:txBody>
      </p:sp>
      <p:sp>
        <p:nvSpPr>
          <p:cNvPr id="17" name="Text 15"/>
          <p:cNvSpPr txBox="1"/>
          <p:nvPr/>
        </p:nvSpPr>
        <p:spPr>
          <a:xfrm>
            <a:off x="6537960" y="4206240"/>
            <a:ext cx="3017520" cy="777240"/>
          </a:xfrm>
          <a:prstGeom prst="rect">
            <a:avLst/>
          </a:prstGeom>
          <a:noFill/>
          <a:ln/>
        </p:spPr>
        <p:txBody>
          <a:bodyPr wrap="square" lIns="0" tIns="0" rIns="0" bIns="0" rtlCol="0" anchor="t"/>
          <a:lstStyle/>
          <a:p>
            <a:pPr indent="0" marL="0">
              <a:buNone/>
            </a:pPr>
            <a:r>
              <a:rPr lang="en-US" sz="1200" dirty="0">
                <a:solidFill>
                  <a:schemeClr val="bg1"/>
                </a:solidFill>
              </a:rPr>
              <a:t>Load and user testing, go-live and hypercare. Certain retired</a:t>
            </a:r>
            <a:endParaRPr lang="en-US" sz="1200" dirty="0"/>
          </a:p>
        </p:txBody>
      </p:sp>
      <p:sp>
        <p:nvSpPr>
          <p:cNvPr id="18" name="Shape 16"/>
          <p:cNvSpPr/>
          <p:nvPr/>
        </p:nvSpPr>
        <p:spPr>
          <a:xfrm>
            <a:off x="6272784" y="3529584"/>
            <a:ext cx="164592" cy="164592"/>
          </a:xfrm>
          <a:prstGeom prst="ellipse">
            <a:avLst/>
          </a:prstGeom>
          <a:solidFill>
            <a:schemeClr val="accent2"/>
          </a:solidFill>
          <a:ln w="12700">
            <a:solidFill>
              <a:schemeClr val="accent2"/>
            </a:solidFill>
            <a:prstDash val="solid"/>
          </a:ln>
        </p:spPr>
      </p:sp>
      <p:sp>
        <p:nvSpPr>
          <p:cNvPr id="19" name="Shape 17"/>
          <p:cNvSpPr/>
          <p:nvPr/>
        </p:nvSpPr>
        <p:spPr>
          <a:xfrm>
            <a:off x="8869680" y="2240280"/>
            <a:ext cx="0" cy="1143000"/>
          </a:xfrm>
          <a:prstGeom prst="line">
            <a:avLst/>
          </a:prstGeom>
          <a:noFill/>
          <a:ln w="15875">
            <a:solidFill>
              <a:schemeClr val="bg1"/>
            </a:solidFill>
            <a:prstDash val="sysDot"/>
          </a:ln>
        </p:spPr>
      </p:sp>
      <p:sp>
        <p:nvSpPr>
          <p:cNvPr id="20" name="Text 18"/>
          <p:cNvSpPr txBox="1"/>
          <p:nvPr/>
        </p:nvSpPr>
        <p:spPr>
          <a:xfrm>
            <a:off x="9052560" y="2240280"/>
            <a:ext cx="2651760" cy="292608"/>
          </a:xfrm>
          <a:prstGeom prst="rect">
            <a:avLst/>
          </a:prstGeom>
          <a:noFill/>
          <a:ln/>
        </p:spPr>
        <p:txBody>
          <a:bodyPr wrap="square" lIns="0" tIns="0" rIns="0" bIns="0" rtlCol="0" anchor="t"/>
          <a:lstStyle/>
          <a:p>
            <a:pPr indent="0" marL="0">
              <a:buNone/>
            </a:pPr>
            <a:r>
              <a:rPr lang="en-US" sz="1300" b="1" dirty="0">
                <a:solidFill>
                  <a:schemeClr val="bg1"/>
                </a:solidFill>
              </a:rPr>
              <a:t>Week 9+  ·  Grow</a:t>
            </a:r>
            <a:endParaRPr lang="en-US" sz="1300" dirty="0"/>
          </a:p>
        </p:txBody>
      </p:sp>
      <p:sp>
        <p:nvSpPr>
          <p:cNvPr id="21" name="Text 19"/>
          <p:cNvSpPr txBox="1"/>
          <p:nvPr/>
        </p:nvSpPr>
        <p:spPr>
          <a:xfrm>
            <a:off x="9052560" y="2606040"/>
            <a:ext cx="2651760" cy="777240"/>
          </a:xfrm>
          <a:prstGeom prst="rect">
            <a:avLst/>
          </a:prstGeom>
          <a:noFill/>
          <a:ln/>
        </p:spPr>
        <p:txBody>
          <a:bodyPr wrap="square" lIns="0" tIns="0" rIns="0" bIns="0" rtlCol="0" anchor="t"/>
          <a:lstStyle/>
          <a:p>
            <a:pPr indent="0" marL="0">
              <a:buNone/>
            </a:pPr>
            <a:r>
              <a:rPr lang="en-US" sz="1200" dirty="0">
                <a:solidFill>
                  <a:schemeClr val="bg1"/>
                </a:solidFill>
              </a:rPr>
              <a:t>Patient engagement initiatives, app adoption, AI agents in a controlled harness</a:t>
            </a:r>
            <a:endParaRPr lang="en-US" sz="1200" dirty="0"/>
          </a:p>
        </p:txBody>
      </p:sp>
      <p:sp>
        <p:nvSpPr>
          <p:cNvPr id="22" name="Shape 20"/>
          <p:cNvSpPr/>
          <p:nvPr/>
        </p:nvSpPr>
        <p:spPr>
          <a:xfrm>
            <a:off x="8787384" y="3529584"/>
            <a:ext cx="164592" cy="164592"/>
          </a:xfrm>
          <a:prstGeom prst="ellipse">
            <a:avLst/>
          </a:prstGeom>
          <a:solidFill>
            <a:schemeClr val="accent2"/>
          </a:solidFill>
          <a:ln w="12700">
            <a:solidFill>
              <a:schemeClr val="accent2"/>
            </a:solidFill>
            <a:prstDash val="solid"/>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What the eight weeks deliver</a:t>
            </a:r>
            <a:endParaRPr lang="en-US" sz="3200" dirty="0"/>
          </a:p>
        </p:txBody>
      </p:sp>
      <p:sp>
        <p:nvSpPr>
          <p:cNvPr id="3" name="Text 1"/>
          <p:cNvSpPr txBox="1"/>
          <p:nvPr/>
        </p:nvSpPr>
        <p:spPr>
          <a:xfrm>
            <a:off x="576072" y="1554480"/>
            <a:ext cx="2048256" cy="384048"/>
          </a:xfrm>
          <a:prstGeom prst="rect">
            <a:avLst/>
          </a:prstGeom>
          <a:noFill/>
          <a:ln/>
        </p:spPr>
        <p:txBody>
          <a:bodyPr wrap="square" lIns="0" tIns="0" rIns="0" bIns="0" rtlCol="0" anchor="b"/>
          <a:lstStyle/>
          <a:p>
            <a:pPr indent="0" marL="0">
              <a:buNone/>
            </a:pPr>
            <a:endParaRPr lang="en-US" sz="1500" dirty="0"/>
          </a:p>
        </p:txBody>
      </p:sp>
      <p:sp>
        <p:nvSpPr>
          <p:cNvPr id="4" name="Text 2"/>
          <p:cNvSpPr txBox="1"/>
          <p:nvPr/>
        </p:nvSpPr>
        <p:spPr>
          <a:xfrm>
            <a:off x="2770632" y="1554480"/>
            <a:ext cx="8842248" cy="384048"/>
          </a:xfrm>
          <a:prstGeom prst="rect">
            <a:avLst/>
          </a:prstGeom>
          <a:noFill/>
          <a:ln/>
        </p:spPr>
        <p:txBody>
          <a:bodyPr wrap="square" lIns="0" tIns="0" rIns="0" bIns="0" rtlCol="0" anchor="b"/>
          <a:lstStyle/>
          <a:p>
            <a:pPr indent="0" marL="0">
              <a:buNone/>
            </a:pPr>
            <a:r>
              <a:rPr lang="en-US" sz="1500" b="1" dirty="0">
                <a:solidFill>
                  <a:schemeClr val="tx1"/>
                </a:solidFill>
              </a:rPr>
              <a:t>Conferences on Salesforce, replacing Certain</a:t>
            </a:r>
            <a:endParaRPr lang="en-US" sz="1500" dirty="0"/>
          </a:p>
        </p:txBody>
      </p:sp>
      <p:sp>
        <p:nvSpPr>
          <p:cNvPr id="5" name="Shape 3"/>
          <p:cNvSpPr/>
          <p:nvPr/>
        </p:nvSpPr>
        <p:spPr>
          <a:xfrm>
            <a:off x="502920" y="2011680"/>
            <a:ext cx="11183112" cy="0"/>
          </a:xfrm>
          <a:prstGeom prst="line">
            <a:avLst/>
          </a:prstGeom>
          <a:noFill/>
          <a:ln w="19050">
            <a:solidFill>
              <a:schemeClr val="tx1"/>
            </a:solidFill>
            <a:prstDash val="solid"/>
          </a:ln>
        </p:spPr>
      </p:sp>
      <p:sp>
        <p:nvSpPr>
          <p:cNvPr id="6" name="Text 4"/>
          <p:cNvSpPr txBox="1"/>
          <p:nvPr/>
        </p:nvSpPr>
        <p:spPr>
          <a:xfrm>
            <a:off x="576072" y="208483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Scope</a:t>
            </a:r>
            <a:endParaRPr lang="en-US" sz="1300" dirty="0"/>
          </a:p>
        </p:txBody>
      </p:sp>
      <p:sp>
        <p:nvSpPr>
          <p:cNvPr id="7" name="Text 5"/>
          <p:cNvSpPr txBox="1"/>
          <p:nvPr/>
        </p:nvSpPr>
        <p:spPr>
          <a:xfrm>
            <a:off x="2770632" y="2084832"/>
            <a:ext cx="8842248" cy="438912"/>
          </a:xfrm>
          <a:prstGeom prst="rect">
            <a:avLst/>
          </a:prstGeom>
          <a:noFill/>
          <a:ln/>
        </p:spPr>
        <p:txBody>
          <a:bodyPr wrap="square" lIns="0" tIns="0" rIns="0" bIns="0" rtlCol="0" anchor="ctr"/>
          <a:lstStyle/>
          <a:p>
            <a:pPr indent="0" marL="0">
              <a:buNone/>
            </a:pPr>
            <a:r>
              <a:rPr lang="en-US" sz="1300" dirty="0">
                <a:solidFill>
                  <a:srgbClr val="4D4D4D"/>
                </a:solidFill>
              </a:rPr>
              <a:t>Multi-day agenda, tracks, rooms, speakers and session capacity inside today’s event solution</a:t>
            </a:r>
            <a:endParaRPr lang="en-US" sz="1300" dirty="0"/>
          </a:p>
        </p:txBody>
      </p:sp>
      <p:sp>
        <p:nvSpPr>
          <p:cNvPr id="8" name="Shape 6"/>
          <p:cNvSpPr/>
          <p:nvPr/>
        </p:nvSpPr>
        <p:spPr>
          <a:xfrm>
            <a:off x="502920" y="2560320"/>
            <a:ext cx="11183112" cy="0"/>
          </a:xfrm>
          <a:prstGeom prst="line">
            <a:avLst/>
          </a:prstGeom>
          <a:noFill/>
          <a:ln w="9525">
            <a:solidFill>
              <a:srgbClr val="8C8C8C"/>
            </a:solidFill>
            <a:prstDash val="sysDot"/>
          </a:ln>
        </p:spPr>
      </p:sp>
      <p:sp>
        <p:nvSpPr>
          <p:cNvPr id="9" name="Text 7"/>
          <p:cNvSpPr txBox="1"/>
          <p:nvPr/>
        </p:nvSpPr>
        <p:spPr>
          <a:xfrm>
            <a:off x="576072" y="263347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Registration</a:t>
            </a:r>
            <a:endParaRPr lang="en-US" sz="1300" dirty="0"/>
          </a:p>
        </p:txBody>
      </p:sp>
      <p:sp>
        <p:nvSpPr>
          <p:cNvPr id="10" name="Text 8"/>
          <p:cNvSpPr txBox="1"/>
          <p:nvPr/>
        </p:nvSpPr>
        <p:spPr>
          <a:xfrm>
            <a:off x="2770632" y="2633472"/>
            <a:ext cx="8842248" cy="438912"/>
          </a:xfrm>
          <a:prstGeom prst="rect">
            <a:avLst/>
          </a:prstGeom>
          <a:noFill/>
          <a:ln/>
        </p:spPr>
        <p:txBody>
          <a:bodyPr wrap="square" lIns="0" tIns="0" rIns="0" bIns="0" rtlCol="0" anchor="ctr"/>
          <a:lstStyle/>
          <a:p>
            <a:pPr indent="0" marL="0">
              <a:buNone/>
            </a:pPr>
            <a:r>
              <a:rPr lang="en-US" sz="1300" dirty="0">
                <a:solidFill>
                  <a:srgbClr val="4D4D4D"/>
                </a:solidFill>
              </a:rPr>
              <a:t>Providers and guests, ticket types, My Agenda on today’s Experience Cloud site</a:t>
            </a:r>
            <a:endParaRPr lang="en-US" sz="1300" dirty="0"/>
          </a:p>
        </p:txBody>
      </p:sp>
      <p:sp>
        <p:nvSpPr>
          <p:cNvPr id="11" name="Shape 9"/>
          <p:cNvSpPr/>
          <p:nvPr/>
        </p:nvSpPr>
        <p:spPr>
          <a:xfrm>
            <a:off x="502920" y="3108960"/>
            <a:ext cx="11183112" cy="0"/>
          </a:xfrm>
          <a:prstGeom prst="line">
            <a:avLst/>
          </a:prstGeom>
          <a:noFill/>
          <a:ln w="9525">
            <a:solidFill>
              <a:srgbClr val="8C8C8C"/>
            </a:solidFill>
            <a:prstDash val="sysDot"/>
          </a:ln>
        </p:spPr>
      </p:sp>
      <p:sp>
        <p:nvSpPr>
          <p:cNvPr id="12" name="Text 10"/>
          <p:cNvSpPr txBox="1"/>
          <p:nvPr/>
        </p:nvSpPr>
        <p:spPr>
          <a:xfrm>
            <a:off x="576072" y="318211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Payments</a:t>
            </a:r>
            <a:endParaRPr lang="en-US" sz="1300" dirty="0"/>
          </a:p>
        </p:txBody>
      </p:sp>
      <p:sp>
        <p:nvSpPr>
          <p:cNvPr id="13" name="Text 11"/>
          <p:cNvSpPr txBox="1"/>
          <p:nvPr/>
        </p:nvSpPr>
        <p:spPr>
          <a:xfrm>
            <a:off x="2770632" y="3182112"/>
            <a:ext cx="8842248" cy="438912"/>
          </a:xfrm>
          <a:prstGeom prst="rect">
            <a:avLst/>
          </a:prstGeom>
          <a:noFill/>
          <a:ln/>
        </p:spPr>
        <p:txBody>
          <a:bodyPr wrap="square" lIns="0" tIns="0" rIns="0" bIns="0" rtlCol="0" anchor="ctr"/>
          <a:lstStyle/>
          <a:p>
            <a:pPr indent="0" marL="0">
              <a:buNone/>
            </a:pPr>
            <a:r>
              <a:rPr lang="en-US" sz="1300" dirty="0">
                <a:solidFill>
                  <a:srgbClr val="4D4D4D"/>
                </a:solidFill>
              </a:rPr>
              <a:t>Chase checkout; cancellations and refunds through today’s workflows</a:t>
            </a:r>
            <a:endParaRPr lang="en-US" sz="1300" dirty="0"/>
          </a:p>
        </p:txBody>
      </p:sp>
      <p:sp>
        <p:nvSpPr>
          <p:cNvPr id="14" name="Shape 12"/>
          <p:cNvSpPr/>
          <p:nvPr/>
        </p:nvSpPr>
        <p:spPr>
          <a:xfrm>
            <a:off x="502920" y="3657600"/>
            <a:ext cx="11183112" cy="0"/>
          </a:xfrm>
          <a:prstGeom prst="line">
            <a:avLst/>
          </a:prstGeom>
          <a:noFill/>
          <a:ln w="9525">
            <a:solidFill>
              <a:srgbClr val="8C8C8C"/>
            </a:solidFill>
            <a:prstDash val="sysDot"/>
          </a:ln>
        </p:spPr>
      </p:sp>
      <p:sp>
        <p:nvSpPr>
          <p:cNvPr id="15" name="Text 13"/>
          <p:cNvSpPr txBox="1"/>
          <p:nvPr/>
        </p:nvSpPr>
        <p:spPr>
          <a:xfrm>
            <a:off x="576072" y="373075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Online sessions</a:t>
            </a:r>
            <a:endParaRPr lang="en-US" sz="1300" dirty="0"/>
          </a:p>
        </p:txBody>
      </p:sp>
      <p:sp>
        <p:nvSpPr>
          <p:cNvPr id="16" name="Text 14"/>
          <p:cNvSpPr txBox="1"/>
          <p:nvPr/>
        </p:nvSpPr>
        <p:spPr>
          <a:xfrm>
            <a:off x="2770632" y="3730752"/>
            <a:ext cx="8842248" cy="438912"/>
          </a:xfrm>
          <a:prstGeom prst="rect">
            <a:avLst/>
          </a:prstGeom>
          <a:noFill/>
          <a:ln/>
        </p:spPr>
        <p:txBody>
          <a:bodyPr wrap="square" lIns="0" tIns="0" rIns="0" bIns="0" rtlCol="0" anchor="ctr"/>
          <a:lstStyle/>
          <a:p>
            <a:pPr indent="0" marL="0">
              <a:buNone/>
            </a:pPr>
            <a:r>
              <a:rPr lang="en-US" sz="1300" dirty="0">
                <a:solidFill>
                  <a:srgbClr val="4D4D4D"/>
                </a:solidFill>
              </a:rPr>
              <a:t>Personal Zoom or Teams join links that work from anywhere</a:t>
            </a:r>
            <a:endParaRPr lang="en-US" sz="1300" dirty="0"/>
          </a:p>
        </p:txBody>
      </p:sp>
      <p:sp>
        <p:nvSpPr>
          <p:cNvPr id="17" name="Shape 15"/>
          <p:cNvSpPr/>
          <p:nvPr/>
        </p:nvSpPr>
        <p:spPr>
          <a:xfrm>
            <a:off x="502920" y="4206240"/>
            <a:ext cx="11183112" cy="0"/>
          </a:xfrm>
          <a:prstGeom prst="line">
            <a:avLst/>
          </a:prstGeom>
          <a:noFill/>
          <a:ln w="9525">
            <a:solidFill>
              <a:srgbClr val="8C8C8C"/>
            </a:solidFill>
            <a:prstDash val="sysDot"/>
          </a:ln>
        </p:spPr>
      </p:sp>
      <p:sp>
        <p:nvSpPr>
          <p:cNvPr id="18" name="Text 16"/>
          <p:cNvSpPr txBox="1"/>
          <p:nvPr/>
        </p:nvSpPr>
        <p:spPr>
          <a:xfrm>
            <a:off x="576072" y="427939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Engagement</a:t>
            </a:r>
            <a:endParaRPr lang="en-US" sz="1300" dirty="0"/>
          </a:p>
        </p:txBody>
      </p:sp>
      <p:sp>
        <p:nvSpPr>
          <p:cNvPr id="19" name="Text 17"/>
          <p:cNvSpPr txBox="1"/>
          <p:nvPr/>
        </p:nvSpPr>
        <p:spPr>
          <a:xfrm>
            <a:off x="2770632" y="4279392"/>
            <a:ext cx="8842248" cy="438912"/>
          </a:xfrm>
          <a:prstGeom prst="rect">
            <a:avLst/>
          </a:prstGeom>
          <a:noFill/>
          <a:ln/>
        </p:spPr>
        <p:txBody>
          <a:bodyPr wrap="square" lIns="0" tIns="0" rIns="0" bIns="0" rtlCol="0" anchor="ctr"/>
          <a:lstStyle/>
          <a:p>
            <a:pPr indent="0" marL="0">
              <a:buNone/>
            </a:pPr>
            <a:r>
              <a:rPr lang="en-US" sz="1300" dirty="0">
                <a:solidFill>
                  <a:srgbClr val="4D4D4D"/>
                </a:solidFill>
              </a:rPr>
              <a:t>Confirmations, reminders, waitlists, badges and check-in, CME [to confirm]</a:t>
            </a:r>
            <a:endParaRPr lang="en-US" sz="1300" dirty="0"/>
          </a:p>
        </p:txBody>
      </p:sp>
      <p:sp>
        <p:nvSpPr>
          <p:cNvPr id="20" name="Shape 18"/>
          <p:cNvSpPr/>
          <p:nvPr/>
        </p:nvSpPr>
        <p:spPr>
          <a:xfrm>
            <a:off x="502920" y="4754880"/>
            <a:ext cx="11183112" cy="0"/>
          </a:xfrm>
          <a:prstGeom prst="line">
            <a:avLst/>
          </a:prstGeom>
          <a:noFill/>
          <a:ln w="9525">
            <a:solidFill>
              <a:srgbClr val="8C8C8C"/>
            </a:solidFill>
            <a:prstDash val="sysDot"/>
          </a:ln>
        </p:spPr>
      </p:sp>
      <p:sp>
        <p:nvSpPr>
          <p:cNvPr id="21" name="Text 19"/>
          <p:cNvSpPr txBox="1"/>
          <p:nvPr/>
        </p:nvSpPr>
        <p:spPr>
          <a:xfrm>
            <a:off x="576072" y="482803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Data</a:t>
            </a:r>
            <a:endParaRPr lang="en-US" sz="1300" dirty="0"/>
          </a:p>
        </p:txBody>
      </p:sp>
      <p:sp>
        <p:nvSpPr>
          <p:cNvPr id="22" name="Text 20"/>
          <p:cNvSpPr txBox="1"/>
          <p:nvPr/>
        </p:nvSpPr>
        <p:spPr>
          <a:xfrm>
            <a:off x="2770632" y="4828032"/>
            <a:ext cx="8842248" cy="438912"/>
          </a:xfrm>
          <a:prstGeom prst="rect">
            <a:avLst/>
          </a:prstGeom>
          <a:noFill/>
          <a:ln/>
        </p:spPr>
        <p:txBody>
          <a:bodyPr wrap="square" lIns="0" tIns="0" rIns="0" bIns="0" rtlCol="0" anchor="ctr"/>
          <a:lstStyle/>
          <a:p>
            <a:pPr indent="0" marL="0">
              <a:buNone/>
            </a:pPr>
            <a:r>
              <a:rPr lang="en-US" sz="1300" dirty="0">
                <a:solidFill>
                  <a:srgbClr val="4D4D4D"/>
                </a:solidFill>
              </a:rPr>
              <a:t>No migration: conferences start fresh in Salesforce</a:t>
            </a:r>
            <a:endParaRPr lang="en-US" sz="1300" dirty="0"/>
          </a:p>
        </p:txBody>
      </p:sp>
      <p:sp>
        <p:nvSpPr>
          <p:cNvPr id="23" name="Shape 21"/>
          <p:cNvSpPr/>
          <p:nvPr/>
        </p:nvSpPr>
        <p:spPr>
          <a:xfrm>
            <a:off x="502920" y="5303520"/>
            <a:ext cx="11183112" cy="0"/>
          </a:xfrm>
          <a:prstGeom prst="line">
            <a:avLst/>
          </a:prstGeom>
          <a:noFill/>
          <a:ln w="9525">
            <a:solidFill>
              <a:srgbClr val="8C8C8C"/>
            </a:solidFill>
            <a:prstDash val="sysDot"/>
          </a:ln>
        </p:spPr>
      </p:sp>
      <p:sp>
        <p:nvSpPr>
          <p:cNvPr id="24" name="Text 22"/>
          <p:cNvSpPr txBox="1"/>
          <p:nvPr/>
        </p:nvSpPr>
        <p:spPr>
          <a:xfrm>
            <a:off x="576072" y="5376672"/>
            <a:ext cx="2048256" cy="438912"/>
          </a:xfrm>
          <a:prstGeom prst="rect">
            <a:avLst/>
          </a:prstGeom>
          <a:noFill/>
          <a:ln/>
        </p:spPr>
        <p:txBody>
          <a:bodyPr wrap="square" lIns="0" tIns="0" rIns="0" bIns="0" rtlCol="0" anchor="ctr"/>
          <a:lstStyle/>
          <a:p>
            <a:pPr indent="0" marL="0">
              <a:buNone/>
            </a:pPr>
            <a:r>
              <a:rPr lang="en-US" sz="1300" b="1" dirty="0">
                <a:solidFill>
                  <a:schemeClr val="tx1"/>
                </a:solidFill>
              </a:rPr>
              <a:t>Retires</a:t>
            </a:r>
            <a:endParaRPr lang="en-US" sz="1300" dirty="0"/>
          </a:p>
        </p:txBody>
      </p:sp>
      <p:sp>
        <p:nvSpPr>
          <p:cNvPr id="25" name="Text 23"/>
          <p:cNvSpPr txBox="1"/>
          <p:nvPr/>
        </p:nvSpPr>
        <p:spPr>
          <a:xfrm>
            <a:off x="2770632" y="5376672"/>
            <a:ext cx="8842248" cy="438912"/>
          </a:xfrm>
          <a:prstGeom prst="rect">
            <a:avLst/>
          </a:prstGeom>
          <a:noFill/>
          <a:ln/>
        </p:spPr>
        <p:txBody>
          <a:bodyPr wrap="square" lIns="0" tIns="0" rIns="0" bIns="0" rtlCol="0" anchor="ctr"/>
          <a:lstStyle/>
          <a:p>
            <a:pPr indent="0" marL="0">
              <a:buNone/>
            </a:pPr>
            <a:r>
              <a:rPr lang="en-US" sz="1300" dirty="0">
                <a:solidFill>
                  <a:srgbClr val="4D4D4D"/>
                </a:solidFill>
              </a:rPr>
              <a:t>Certain and its IP-restricted video link</a:t>
            </a:r>
            <a:endParaRPr lang="en-US" sz="1300" dirty="0"/>
          </a:p>
        </p:txBody>
      </p:sp>
      <p:sp>
        <p:nvSpPr>
          <p:cNvPr id="26" name="Shape 24"/>
          <p:cNvSpPr/>
          <p:nvPr/>
        </p:nvSpPr>
        <p:spPr>
          <a:xfrm>
            <a:off x="502920" y="585216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Delivery plan: 4 two-week sprints, live in 8 weeks</a:t>
            </a:r>
            <a:endParaRPr lang="en-US" sz="3200" dirty="0"/>
          </a:p>
        </p:txBody>
      </p:sp>
      <p:sp>
        <p:nvSpPr>
          <p:cNvPr id="3" name="Text 1"/>
          <p:cNvSpPr txBox="1"/>
          <p:nvPr/>
        </p:nvSpPr>
        <p:spPr>
          <a:xfrm>
            <a:off x="502920" y="1298448"/>
            <a:ext cx="8686800" cy="292608"/>
          </a:xfrm>
          <a:prstGeom prst="rect">
            <a:avLst/>
          </a:prstGeom>
          <a:noFill/>
          <a:ln/>
        </p:spPr>
        <p:txBody>
          <a:bodyPr wrap="square" lIns="0" tIns="0" rIns="0" bIns="0" rtlCol="0" anchor="t"/>
          <a:lstStyle/>
          <a:p>
            <a:pPr indent="0" marL="0">
              <a:buNone/>
            </a:pPr>
            <a:r>
              <a:rPr lang="en-US" sz="1400" dirty="0">
                <a:solidFill>
                  <a:srgbClr val="4D4D4D"/>
                </a:solidFill>
              </a:rPr>
              <a:t>A working demo and a milestone sign-off with Memorial Hermann at the end of every sprint</a:t>
            </a:r>
            <a:endParaRPr lang="en-US" sz="1400" dirty="0"/>
          </a:p>
        </p:txBody>
      </p:sp>
      <p:sp>
        <p:nvSpPr>
          <p:cNvPr id="4" name="Shape 2"/>
          <p:cNvSpPr/>
          <p:nvPr/>
        </p:nvSpPr>
        <p:spPr>
          <a:xfrm>
            <a:off x="502920" y="1737360"/>
            <a:ext cx="292608" cy="146304"/>
          </a:xfrm>
          <a:prstGeom prst="roundRect">
            <a:avLst>
              <a:gd name="adj" fmla="val 50000"/>
            </a:avLst>
          </a:prstGeom>
          <a:solidFill>
            <a:srgbClr val="00A9C0"/>
          </a:solidFill>
          <a:ln w="12700">
            <a:solidFill>
              <a:srgbClr val="00A9C0"/>
            </a:solidFill>
            <a:prstDash val="solid"/>
          </a:ln>
        </p:spPr>
      </p:sp>
      <p:sp>
        <p:nvSpPr>
          <p:cNvPr id="5" name="Text 3"/>
          <p:cNvSpPr txBox="1"/>
          <p:nvPr/>
        </p:nvSpPr>
        <p:spPr>
          <a:xfrm>
            <a:off x="886968" y="1682496"/>
            <a:ext cx="1504188" cy="256032"/>
          </a:xfrm>
          <a:prstGeom prst="rect">
            <a:avLst/>
          </a:prstGeom>
          <a:noFill/>
          <a:ln/>
        </p:spPr>
        <p:txBody>
          <a:bodyPr wrap="square" lIns="0" tIns="0" rIns="0" bIns="0" rtlCol="0" anchor="ctr"/>
          <a:lstStyle/>
          <a:p>
            <a:pPr indent="0" marL="0">
              <a:buNone/>
            </a:pPr>
            <a:r>
              <a:rPr lang="en-US" sz="1100" b="1" dirty="0">
                <a:solidFill>
                  <a:srgbClr val="007C8C"/>
                </a:solidFill>
              </a:rPr>
              <a:t>Assess and design</a:t>
            </a:r>
            <a:endParaRPr lang="en-US" sz="1100" dirty="0"/>
          </a:p>
        </p:txBody>
      </p:sp>
      <p:sp>
        <p:nvSpPr>
          <p:cNvPr id="6" name="Shape 4"/>
          <p:cNvSpPr/>
          <p:nvPr/>
        </p:nvSpPr>
        <p:spPr>
          <a:xfrm>
            <a:off x="2711196" y="1737360"/>
            <a:ext cx="292608" cy="146304"/>
          </a:xfrm>
          <a:prstGeom prst="roundRect">
            <a:avLst>
              <a:gd name="adj" fmla="val 50000"/>
            </a:avLst>
          </a:prstGeom>
          <a:solidFill>
            <a:srgbClr val="FF0068"/>
          </a:solidFill>
          <a:ln w="12700">
            <a:solidFill>
              <a:srgbClr val="FF0068"/>
            </a:solidFill>
            <a:prstDash val="solid"/>
          </a:ln>
        </p:spPr>
      </p:sp>
      <p:sp>
        <p:nvSpPr>
          <p:cNvPr id="7" name="Text 5"/>
          <p:cNvSpPr txBox="1"/>
          <p:nvPr/>
        </p:nvSpPr>
        <p:spPr>
          <a:xfrm>
            <a:off x="3095244" y="1682496"/>
            <a:ext cx="1970532" cy="256032"/>
          </a:xfrm>
          <a:prstGeom prst="rect">
            <a:avLst/>
          </a:prstGeom>
          <a:noFill/>
          <a:ln/>
        </p:spPr>
        <p:txBody>
          <a:bodyPr wrap="square" lIns="0" tIns="0" rIns="0" bIns="0" rtlCol="0" anchor="ctr"/>
          <a:lstStyle/>
          <a:p>
            <a:pPr indent="0" marL="0">
              <a:buNone/>
            </a:pPr>
            <a:r>
              <a:rPr lang="en-US" sz="1100" b="1" dirty="0">
                <a:solidFill>
                  <a:srgbClr val="C8005A"/>
                </a:solidFill>
              </a:rPr>
              <a:t>Build, test and go live</a:t>
            </a:r>
            <a:endParaRPr lang="en-US" sz="1100" dirty="0"/>
          </a:p>
        </p:txBody>
      </p:sp>
      <p:sp>
        <p:nvSpPr>
          <p:cNvPr id="8" name="Shape 6"/>
          <p:cNvSpPr/>
          <p:nvPr/>
        </p:nvSpPr>
        <p:spPr>
          <a:xfrm>
            <a:off x="9905695" y="1728216"/>
            <a:ext cx="164592" cy="164592"/>
          </a:xfrm>
          <a:prstGeom prst="diamond">
            <a:avLst/>
          </a:prstGeom>
          <a:solidFill>
            <a:srgbClr val="000000"/>
          </a:solidFill>
          <a:ln w="12700">
            <a:solidFill>
              <a:srgbClr val="000000"/>
            </a:solidFill>
            <a:prstDash val="solid"/>
          </a:ln>
        </p:spPr>
      </p:sp>
      <p:sp>
        <p:nvSpPr>
          <p:cNvPr id="9" name="Text 7"/>
          <p:cNvSpPr txBox="1"/>
          <p:nvPr/>
        </p:nvSpPr>
        <p:spPr>
          <a:xfrm>
            <a:off x="10134295" y="1682496"/>
            <a:ext cx="1554480" cy="256032"/>
          </a:xfrm>
          <a:prstGeom prst="rect">
            <a:avLst/>
          </a:prstGeom>
          <a:noFill/>
          <a:ln/>
        </p:spPr>
        <p:txBody>
          <a:bodyPr wrap="square" lIns="0" tIns="0" rIns="0" bIns="0" rtlCol="0" anchor="ctr"/>
          <a:lstStyle/>
          <a:p>
            <a:pPr indent="0" marL="0">
              <a:buNone/>
            </a:pPr>
            <a:r>
              <a:rPr lang="en-US" sz="1100" dirty="0">
                <a:solidFill>
                  <a:srgbClr val="4D4D4D"/>
                </a:solidFill>
              </a:rPr>
              <a:t>Sprint-end milestone</a:t>
            </a:r>
            <a:endParaRPr lang="en-US" sz="1100" dirty="0"/>
          </a:p>
        </p:txBody>
      </p:sp>
      <p:sp>
        <p:nvSpPr>
          <p:cNvPr id="10" name="sprint-1"/>
          <p:cNvSpPr/>
          <p:nvPr/>
        </p:nvSpPr>
        <p:spPr>
          <a:xfrm>
            <a:off x="502920" y="2148840"/>
            <a:ext cx="2659304" cy="3017520"/>
          </a:xfrm>
          <a:prstGeom prst="roundRect">
            <a:avLst>
              <a:gd name="adj" fmla="val 4126"/>
            </a:avLst>
          </a:prstGeom>
          <a:solidFill>
            <a:srgbClr val="F2F2F2"/>
          </a:solidFill>
          <a:ln w="22225">
            <a:solidFill>
              <a:srgbClr val="00A9C0"/>
            </a:solidFill>
            <a:prstDash val="solid"/>
          </a:ln>
        </p:spPr>
      </p:sp>
      <p:sp>
        <p:nvSpPr>
          <p:cNvPr id="11" name="Text 9"/>
          <p:cNvSpPr txBox="1"/>
          <p:nvPr/>
        </p:nvSpPr>
        <p:spPr>
          <a:xfrm>
            <a:off x="704088" y="2331720"/>
            <a:ext cx="2256968" cy="256032"/>
          </a:xfrm>
          <a:prstGeom prst="rect">
            <a:avLst/>
          </a:prstGeom>
          <a:noFill/>
          <a:ln/>
        </p:spPr>
        <p:txBody>
          <a:bodyPr wrap="square" lIns="0" tIns="0" rIns="0" bIns="0" rtlCol="0" anchor="t"/>
          <a:lstStyle/>
          <a:p>
            <a:pPr indent="0" marL="0">
              <a:buNone/>
            </a:pPr>
            <a:r>
              <a:rPr lang="en-US" sz="1300" b="1" spc="200" kern="0" dirty="0">
                <a:solidFill>
                  <a:srgbClr val="007C8C"/>
                </a:solidFill>
              </a:rPr>
              <a:t>SPRINT 1</a:t>
            </a:r>
            <a:endParaRPr lang="en-US" sz="1300" dirty="0"/>
          </a:p>
        </p:txBody>
      </p:sp>
      <p:sp>
        <p:nvSpPr>
          <p:cNvPr id="12" name="Text 10"/>
          <p:cNvSpPr txBox="1"/>
          <p:nvPr/>
        </p:nvSpPr>
        <p:spPr>
          <a:xfrm>
            <a:off x="704088" y="2624328"/>
            <a:ext cx="2256968" cy="237744"/>
          </a:xfrm>
          <a:prstGeom prst="rect">
            <a:avLst/>
          </a:prstGeom>
          <a:noFill/>
          <a:ln/>
        </p:spPr>
        <p:txBody>
          <a:bodyPr wrap="square" lIns="0" tIns="0" rIns="0" bIns="0" rtlCol="0" anchor="t"/>
          <a:lstStyle/>
          <a:p>
            <a:pPr indent="0" marL="0">
              <a:buNone/>
            </a:pPr>
            <a:r>
              <a:rPr lang="en-US" sz="1200" dirty="0">
                <a:solidFill>
                  <a:srgbClr val="4D4D4D"/>
                </a:solidFill>
              </a:rPr>
              <a:t>Weeks 1-2</a:t>
            </a:r>
            <a:endParaRPr lang="en-US" sz="1200" dirty="0"/>
          </a:p>
        </p:txBody>
      </p:sp>
      <p:sp>
        <p:nvSpPr>
          <p:cNvPr id="13" name="Text 11"/>
          <p:cNvSpPr txBox="1"/>
          <p:nvPr/>
        </p:nvSpPr>
        <p:spPr>
          <a:xfrm>
            <a:off x="704088" y="3017520"/>
            <a:ext cx="2256968" cy="1417320"/>
          </a:xfrm>
          <a:prstGeom prst="rect">
            <a:avLst/>
          </a:prstGeom>
          <a:noFill/>
          <a:ln/>
        </p:spPr>
        <p:txBody>
          <a:bodyPr wrap="square" lIns="0" tIns="0" rIns="0" bIns="0" rtlCol="0" anchor="t"/>
          <a:lstStyle/>
          <a:p>
            <a:pPr indent="0" marL="0">
              <a:buNone/>
            </a:pPr>
            <a:r>
              <a:rPr lang="en-US" sz="1300" dirty="0">
                <a:solidFill>
                  <a:srgbClr val="000000"/>
                </a:solidFill>
              </a:rPr>
              <a:t>Walk through today’s Experience Cloud site, event objects and Certain setup. Design the conference extension; confirm Zoom or Teams.</a:t>
            </a:r>
            <a:endParaRPr lang="en-US" sz="1300" dirty="0"/>
          </a:p>
        </p:txBody>
      </p:sp>
      <p:sp>
        <p:nvSpPr>
          <p:cNvPr id="14" name="Shape 12"/>
          <p:cNvSpPr/>
          <p:nvPr/>
        </p:nvSpPr>
        <p:spPr>
          <a:xfrm>
            <a:off x="704088" y="4526280"/>
            <a:ext cx="2256968" cy="0"/>
          </a:xfrm>
          <a:prstGeom prst="line">
            <a:avLst/>
          </a:prstGeom>
          <a:noFill/>
          <a:ln w="9525">
            <a:solidFill>
              <a:srgbClr val="D0D0D6"/>
            </a:solidFill>
            <a:prstDash val="solid"/>
          </a:ln>
        </p:spPr>
      </p:sp>
      <p:sp>
        <p:nvSpPr>
          <p:cNvPr id="15" name="Shape 13"/>
          <p:cNvSpPr/>
          <p:nvPr/>
        </p:nvSpPr>
        <p:spPr>
          <a:xfrm>
            <a:off x="704088" y="4736592"/>
            <a:ext cx="164592" cy="164592"/>
          </a:xfrm>
          <a:prstGeom prst="diamond">
            <a:avLst/>
          </a:prstGeom>
          <a:solidFill>
            <a:srgbClr val="000000"/>
          </a:solidFill>
          <a:ln w="12700">
            <a:solidFill>
              <a:srgbClr val="000000"/>
            </a:solidFill>
            <a:prstDash val="solid"/>
          </a:ln>
        </p:spPr>
      </p:sp>
      <p:sp>
        <p:nvSpPr>
          <p:cNvPr id="16" name="Text 14"/>
          <p:cNvSpPr txBox="1"/>
          <p:nvPr/>
        </p:nvSpPr>
        <p:spPr>
          <a:xfrm>
            <a:off x="978408" y="4663440"/>
            <a:ext cx="1982648" cy="310896"/>
          </a:xfrm>
          <a:prstGeom prst="rect">
            <a:avLst/>
          </a:prstGeom>
          <a:noFill/>
          <a:ln/>
        </p:spPr>
        <p:txBody>
          <a:bodyPr wrap="square" lIns="0" tIns="0" rIns="0" bIns="0" rtlCol="0" anchor="ctr"/>
          <a:lstStyle/>
          <a:p>
            <a:pPr indent="0" marL="0">
              <a:buNone/>
            </a:pPr>
            <a:r>
              <a:rPr lang="en-US" sz="1250" b="1" dirty="0">
                <a:solidFill>
                  <a:srgbClr val="000000"/>
                </a:solidFill>
              </a:rPr>
              <a:t>Design sign-off</a:t>
            </a:r>
            <a:endParaRPr lang="en-US" sz="1250" dirty="0"/>
          </a:p>
        </p:txBody>
      </p:sp>
      <p:sp>
        <p:nvSpPr>
          <p:cNvPr id="17" name="sprint-2"/>
          <p:cNvSpPr/>
          <p:nvPr/>
        </p:nvSpPr>
        <p:spPr>
          <a:xfrm>
            <a:off x="3345104" y="2148840"/>
            <a:ext cx="2659304" cy="3017520"/>
          </a:xfrm>
          <a:prstGeom prst="roundRect">
            <a:avLst>
              <a:gd name="adj" fmla="val 4126"/>
            </a:avLst>
          </a:prstGeom>
          <a:solidFill>
            <a:srgbClr val="F2F2F2"/>
          </a:solidFill>
          <a:ln w="22225">
            <a:solidFill>
              <a:srgbClr val="FF0068"/>
            </a:solidFill>
            <a:prstDash val="solid"/>
          </a:ln>
        </p:spPr>
      </p:sp>
      <p:sp>
        <p:nvSpPr>
          <p:cNvPr id="18" name="Text 16"/>
          <p:cNvSpPr txBox="1"/>
          <p:nvPr/>
        </p:nvSpPr>
        <p:spPr>
          <a:xfrm>
            <a:off x="3546272" y="2331720"/>
            <a:ext cx="2256968" cy="256032"/>
          </a:xfrm>
          <a:prstGeom prst="rect">
            <a:avLst/>
          </a:prstGeom>
          <a:noFill/>
          <a:ln/>
        </p:spPr>
        <p:txBody>
          <a:bodyPr wrap="square" lIns="0" tIns="0" rIns="0" bIns="0" rtlCol="0" anchor="t"/>
          <a:lstStyle/>
          <a:p>
            <a:pPr indent="0" marL="0">
              <a:buNone/>
            </a:pPr>
            <a:r>
              <a:rPr lang="en-US" sz="1300" b="1" spc="200" kern="0" dirty="0">
                <a:solidFill>
                  <a:srgbClr val="C8005A"/>
                </a:solidFill>
              </a:rPr>
              <a:t>SPRINT 2</a:t>
            </a:r>
            <a:endParaRPr lang="en-US" sz="1300" dirty="0"/>
          </a:p>
        </p:txBody>
      </p:sp>
      <p:sp>
        <p:nvSpPr>
          <p:cNvPr id="19" name="Text 17"/>
          <p:cNvSpPr txBox="1"/>
          <p:nvPr/>
        </p:nvSpPr>
        <p:spPr>
          <a:xfrm>
            <a:off x="3546272" y="2624328"/>
            <a:ext cx="2256968" cy="237744"/>
          </a:xfrm>
          <a:prstGeom prst="rect">
            <a:avLst/>
          </a:prstGeom>
          <a:noFill/>
          <a:ln/>
        </p:spPr>
        <p:txBody>
          <a:bodyPr wrap="square" lIns="0" tIns="0" rIns="0" bIns="0" rtlCol="0" anchor="t"/>
          <a:lstStyle/>
          <a:p>
            <a:pPr indent="0" marL="0">
              <a:buNone/>
            </a:pPr>
            <a:r>
              <a:rPr lang="en-US" sz="1200" dirty="0">
                <a:solidFill>
                  <a:srgbClr val="4D4D4D"/>
                </a:solidFill>
              </a:rPr>
              <a:t>Weeks 3-4</a:t>
            </a:r>
            <a:endParaRPr lang="en-US" sz="1200" dirty="0"/>
          </a:p>
        </p:txBody>
      </p:sp>
      <p:sp>
        <p:nvSpPr>
          <p:cNvPr id="20" name="Text 18"/>
          <p:cNvSpPr txBox="1"/>
          <p:nvPr/>
        </p:nvSpPr>
        <p:spPr>
          <a:xfrm>
            <a:off x="3546272" y="3017520"/>
            <a:ext cx="2256968" cy="1417320"/>
          </a:xfrm>
          <a:prstGeom prst="rect">
            <a:avLst/>
          </a:prstGeom>
          <a:noFill/>
          <a:ln/>
        </p:spPr>
        <p:txBody>
          <a:bodyPr wrap="square" lIns="0" tIns="0" rIns="0" bIns="0" rtlCol="0" anchor="t"/>
          <a:lstStyle/>
          <a:p>
            <a:pPr indent="0" marL="0">
              <a:buNone/>
            </a:pPr>
            <a:r>
              <a:rPr lang="en-US" sz="1300" dirty="0">
                <a:solidFill>
                  <a:srgbClr val="000000"/>
                </a:solidFill>
              </a:rPr>
              <a:t>Conferences, sessions, tracks, rooms and speakers in Salesforce. Ticket types and pricing.</a:t>
            </a:r>
            <a:endParaRPr lang="en-US" sz="1300" dirty="0"/>
          </a:p>
        </p:txBody>
      </p:sp>
      <p:sp>
        <p:nvSpPr>
          <p:cNvPr id="21" name="Shape 19"/>
          <p:cNvSpPr/>
          <p:nvPr/>
        </p:nvSpPr>
        <p:spPr>
          <a:xfrm>
            <a:off x="3546272" y="4526280"/>
            <a:ext cx="2256968" cy="0"/>
          </a:xfrm>
          <a:prstGeom prst="line">
            <a:avLst/>
          </a:prstGeom>
          <a:noFill/>
          <a:ln w="9525">
            <a:solidFill>
              <a:srgbClr val="D0D0D6"/>
            </a:solidFill>
            <a:prstDash val="solid"/>
          </a:ln>
        </p:spPr>
      </p:sp>
      <p:sp>
        <p:nvSpPr>
          <p:cNvPr id="22" name="Shape 20"/>
          <p:cNvSpPr/>
          <p:nvPr/>
        </p:nvSpPr>
        <p:spPr>
          <a:xfrm>
            <a:off x="3546272" y="4736592"/>
            <a:ext cx="164592" cy="164592"/>
          </a:xfrm>
          <a:prstGeom prst="diamond">
            <a:avLst/>
          </a:prstGeom>
          <a:solidFill>
            <a:srgbClr val="000000"/>
          </a:solidFill>
          <a:ln w="12700">
            <a:solidFill>
              <a:srgbClr val="000000"/>
            </a:solidFill>
            <a:prstDash val="solid"/>
          </a:ln>
        </p:spPr>
      </p:sp>
      <p:sp>
        <p:nvSpPr>
          <p:cNvPr id="23" name="Text 21"/>
          <p:cNvSpPr txBox="1"/>
          <p:nvPr/>
        </p:nvSpPr>
        <p:spPr>
          <a:xfrm>
            <a:off x="3820592" y="4663440"/>
            <a:ext cx="1982648" cy="310896"/>
          </a:xfrm>
          <a:prstGeom prst="rect">
            <a:avLst/>
          </a:prstGeom>
          <a:noFill/>
          <a:ln/>
        </p:spPr>
        <p:txBody>
          <a:bodyPr wrap="square" lIns="0" tIns="0" rIns="0" bIns="0" rtlCol="0" anchor="ctr"/>
          <a:lstStyle/>
          <a:p>
            <a:pPr indent="0" marL="0">
              <a:buNone/>
            </a:pPr>
            <a:r>
              <a:rPr lang="en-US" sz="1250" b="1" dirty="0">
                <a:solidFill>
                  <a:srgbClr val="000000"/>
                </a:solidFill>
              </a:rPr>
              <a:t>Conference setup demo</a:t>
            </a:r>
            <a:endParaRPr lang="en-US" sz="1250" dirty="0"/>
          </a:p>
        </p:txBody>
      </p:sp>
      <p:sp>
        <p:nvSpPr>
          <p:cNvPr id="24" name="sprint-3"/>
          <p:cNvSpPr/>
          <p:nvPr/>
        </p:nvSpPr>
        <p:spPr>
          <a:xfrm>
            <a:off x="6187288" y="2148840"/>
            <a:ext cx="2659304" cy="3017520"/>
          </a:xfrm>
          <a:prstGeom prst="roundRect">
            <a:avLst>
              <a:gd name="adj" fmla="val 4126"/>
            </a:avLst>
          </a:prstGeom>
          <a:solidFill>
            <a:srgbClr val="F2F2F2"/>
          </a:solidFill>
          <a:ln w="22225">
            <a:solidFill>
              <a:srgbClr val="FF0068"/>
            </a:solidFill>
            <a:prstDash val="solid"/>
          </a:ln>
        </p:spPr>
      </p:sp>
      <p:sp>
        <p:nvSpPr>
          <p:cNvPr id="25" name="Text 23"/>
          <p:cNvSpPr txBox="1"/>
          <p:nvPr/>
        </p:nvSpPr>
        <p:spPr>
          <a:xfrm>
            <a:off x="6388456" y="2331720"/>
            <a:ext cx="2256968" cy="256032"/>
          </a:xfrm>
          <a:prstGeom prst="rect">
            <a:avLst/>
          </a:prstGeom>
          <a:noFill/>
          <a:ln/>
        </p:spPr>
        <p:txBody>
          <a:bodyPr wrap="square" lIns="0" tIns="0" rIns="0" bIns="0" rtlCol="0" anchor="t"/>
          <a:lstStyle/>
          <a:p>
            <a:pPr indent="0" marL="0">
              <a:buNone/>
            </a:pPr>
            <a:r>
              <a:rPr lang="en-US" sz="1300" b="1" spc="200" kern="0" dirty="0">
                <a:solidFill>
                  <a:srgbClr val="C8005A"/>
                </a:solidFill>
              </a:rPr>
              <a:t>SPRINT 3</a:t>
            </a:r>
            <a:endParaRPr lang="en-US" sz="1300" dirty="0"/>
          </a:p>
        </p:txBody>
      </p:sp>
      <p:sp>
        <p:nvSpPr>
          <p:cNvPr id="26" name="Text 24"/>
          <p:cNvSpPr txBox="1"/>
          <p:nvPr/>
        </p:nvSpPr>
        <p:spPr>
          <a:xfrm>
            <a:off x="6388456" y="2624328"/>
            <a:ext cx="2256968" cy="237744"/>
          </a:xfrm>
          <a:prstGeom prst="rect">
            <a:avLst/>
          </a:prstGeom>
          <a:noFill/>
          <a:ln/>
        </p:spPr>
        <p:txBody>
          <a:bodyPr wrap="square" lIns="0" tIns="0" rIns="0" bIns="0" rtlCol="0" anchor="t"/>
          <a:lstStyle/>
          <a:p>
            <a:pPr indent="0" marL="0">
              <a:buNone/>
            </a:pPr>
            <a:r>
              <a:rPr lang="en-US" sz="1200" dirty="0">
                <a:solidFill>
                  <a:srgbClr val="4D4D4D"/>
                </a:solidFill>
              </a:rPr>
              <a:t>Weeks 5-6</a:t>
            </a:r>
            <a:endParaRPr lang="en-US" sz="1200" dirty="0"/>
          </a:p>
        </p:txBody>
      </p:sp>
      <p:sp>
        <p:nvSpPr>
          <p:cNvPr id="27" name="Text 25"/>
          <p:cNvSpPr txBox="1"/>
          <p:nvPr/>
        </p:nvSpPr>
        <p:spPr>
          <a:xfrm>
            <a:off x="6388456" y="3017520"/>
            <a:ext cx="2256968" cy="1417320"/>
          </a:xfrm>
          <a:prstGeom prst="rect">
            <a:avLst/>
          </a:prstGeom>
          <a:noFill/>
          <a:ln/>
        </p:spPr>
        <p:txBody>
          <a:bodyPr wrap="square" lIns="0" tIns="0" rIns="0" bIns="0" rtlCol="0" anchor="t"/>
          <a:lstStyle/>
          <a:p>
            <a:pPr indent="0" marL="0">
              <a:buNone/>
            </a:pPr>
            <a:r>
              <a:rPr lang="en-US" sz="1300" dirty="0">
                <a:solidFill>
                  <a:srgbClr val="000000"/>
                </a:solidFill>
              </a:rPr>
              <a:t>My Agenda on the Experience Cloud site. Session seat limits and waitlists. Chase checkout and Zoom or Teams join links.</a:t>
            </a:r>
            <a:endParaRPr lang="en-US" sz="1300" dirty="0"/>
          </a:p>
        </p:txBody>
      </p:sp>
      <p:sp>
        <p:nvSpPr>
          <p:cNvPr id="28" name="Shape 26"/>
          <p:cNvSpPr/>
          <p:nvPr/>
        </p:nvSpPr>
        <p:spPr>
          <a:xfrm>
            <a:off x="6388456" y="4526280"/>
            <a:ext cx="2256968" cy="0"/>
          </a:xfrm>
          <a:prstGeom prst="line">
            <a:avLst/>
          </a:prstGeom>
          <a:noFill/>
          <a:ln w="9525">
            <a:solidFill>
              <a:srgbClr val="D0D0D6"/>
            </a:solidFill>
            <a:prstDash val="solid"/>
          </a:ln>
        </p:spPr>
      </p:sp>
      <p:sp>
        <p:nvSpPr>
          <p:cNvPr id="29" name="Shape 27"/>
          <p:cNvSpPr/>
          <p:nvPr/>
        </p:nvSpPr>
        <p:spPr>
          <a:xfrm>
            <a:off x="6388456" y="4736592"/>
            <a:ext cx="164592" cy="164592"/>
          </a:xfrm>
          <a:prstGeom prst="diamond">
            <a:avLst/>
          </a:prstGeom>
          <a:solidFill>
            <a:srgbClr val="000000"/>
          </a:solidFill>
          <a:ln w="12700">
            <a:solidFill>
              <a:srgbClr val="000000"/>
            </a:solidFill>
            <a:prstDash val="solid"/>
          </a:ln>
        </p:spPr>
      </p:sp>
      <p:sp>
        <p:nvSpPr>
          <p:cNvPr id="30" name="Text 28"/>
          <p:cNvSpPr txBox="1"/>
          <p:nvPr/>
        </p:nvSpPr>
        <p:spPr>
          <a:xfrm>
            <a:off x="6662776" y="4663440"/>
            <a:ext cx="1982648" cy="310896"/>
          </a:xfrm>
          <a:prstGeom prst="rect">
            <a:avLst/>
          </a:prstGeom>
          <a:noFill/>
          <a:ln/>
        </p:spPr>
        <p:txBody>
          <a:bodyPr wrap="square" lIns="0" tIns="0" rIns="0" bIns="0" rtlCol="0" anchor="ctr"/>
          <a:lstStyle/>
          <a:p>
            <a:pPr indent="0" marL="0">
              <a:buNone/>
            </a:pPr>
            <a:r>
              <a:rPr lang="en-US" sz="1250" b="1" dirty="0">
                <a:solidFill>
                  <a:srgbClr val="000000"/>
                </a:solidFill>
              </a:rPr>
              <a:t>Book and pay end to end</a:t>
            </a:r>
            <a:endParaRPr lang="en-US" sz="1250" dirty="0"/>
          </a:p>
        </p:txBody>
      </p:sp>
      <p:sp>
        <p:nvSpPr>
          <p:cNvPr id="31" name="sprint-4"/>
          <p:cNvSpPr/>
          <p:nvPr/>
        </p:nvSpPr>
        <p:spPr>
          <a:xfrm>
            <a:off x="9029471" y="2148840"/>
            <a:ext cx="2659304" cy="3017520"/>
          </a:xfrm>
          <a:prstGeom prst="roundRect">
            <a:avLst>
              <a:gd name="adj" fmla="val 4126"/>
            </a:avLst>
          </a:prstGeom>
          <a:solidFill>
            <a:srgbClr val="000000"/>
          </a:solidFill>
          <a:ln w="22225">
            <a:solidFill>
              <a:srgbClr val="FF0068"/>
            </a:solidFill>
            <a:prstDash val="solid"/>
          </a:ln>
        </p:spPr>
      </p:sp>
      <p:sp>
        <p:nvSpPr>
          <p:cNvPr id="32" name="Text 30"/>
          <p:cNvSpPr txBox="1"/>
          <p:nvPr/>
        </p:nvSpPr>
        <p:spPr>
          <a:xfrm>
            <a:off x="9230639" y="2331720"/>
            <a:ext cx="2256968" cy="256032"/>
          </a:xfrm>
          <a:prstGeom prst="rect">
            <a:avLst/>
          </a:prstGeom>
          <a:noFill/>
          <a:ln/>
        </p:spPr>
        <p:txBody>
          <a:bodyPr wrap="square" lIns="0" tIns="0" rIns="0" bIns="0" rtlCol="0" anchor="t"/>
          <a:lstStyle/>
          <a:p>
            <a:pPr indent="0" marL="0">
              <a:buNone/>
            </a:pPr>
            <a:r>
              <a:rPr lang="en-US" sz="1300" b="1" spc="200" kern="0" dirty="0">
                <a:solidFill>
                  <a:srgbClr val="FF0068"/>
                </a:solidFill>
              </a:rPr>
              <a:t>SPRINT 4</a:t>
            </a:r>
            <a:endParaRPr lang="en-US" sz="1300" dirty="0"/>
          </a:p>
        </p:txBody>
      </p:sp>
      <p:sp>
        <p:nvSpPr>
          <p:cNvPr id="33" name="Text 31"/>
          <p:cNvSpPr txBox="1"/>
          <p:nvPr/>
        </p:nvSpPr>
        <p:spPr>
          <a:xfrm>
            <a:off x="9230639" y="2624328"/>
            <a:ext cx="2256968" cy="237744"/>
          </a:xfrm>
          <a:prstGeom prst="rect">
            <a:avLst/>
          </a:prstGeom>
          <a:noFill/>
          <a:ln/>
        </p:spPr>
        <p:txBody>
          <a:bodyPr wrap="square" lIns="0" tIns="0" rIns="0" bIns="0" rtlCol="0" anchor="t"/>
          <a:lstStyle/>
          <a:p>
            <a:pPr indent="0" marL="0">
              <a:buNone/>
            </a:pPr>
            <a:r>
              <a:rPr lang="en-US" sz="1200" dirty="0">
                <a:solidFill>
                  <a:srgbClr val="D9D9D9"/>
                </a:solidFill>
              </a:rPr>
              <a:t>Weeks 7-8</a:t>
            </a:r>
            <a:endParaRPr lang="en-US" sz="1200" dirty="0"/>
          </a:p>
        </p:txBody>
      </p:sp>
      <p:sp>
        <p:nvSpPr>
          <p:cNvPr id="34" name="Text 32"/>
          <p:cNvSpPr txBox="1"/>
          <p:nvPr/>
        </p:nvSpPr>
        <p:spPr>
          <a:xfrm>
            <a:off x="9230639" y="3017520"/>
            <a:ext cx="2256968" cy="1417320"/>
          </a:xfrm>
          <a:prstGeom prst="rect">
            <a:avLst/>
          </a:prstGeom>
          <a:noFill/>
          <a:ln/>
        </p:spPr>
        <p:txBody>
          <a:bodyPr wrap="square" lIns="0" tIns="0" rIns="0" bIns="0" rtlCol="0" anchor="t"/>
          <a:lstStyle/>
          <a:p>
            <a:pPr indent="0" marL="0">
              <a:buNone/>
            </a:pPr>
            <a:r>
              <a:rPr lang="en-US" sz="1300" dirty="0">
                <a:solidFill>
                  <a:srgbClr val="FFFFFF"/>
                </a:solidFill>
              </a:rPr>
              <a:t>Badges, check-in and confirmations. Load and user testing. Go-live and hypercare.</a:t>
            </a:r>
            <a:endParaRPr lang="en-US" sz="1300" dirty="0"/>
          </a:p>
        </p:txBody>
      </p:sp>
      <p:sp>
        <p:nvSpPr>
          <p:cNvPr id="35" name="Shape 33"/>
          <p:cNvSpPr/>
          <p:nvPr/>
        </p:nvSpPr>
        <p:spPr>
          <a:xfrm>
            <a:off x="9230639" y="4526280"/>
            <a:ext cx="2256968" cy="0"/>
          </a:xfrm>
          <a:prstGeom prst="line">
            <a:avLst/>
          </a:prstGeom>
          <a:noFill/>
          <a:ln w="9525">
            <a:solidFill>
              <a:srgbClr val="555555"/>
            </a:solidFill>
            <a:prstDash val="solid"/>
          </a:ln>
        </p:spPr>
      </p:sp>
      <p:sp>
        <p:nvSpPr>
          <p:cNvPr id="36" name="Shape 34"/>
          <p:cNvSpPr/>
          <p:nvPr/>
        </p:nvSpPr>
        <p:spPr>
          <a:xfrm>
            <a:off x="9230639" y="4736592"/>
            <a:ext cx="164592" cy="164592"/>
          </a:xfrm>
          <a:prstGeom prst="diamond">
            <a:avLst/>
          </a:prstGeom>
          <a:solidFill>
            <a:srgbClr val="FF0068"/>
          </a:solidFill>
          <a:ln w="12700">
            <a:solidFill>
              <a:srgbClr val="FF0068"/>
            </a:solidFill>
            <a:prstDash val="solid"/>
          </a:ln>
        </p:spPr>
      </p:sp>
      <p:sp>
        <p:nvSpPr>
          <p:cNvPr id="37" name="Text 35"/>
          <p:cNvSpPr txBox="1"/>
          <p:nvPr/>
        </p:nvSpPr>
        <p:spPr>
          <a:xfrm>
            <a:off x="9504959" y="4663440"/>
            <a:ext cx="1982648" cy="310896"/>
          </a:xfrm>
          <a:prstGeom prst="rect">
            <a:avLst/>
          </a:prstGeom>
          <a:noFill/>
          <a:ln/>
        </p:spPr>
        <p:txBody>
          <a:bodyPr wrap="square" lIns="0" tIns="0" rIns="0" bIns="0" rtlCol="0" anchor="ctr"/>
          <a:lstStyle/>
          <a:p>
            <a:pPr indent="0" marL="0">
              <a:buNone/>
            </a:pPr>
            <a:r>
              <a:rPr lang="en-US" sz="1250" b="1" dirty="0">
                <a:solidFill>
                  <a:srgbClr val="FFFFFF"/>
                </a:solidFill>
              </a:rPr>
              <a:t>Live, Certain retired</a:t>
            </a:r>
            <a:endParaRPr lang="en-US" sz="1250" dirty="0"/>
          </a:p>
        </p:txBody>
      </p:sp>
      <p:sp>
        <p:nvSpPr>
          <p:cNvPr id="38" name="Text 36"/>
          <p:cNvSpPr txBox="1"/>
          <p:nvPr/>
        </p:nvSpPr>
        <p:spPr>
          <a:xfrm>
            <a:off x="502920" y="5440680"/>
            <a:ext cx="11185855" cy="292608"/>
          </a:xfrm>
          <a:prstGeom prst="rect">
            <a:avLst/>
          </a:prstGeom>
          <a:noFill/>
          <a:ln/>
        </p:spPr>
        <p:txBody>
          <a:bodyPr wrap="square" lIns="0" tIns="0" rIns="0" bIns="0" rtlCol="0" anchor="t"/>
          <a:lstStyle/>
          <a:p>
            <a:pPr indent="0" marL="0">
              <a:buNone/>
            </a:pPr>
            <a:r>
              <a:rPr lang="en-US" sz="1200" i="1" dirty="0">
                <a:solidFill>
                  <a:srgbClr val="4D4D4D"/>
                </a:solidFill>
              </a:rPr>
              <a:t>After go-live (week 9+): patient engagement initiatives, app adoption campaigns and AI agents, scoped separately.</a:t>
            </a:r>
            <a:endParaRPr lang="en-US" sz="1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 dedicated four-person delivery pod</a:t>
            </a:r>
            <a:endParaRPr lang="en-US" sz="3200" dirty="0"/>
          </a:p>
        </p:txBody>
      </p:sp>
      <p:sp>
        <p:nvSpPr>
          <p:cNvPr id="3" name="Shape 1"/>
          <p:cNvSpPr/>
          <p:nvPr/>
        </p:nvSpPr>
        <p:spPr>
          <a:xfrm>
            <a:off x="502920" y="1691640"/>
            <a:ext cx="4023360" cy="4069080"/>
          </a:xfrm>
          <a:prstGeom prst="triangle">
            <a:avLst/>
          </a:prstGeom>
          <a:solidFill>
            <a:srgbClr val="FF0068"/>
          </a:solidFill>
          <a:ln w="12700">
            <a:solidFill>
              <a:srgbClr val="FF0068"/>
            </a:solidFill>
            <a:prstDash val="solid"/>
          </a:ln>
        </p:spPr>
      </p:sp>
      <p:sp>
        <p:nvSpPr>
          <p:cNvPr id="4" name="Shape 2"/>
          <p:cNvSpPr/>
          <p:nvPr/>
        </p:nvSpPr>
        <p:spPr>
          <a:xfrm>
            <a:off x="1173480" y="1691640"/>
            <a:ext cx="2682240" cy="2712720"/>
          </a:xfrm>
          <a:prstGeom prst="triangle">
            <a:avLst/>
          </a:prstGeom>
          <a:solidFill>
            <a:srgbClr val="D9B200"/>
          </a:solidFill>
          <a:ln w="12700">
            <a:solidFill>
              <a:srgbClr val="D9B200"/>
            </a:solidFill>
            <a:prstDash val="solid"/>
          </a:ln>
        </p:spPr>
      </p:sp>
      <p:sp>
        <p:nvSpPr>
          <p:cNvPr id="5" name="Shape 3"/>
          <p:cNvSpPr/>
          <p:nvPr/>
        </p:nvSpPr>
        <p:spPr>
          <a:xfrm>
            <a:off x="1844040" y="1691640"/>
            <a:ext cx="1341120" cy="1356360"/>
          </a:xfrm>
          <a:prstGeom prst="triangle">
            <a:avLst/>
          </a:prstGeom>
          <a:solidFill>
            <a:srgbClr val="00A9C0"/>
          </a:solidFill>
          <a:ln w="12700">
            <a:solidFill>
              <a:srgbClr val="00A9C0"/>
            </a:solidFill>
            <a:prstDash val="solid"/>
          </a:ln>
        </p:spPr>
      </p:sp>
      <p:sp>
        <p:nvSpPr>
          <p:cNvPr id="6" name="Shape 4"/>
          <p:cNvSpPr/>
          <p:nvPr/>
        </p:nvSpPr>
        <p:spPr>
          <a:xfrm>
            <a:off x="1798320" y="3048000"/>
            <a:ext cx="1432560" cy="0"/>
          </a:xfrm>
          <a:prstGeom prst="line">
            <a:avLst/>
          </a:prstGeom>
          <a:noFill/>
          <a:ln w="63500">
            <a:solidFill>
              <a:srgbClr val="FFFFFF"/>
            </a:solidFill>
            <a:prstDash val="solid"/>
          </a:ln>
        </p:spPr>
      </p:sp>
      <p:sp>
        <p:nvSpPr>
          <p:cNvPr id="7" name="Shape 5"/>
          <p:cNvSpPr/>
          <p:nvPr/>
        </p:nvSpPr>
        <p:spPr>
          <a:xfrm>
            <a:off x="1127760" y="4404360"/>
            <a:ext cx="2773680" cy="0"/>
          </a:xfrm>
          <a:prstGeom prst="line">
            <a:avLst/>
          </a:prstGeom>
          <a:noFill/>
          <a:ln w="63500">
            <a:solidFill>
              <a:srgbClr val="FFFFFF"/>
            </a:solidFill>
            <a:prstDash val="solid"/>
          </a:ln>
        </p:spPr>
      </p:sp>
      <p:sp>
        <p:nvSpPr>
          <p:cNvPr id="8" name="Text 6"/>
          <p:cNvSpPr txBox="1"/>
          <p:nvPr/>
        </p:nvSpPr>
        <p:spPr>
          <a:xfrm>
            <a:off x="1965960" y="248107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9" name="Text 7"/>
          <p:cNvSpPr txBox="1"/>
          <p:nvPr/>
        </p:nvSpPr>
        <p:spPr>
          <a:xfrm>
            <a:off x="1965960" y="3745992"/>
            <a:ext cx="1097280" cy="548640"/>
          </a:xfrm>
          <a:prstGeom prst="rect">
            <a:avLst/>
          </a:prstGeom>
          <a:noFill/>
          <a:ln/>
        </p:spPr>
        <p:txBody>
          <a:bodyPr wrap="square" lIns="0" tIns="0" rIns="0" bIns="0" rtlCol="0" anchor="ctr"/>
          <a:lstStyle/>
          <a:p>
            <a:pPr algn="ctr" indent="0" marL="0">
              <a:buNone/>
            </a:pPr>
            <a:r>
              <a:rPr lang="en-US" sz="3200" dirty="0">
                <a:solidFill>
                  <a:srgbClr val="000000"/>
                </a:solidFill>
                <a:latin typeface="Trenda IG Text Light" pitchFamily="34" charset="0"/>
                <a:ea typeface="Trenda IG Text Light" pitchFamily="34" charset="-122"/>
                <a:cs typeface="Trenda IG Text Light" pitchFamily="34" charset="-120"/>
              </a:rPr>
              <a:t>1</a:t>
            </a:r>
            <a:endParaRPr lang="en-US" sz="3200" dirty="0"/>
          </a:p>
        </p:txBody>
      </p:sp>
      <p:sp>
        <p:nvSpPr>
          <p:cNvPr id="10" name="Text 8"/>
          <p:cNvSpPr txBox="1"/>
          <p:nvPr/>
        </p:nvSpPr>
        <p:spPr>
          <a:xfrm>
            <a:off x="1965960" y="5010912"/>
            <a:ext cx="1097280" cy="548640"/>
          </a:xfrm>
          <a:prstGeom prst="rect">
            <a:avLst/>
          </a:prstGeom>
          <a:noFill/>
          <a:ln/>
        </p:spPr>
        <p:txBody>
          <a:bodyPr wrap="square" lIns="0" tIns="0" rIns="0" bIns="0" rtlCol="0" anchor="ctr"/>
          <a:lstStyle/>
          <a:p>
            <a:pPr algn="ctr" indent="0" marL="0">
              <a:buNone/>
            </a:pPr>
            <a:r>
              <a:rPr lang="en-US" sz="3200" dirty="0">
                <a:solidFill>
                  <a:srgbClr val="FFFFFF"/>
                </a:solidFill>
                <a:latin typeface="Trenda IG Text Light" pitchFamily="34" charset="0"/>
                <a:ea typeface="Trenda IG Text Light" pitchFamily="34" charset="-122"/>
                <a:cs typeface="Trenda IG Text Light" pitchFamily="34" charset="-120"/>
              </a:rPr>
              <a:t>2</a:t>
            </a:r>
            <a:endParaRPr lang="en-US" sz="3200" dirty="0"/>
          </a:p>
        </p:txBody>
      </p:sp>
      <p:sp>
        <p:nvSpPr>
          <p:cNvPr id="11" name="Shape 9"/>
          <p:cNvSpPr/>
          <p:nvPr/>
        </p:nvSpPr>
        <p:spPr>
          <a:xfrm>
            <a:off x="2977280" y="2479548"/>
            <a:ext cx="1869040" cy="0"/>
          </a:xfrm>
          <a:prstGeom prst="line">
            <a:avLst/>
          </a:prstGeom>
          <a:noFill/>
          <a:ln w="12700">
            <a:solidFill>
              <a:srgbClr val="A0A0A8"/>
            </a:solidFill>
            <a:prstDash val="sysDot"/>
          </a:ln>
        </p:spPr>
      </p:sp>
      <p:sp>
        <p:nvSpPr>
          <p:cNvPr id="12" name="Shape 10"/>
          <p:cNvSpPr/>
          <p:nvPr/>
        </p:nvSpPr>
        <p:spPr>
          <a:xfrm>
            <a:off x="4846320" y="2433828"/>
            <a:ext cx="91440" cy="91440"/>
          </a:xfrm>
          <a:prstGeom prst="ellipse">
            <a:avLst/>
          </a:prstGeom>
          <a:solidFill>
            <a:srgbClr val="007C8C"/>
          </a:solidFill>
          <a:ln w="12700">
            <a:solidFill>
              <a:srgbClr val="007C8C"/>
            </a:solidFill>
            <a:prstDash val="solid"/>
          </a:ln>
        </p:spPr>
      </p:sp>
      <p:sp>
        <p:nvSpPr>
          <p:cNvPr id="13" name="Text 11"/>
          <p:cNvSpPr txBox="1"/>
          <p:nvPr/>
        </p:nvSpPr>
        <p:spPr>
          <a:xfrm>
            <a:off x="5029200" y="2095500"/>
            <a:ext cx="2926080" cy="201168"/>
          </a:xfrm>
          <a:prstGeom prst="rect">
            <a:avLst/>
          </a:prstGeom>
          <a:noFill/>
          <a:ln/>
        </p:spPr>
        <p:txBody>
          <a:bodyPr wrap="square" lIns="0" tIns="0" rIns="0" bIns="0" rtlCol="0" anchor="t"/>
          <a:lstStyle/>
          <a:p>
            <a:pPr indent="0" marL="0">
              <a:buNone/>
            </a:pPr>
            <a:r>
              <a:rPr lang="en-US" sz="950" b="1" spc="200" kern="0" dirty="0">
                <a:solidFill>
                  <a:srgbClr val="007C8C"/>
                </a:solidFill>
              </a:rPr>
              <a:t>LEAD</a:t>
            </a:r>
            <a:endParaRPr lang="en-US" sz="950" dirty="0"/>
          </a:p>
        </p:txBody>
      </p:sp>
      <p:sp>
        <p:nvSpPr>
          <p:cNvPr id="14" name="Text 12"/>
          <p:cNvSpPr txBox="1"/>
          <p:nvPr/>
        </p:nvSpPr>
        <p:spPr>
          <a:xfrm>
            <a:off x="5029200" y="2296668"/>
            <a:ext cx="2926080" cy="457200"/>
          </a:xfrm>
          <a:prstGeom prst="rect">
            <a:avLst/>
          </a:prstGeom>
          <a:noFill/>
          <a:ln/>
        </p:spPr>
        <p:txBody>
          <a:bodyPr wrap="square" lIns="0" tIns="0" rIns="0" bIns="0" rtlCol="0" anchor="t"/>
          <a:lstStyle/>
          <a:p>
            <a:pPr indent="0" marL="0">
              <a:buNone/>
            </a:pPr>
            <a:r>
              <a:rPr lang="en-US" sz="1300" b="1" dirty="0">
                <a:solidFill>
                  <a:srgbClr val="000000"/>
                </a:solidFill>
              </a:rPr>
              <a:t>Project Manager</a:t>
            </a:r>
            <a:endParaRPr lang="en-US" sz="1300" dirty="0"/>
          </a:p>
        </p:txBody>
      </p:sp>
      <p:sp>
        <p:nvSpPr>
          <p:cNvPr id="15" name="Text 13"/>
          <p:cNvSpPr txBox="1"/>
          <p:nvPr/>
        </p:nvSpPr>
        <p:spPr>
          <a:xfrm>
            <a:off x="5029200" y="2570988"/>
            <a:ext cx="2926080" cy="411480"/>
          </a:xfrm>
          <a:prstGeom prst="rect">
            <a:avLst/>
          </a:prstGeom>
          <a:noFill/>
          <a:ln/>
        </p:spPr>
        <p:txBody>
          <a:bodyPr wrap="square" lIns="0" tIns="0" rIns="0" bIns="0" rtlCol="0" anchor="t"/>
          <a:lstStyle/>
          <a:p>
            <a:pPr indent="0" marL="0">
              <a:buNone/>
            </a:pPr>
            <a:r>
              <a:rPr lang="en-US" sz="1050" dirty="0">
                <a:solidFill>
                  <a:srgbClr val="4D4D4D"/>
                </a:solidFill>
              </a:rPr>
              <a:t>Runs sprints, milestones, risks and status</a:t>
            </a:r>
            <a:endParaRPr lang="en-US" sz="1050" dirty="0"/>
          </a:p>
        </p:txBody>
      </p:sp>
      <p:sp>
        <p:nvSpPr>
          <p:cNvPr id="16" name="Shape 14"/>
          <p:cNvSpPr/>
          <p:nvPr/>
        </p:nvSpPr>
        <p:spPr>
          <a:xfrm>
            <a:off x="3593592" y="3726180"/>
            <a:ext cx="1252728" cy="0"/>
          </a:xfrm>
          <a:prstGeom prst="line">
            <a:avLst/>
          </a:prstGeom>
          <a:noFill/>
          <a:ln w="12700">
            <a:solidFill>
              <a:srgbClr val="A0A0A8"/>
            </a:solidFill>
            <a:prstDash val="sysDot"/>
          </a:ln>
        </p:spPr>
      </p:sp>
      <p:sp>
        <p:nvSpPr>
          <p:cNvPr id="17" name="Shape 15"/>
          <p:cNvSpPr/>
          <p:nvPr/>
        </p:nvSpPr>
        <p:spPr>
          <a:xfrm>
            <a:off x="4846320" y="3680460"/>
            <a:ext cx="91440" cy="91440"/>
          </a:xfrm>
          <a:prstGeom prst="ellipse">
            <a:avLst/>
          </a:prstGeom>
          <a:solidFill>
            <a:srgbClr val="7A6100"/>
          </a:solidFill>
          <a:ln w="12700">
            <a:solidFill>
              <a:srgbClr val="7A6100"/>
            </a:solidFill>
            <a:prstDash val="solid"/>
          </a:ln>
        </p:spPr>
      </p:sp>
      <p:sp>
        <p:nvSpPr>
          <p:cNvPr id="18" name="Text 16"/>
          <p:cNvSpPr txBox="1"/>
          <p:nvPr/>
        </p:nvSpPr>
        <p:spPr>
          <a:xfrm>
            <a:off x="5029200" y="3342132"/>
            <a:ext cx="2926080" cy="201168"/>
          </a:xfrm>
          <a:prstGeom prst="rect">
            <a:avLst/>
          </a:prstGeom>
          <a:noFill/>
          <a:ln/>
        </p:spPr>
        <p:txBody>
          <a:bodyPr wrap="square" lIns="0" tIns="0" rIns="0" bIns="0" rtlCol="0" anchor="t"/>
          <a:lstStyle/>
          <a:p>
            <a:pPr indent="0" marL="0">
              <a:buNone/>
            </a:pPr>
            <a:r>
              <a:rPr lang="en-US" sz="950" b="1" spc="200" kern="0" dirty="0">
                <a:solidFill>
                  <a:srgbClr val="7A6100"/>
                </a:solidFill>
              </a:rPr>
              <a:t>QUALITY</a:t>
            </a:r>
            <a:endParaRPr lang="en-US" sz="950" dirty="0"/>
          </a:p>
        </p:txBody>
      </p:sp>
      <p:sp>
        <p:nvSpPr>
          <p:cNvPr id="19" name="Text 17"/>
          <p:cNvSpPr txBox="1"/>
          <p:nvPr/>
        </p:nvSpPr>
        <p:spPr>
          <a:xfrm>
            <a:off x="5029200" y="354330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QA Engineer</a:t>
            </a:r>
            <a:endParaRPr lang="en-US" sz="1300" dirty="0"/>
          </a:p>
        </p:txBody>
      </p:sp>
      <p:sp>
        <p:nvSpPr>
          <p:cNvPr id="20" name="Text 18"/>
          <p:cNvSpPr txBox="1"/>
          <p:nvPr/>
        </p:nvSpPr>
        <p:spPr>
          <a:xfrm>
            <a:off x="5029200" y="3817620"/>
            <a:ext cx="2926080" cy="411480"/>
          </a:xfrm>
          <a:prstGeom prst="rect">
            <a:avLst/>
          </a:prstGeom>
          <a:noFill/>
          <a:ln/>
        </p:spPr>
        <p:txBody>
          <a:bodyPr wrap="square" lIns="0" tIns="0" rIns="0" bIns="0" rtlCol="0" anchor="t"/>
          <a:lstStyle/>
          <a:p>
            <a:pPr indent="0" marL="0">
              <a:buNone/>
            </a:pPr>
            <a:r>
              <a:rPr lang="en-US" sz="1050" dirty="0">
                <a:solidFill>
                  <a:srgbClr val="4D4D4D"/>
                </a:solidFill>
              </a:rPr>
              <a:t>Test plans, automation, load tests, user testing support</a:t>
            </a:r>
            <a:endParaRPr lang="en-US" sz="1050" dirty="0"/>
          </a:p>
        </p:txBody>
      </p:sp>
      <p:sp>
        <p:nvSpPr>
          <p:cNvPr id="21" name="Shape 19"/>
          <p:cNvSpPr/>
          <p:nvPr/>
        </p:nvSpPr>
        <p:spPr>
          <a:xfrm>
            <a:off x="4264152" y="5082540"/>
            <a:ext cx="582168" cy="0"/>
          </a:xfrm>
          <a:prstGeom prst="line">
            <a:avLst/>
          </a:prstGeom>
          <a:noFill/>
          <a:ln w="12700">
            <a:solidFill>
              <a:srgbClr val="A0A0A8"/>
            </a:solidFill>
            <a:prstDash val="sysDot"/>
          </a:ln>
        </p:spPr>
      </p:sp>
      <p:sp>
        <p:nvSpPr>
          <p:cNvPr id="22" name="Shape 20"/>
          <p:cNvSpPr/>
          <p:nvPr/>
        </p:nvSpPr>
        <p:spPr>
          <a:xfrm>
            <a:off x="4846320" y="5036820"/>
            <a:ext cx="91440" cy="91440"/>
          </a:xfrm>
          <a:prstGeom prst="ellipse">
            <a:avLst/>
          </a:prstGeom>
          <a:solidFill>
            <a:srgbClr val="C8005A"/>
          </a:solidFill>
          <a:ln w="12700">
            <a:solidFill>
              <a:srgbClr val="C8005A"/>
            </a:solidFill>
            <a:prstDash val="solid"/>
          </a:ln>
        </p:spPr>
      </p:sp>
      <p:sp>
        <p:nvSpPr>
          <p:cNvPr id="23" name="Text 21"/>
          <p:cNvSpPr txBox="1"/>
          <p:nvPr/>
        </p:nvSpPr>
        <p:spPr>
          <a:xfrm>
            <a:off x="5029200" y="4698492"/>
            <a:ext cx="2926080" cy="201168"/>
          </a:xfrm>
          <a:prstGeom prst="rect">
            <a:avLst/>
          </a:prstGeom>
          <a:noFill/>
          <a:ln/>
        </p:spPr>
        <p:txBody>
          <a:bodyPr wrap="square" lIns="0" tIns="0" rIns="0" bIns="0" rtlCol="0" anchor="t"/>
          <a:lstStyle/>
          <a:p>
            <a:pPr indent="0" marL="0">
              <a:buNone/>
            </a:pPr>
            <a:r>
              <a:rPr lang="en-US" sz="950" b="1" spc="200" kern="0" dirty="0">
                <a:solidFill>
                  <a:srgbClr val="C8005A"/>
                </a:solidFill>
              </a:rPr>
              <a:t>BUILD</a:t>
            </a:r>
            <a:endParaRPr lang="en-US" sz="950" dirty="0"/>
          </a:p>
        </p:txBody>
      </p:sp>
      <p:sp>
        <p:nvSpPr>
          <p:cNvPr id="24" name="Text 22"/>
          <p:cNvSpPr txBox="1"/>
          <p:nvPr/>
        </p:nvSpPr>
        <p:spPr>
          <a:xfrm>
            <a:off x="5029200" y="4899660"/>
            <a:ext cx="2926080" cy="457200"/>
          </a:xfrm>
          <a:prstGeom prst="rect">
            <a:avLst/>
          </a:prstGeom>
          <a:noFill/>
          <a:ln/>
        </p:spPr>
        <p:txBody>
          <a:bodyPr wrap="square" lIns="0" tIns="0" rIns="0" bIns="0" rtlCol="0" anchor="t"/>
          <a:lstStyle/>
          <a:p>
            <a:pPr indent="0" marL="0">
              <a:buNone/>
            </a:pPr>
            <a:r>
              <a:rPr lang="en-US" sz="1300" b="1" dirty="0">
                <a:solidFill>
                  <a:srgbClr val="000000"/>
                </a:solidFill>
              </a:rPr>
              <a:t>2 Developers: Salesforce and Marketing Cloud</a:t>
            </a:r>
            <a:endParaRPr lang="en-US" sz="1300" dirty="0"/>
          </a:p>
        </p:txBody>
      </p:sp>
      <p:sp>
        <p:nvSpPr>
          <p:cNvPr id="25" name="Text 23"/>
          <p:cNvSpPr txBox="1"/>
          <p:nvPr/>
        </p:nvSpPr>
        <p:spPr>
          <a:xfrm>
            <a:off x="5029200" y="5356860"/>
            <a:ext cx="2926080" cy="411480"/>
          </a:xfrm>
          <a:prstGeom prst="rect">
            <a:avLst/>
          </a:prstGeom>
          <a:noFill/>
          <a:ln/>
        </p:spPr>
        <p:txBody>
          <a:bodyPr wrap="square" lIns="0" tIns="0" rIns="0" bIns="0" rtlCol="0" anchor="t"/>
          <a:lstStyle/>
          <a:p>
            <a:pPr indent="0" marL="0">
              <a:buNone/>
            </a:pPr>
            <a:r>
              <a:rPr lang="en-US" sz="1050" dirty="0">
                <a:solidFill>
                  <a:srgbClr val="4D4D4D"/>
                </a:solidFill>
              </a:rPr>
              <a:t>Conference setup, registration, Chase, Zoom or Teams, emails</a:t>
            </a:r>
            <a:endParaRPr lang="en-US" sz="1050" dirty="0"/>
          </a:p>
        </p:txBody>
      </p:sp>
      <p:sp>
        <p:nvSpPr>
          <p:cNvPr id="26" name="Shape 24"/>
          <p:cNvSpPr/>
          <p:nvPr/>
        </p:nvSpPr>
        <p:spPr>
          <a:xfrm>
            <a:off x="8183880" y="1691640"/>
            <a:ext cx="3502152" cy="4069080"/>
          </a:xfrm>
          <a:prstGeom prst="roundRect">
            <a:avLst>
              <a:gd name="adj" fmla="val 3133"/>
            </a:avLst>
          </a:prstGeom>
          <a:solidFill>
            <a:srgbClr val="F2F2F2"/>
          </a:solidFill>
          <a:ln w="12700">
            <a:solidFill>
              <a:srgbClr val="D0D0D6"/>
            </a:solidFill>
            <a:prstDash val="solid"/>
          </a:ln>
        </p:spPr>
      </p:sp>
      <p:sp>
        <p:nvSpPr>
          <p:cNvPr id="27" name="Text 25"/>
          <p:cNvSpPr txBox="1"/>
          <p:nvPr/>
        </p:nvSpPr>
        <p:spPr>
          <a:xfrm>
            <a:off x="8366760" y="1828800"/>
            <a:ext cx="3136392" cy="292608"/>
          </a:xfrm>
          <a:prstGeom prst="rect">
            <a:avLst/>
          </a:prstGeom>
          <a:noFill/>
          <a:ln/>
        </p:spPr>
        <p:txBody>
          <a:bodyPr wrap="square" lIns="0" tIns="0" rIns="0" bIns="0" rtlCol="0" anchor="t"/>
          <a:lstStyle/>
          <a:p>
            <a:pPr indent="0" marL="0">
              <a:buNone/>
            </a:pPr>
            <a:r>
              <a:rPr lang="en-US" sz="1500" b="1" dirty="0">
                <a:solidFill>
                  <a:srgbClr val="000000"/>
                </a:solidFill>
              </a:rPr>
              <a:t>Every two-week sprint</a:t>
            </a:r>
            <a:endParaRPr lang="en-US" sz="1500" dirty="0"/>
          </a:p>
        </p:txBody>
      </p:sp>
      <p:sp>
        <p:nvSpPr>
          <p:cNvPr id="28" name="Shape 26"/>
          <p:cNvSpPr/>
          <p:nvPr/>
        </p:nvSpPr>
        <p:spPr>
          <a:xfrm>
            <a:off x="8366760" y="2286000"/>
            <a:ext cx="384048" cy="384048"/>
          </a:xfrm>
          <a:prstGeom prst="ellipse">
            <a:avLst/>
          </a:prstGeom>
          <a:solidFill>
            <a:srgbClr val="FFFFFF"/>
          </a:solidFill>
          <a:ln w="12700">
            <a:solidFill>
              <a:srgbClr val="C8C8CE"/>
            </a:solidFill>
            <a:prstDash val="solid"/>
          </a:ln>
        </p:spPr>
      </p:sp>
      <p:pic>
        <p:nvPicPr>
          <p:cNvPr id="29" name="Image 0" descr="preencoded.png">    </p:cNvPr>
          <p:cNvPicPr>
            <a:picLocks noChangeAspect="1"/>
          </p:cNvPicPr>
          <p:nvPr/>
        </p:nvPicPr>
        <p:blipFill>
          <a:blip r:embed="rId1"/>
          <a:stretch>
            <a:fillRect/>
          </a:stretch>
        </p:blipFill>
        <p:spPr>
          <a:xfrm>
            <a:off x="8467344" y="2386584"/>
            <a:ext cx="182880" cy="182880"/>
          </a:xfrm>
          <a:prstGeom prst="rect">
            <a:avLst/>
          </a:prstGeom>
        </p:spPr>
      </p:pic>
      <p:sp>
        <p:nvSpPr>
          <p:cNvPr id="30" name="Text 27"/>
          <p:cNvSpPr txBox="1"/>
          <p:nvPr/>
        </p:nvSpPr>
        <p:spPr>
          <a:xfrm>
            <a:off x="8869680" y="2267712"/>
            <a:ext cx="2633472" cy="219456"/>
          </a:xfrm>
          <a:prstGeom prst="rect">
            <a:avLst/>
          </a:prstGeom>
          <a:noFill/>
          <a:ln/>
        </p:spPr>
        <p:txBody>
          <a:bodyPr wrap="square" lIns="0" tIns="0" rIns="0" bIns="0" rtlCol="0" anchor="t"/>
          <a:lstStyle/>
          <a:p>
            <a:pPr indent="0" marL="0">
              <a:buNone/>
            </a:pPr>
            <a:r>
              <a:rPr lang="en-US" sz="1200" b="1" dirty="0">
                <a:solidFill>
                  <a:srgbClr val="000000"/>
                </a:solidFill>
              </a:rPr>
              <a:t>Plan</a:t>
            </a:r>
            <a:endParaRPr lang="en-US" sz="1200" dirty="0"/>
          </a:p>
        </p:txBody>
      </p:sp>
      <p:sp>
        <p:nvSpPr>
          <p:cNvPr id="31" name="Text 28"/>
          <p:cNvSpPr txBox="1"/>
          <p:nvPr/>
        </p:nvSpPr>
        <p:spPr>
          <a:xfrm>
            <a:off x="8869680" y="2487168"/>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planning with your product owner</a:t>
            </a:r>
            <a:endParaRPr lang="en-US" sz="1050" dirty="0"/>
          </a:p>
        </p:txBody>
      </p:sp>
      <p:sp>
        <p:nvSpPr>
          <p:cNvPr id="32" name="Shape 29"/>
          <p:cNvSpPr/>
          <p:nvPr/>
        </p:nvSpPr>
        <p:spPr>
          <a:xfrm>
            <a:off x="8366760" y="2944368"/>
            <a:ext cx="384048" cy="384048"/>
          </a:xfrm>
          <a:prstGeom prst="ellipse">
            <a:avLst/>
          </a:prstGeom>
          <a:solidFill>
            <a:srgbClr val="FFFFFF"/>
          </a:solidFill>
          <a:ln w="12700">
            <a:solidFill>
              <a:srgbClr val="C8C8CE"/>
            </a:solidFill>
            <a:prstDash val="solid"/>
          </a:ln>
        </p:spPr>
      </p:sp>
      <p:pic>
        <p:nvPicPr>
          <p:cNvPr id="33" name="Image 1" descr="preencoded.png">    </p:cNvPr>
          <p:cNvPicPr>
            <a:picLocks noChangeAspect="1"/>
          </p:cNvPicPr>
          <p:nvPr/>
        </p:nvPicPr>
        <p:blipFill>
          <a:blip r:embed="rId2"/>
          <a:stretch>
            <a:fillRect/>
          </a:stretch>
        </p:blipFill>
        <p:spPr>
          <a:xfrm>
            <a:off x="8467344" y="3044952"/>
            <a:ext cx="182880" cy="182880"/>
          </a:xfrm>
          <a:prstGeom prst="rect">
            <a:avLst/>
          </a:prstGeom>
        </p:spPr>
      </p:pic>
      <p:sp>
        <p:nvSpPr>
          <p:cNvPr id="34" name="Text 30"/>
          <p:cNvSpPr txBox="1"/>
          <p:nvPr/>
        </p:nvSpPr>
        <p:spPr>
          <a:xfrm>
            <a:off x="8869680" y="2926080"/>
            <a:ext cx="2633472" cy="219456"/>
          </a:xfrm>
          <a:prstGeom prst="rect">
            <a:avLst/>
          </a:prstGeom>
          <a:noFill/>
          <a:ln/>
        </p:spPr>
        <p:txBody>
          <a:bodyPr wrap="square" lIns="0" tIns="0" rIns="0" bIns="0" rtlCol="0" anchor="t"/>
          <a:lstStyle/>
          <a:p>
            <a:pPr indent="0" marL="0">
              <a:buNone/>
            </a:pPr>
            <a:r>
              <a:rPr lang="en-US" sz="1200" b="1" dirty="0">
                <a:solidFill>
                  <a:srgbClr val="000000"/>
                </a:solidFill>
              </a:rPr>
              <a:t>Build and test</a:t>
            </a:r>
            <a:endParaRPr lang="en-US" sz="1200" dirty="0"/>
          </a:p>
        </p:txBody>
      </p:sp>
      <p:sp>
        <p:nvSpPr>
          <p:cNvPr id="35" name="Text 31"/>
          <p:cNvSpPr txBox="1"/>
          <p:nvPr/>
        </p:nvSpPr>
        <p:spPr>
          <a:xfrm>
            <a:off x="8869680" y="3145536"/>
            <a:ext cx="2633472" cy="329184"/>
          </a:xfrm>
          <a:prstGeom prst="rect">
            <a:avLst/>
          </a:prstGeom>
          <a:noFill/>
          <a:ln/>
        </p:spPr>
        <p:txBody>
          <a:bodyPr wrap="square" lIns="0" tIns="0" rIns="0" bIns="0" rtlCol="0" anchor="t"/>
          <a:lstStyle/>
          <a:p>
            <a:pPr indent="0" marL="0">
              <a:buNone/>
            </a:pPr>
            <a:r>
              <a:rPr lang="en-US" sz="1050" dirty="0">
                <a:solidFill>
                  <a:srgbClr val="4D4D4D"/>
                </a:solidFill>
              </a:rPr>
              <a:t>Daily stand-ups; QA inside the sprint</a:t>
            </a:r>
            <a:endParaRPr lang="en-US" sz="1050" dirty="0"/>
          </a:p>
        </p:txBody>
      </p:sp>
      <p:sp>
        <p:nvSpPr>
          <p:cNvPr id="36" name="Shape 32"/>
          <p:cNvSpPr/>
          <p:nvPr/>
        </p:nvSpPr>
        <p:spPr>
          <a:xfrm>
            <a:off x="8366760" y="3602736"/>
            <a:ext cx="384048" cy="384048"/>
          </a:xfrm>
          <a:prstGeom prst="ellipse">
            <a:avLst/>
          </a:prstGeom>
          <a:solidFill>
            <a:srgbClr val="FFFFFF"/>
          </a:solidFill>
          <a:ln w="12700">
            <a:solidFill>
              <a:srgbClr val="C8C8CE"/>
            </a:solidFill>
            <a:prstDash val="solid"/>
          </a:ln>
        </p:spPr>
      </p:sp>
      <p:pic>
        <p:nvPicPr>
          <p:cNvPr id="37" name="Image 2" descr="preencoded.png">    </p:cNvPr>
          <p:cNvPicPr>
            <a:picLocks noChangeAspect="1"/>
          </p:cNvPicPr>
          <p:nvPr/>
        </p:nvPicPr>
        <p:blipFill>
          <a:blip r:embed="rId3"/>
          <a:stretch>
            <a:fillRect/>
          </a:stretch>
        </p:blipFill>
        <p:spPr>
          <a:xfrm>
            <a:off x="8467344" y="3703320"/>
            <a:ext cx="182880" cy="182880"/>
          </a:xfrm>
          <a:prstGeom prst="rect">
            <a:avLst/>
          </a:prstGeom>
        </p:spPr>
      </p:pic>
      <p:sp>
        <p:nvSpPr>
          <p:cNvPr id="38" name="Text 33"/>
          <p:cNvSpPr txBox="1"/>
          <p:nvPr/>
        </p:nvSpPr>
        <p:spPr>
          <a:xfrm>
            <a:off x="8869680" y="3584448"/>
            <a:ext cx="2633472" cy="219456"/>
          </a:xfrm>
          <a:prstGeom prst="rect">
            <a:avLst/>
          </a:prstGeom>
          <a:noFill/>
          <a:ln/>
        </p:spPr>
        <p:txBody>
          <a:bodyPr wrap="square" lIns="0" tIns="0" rIns="0" bIns="0" rtlCol="0" anchor="t"/>
          <a:lstStyle/>
          <a:p>
            <a:pPr indent="0" marL="0">
              <a:buNone/>
            </a:pPr>
            <a:r>
              <a:rPr lang="en-US" sz="1200" b="1" dirty="0">
                <a:solidFill>
                  <a:srgbClr val="000000"/>
                </a:solidFill>
              </a:rPr>
              <a:t>Demo</a:t>
            </a:r>
            <a:endParaRPr lang="en-US" sz="1200" dirty="0"/>
          </a:p>
        </p:txBody>
      </p:sp>
      <p:sp>
        <p:nvSpPr>
          <p:cNvPr id="39" name="Text 34"/>
          <p:cNvSpPr txBox="1"/>
          <p:nvPr/>
        </p:nvSpPr>
        <p:spPr>
          <a:xfrm>
            <a:off x="8869680" y="3803904"/>
            <a:ext cx="2633472" cy="329184"/>
          </a:xfrm>
          <a:prstGeom prst="rect">
            <a:avLst/>
          </a:prstGeom>
          <a:noFill/>
          <a:ln/>
        </p:spPr>
        <p:txBody>
          <a:bodyPr wrap="square" lIns="0" tIns="0" rIns="0" bIns="0" rtlCol="0" anchor="t"/>
          <a:lstStyle/>
          <a:p>
            <a:pPr indent="0" marL="0">
              <a:buNone/>
            </a:pPr>
            <a:r>
              <a:rPr lang="en-US" sz="1050" dirty="0">
                <a:solidFill>
                  <a:srgbClr val="4D4D4D"/>
                </a:solidFill>
              </a:rPr>
              <a:t>Sprint review and milestone sign-off</a:t>
            </a:r>
            <a:endParaRPr lang="en-US" sz="1050" dirty="0"/>
          </a:p>
        </p:txBody>
      </p:sp>
      <p:sp>
        <p:nvSpPr>
          <p:cNvPr id="40" name="Shape 35"/>
          <p:cNvSpPr/>
          <p:nvPr/>
        </p:nvSpPr>
        <p:spPr>
          <a:xfrm>
            <a:off x="8366760" y="4261104"/>
            <a:ext cx="384048" cy="384048"/>
          </a:xfrm>
          <a:prstGeom prst="ellipse">
            <a:avLst/>
          </a:prstGeom>
          <a:solidFill>
            <a:srgbClr val="FFFFFF"/>
          </a:solidFill>
          <a:ln w="12700">
            <a:solidFill>
              <a:srgbClr val="C8C8CE"/>
            </a:solidFill>
            <a:prstDash val="solid"/>
          </a:ln>
        </p:spPr>
      </p:sp>
      <p:pic>
        <p:nvPicPr>
          <p:cNvPr id="41" name="Image 3" descr="preencoded.png">    </p:cNvPr>
          <p:cNvPicPr>
            <a:picLocks noChangeAspect="1"/>
          </p:cNvPicPr>
          <p:nvPr/>
        </p:nvPicPr>
        <p:blipFill>
          <a:blip r:embed="rId4"/>
          <a:stretch>
            <a:fillRect/>
          </a:stretch>
        </p:blipFill>
        <p:spPr>
          <a:xfrm>
            <a:off x="8467344" y="4361688"/>
            <a:ext cx="182880" cy="182880"/>
          </a:xfrm>
          <a:prstGeom prst="rect">
            <a:avLst/>
          </a:prstGeom>
        </p:spPr>
      </p:pic>
      <p:sp>
        <p:nvSpPr>
          <p:cNvPr id="42" name="Text 36"/>
          <p:cNvSpPr txBox="1"/>
          <p:nvPr/>
        </p:nvSpPr>
        <p:spPr>
          <a:xfrm>
            <a:off x="8869680" y="4242816"/>
            <a:ext cx="2633472" cy="219456"/>
          </a:xfrm>
          <a:prstGeom prst="rect">
            <a:avLst/>
          </a:prstGeom>
          <a:noFill/>
          <a:ln/>
        </p:spPr>
        <p:txBody>
          <a:bodyPr wrap="square" lIns="0" tIns="0" rIns="0" bIns="0" rtlCol="0" anchor="t"/>
          <a:lstStyle/>
          <a:p>
            <a:pPr indent="0" marL="0">
              <a:buNone/>
            </a:pPr>
            <a:r>
              <a:rPr lang="en-US" sz="1200" b="1" dirty="0">
                <a:solidFill>
                  <a:srgbClr val="000000"/>
                </a:solidFill>
              </a:rPr>
              <a:t>Improve</a:t>
            </a:r>
            <a:endParaRPr lang="en-US" sz="1200" dirty="0"/>
          </a:p>
        </p:txBody>
      </p:sp>
      <p:sp>
        <p:nvSpPr>
          <p:cNvPr id="43" name="Text 37"/>
          <p:cNvSpPr txBox="1"/>
          <p:nvPr/>
        </p:nvSpPr>
        <p:spPr>
          <a:xfrm>
            <a:off x="8869680" y="4462272"/>
            <a:ext cx="2633472" cy="329184"/>
          </a:xfrm>
          <a:prstGeom prst="rect">
            <a:avLst/>
          </a:prstGeom>
          <a:noFill/>
          <a:ln/>
        </p:spPr>
        <p:txBody>
          <a:bodyPr wrap="square" lIns="0" tIns="0" rIns="0" bIns="0" rtlCol="0" anchor="t"/>
          <a:lstStyle/>
          <a:p>
            <a:pPr indent="0" marL="0">
              <a:buNone/>
            </a:pPr>
            <a:r>
              <a:rPr lang="en-US" sz="1050" dirty="0">
                <a:solidFill>
                  <a:srgbClr val="4D4D4D"/>
                </a:solidFill>
              </a:rPr>
              <a:t>Retrospective; adjust the next sprint</a:t>
            </a:r>
            <a:endParaRPr lang="en-US" sz="1050" dirty="0"/>
          </a:p>
        </p:txBody>
      </p:sp>
      <p:sp>
        <p:nvSpPr>
          <p:cNvPr id="44" name="Text 38"/>
          <p:cNvSpPr txBox="1"/>
          <p:nvPr/>
        </p:nvSpPr>
        <p:spPr>
          <a:xfrm>
            <a:off x="8366760" y="4956048"/>
            <a:ext cx="3136392" cy="201168"/>
          </a:xfrm>
          <a:prstGeom prst="rect">
            <a:avLst/>
          </a:prstGeom>
          <a:noFill/>
          <a:ln/>
        </p:spPr>
        <p:txBody>
          <a:bodyPr wrap="square" lIns="0" tIns="0" rIns="0" bIns="0" rtlCol="0" anchor="t"/>
          <a:lstStyle/>
          <a:p>
            <a:pPr indent="0" marL="0">
              <a:buNone/>
            </a:pPr>
            <a:r>
              <a:rPr lang="en-US" sz="900" b="1" spc="200" kern="0" dirty="0">
                <a:solidFill>
                  <a:srgbClr val="007C8C"/>
                </a:solidFill>
              </a:rPr>
              <a:t>FROM MEMORIAL HERMANN</a:t>
            </a:r>
            <a:endParaRPr lang="en-US" sz="900" dirty="0"/>
          </a:p>
        </p:txBody>
      </p:sp>
      <p:sp>
        <p:nvSpPr>
          <p:cNvPr id="45" name="Text 39"/>
          <p:cNvSpPr txBox="1"/>
          <p:nvPr/>
        </p:nvSpPr>
        <p:spPr>
          <a:xfrm>
            <a:off x="8366760" y="5175504"/>
            <a:ext cx="3090672" cy="457200"/>
          </a:xfrm>
          <a:prstGeom prst="rect">
            <a:avLst/>
          </a:prstGeom>
          <a:noFill/>
          <a:ln/>
        </p:spPr>
        <p:txBody>
          <a:bodyPr wrap="square" lIns="0" tIns="0" rIns="0" bIns="0" rtlCol="0" anchor="t"/>
          <a:lstStyle/>
          <a:p>
            <a:pPr indent="0" marL="0">
              <a:buNone/>
            </a:pPr>
            <a:r>
              <a:rPr lang="en-US" sz="1050" dirty="0">
                <a:solidFill>
                  <a:srgbClr val="000000"/>
                </a:solidFill>
              </a:rPr>
              <a:t>A product owner, plus an Epic and app contact from Lucky Rai’s team</a:t>
            </a:r>
            <a:endParaRPr lang="en-US" sz="1050" dirty="0"/>
          </a:p>
        </p:txBody>
      </p:sp>
      <p:sp>
        <p:nvSpPr>
          <p:cNvPr id="46" name="Text 40"/>
          <p:cNvSpPr txBox="1"/>
          <p:nvPr/>
        </p:nvSpPr>
        <p:spPr>
          <a:xfrm>
            <a:off x="502920" y="5897880"/>
            <a:ext cx="4023360" cy="274320"/>
          </a:xfrm>
          <a:prstGeom prst="rect">
            <a:avLst/>
          </a:prstGeom>
          <a:noFill/>
          <a:ln/>
        </p:spPr>
        <p:txBody>
          <a:bodyPr wrap="square" lIns="0" tIns="0" rIns="0" bIns="0" rtlCol="0" anchor="t"/>
          <a:lstStyle/>
          <a:p>
            <a:pPr algn="ctr" indent="0" marL="0">
              <a:buNone/>
            </a:pPr>
            <a:r>
              <a:rPr lang="en-US" sz="1300" b="1" dirty="0">
                <a:solidFill>
                  <a:srgbClr val="000000"/>
                </a:solidFill>
              </a:rPr>
              <a:t>4 people  ·  4 sprints  ·  8 weeks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914400" y="2743200"/>
            <a:ext cx="10362895" cy="1005840"/>
          </a:xfrm>
          <a:prstGeom prst="rect">
            <a:avLst/>
          </a:prstGeom>
          <a:noFill/>
          <a:ln/>
        </p:spPr>
        <p:txBody>
          <a:bodyPr wrap="square" lIns="0" tIns="0" rIns="0" bIns="0" rtlCol="0" anchor="ctr"/>
          <a:lstStyle/>
          <a:p>
            <a:pPr algn="ctr" indent="0" marL="0">
              <a:buNone/>
            </a:pPr>
            <a:r>
              <a:rPr lang="en-US" sz="4400" spc="600" kern="0" dirty="0">
                <a:solidFill>
                  <a:schemeClr val="bg1"/>
                </a:solidFill>
                <a:latin typeface="Trenda IG Text Light" pitchFamily="34" charset="0"/>
                <a:ea typeface="Trenda IG Text Light" pitchFamily="34" charset="-122"/>
                <a:cs typeface="Trenda IG Text Light" pitchFamily="34" charset="-120"/>
              </a:rPr>
              <a:t>03  BEYOND THE EVENT</a:t>
            </a:r>
            <a:endParaRPr lang="en-US" sz="4400" dirty="0"/>
          </a:p>
        </p:txBody>
      </p:sp>
      <p:sp>
        <p:nvSpPr>
          <p:cNvPr id="3" name="Text 0"/>
          <p:cNvSpPr/>
          <p:nvPr>
            <p:ph idx="101" type="body" hasCustomPrompt="1"/>
          </p:nvPr>
        </p:nvSpPr>
        <p:spPr>
          <a:xfrm>
            <a:off x="1371600" y="3840480"/>
            <a:ext cx="9448495" cy="548640"/>
          </a:xfrm>
          <a:prstGeom prst="rect">
            <a:avLst/>
          </a:prstGeom>
          <a:noFill/>
          <a:ln/>
        </p:spPr>
        <p:txBody>
          <a:bodyPr wrap="square" lIns="0" tIns="0" rIns="0" bIns="0" rtlCol="0"/>
          <a:lstStyle/>
          <a:p>
            <a:pPr algn="ctr" indent="0" marL="0">
              <a:buNone/>
            </a:pPr>
            <a:r>
              <a:rPr lang="en-US" sz="1800" dirty="0">
                <a:solidFill>
                  <a:schemeClr val="bg1"/>
                </a:solidFill>
              </a:rPr>
              <a:t>Turn every registration into a lasting relationship</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02920" y="2286000"/>
            <a:ext cx="5120640" cy="2377440"/>
          </a:xfrm>
          <a:prstGeom prst="rect">
            <a:avLst/>
          </a:prstGeom>
          <a:noFill/>
          <a:ln/>
        </p:spPr>
        <p:txBody>
          <a:bodyPr wrap="square" lIns="0" tIns="0" rIns="0" bIns="0" rtlCol="0" anchor="t"/>
          <a:lstStyle/>
          <a:p>
            <a:pPr indent="0" marL="0">
              <a:buNone/>
            </a:pPr>
            <a:r>
              <a:rPr lang="en-US" sz="3000" dirty="0">
                <a:solidFill>
                  <a:schemeClr val="bg1"/>
                </a:solidFill>
                <a:latin typeface="Trenda IG Text Light" pitchFamily="34" charset="0"/>
                <a:ea typeface="Trenda IG Text Light" pitchFamily="34" charset="-122"/>
                <a:cs typeface="Trenda IG Text Light" pitchFamily="34" charset="-120"/>
              </a:rPr>
              <a:t>Every registration tells you what a person cares about. Use it to bring them back and into the network.</a:t>
            </a:r>
            <a:endParaRPr lang="en-US" sz="3000" dirty="0"/>
          </a:p>
        </p:txBody>
      </p:sp>
      <p:sp>
        <p:nvSpPr>
          <p:cNvPr id="3" name="Text 1"/>
          <p:cNvSpPr txBox="1"/>
          <p:nvPr/>
        </p:nvSpPr>
        <p:spPr>
          <a:xfrm>
            <a:off x="598932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profile</a:t>
            </a:r>
            <a:endParaRPr lang="en-US" sz="3400" dirty="0"/>
          </a:p>
        </p:txBody>
      </p:sp>
      <p:sp>
        <p:nvSpPr>
          <p:cNvPr id="4" name="Text 2"/>
          <p:cNvSpPr txBox="1"/>
          <p:nvPr/>
        </p:nvSpPr>
        <p:spPr>
          <a:xfrm>
            <a:off x="598932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Every registrant, caregiver and provider in one Salesforce record</a:t>
            </a:r>
            <a:endParaRPr lang="en-US" sz="1400" dirty="0"/>
          </a:p>
        </p:txBody>
      </p:sp>
      <p:sp>
        <p:nvSpPr>
          <p:cNvPr id="5" name="Text 3"/>
          <p:cNvSpPr txBox="1"/>
          <p:nvPr/>
        </p:nvSpPr>
        <p:spPr>
          <a:xfrm>
            <a:off x="8915400" y="100584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4 PEIs</a:t>
            </a:r>
            <a:endParaRPr lang="en-US" sz="3400" dirty="0"/>
          </a:p>
        </p:txBody>
      </p:sp>
      <p:sp>
        <p:nvSpPr>
          <p:cNvPr id="6" name="Text 4"/>
          <p:cNvSpPr txBox="1"/>
          <p:nvPr/>
        </p:nvSpPr>
        <p:spPr>
          <a:xfrm>
            <a:off x="8915400" y="1874520"/>
            <a:ext cx="2514600" cy="914400"/>
          </a:xfrm>
          <a:prstGeom prst="rect">
            <a:avLst/>
          </a:prstGeom>
          <a:noFill/>
          <a:ln/>
        </p:spPr>
        <p:txBody>
          <a:bodyPr wrap="square" lIns="0" tIns="0" rIns="0" bIns="0" rtlCol="0" anchor="t"/>
          <a:lstStyle/>
          <a:p>
            <a:pPr indent="0" marL="0">
              <a:buNone/>
            </a:pPr>
            <a:r>
              <a:rPr lang="en-US" sz="1400" dirty="0">
                <a:solidFill>
                  <a:schemeClr val="bg1"/>
                </a:solidFill>
              </a:rPr>
              <a:t>Patient engagement initiatives after every class</a:t>
            </a:r>
            <a:endParaRPr lang="en-US" sz="1400" dirty="0"/>
          </a:p>
        </p:txBody>
      </p:sp>
      <p:sp>
        <p:nvSpPr>
          <p:cNvPr id="7" name="Text 5"/>
          <p:cNvSpPr txBox="1"/>
          <p:nvPr/>
        </p:nvSpPr>
        <p:spPr>
          <a:xfrm>
            <a:off x="598932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1 tap</a:t>
            </a:r>
            <a:endParaRPr lang="en-US" sz="3400" dirty="0"/>
          </a:p>
        </p:txBody>
      </p:sp>
      <p:sp>
        <p:nvSpPr>
          <p:cNvPr id="8" name="Text 6"/>
          <p:cNvSpPr txBox="1"/>
          <p:nvPr/>
        </p:nvSpPr>
        <p:spPr>
          <a:xfrm>
            <a:off x="598932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App download link at confirmation, check-in and follow-up</a:t>
            </a:r>
            <a:endParaRPr lang="en-US" sz="1400" dirty="0"/>
          </a:p>
        </p:txBody>
      </p:sp>
      <p:sp>
        <p:nvSpPr>
          <p:cNvPr id="9" name="Text 7"/>
          <p:cNvSpPr txBox="1"/>
          <p:nvPr/>
        </p:nvSpPr>
        <p:spPr>
          <a:xfrm>
            <a:off x="8915400" y="3337560"/>
            <a:ext cx="2834640" cy="77724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Closed loop</a:t>
            </a:r>
            <a:endParaRPr lang="en-US" sz="3400" dirty="0"/>
          </a:p>
        </p:txBody>
      </p:sp>
      <p:sp>
        <p:nvSpPr>
          <p:cNvPr id="10" name="Text 8"/>
          <p:cNvSpPr txBox="1"/>
          <p:nvPr/>
        </p:nvSpPr>
        <p:spPr>
          <a:xfrm>
            <a:off x="8915400" y="4206240"/>
            <a:ext cx="2514600" cy="914400"/>
          </a:xfrm>
          <a:prstGeom prst="rect">
            <a:avLst/>
          </a:prstGeom>
          <a:noFill/>
          <a:ln/>
        </p:spPr>
        <p:txBody>
          <a:bodyPr wrap="square" lIns="0" tIns="0" rIns="0" bIns="0" rtlCol="0" anchor="t"/>
          <a:lstStyle/>
          <a:p>
            <a:pPr indent="0" marL="0">
              <a:buNone/>
            </a:pPr>
            <a:r>
              <a:rPr lang="en-US" sz="1400" dirty="0">
                <a:solidFill>
                  <a:schemeClr val="bg1"/>
                </a:solidFill>
              </a:rPr>
              <a:t>From class attended to visit booked, measured end to end</a:t>
            </a:r>
            <a:endParaRPr lang="en-US" sz="1400" dirty="0"/>
          </a:p>
        </p:txBody>
      </p:sp>
      <p:sp>
        <p:nvSpPr>
          <p:cNvPr id="11" name="Text 9"/>
          <p:cNvSpPr txBox="1"/>
          <p:nvPr/>
        </p:nvSpPr>
        <p:spPr>
          <a:xfrm>
            <a:off x="502920" y="5669280"/>
            <a:ext cx="5120640" cy="320040"/>
          </a:xfrm>
          <a:prstGeom prst="rect">
            <a:avLst/>
          </a:prstGeom>
          <a:noFill/>
          <a:ln/>
        </p:spPr>
        <p:txBody>
          <a:bodyPr wrap="square" lIns="0" tIns="0" rIns="0" bIns="0" rtlCol="0" anchor="t"/>
          <a:lstStyle/>
          <a:p>
            <a:pPr indent="0" marL="0">
              <a:buNone/>
            </a:pPr>
            <a:r>
              <a:rPr lang="en-US" sz="1200" i="1" dirty="0">
                <a:solidFill>
                  <a:srgbClr val="BFBFBF"/>
                </a:solidFill>
              </a:rPr>
              <a:t>Consent-based: messages go only to people who opt in at registration.</a:t>
            </a:r>
            <a:endParaRPr lang="en-US" sz="1200" dirty="0"/>
          </a:p>
        </p:txBody>
      </p:sp>
      <p:sp>
        <p:nvSpPr>
          <p:cNvPr id="13"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endParaRPr lang="en-US" sz="32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After the class: patient engagement initiatives (PEIs)</a:t>
            </a:r>
            <a:endParaRPr lang="en-US" sz="3200" dirty="0"/>
          </a:p>
        </p:txBody>
      </p:sp>
      <p:pic>
        <p:nvPicPr>
          <p:cNvPr id="3" name="05-marketing-journey.png" descr="/home/user/presales_memorial-hermann/deck/mockups/png/05-marketing-journey.png">    </p:cNvPr>
          <p:cNvPicPr>
            <a:picLocks noChangeAspect="1"/>
          </p:cNvPicPr>
          <p:nvPr/>
        </p:nvPicPr>
        <p:blipFill>
          <a:blip r:embed="rId1"/>
          <a:stretch>
            <a:fillRect/>
          </a:stretch>
        </p:blipFill>
        <p:spPr>
          <a:xfrm>
            <a:off x="502920" y="1600200"/>
            <a:ext cx="11183112" cy="4471416"/>
          </a:xfrm>
          <a:prstGeom prst="rect">
            <a:avLst/>
          </a:prstGeom>
          <a:effectLst>
            <a:outerShdw sx="100000" sy="100000" kx="0" ky="0" algn="bl" rotWithShape="0" blurRad="101600" dist="25400" dir="5400000">
              <a:srgbClr val="000000">
                <a:alpha val="25000"/>
              </a:srgbClr>
            </a:outerShdw>
          </a:effectLst>
        </p:spPr>
      </p:pic>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Campaigns built from registration data</a:t>
            </a:r>
            <a:endParaRPr lang="en-US" sz="3200" dirty="0"/>
          </a:p>
        </p:txBody>
      </p:sp>
      <p:sp>
        <p:nvSpPr>
          <p:cNvPr id="3" name="Text 1"/>
          <p:cNvSpPr txBox="1"/>
          <p:nvPr/>
        </p:nvSpPr>
        <p:spPr>
          <a:xfrm>
            <a:off x="576072" y="1554480"/>
            <a:ext cx="2459736" cy="384048"/>
          </a:xfrm>
          <a:prstGeom prst="rect">
            <a:avLst/>
          </a:prstGeom>
          <a:noFill/>
          <a:ln/>
        </p:spPr>
        <p:txBody>
          <a:bodyPr wrap="square" lIns="0" tIns="0" rIns="0" bIns="0" rtlCol="0" anchor="b"/>
          <a:lstStyle/>
          <a:p>
            <a:pPr indent="0" marL="0">
              <a:buNone/>
            </a:pPr>
            <a:r>
              <a:rPr lang="en-US" sz="1500" b="1" dirty="0">
                <a:solidFill>
                  <a:schemeClr val="tx1"/>
                </a:solidFill>
              </a:rPr>
              <a:t>After this class</a:t>
            </a:r>
            <a:endParaRPr lang="en-US" sz="1500" dirty="0"/>
          </a:p>
        </p:txBody>
      </p:sp>
      <p:sp>
        <p:nvSpPr>
          <p:cNvPr id="4" name="Text 2"/>
          <p:cNvSpPr txBox="1"/>
          <p:nvPr/>
        </p:nvSpPr>
        <p:spPr>
          <a:xfrm>
            <a:off x="3182112" y="1554480"/>
            <a:ext cx="4608576" cy="384048"/>
          </a:xfrm>
          <a:prstGeom prst="rect">
            <a:avLst/>
          </a:prstGeom>
          <a:noFill/>
          <a:ln/>
        </p:spPr>
        <p:txBody>
          <a:bodyPr wrap="square" lIns="0" tIns="0" rIns="0" bIns="0" rtlCol="0" anchor="b"/>
          <a:lstStyle/>
          <a:p>
            <a:pPr indent="0" marL="0">
              <a:buNone/>
            </a:pPr>
            <a:r>
              <a:rPr lang="en-US" sz="1500" b="1" dirty="0">
                <a:solidFill>
                  <a:schemeClr val="tx1"/>
                </a:solidFill>
              </a:rPr>
              <a:t>Follow-up PEIs</a:t>
            </a:r>
            <a:endParaRPr lang="en-US" sz="1500" dirty="0"/>
          </a:p>
        </p:txBody>
      </p:sp>
      <p:sp>
        <p:nvSpPr>
          <p:cNvPr id="5" name="Text 3"/>
          <p:cNvSpPr txBox="1"/>
          <p:nvPr/>
        </p:nvSpPr>
        <p:spPr>
          <a:xfrm>
            <a:off x="7936992" y="1554480"/>
            <a:ext cx="3675888" cy="384048"/>
          </a:xfrm>
          <a:prstGeom prst="rect">
            <a:avLst/>
          </a:prstGeom>
          <a:noFill/>
          <a:ln/>
        </p:spPr>
        <p:txBody>
          <a:bodyPr wrap="square" lIns="0" tIns="0" rIns="0" bIns="0" rtlCol="0" anchor="b"/>
          <a:lstStyle/>
          <a:p>
            <a:pPr indent="0" marL="0">
              <a:buNone/>
            </a:pPr>
            <a:r>
              <a:rPr lang="en-US" sz="1500" b="1" dirty="0">
                <a:solidFill>
                  <a:schemeClr val="tx1"/>
                </a:solidFill>
              </a:rPr>
              <a:t>Network outcome</a:t>
            </a:r>
            <a:endParaRPr lang="en-US" sz="1500" dirty="0"/>
          </a:p>
        </p:txBody>
      </p:sp>
      <p:sp>
        <p:nvSpPr>
          <p:cNvPr id="6" name="Shape 4"/>
          <p:cNvSpPr/>
          <p:nvPr/>
        </p:nvSpPr>
        <p:spPr>
          <a:xfrm>
            <a:off x="502920" y="2011680"/>
            <a:ext cx="11183112" cy="0"/>
          </a:xfrm>
          <a:prstGeom prst="line">
            <a:avLst/>
          </a:prstGeom>
          <a:noFill/>
          <a:ln w="19050">
            <a:solidFill>
              <a:schemeClr val="tx1"/>
            </a:solidFill>
            <a:prstDash val="solid"/>
          </a:ln>
        </p:spPr>
      </p:sp>
      <p:sp>
        <p:nvSpPr>
          <p:cNvPr id="7" name="Text 5"/>
          <p:cNvSpPr txBox="1"/>
          <p:nvPr/>
        </p:nvSpPr>
        <p:spPr>
          <a:xfrm>
            <a:off x="576072" y="2084832"/>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Labor and delivery prep</a:t>
            </a:r>
            <a:endParaRPr lang="en-US" sz="1300" dirty="0"/>
          </a:p>
        </p:txBody>
      </p:sp>
      <p:sp>
        <p:nvSpPr>
          <p:cNvPr id="8" name="Text 6"/>
          <p:cNvSpPr txBox="1"/>
          <p:nvPr/>
        </p:nvSpPr>
        <p:spPr>
          <a:xfrm>
            <a:off x="3182112" y="2084832"/>
            <a:ext cx="4608576" cy="603504"/>
          </a:xfrm>
          <a:prstGeom prst="rect">
            <a:avLst/>
          </a:prstGeom>
          <a:noFill/>
          <a:ln/>
        </p:spPr>
        <p:txBody>
          <a:bodyPr wrap="square" lIns="0" tIns="0" rIns="0" bIns="0" rtlCol="0" anchor="ctr"/>
          <a:lstStyle/>
          <a:p>
            <a:pPr indent="0" marL="0">
              <a:buNone/>
            </a:pPr>
            <a:r>
              <a:rPr lang="en-US" sz="1300" dirty="0">
                <a:solidFill>
                  <a:srgbClr val="4D4D4D"/>
                </a:solidFill>
              </a:rPr>
              <a:t>Breastfeeding and newborn classes, choose a pediatrician</a:t>
            </a:r>
            <a:endParaRPr lang="en-US" sz="1300" dirty="0"/>
          </a:p>
        </p:txBody>
      </p:sp>
      <p:sp>
        <p:nvSpPr>
          <p:cNvPr id="9" name="Text 7"/>
          <p:cNvSpPr txBox="1"/>
          <p:nvPr/>
        </p:nvSpPr>
        <p:spPr>
          <a:xfrm>
            <a:off x="7936992" y="2084832"/>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at Memorial Hermann, new pediatric patients</a:t>
            </a:r>
            <a:endParaRPr lang="en-US" sz="1300" dirty="0"/>
          </a:p>
        </p:txBody>
      </p:sp>
      <p:sp>
        <p:nvSpPr>
          <p:cNvPr id="10" name="Shape 8"/>
          <p:cNvSpPr/>
          <p:nvPr/>
        </p:nvSpPr>
        <p:spPr>
          <a:xfrm>
            <a:off x="502920" y="2724912"/>
            <a:ext cx="11183112" cy="0"/>
          </a:xfrm>
          <a:prstGeom prst="line">
            <a:avLst/>
          </a:prstGeom>
          <a:noFill/>
          <a:ln w="9525">
            <a:solidFill>
              <a:srgbClr val="8C8C8C"/>
            </a:solidFill>
            <a:prstDash val="sysDot"/>
          </a:ln>
        </p:spPr>
      </p:sp>
      <p:sp>
        <p:nvSpPr>
          <p:cNvPr id="11" name="Text 9"/>
          <p:cNvSpPr txBox="1"/>
          <p:nvPr/>
        </p:nvSpPr>
        <p:spPr>
          <a:xfrm>
            <a:off x="576072" y="2798064"/>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Maternity hospital tour</a:t>
            </a:r>
            <a:endParaRPr lang="en-US" sz="1300" dirty="0"/>
          </a:p>
        </p:txBody>
      </p:sp>
      <p:sp>
        <p:nvSpPr>
          <p:cNvPr id="12" name="Text 10"/>
          <p:cNvSpPr txBox="1"/>
          <p:nvPr/>
        </p:nvSpPr>
        <p:spPr>
          <a:xfrm>
            <a:off x="3182112" y="2798064"/>
            <a:ext cx="4608576" cy="603504"/>
          </a:xfrm>
          <a:prstGeom prst="rect">
            <a:avLst/>
          </a:prstGeom>
          <a:noFill/>
          <a:ln/>
        </p:spPr>
        <p:txBody>
          <a:bodyPr wrap="square" lIns="0" tIns="0" rIns="0" bIns="0" rtlCol="0" anchor="ctr"/>
          <a:lstStyle/>
          <a:p>
            <a:pPr indent="0" marL="0">
              <a:buNone/>
            </a:pPr>
            <a:r>
              <a:rPr lang="en-US" sz="1300" dirty="0">
                <a:solidFill>
                  <a:srgbClr val="4D4D4D"/>
                </a:solidFill>
              </a:rPr>
              <a:t>Pre-register for delivery, prenatal class bundle</a:t>
            </a:r>
            <a:endParaRPr lang="en-US" sz="1300" dirty="0"/>
          </a:p>
        </p:txBody>
      </p:sp>
      <p:sp>
        <p:nvSpPr>
          <p:cNvPr id="13" name="Text 11"/>
          <p:cNvSpPr txBox="1"/>
          <p:nvPr/>
        </p:nvSpPr>
        <p:spPr>
          <a:xfrm>
            <a:off x="7936992" y="2798064"/>
            <a:ext cx="3675888" cy="603504"/>
          </a:xfrm>
          <a:prstGeom prst="rect">
            <a:avLst/>
          </a:prstGeom>
          <a:noFill/>
          <a:ln/>
        </p:spPr>
        <p:txBody>
          <a:bodyPr wrap="square" lIns="0" tIns="0" rIns="0" bIns="0" rtlCol="0" anchor="ctr"/>
          <a:lstStyle/>
          <a:p>
            <a:pPr indent="0" marL="0">
              <a:buNone/>
            </a:pPr>
            <a:r>
              <a:rPr lang="en-US" sz="1300" dirty="0">
                <a:solidFill>
                  <a:srgbClr val="4D4D4D"/>
                </a:solidFill>
              </a:rPr>
              <a:t>Delivery booked at Memorial Hermann</a:t>
            </a:r>
            <a:endParaRPr lang="en-US" sz="1300" dirty="0"/>
          </a:p>
        </p:txBody>
      </p:sp>
      <p:sp>
        <p:nvSpPr>
          <p:cNvPr id="14" name="Shape 12"/>
          <p:cNvSpPr/>
          <p:nvPr/>
        </p:nvSpPr>
        <p:spPr>
          <a:xfrm>
            <a:off x="502920" y="3438144"/>
            <a:ext cx="11183112" cy="0"/>
          </a:xfrm>
          <a:prstGeom prst="line">
            <a:avLst/>
          </a:prstGeom>
          <a:noFill/>
          <a:ln w="9525">
            <a:solidFill>
              <a:srgbClr val="8C8C8C"/>
            </a:solidFill>
            <a:prstDash val="sysDot"/>
          </a:ln>
        </p:spPr>
      </p:sp>
      <p:sp>
        <p:nvSpPr>
          <p:cNvPr id="15" name="Text 13"/>
          <p:cNvSpPr txBox="1"/>
          <p:nvPr/>
        </p:nvSpPr>
        <p:spPr>
          <a:xfrm>
            <a:off x="576072" y="3511296"/>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CPR and first aid</a:t>
            </a:r>
            <a:endParaRPr lang="en-US" sz="1300" dirty="0"/>
          </a:p>
        </p:txBody>
      </p:sp>
      <p:sp>
        <p:nvSpPr>
          <p:cNvPr id="16" name="Text 14"/>
          <p:cNvSpPr txBox="1"/>
          <p:nvPr/>
        </p:nvSpPr>
        <p:spPr>
          <a:xfrm>
            <a:off x="3182112" y="3511296"/>
            <a:ext cx="4608576" cy="603504"/>
          </a:xfrm>
          <a:prstGeom prst="rect">
            <a:avLst/>
          </a:prstGeom>
          <a:noFill/>
          <a:ln/>
        </p:spPr>
        <p:txBody>
          <a:bodyPr wrap="square" lIns="0" tIns="0" rIns="0" bIns="0" rtlCol="0" anchor="ctr"/>
          <a:lstStyle/>
          <a:p>
            <a:pPr indent="0" marL="0">
              <a:buNone/>
            </a:pPr>
            <a:r>
              <a:rPr lang="en-US" sz="1300" dirty="0">
                <a:solidFill>
                  <a:srgbClr val="4D4D4D"/>
                </a:solidFill>
              </a:rPr>
              <a:t>Heart health seminar, free screening invitation</a:t>
            </a:r>
            <a:endParaRPr lang="en-US" sz="1300" dirty="0"/>
          </a:p>
        </p:txBody>
      </p:sp>
      <p:sp>
        <p:nvSpPr>
          <p:cNvPr id="17" name="Text 15"/>
          <p:cNvSpPr txBox="1"/>
          <p:nvPr/>
        </p:nvSpPr>
        <p:spPr>
          <a:xfrm>
            <a:off x="7936992" y="3511296"/>
            <a:ext cx="3675888" cy="603504"/>
          </a:xfrm>
          <a:prstGeom prst="rect">
            <a:avLst/>
          </a:prstGeom>
          <a:noFill/>
          <a:ln/>
        </p:spPr>
        <p:txBody>
          <a:bodyPr wrap="square" lIns="0" tIns="0" rIns="0" bIns="0" rtlCol="0" anchor="ctr"/>
          <a:lstStyle/>
          <a:p>
            <a:pPr indent="0" marL="0">
              <a:buNone/>
            </a:pPr>
            <a:r>
              <a:rPr lang="en-US" sz="1300" dirty="0">
                <a:solidFill>
                  <a:srgbClr val="4D4D4D"/>
                </a:solidFill>
              </a:rPr>
              <a:t>Primary care and cardiology visits</a:t>
            </a:r>
            <a:endParaRPr lang="en-US" sz="1300" dirty="0"/>
          </a:p>
        </p:txBody>
      </p:sp>
      <p:sp>
        <p:nvSpPr>
          <p:cNvPr id="18" name="Shape 16"/>
          <p:cNvSpPr/>
          <p:nvPr/>
        </p:nvSpPr>
        <p:spPr>
          <a:xfrm>
            <a:off x="502920" y="4151376"/>
            <a:ext cx="11183112" cy="0"/>
          </a:xfrm>
          <a:prstGeom prst="line">
            <a:avLst/>
          </a:prstGeom>
          <a:noFill/>
          <a:ln w="9525">
            <a:solidFill>
              <a:srgbClr val="8C8C8C"/>
            </a:solidFill>
            <a:prstDash val="sysDot"/>
          </a:ln>
        </p:spPr>
      </p:sp>
      <p:sp>
        <p:nvSpPr>
          <p:cNvPr id="19" name="Text 17"/>
          <p:cNvSpPr txBox="1"/>
          <p:nvPr/>
        </p:nvSpPr>
        <p:spPr>
          <a:xfrm>
            <a:off x="576072" y="4224528"/>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Support groups and seminars</a:t>
            </a:r>
            <a:endParaRPr lang="en-US" sz="1300" dirty="0"/>
          </a:p>
        </p:txBody>
      </p:sp>
      <p:sp>
        <p:nvSpPr>
          <p:cNvPr id="20" name="Text 18"/>
          <p:cNvSpPr txBox="1"/>
          <p:nvPr/>
        </p:nvSpPr>
        <p:spPr>
          <a:xfrm>
            <a:off x="3182112" y="4224528"/>
            <a:ext cx="4608576" cy="603504"/>
          </a:xfrm>
          <a:prstGeom prst="rect">
            <a:avLst/>
          </a:prstGeom>
          <a:noFill/>
          <a:ln/>
        </p:spPr>
        <p:txBody>
          <a:bodyPr wrap="square" lIns="0" tIns="0" rIns="0" bIns="0" rtlCol="0" anchor="ctr"/>
          <a:lstStyle/>
          <a:p>
            <a:pPr indent="0" marL="0">
              <a:buNone/>
            </a:pPr>
            <a:r>
              <a:rPr lang="en-US" sz="1300" dirty="0">
                <a:solidFill>
                  <a:srgbClr val="4D4D4D"/>
                </a:solidFill>
              </a:rPr>
              <a:t>Education series, specialist-led events</a:t>
            </a:r>
            <a:endParaRPr lang="en-US" sz="1300" dirty="0"/>
          </a:p>
        </p:txBody>
      </p:sp>
      <p:sp>
        <p:nvSpPr>
          <p:cNvPr id="21" name="Text 19"/>
          <p:cNvSpPr txBox="1"/>
          <p:nvPr/>
        </p:nvSpPr>
        <p:spPr>
          <a:xfrm>
            <a:off x="7936992" y="4224528"/>
            <a:ext cx="3675888" cy="603504"/>
          </a:xfrm>
          <a:prstGeom prst="rect">
            <a:avLst/>
          </a:prstGeom>
          <a:noFill/>
          <a:ln/>
        </p:spPr>
        <p:txBody>
          <a:bodyPr wrap="square" lIns="0" tIns="0" rIns="0" bIns="0" rtlCol="0" anchor="ctr"/>
          <a:lstStyle/>
          <a:p>
            <a:pPr indent="0" marL="0">
              <a:buNone/>
            </a:pPr>
            <a:r>
              <a:rPr lang="en-US" sz="1300" dirty="0">
                <a:solidFill>
                  <a:srgbClr val="4D4D4D"/>
                </a:solidFill>
              </a:rPr>
              <a:t>Ongoing specialty care relationships</a:t>
            </a:r>
            <a:endParaRPr lang="en-US" sz="1300" dirty="0"/>
          </a:p>
        </p:txBody>
      </p:sp>
      <p:sp>
        <p:nvSpPr>
          <p:cNvPr id="22" name="Shape 20"/>
          <p:cNvSpPr/>
          <p:nvPr/>
        </p:nvSpPr>
        <p:spPr>
          <a:xfrm>
            <a:off x="502920" y="4864608"/>
            <a:ext cx="11183112" cy="0"/>
          </a:xfrm>
          <a:prstGeom prst="line">
            <a:avLst/>
          </a:prstGeom>
          <a:noFill/>
          <a:ln w="9525">
            <a:solidFill>
              <a:srgbClr val="8C8C8C"/>
            </a:solidFill>
            <a:prstDash val="sysDot"/>
          </a:ln>
        </p:spPr>
      </p:sp>
      <p:sp>
        <p:nvSpPr>
          <p:cNvPr id="23" name="Text 21"/>
          <p:cNvSpPr txBox="1"/>
          <p:nvPr/>
        </p:nvSpPr>
        <p:spPr>
          <a:xfrm>
            <a:off x="576072" y="4937760"/>
            <a:ext cx="2459736" cy="603504"/>
          </a:xfrm>
          <a:prstGeom prst="rect">
            <a:avLst/>
          </a:prstGeom>
          <a:noFill/>
          <a:ln/>
        </p:spPr>
        <p:txBody>
          <a:bodyPr wrap="square" lIns="0" tIns="0" rIns="0" bIns="0" rtlCol="0" anchor="ctr"/>
          <a:lstStyle/>
          <a:p>
            <a:pPr indent="0" marL="0">
              <a:buNone/>
            </a:pPr>
            <a:r>
              <a:rPr lang="en-US" sz="1300" b="1" dirty="0">
                <a:solidFill>
                  <a:schemeClr val="tx1"/>
                </a:solidFill>
              </a:rPr>
              <a:t>Provider conference</a:t>
            </a:r>
            <a:endParaRPr lang="en-US" sz="1300" dirty="0"/>
          </a:p>
        </p:txBody>
      </p:sp>
      <p:sp>
        <p:nvSpPr>
          <p:cNvPr id="24" name="Text 22"/>
          <p:cNvSpPr txBox="1"/>
          <p:nvPr/>
        </p:nvSpPr>
        <p:spPr>
          <a:xfrm>
            <a:off x="3182112" y="4937760"/>
            <a:ext cx="4608576" cy="603504"/>
          </a:xfrm>
          <a:prstGeom prst="rect">
            <a:avLst/>
          </a:prstGeom>
          <a:noFill/>
          <a:ln/>
        </p:spPr>
        <p:txBody>
          <a:bodyPr wrap="square" lIns="0" tIns="0" rIns="0" bIns="0" rtlCol="0" anchor="ctr"/>
          <a:lstStyle/>
          <a:p>
            <a:pPr indent="0" marL="0">
              <a:buNone/>
            </a:pPr>
            <a:r>
              <a:rPr lang="en-US" sz="1300" dirty="0">
                <a:solidFill>
                  <a:srgbClr val="4D4D4D"/>
                </a:solidFill>
              </a:rPr>
              <a:t>Next CME events, referral resources</a:t>
            </a:r>
            <a:endParaRPr lang="en-US" sz="1300" dirty="0"/>
          </a:p>
        </p:txBody>
      </p:sp>
      <p:sp>
        <p:nvSpPr>
          <p:cNvPr id="25" name="Text 23"/>
          <p:cNvSpPr txBox="1"/>
          <p:nvPr/>
        </p:nvSpPr>
        <p:spPr>
          <a:xfrm>
            <a:off x="7936992" y="4937760"/>
            <a:ext cx="3675888" cy="603504"/>
          </a:xfrm>
          <a:prstGeom prst="rect">
            <a:avLst/>
          </a:prstGeom>
          <a:noFill/>
          <a:ln/>
        </p:spPr>
        <p:txBody>
          <a:bodyPr wrap="square" lIns="0" tIns="0" rIns="0" bIns="0" rtlCol="0" anchor="ctr"/>
          <a:lstStyle/>
          <a:p>
            <a:pPr indent="0" marL="0">
              <a:buNone/>
            </a:pPr>
            <a:r>
              <a:rPr lang="en-US" sz="1300" dirty="0">
                <a:solidFill>
                  <a:srgbClr val="4D4D4D"/>
                </a:solidFill>
              </a:rPr>
              <a:t>A stronger referral network</a:t>
            </a:r>
            <a:endParaRPr lang="en-US" sz="1300" dirty="0"/>
          </a:p>
        </p:txBody>
      </p:sp>
      <p:sp>
        <p:nvSpPr>
          <p:cNvPr id="26" name="Shape 24"/>
          <p:cNvSpPr/>
          <p:nvPr/>
        </p:nvSpPr>
        <p:spPr>
          <a:xfrm>
            <a:off x="502920" y="5577840"/>
            <a:ext cx="11183112" cy="0"/>
          </a:xfrm>
          <a:prstGeom prst="line">
            <a:avLst/>
          </a:prstGeom>
          <a:noFill/>
          <a:ln w="9525">
            <a:solidFill>
              <a:srgbClr val="8C8C8C"/>
            </a:solidFill>
            <a:prstDash val="sysDot"/>
          </a:ln>
        </p:spPr>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Bring website registrants into the app</a:t>
            </a:r>
            <a:endParaRPr lang="en-US" sz="3200" dirty="0"/>
          </a:p>
        </p:txBody>
      </p:sp>
      <p:pic>
        <p:nvPicPr>
          <p:cNvPr id="3" name="confirmation email" descr="/home/user/presales_memorial-hermann/deck/mockups/png/06-confirmation-email.png">    </p:cNvPr>
          <p:cNvPicPr>
            <a:picLocks noChangeAspect="1"/>
          </p:cNvPicPr>
          <p:nvPr/>
        </p:nvPicPr>
        <p:blipFill>
          <a:blip r:embed="rId1"/>
          <a:stretch>
            <a:fillRect/>
          </a:stretch>
        </p:blipFill>
        <p:spPr>
          <a:xfrm>
            <a:off x="685800" y="1554480"/>
            <a:ext cx="2377440" cy="4572000"/>
          </a:xfrm>
          <a:prstGeom prst="rect">
            <a:avLst/>
          </a:prstGeom>
        </p:spPr>
      </p:pic>
      <p:sp>
        <p:nvSpPr>
          <p:cNvPr id="4" name="circle-1"/>
          <p:cNvSpPr/>
          <p:nvPr/>
        </p:nvSpPr>
        <p:spPr>
          <a:xfrm>
            <a:off x="3657600" y="1691640"/>
            <a:ext cx="420624" cy="420624"/>
          </a:xfrm>
          <a:prstGeom prst="ellipse">
            <a:avLst/>
          </a:prstGeom>
          <a:ln w="15875">
            <a:solidFill>
              <a:schemeClr val="bg1"/>
            </a:solidFill>
            <a:prstDash val="solid"/>
          </a:ln>
        </p:spPr>
      </p:sp>
      <p:sp>
        <p:nvSpPr>
          <p:cNvPr id="5" name="Text 2"/>
          <p:cNvSpPr txBox="1"/>
          <p:nvPr/>
        </p:nvSpPr>
        <p:spPr>
          <a:xfrm>
            <a:off x="3657600" y="169164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6" name="Text 3"/>
          <p:cNvSpPr txBox="1"/>
          <p:nvPr/>
        </p:nvSpPr>
        <p:spPr>
          <a:xfrm>
            <a:off x="4297680" y="1655064"/>
            <a:ext cx="6858000" cy="329184"/>
          </a:xfrm>
          <a:prstGeom prst="rect">
            <a:avLst/>
          </a:prstGeom>
          <a:noFill/>
          <a:ln/>
        </p:spPr>
        <p:txBody>
          <a:bodyPr wrap="square" lIns="0" tIns="0" rIns="0" bIns="0" rtlCol="0" anchor="t"/>
          <a:lstStyle/>
          <a:p>
            <a:pPr indent="0" marL="0">
              <a:buNone/>
            </a:pPr>
            <a:r>
              <a:rPr lang="en-US" sz="1800" b="1" dirty="0">
                <a:solidFill>
                  <a:schemeClr val="bg1"/>
                </a:solidFill>
              </a:rPr>
              <a:t>Confirmation email</a:t>
            </a:r>
            <a:endParaRPr lang="en-US" sz="1800" dirty="0"/>
          </a:p>
        </p:txBody>
      </p:sp>
      <p:sp>
        <p:nvSpPr>
          <p:cNvPr id="7" name="Text 4"/>
          <p:cNvSpPr txBox="1"/>
          <p:nvPr/>
        </p:nvSpPr>
        <p:spPr>
          <a:xfrm>
            <a:off x="4297680" y="2011680"/>
            <a:ext cx="6858000" cy="365760"/>
          </a:xfrm>
          <a:prstGeom prst="rect">
            <a:avLst/>
          </a:prstGeom>
          <a:noFill/>
          <a:ln/>
        </p:spPr>
        <p:txBody>
          <a:bodyPr wrap="square" lIns="0" tIns="0" rIns="0" bIns="0" rtlCol="0" anchor="t"/>
          <a:lstStyle/>
          <a:p>
            <a:pPr indent="0" marL="0">
              <a:buNone/>
            </a:pPr>
            <a:r>
              <a:rPr lang="en-US" sz="1400" dirty="0">
                <a:solidFill>
                  <a:srgbClr val="BFBFBF"/>
                </a:solidFill>
              </a:rPr>
              <a:t>App link beside the calendar invite and QR code</a:t>
            </a:r>
            <a:endParaRPr lang="en-US" sz="1400" dirty="0"/>
          </a:p>
        </p:txBody>
      </p:sp>
      <p:sp>
        <p:nvSpPr>
          <p:cNvPr id="8" name="circle-2"/>
          <p:cNvSpPr/>
          <p:nvPr/>
        </p:nvSpPr>
        <p:spPr>
          <a:xfrm>
            <a:off x="3657600" y="2679192"/>
            <a:ext cx="420624" cy="420624"/>
          </a:xfrm>
          <a:prstGeom prst="ellipse">
            <a:avLst/>
          </a:prstGeom>
          <a:ln w="15875">
            <a:solidFill>
              <a:schemeClr val="bg1"/>
            </a:solidFill>
            <a:prstDash val="solid"/>
          </a:ln>
        </p:spPr>
      </p:sp>
      <p:sp>
        <p:nvSpPr>
          <p:cNvPr id="9" name="Text 6"/>
          <p:cNvSpPr txBox="1"/>
          <p:nvPr/>
        </p:nvSpPr>
        <p:spPr>
          <a:xfrm>
            <a:off x="3657600" y="267919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10" name="Text 7"/>
          <p:cNvSpPr txBox="1"/>
          <p:nvPr/>
        </p:nvSpPr>
        <p:spPr>
          <a:xfrm>
            <a:off x="4297680" y="2642616"/>
            <a:ext cx="6858000" cy="329184"/>
          </a:xfrm>
          <a:prstGeom prst="rect">
            <a:avLst/>
          </a:prstGeom>
          <a:noFill/>
          <a:ln/>
        </p:spPr>
        <p:txBody>
          <a:bodyPr wrap="square" lIns="0" tIns="0" rIns="0" bIns="0" rtlCol="0" anchor="t"/>
          <a:lstStyle/>
          <a:p>
            <a:pPr indent="0" marL="0">
              <a:buNone/>
            </a:pPr>
            <a:r>
              <a:rPr lang="en-US" sz="1800" b="1" dirty="0">
                <a:solidFill>
                  <a:schemeClr val="bg1"/>
                </a:solidFill>
              </a:rPr>
              <a:t>Check-in</a:t>
            </a:r>
            <a:endParaRPr lang="en-US" sz="1800" dirty="0"/>
          </a:p>
        </p:txBody>
      </p:sp>
      <p:sp>
        <p:nvSpPr>
          <p:cNvPr id="11" name="Text 8"/>
          <p:cNvSpPr txBox="1"/>
          <p:nvPr/>
        </p:nvSpPr>
        <p:spPr>
          <a:xfrm>
            <a:off x="4297680" y="2999232"/>
            <a:ext cx="6858000" cy="365760"/>
          </a:xfrm>
          <a:prstGeom prst="rect">
            <a:avLst/>
          </a:prstGeom>
          <a:noFill/>
          <a:ln/>
        </p:spPr>
        <p:txBody>
          <a:bodyPr wrap="square" lIns="0" tIns="0" rIns="0" bIns="0" rtlCol="0" anchor="t"/>
          <a:lstStyle/>
          <a:p>
            <a:pPr indent="0" marL="0">
              <a:buNone/>
            </a:pPr>
            <a:r>
              <a:rPr lang="en-US" sz="1400" dirty="0">
                <a:solidFill>
                  <a:srgbClr val="BFBFBF"/>
                </a:solidFill>
              </a:rPr>
              <a:t>QR at the door and on room signage: scan to download</a:t>
            </a:r>
            <a:endParaRPr lang="en-US" sz="1400" dirty="0"/>
          </a:p>
        </p:txBody>
      </p:sp>
      <p:sp>
        <p:nvSpPr>
          <p:cNvPr id="12" name="circle-3"/>
          <p:cNvSpPr/>
          <p:nvPr/>
        </p:nvSpPr>
        <p:spPr>
          <a:xfrm>
            <a:off x="3657600" y="3666744"/>
            <a:ext cx="420624" cy="420624"/>
          </a:xfrm>
          <a:prstGeom prst="ellipse">
            <a:avLst/>
          </a:prstGeom>
          <a:ln w="15875">
            <a:solidFill>
              <a:schemeClr val="bg1"/>
            </a:solidFill>
            <a:prstDash val="solid"/>
          </a:ln>
        </p:spPr>
      </p:sp>
      <p:sp>
        <p:nvSpPr>
          <p:cNvPr id="13" name="Text 10"/>
          <p:cNvSpPr txBox="1"/>
          <p:nvPr/>
        </p:nvSpPr>
        <p:spPr>
          <a:xfrm>
            <a:off x="3657600" y="366674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4" name="Text 11"/>
          <p:cNvSpPr txBox="1"/>
          <p:nvPr/>
        </p:nvSpPr>
        <p:spPr>
          <a:xfrm>
            <a:off x="4297680" y="3630168"/>
            <a:ext cx="6858000" cy="329184"/>
          </a:xfrm>
          <a:prstGeom prst="rect">
            <a:avLst/>
          </a:prstGeom>
          <a:noFill/>
          <a:ln/>
        </p:spPr>
        <p:txBody>
          <a:bodyPr wrap="square" lIns="0" tIns="0" rIns="0" bIns="0" rtlCol="0" anchor="t"/>
          <a:lstStyle/>
          <a:p>
            <a:pPr indent="0" marL="0">
              <a:buNone/>
            </a:pPr>
            <a:r>
              <a:rPr lang="en-US" sz="1800" b="1" dirty="0">
                <a:solidFill>
                  <a:schemeClr val="bg1"/>
                </a:solidFill>
              </a:rPr>
              <a:t>SMS reminder</a:t>
            </a:r>
            <a:endParaRPr lang="en-US" sz="1800" dirty="0"/>
          </a:p>
        </p:txBody>
      </p:sp>
      <p:sp>
        <p:nvSpPr>
          <p:cNvPr id="15" name="Text 12"/>
          <p:cNvSpPr txBox="1"/>
          <p:nvPr/>
        </p:nvSpPr>
        <p:spPr>
          <a:xfrm>
            <a:off x="4297680" y="3986784"/>
            <a:ext cx="6858000" cy="365760"/>
          </a:xfrm>
          <a:prstGeom prst="rect">
            <a:avLst/>
          </a:prstGeom>
          <a:noFill/>
          <a:ln/>
        </p:spPr>
        <p:txBody>
          <a:bodyPr wrap="square" lIns="0" tIns="0" rIns="0" bIns="0" rtlCol="0" anchor="t"/>
          <a:lstStyle/>
          <a:p>
            <a:pPr indent="0" marL="0">
              <a:buNone/>
            </a:pPr>
            <a:r>
              <a:rPr lang="en-US" sz="1400" dirty="0">
                <a:solidFill>
                  <a:srgbClr val="BFBFBF"/>
                </a:solidFill>
              </a:rPr>
              <a:t>Manage or cancel your class in the app</a:t>
            </a:r>
            <a:endParaRPr lang="en-US" sz="1400" dirty="0"/>
          </a:p>
        </p:txBody>
      </p:sp>
      <p:sp>
        <p:nvSpPr>
          <p:cNvPr id="16" name="circle-4"/>
          <p:cNvSpPr/>
          <p:nvPr/>
        </p:nvSpPr>
        <p:spPr>
          <a:xfrm>
            <a:off x="3657600" y="4654296"/>
            <a:ext cx="420624" cy="420624"/>
          </a:xfrm>
          <a:prstGeom prst="ellipse">
            <a:avLst/>
          </a:prstGeom>
          <a:ln w="15875">
            <a:solidFill>
              <a:schemeClr val="bg1"/>
            </a:solidFill>
            <a:prstDash val="solid"/>
          </a:ln>
        </p:spPr>
      </p:sp>
      <p:sp>
        <p:nvSpPr>
          <p:cNvPr id="17" name="Text 14"/>
          <p:cNvSpPr txBox="1"/>
          <p:nvPr/>
        </p:nvSpPr>
        <p:spPr>
          <a:xfrm>
            <a:off x="3657600" y="46542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8" name="Text 15"/>
          <p:cNvSpPr txBox="1"/>
          <p:nvPr/>
        </p:nvSpPr>
        <p:spPr>
          <a:xfrm>
            <a:off x="4297680" y="4617720"/>
            <a:ext cx="6858000" cy="329184"/>
          </a:xfrm>
          <a:prstGeom prst="rect">
            <a:avLst/>
          </a:prstGeom>
          <a:noFill/>
          <a:ln/>
        </p:spPr>
        <p:txBody>
          <a:bodyPr wrap="square" lIns="0" tIns="0" rIns="0" bIns="0" rtlCol="0" anchor="t"/>
          <a:lstStyle/>
          <a:p>
            <a:pPr indent="0" marL="0">
              <a:buNone/>
            </a:pPr>
            <a:r>
              <a:rPr lang="en-US" sz="1800" b="1" dirty="0">
                <a:solidFill>
                  <a:schemeClr val="bg1"/>
                </a:solidFill>
              </a:rPr>
              <a:t>Post-class PEIs</a:t>
            </a:r>
            <a:endParaRPr lang="en-US" sz="1800" dirty="0"/>
          </a:p>
        </p:txBody>
      </p:sp>
      <p:sp>
        <p:nvSpPr>
          <p:cNvPr id="19" name="Text 16"/>
          <p:cNvSpPr txBox="1"/>
          <p:nvPr/>
        </p:nvSpPr>
        <p:spPr>
          <a:xfrm>
            <a:off x="4297680" y="4974336"/>
            <a:ext cx="6858000" cy="365760"/>
          </a:xfrm>
          <a:prstGeom prst="rect">
            <a:avLst/>
          </a:prstGeom>
          <a:noFill/>
          <a:ln/>
        </p:spPr>
        <p:txBody>
          <a:bodyPr wrap="square" lIns="0" tIns="0" rIns="0" bIns="0" rtlCol="0" anchor="t"/>
          <a:lstStyle/>
          <a:p>
            <a:pPr indent="0" marL="0">
              <a:buNone/>
            </a:pPr>
            <a:r>
              <a:rPr lang="en-US" sz="1400" dirty="0">
                <a:solidFill>
                  <a:srgbClr val="BFBFBF"/>
                </a:solidFill>
              </a:rPr>
              <a:t>Find a doctor, book a visit, see results in the app</a:t>
            </a:r>
            <a:endParaRPr lang="en-US" sz="1400" dirty="0"/>
          </a:p>
        </p:txBody>
      </p:sp>
      <p:sp>
        <p:nvSpPr>
          <p:cNvPr id="20" name="Text 17"/>
          <p:cNvSpPr txBox="1"/>
          <p:nvPr/>
        </p:nvSpPr>
        <p:spPr>
          <a:xfrm>
            <a:off x="3657600" y="5715000"/>
            <a:ext cx="7863840" cy="320040"/>
          </a:xfrm>
          <a:prstGeom prst="rect">
            <a:avLst/>
          </a:prstGeom>
          <a:noFill/>
          <a:ln/>
        </p:spPr>
        <p:txBody>
          <a:bodyPr wrap="square" lIns="0" tIns="0" rIns="0" bIns="0" rtlCol="0" anchor="t"/>
          <a:lstStyle/>
          <a:p>
            <a:pPr indent="0" marL="0">
              <a:buNone/>
            </a:pPr>
            <a:r>
              <a:rPr lang="en-US" sz="1300" i="1" dirty="0">
                <a:solidFill>
                  <a:schemeClr val="accent1"/>
                </a:solidFill>
              </a:rPr>
              <a:t>Tracked links show which classes and service lines drive downloads and booked visits.</a:t>
            </a:r>
            <a:endParaRPr lang="en-US" sz="13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How we will measure success</a:t>
            </a:r>
            <a:endParaRPr lang="en-US" sz="3200" dirty="0"/>
          </a:p>
        </p:txBody>
      </p:sp>
      <p:sp>
        <p:nvSpPr>
          <p:cNvPr id="3" name="Text 1"/>
          <p:cNvSpPr txBox="1"/>
          <p:nvPr/>
        </p:nvSpPr>
        <p:spPr>
          <a:xfrm>
            <a:off x="50292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Conversion</a:t>
            </a:r>
            <a:endParaRPr lang="en-US" sz="3400" dirty="0"/>
          </a:p>
        </p:txBody>
      </p:sp>
      <p:sp>
        <p:nvSpPr>
          <p:cNvPr id="4" name="Text 2"/>
          <p:cNvSpPr txBox="1"/>
          <p:nvPr/>
        </p:nvSpPr>
        <p:spPr>
          <a:xfrm>
            <a:off x="50292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Visitors who complete a registration</a:t>
            </a:r>
            <a:endParaRPr lang="en-US" sz="1400" dirty="0"/>
          </a:p>
        </p:txBody>
      </p:sp>
      <p:sp>
        <p:nvSpPr>
          <p:cNvPr id="5" name="Text 3"/>
          <p:cNvSpPr txBox="1"/>
          <p:nvPr/>
        </p:nvSpPr>
        <p:spPr>
          <a:xfrm>
            <a:off x="50292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6" name="Text 4"/>
          <p:cNvSpPr txBox="1"/>
          <p:nvPr/>
        </p:nvSpPr>
        <p:spPr>
          <a:xfrm>
            <a:off x="429768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Attendance</a:t>
            </a:r>
            <a:endParaRPr lang="en-US" sz="3400" dirty="0"/>
          </a:p>
        </p:txBody>
      </p:sp>
      <p:sp>
        <p:nvSpPr>
          <p:cNvPr id="7" name="Text 5"/>
          <p:cNvSpPr txBox="1"/>
          <p:nvPr/>
        </p:nvSpPr>
        <p:spPr>
          <a:xfrm>
            <a:off x="429768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Registrants who show up; fewer no-shows</a:t>
            </a:r>
            <a:endParaRPr lang="en-US" sz="1400" dirty="0"/>
          </a:p>
        </p:txBody>
      </p:sp>
      <p:sp>
        <p:nvSpPr>
          <p:cNvPr id="8" name="Text 6"/>
          <p:cNvSpPr txBox="1"/>
          <p:nvPr/>
        </p:nvSpPr>
        <p:spPr>
          <a:xfrm>
            <a:off x="429768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9" name="Text 7"/>
          <p:cNvSpPr txBox="1"/>
          <p:nvPr/>
        </p:nvSpPr>
        <p:spPr>
          <a:xfrm>
            <a:off x="8092440" y="16916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Engagement</a:t>
            </a:r>
            <a:endParaRPr lang="en-US" sz="3400" dirty="0"/>
          </a:p>
        </p:txBody>
      </p:sp>
      <p:sp>
        <p:nvSpPr>
          <p:cNvPr id="10" name="Text 8"/>
          <p:cNvSpPr txBox="1"/>
          <p:nvPr/>
        </p:nvSpPr>
        <p:spPr>
          <a:xfrm>
            <a:off x="8092440" y="2423160"/>
            <a:ext cx="3291840" cy="457200"/>
          </a:xfrm>
          <a:prstGeom prst="rect">
            <a:avLst/>
          </a:prstGeom>
          <a:noFill/>
          <a:ln/>
        </p:spPr>
        <p:txBody>
          <a:bodyPr wrap="square" lIns="0" tIns="0" rIns="0" bIns="0" rtlCol="0" anchor="t"/>
          <a:lstStyle/>
          <a:p>
            <a:pPr indent="0" marL="0">
              <a:buNone/>
            </a:pPr>
            <a:r>
              <a:rPr lang="en-US" sz="1400" dirty="0">
                <a:solidFill>
                  <a:schemeClr val="bg1"/>
                </a:solidFill>
              </a:rPr>
              <a:t>PEI opens, clicks and survey responses</a:t>
            </a:r>
            <a:endParaRPr lang="en-US" sz="1400" dirty="0"/>
          </a:p>
        </p:txBody>
      </p:sp>
      <p:sp>
        <p:nvSpPr>
          <p:cNvPr id="11" name="Text 9"/>
          <p:cNvSpPr txBox="1"/>
          <p:nvPr/>
        </p:nvSpPr>
        <p:spPr>
          <a:xfrm>
            <a:off x="8092440" y="28803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2" name="Text 10"/>
          <p:cNvSpPr txBox="1"/>
          <p:nvPr/>
        </p:nvSpPr>
        <p:spPr>
          <a:xfrm>
            <a:off x="50292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Downloads</a:t>
            </a:r>
            <a:endParaRPr lang="en-US" sz="3400" dirty="0"/>
          </a:p>
        </p:txBody>
      </p:sp>
      <p:sp>
        <p:nvSpPr>
          <p:cNvPr id="13" name="Text 11"/>
          <p:cNvSpPr txBox="1"/>
          <p:nvPr/>
        </p:nvSpPr>
        <p:spPr>
          <a:xfrm>
            <a:off x="50292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 installs from event links</a:t>
            </a:r>
            <a:endParaRPr lang="en-US" sz="1400" dirty="0"/>
          </a:p>
        </p:txBody>
      </p:sp>
      <p:sp>
        <p:nvSpPr>
          <p:cNvPr id="14" name="Text 12"/>
          <p:cNvSpPr txBox="1"/>
          <p:nvPr/>
        </p:nvSpPr>
        <p:spPr>
          <a:xfrm>
            <a:off x="50292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5" name="Text 13"/>
          <p:cNvSpPr txBox="1"/>
          <p:nvPr/>
        </p:nvSpPr>
        <p:spPr>
          <a:xfrm>
            <a:off x="429768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Visits booked</a:t>
            </a:r>
            <a:endParaRPr lang="en-US" sz="3400" dirty="0"/>
          </a:p>
        </p:txBody>
      </p:sp>
      <p:sp>
        <p:nvSpPr>
          <p:cNvPr id="16" name="Text 14"/>
          <p:cNvSpPr txBox="1"/>
          <p:nvPr/>
        </p:nvSpPr>
        <p:spPr>
          <a:xfrm>
            <a:off x="429768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Appointments after a class or event</a:t>
            </a:r>
            <a:endParaRPr lang="en-US" sz="1400" dirty="0"/>
          </a:p>
        </p:txBody>
      </p:sp>
      <p:sp>
        <p:nvSpPr>
          <p:cNvPr id="17" name="Text 15"/>
          <p:cNvSpPr txBox="1"/>
          <p:nvPr/>
        </p:nvSpPr>
        <p:spPr>
          <a:xfrm>
            <a:off x="429768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18" name="Text 16"/>
          <p:cNvSpPr txBox="1"/>
          <p:nvPr/>
        </p:nvSpPr>
        <p:spPr>
          <a:xfrm>
            <a:off x="8092440" y="3749040"/>
            <a:ext cx="3566160" cy="685800"/>
          </a:xfrm>
          <a:prstGeom prst="rect">
            <a:avLst/>
          </a:prstGeom>
          <a:noFill/>
          <a:ln/>
        </p:spPr>
        <p:txBody>
          <a:bodyPr wrap="square" lIns="0" tIns="0" rIns="0" bIns="0" rtlCol="0" anchor="t"/>
          <a:lstStyle/>
          <a:p>
            <a:pPr indent="0" marL="0">
              <a:buNone/>
            </a:pPr>
            <a:r>
              <a:rPr lang="en-US" sz="3400" dirty="0">
                <a:solidFill>
                  <a:schemeClr val="accent1"/>
                </a:solidFill>
                <a:latin typeface="Trenda IG Text Light" pitchFamily="34" charset="0"/>
                <a:ea typeface="Trenda IG Text Light" pitchFamily="34" charset="-122"/>
                <a:cs typeface="Trenda IG Text Light" pitchFamily="34" charset="-120"/>
              </a:rPr>
              <a:t>Revenue</a:t>
            </a:r>
            <a:endParaRPr lang="en-US" sz="3400" dirty="0"/>
          </a:p>
        </p:txBody>
      </p:sp>
      <p:sp>
        <p:nvSpPr>
          <p:cNvPr id="19" name="Text 17"/>
          <p:cNvSpPr txBox="1"/>
          <p:nvPr/>
        </p:nvSpPr>
        <p:spPr>
          <a:xfrm>
            <a:off x="8092440" y="4480560"/>
            <a:ext cx="3291840" cy="457200"/>
          </a:xfrm>
          <a:prstGeom prst="rect">
            <a:avLst/>
          </a:prstGeom>
          <a:noFill/>
          <a:ln/>
        </p:spPr>
        <p:txBody>
          <a:bodyPr wrap="square" lIns="0" tIns="0" rIns="0" bIns="0" rtlCol="0" anchor="t"/>
          <a:lstStyle/>
          <a:p>
            <a:pPr indent="0" marL="0">
              <a:buNone/>
            </a:pPr>
            <a:r>
              <a:rPr lang="en-US" sz="1400" dirty="0">
                <a:solidFill>
                  <a:schemeClr val="bg1"/>
                </a:solidFill>
              </a:rPr>
              <a:t>Paid registrations and conference fees</a:t>
            </a:r>
            <a:endParaRPr lang="en-US" sz="1400" dirty="0"/>
          </a:p>
        </p:txBody>
      </p:sp>
      <p:sp>
        <p:nvSpPr>
          <p:cNvPr id="20" name="Text 18"/>
          <p:cNvSpPr txBox="1"/>
          <p:nvPr/>
        </p:nvSpPr>
        <p:spPr>
          <a:xfrm>
            <a:off x="8092440" y="4937760"/>
            <a:ext cx="3291840" cy="274320"/>
          </a:xfrm>
          <a:prstGeom prst="rect">
            <a:avLst/>
          </a:prstGeom>
          <a:noFill/>
          <a:ln/>
        </p:spPr>
        <p:txBody>
          <a:bodyPr wrap="square" lIns="0" tIns="0" rIns="0" bIns="0" rtlCol="0" anchor="t"/>
          <a:lstStyle/>
          <a:p>
            <a:pPr indent="0" marL="0">
              <a:buNone/>
            </a:pPr>
            <a:r>
              <a:rPr lang="en-US" sz="1100" i="1" dirty="0">
                <a:solidFill>
                  <a:srgbClr val="BFBFBF"/>
                </a:solidFill>
              </a:rPr>
              <a:t>Baseline set in discovery</a:t>
            </a:r>
            <a:endParaRPr lang="en-US" sz="11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Roadmap: from registration to relationship</a:t>
            </a:r>
            <a:endParaRPr lang="en-US" sz="3200" dirty="0"/>
          </a:p>
        </p:txBody>
      </p:sp>
      <p:sp>
        <p:nvSpPr>
          <p:cNvPr id="3" name="circle-1"/>
          <p:cNvSpPr/>
          <p:nvPr/>
        </p:nvSpPr>
        <p:spPr>
          <a:xfrm>
            <a:off x="502920" y="1691640"/>
            <a:ext cx="420624" cy="420624"/>
          </a:xfrm>
          <a:prstGeom prst="ellipse">
            <a:avLst/>
          </a:prstGeom>
          <a:ln w="15875">
            <a:solidFill>
              <a:schemeClr val="tx1"/>
            </a:solidFill>
            <a:prstDash val="solid"/>
          </a:ln>
        </p:spPr>
      </p:sp>
      <p:sp>
        <p:nvSpPr>
          <p:cNvPr id="4" name="Text 2"/>
          <p:cNvSpPr txBox="1"/>
          <p:nvPr/>
        </p:nvSpPr>
        <p:spPr>
          <a:xfrm>
            <a:off x="50292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1</a:t>
            </a:r>
            <a:endParaRPr lang="en-US" sz="1400" dirty="0"/>
          </a:p>
        </p:txBody>
      </p:sp>
      <p:sp>
        <p:nvSpPr>
          <p:cNvPr id="5" name="Text 3"/>
          <p:cNvSpPr txBox="1"/>
          <p:nvPr/>
        </p:nvSpPr>
        <p:spPr>
          <a:xfrm>
            <a:off x="50292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Conferences</a:t>
            </a:r>
            <a:endParaRPr lang="en-US" sz="1900" dirty="0"/>
          </a:p>
        </p:txBody>
      </p:sp>
      <p:sp>
        <p:nvSpPr>
          <p:cNvPr id="6" name="Text 4"/>
          <p:cNvSpPr txBox="1"/>
          <p:nvPr/>
        </p:nvSpPr>
        <p:spPr>
          <a:xfrm>
            <a:off x="502920" y="2697480"/>
            <a:ext cx="2606040" cy="292608"/>
          </a:xfrm>
          <a:prstGeom prst="rect">
            <a:avLst/>
          </a:prstGeom>
          <a:noFill/>
          <a:ln/>
        </p:spPr>
        <p:txBody>
          <a:bodyPr wrap="square" lIns="0" tIns="0" rIns="0" bIns="0" rtlCol="0" anchor="t"/>
          <a:lstStyle/>
          <a:p>
            <a:pPr indent="0" marL="0">
              <a:buNone/>
            </a:pPr>
            <a:r>
              <a:rPr lang="en-US" sz="1300" b="1" dirty="0">
                <a:solidFill>
                  <a:schemeClr val="accent6"/>
                </a:solidFill>
              </a:rPr>
              <a:t>Weeks 1-8</a:t>
            </a:r>
            <a:endParaRPr lang="en-US" sz="1300" dirty="0"/>
          </a:p>
        </p:txBody>
      </p:sp>
      <p:sp>
        <p:nvSpPr>
          <p:cNvPr id="7" name="Text 5"/>
          <p:cNvSpPr txBox="1"/>
          <p:nvPr/>
        </p:nvSpPr>
        <p:spPr>
          <a:xfrm>
            <a:off x="50292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Sessions and speakers</a:t>
            </a:r>
            <a:endParaRPr lang="en-US" sz="1400" dirty="0"/>
          </a:p>
          <a:p>
            <a:pPr marL="342900" indent="-342900">
              <a:spcAft>
                <a:spcPts val="600"/>
              </a:spcAft>
              <a:buSzPct val="100000"/>
              <a:buChar char="•"/>
            </a:pPr>
            <a:r>
              <a:rPr lang="en-US" sz="1400" dirty="0">
                <a:solidFill>
                  <a:srgbClr val="4D4D4D"/>
                </a:solidFill>
              </a:rPr>
              <a:t>My Agenda, Zoom or Teams</a:t>
            </a:r>
            <a:endParaRPr lang="en-US" sz="1400" dirty="0"/>
          </a:p>
          <a:p>
            <a:pPr marL="342900" indent="-342900">
              <a:spcAft>
                <a:spcPts val="600"/>
              </a:spcAft>
              <a:buSzPct val="100000"/>
              <a:buChar char="•"/>
            </a:pPr>
            <a:r>
              <a:rPr lang="en-US" sz="1400" dirty="0">
                <a:solidFill>
                  <a:srgbClr val="4D4D4D"/>
                </a:solidFill>
              </a:rPr>
              <a:t>Certain retired</a:t>
            </a:r>
            <a:endParaRPr lang="en-US" sz="1400" dirty="0"/>
          </a:p>
        </p:txBody>
      </p:sp>
      <p:sp>
        <p:nvSpPr>
          <p:cNvPr id="8" name="circle-2"/>
          <p:cNvSpPr/>
          <p:nvPr/>
        </p:nvSpPr>
        <p:spPr>
          <a:xfrm>
            <a:off x="3337560" y="1691640"/>
            <a:ext cx="420624" cy="420624"/>
          </a:xfrm>
          <a:prstGeom prst="ellipse">
            <a:avLst/>
          </a:prstGeom>
          <a:ln w="15875">
            <a:solidFill>
              <a:schemeClr val="tx1"/>
            </a:solidFill>
            <a:prstDash val="solid"/>
          </a:ln>
        </p:spPr>
      </p:sp>
      <p:sp>
        <p:nvSpPr>
          <p:cNvPr id="9" name="Text 7"/>
          <p:cNvSpPr txBox="1"/>
          <p:nvPr/>
        </p:nvSpPr>
        <p:spPr>
          <a:xfrm>
            <a:off x="333756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2</a:t>
            </a:r>
            <a:endParaRPr lang="en-US" sz="1400" dirty="0"/>
          </a:p>
        </p:txBody>
      </p:sp>
      <p:sp>
        <p:nvSpPr>
          <p:cNvPr id="10" name="Text 8"/>
          <p:cNvSpPr txBox="1"/>
          <p:nvPr/>
        </p:nvSpPr>
        <p:spPr>
          <a:xfrm>
            <a:off x="333756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Engagement</a:t>
            </a:r>
            <a:endParaRPr lang="en-US" sz="1900" dirty="0"/>
          </a:p>
        </p:txBody>
      </p:sp>
      <p:sp>
        <p:nvSpPr>
          <p:cNvPr id="11" name="Text 9"/>
          <p:cNvSpPr txBox="1"/>
          <p:nvPr/>
        </p:nvSpPr>
        <p:spPr>
          <a:xfrm>
            <a:off x="3337560" y="2697480"/>
            <a:ext cx="2606040" cy="292608"/>
          </a:xfrm>
          <a:prstGeom prst="rect">
            <a:avLst/>
          </a:prstGeom>
          <a:noFill/>
          <a:ln/>
        </p:spPr>
        <p:txBody>
          <a:bodyPr wrap="square" lIns="0" tIns="0" rIns="0" bIns="0" rtlCol="0" anchor="t"/>
          <a:lstStyle/>
          <a:p>
            <a:pPr indent="0" marL="0">
              <a:buNone/>
            </a:pPr>
            <a:r>
              <a:rPr lang="en-US" sz="1300" b="1" dirty="0">
                <a:solidFill>
                  <a:schemeClr val="accent3"/>
                </a:solidFill>
              </a:rPr>
              <a:t>From week 9</a:t>
            </a:r>
            <a:endParaRPr lang="en-US" sz="1300" dirty="0"/>
          </a:p>
        </p:txBody>
      </p:sp>
      <p:sp>
        <p:nvSpPr>
          <p:cNvPr id="12" name="Text 10"/>
          <p:cNvSpPr txBox="1"/>
          <p:nvPr/>
        </p:nvSpPr>
        <p:spPr>
          <a:xfrm>
            <a:off x="333756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PEI journeys by service line</a:t>
            </a:r>
            <a:endParaRPr lang="en-US" sz="1400" dirty="0"/>
          </a:p>
          <a:p>
            <a:pPr marL="342900" indent="-342900">
              <a:spcAft>
                <a:spcPts val="600"/>
              </a:spcAft>
              <a:buSzPct val="100000"/>
              <a:buChar char="•"/>
            </a:pPr>
            <a:r>
              <a:rPr lang="en-US" sz="1400" dirty="0">
                <a:solidFill>
                  <a:srgbClr val="4D4D4D"/>
                </a:solidFill>
              </a:rPr>
              <a:t>App adoption campaigns</a:t>
            </a:r>
            <a:endParaRPr lang="en-US" sz="1400" dirty="0"/>
          </a:p>
          <a:p>
            <a:pPr marL="342900" indent="-342900">
              <a:spcAft>
                <a:spcPts val="600"/>
              </a:spcAft>
              <a:buSzPct val="100000"/>
              <a:buChar char="•"/>
            </a:pPr>
            <a:r>
              <a:rPr lang="en-US" sz="1400" dirty="0">
                <a:solidFill>
                  <a:srgbClr val="4D4D4D"/>
                </a:solidFill>
              </a:rPr>
              <a:t>Find-a-doctor nurture</a:t>
            </a:r>
            <a:endParaRPr lang="en-US" sz="1400" dirty="0"/>
          </a:p>
        </p:txBody>
      </p:sp>
      <p:sp>
        <p:nvSpPr>
          <p:cNvPr id="13" name="circle-3"/>
          <p:cNvSpPr/>
          <p:nvPr/>
        </p:nvSpPr>
        <p:spPr>
          <a:xfrm>
            <a:off x="6172200" y="1691640"/>
            <a:ext cx="420624" cy="420624"/>
          </a:xfrm>
          <a:prstGeom prst="ellipse">
            <a:avLst/>
          </a:prstGeom>
          <a:ln w="15875">
            <a:solidFill>
              <a:schemeClr val="tx1"/>
            </a:solidFill>
            <a:prstDash val="solid"/>
          </a:ln>
        </p:spPr>
      </p:sp>
      <p:sp>
        <p:nvSpPr>
          <p:cNvPr id="14" name="Text 12"/>
          <p:cNvSpPr txBox="1"/>
          <p:nvPr/>
        </p:nvSpPr>
        <p:spPr>
          <a:xfrm>
            <a:off x="617220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3</a:t>
            </a:r>
            <a:endParaRPr lang="en-US" sz="1400" dirty="0"/>
          </a:p>
        </p:txBody>
      </p:sp>
      <p:sp>
        <p:nvSpPr>
          <p:cNvPr id="15" name="Text 13"/>
          <p:cNvSpPr txBox="1"/>
          <p:nvPr/>
        </p:nvSpPr>
        <p:spPr>
          <a:xfrm>
            <a:off x="617220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Class uplift</a:t>
            </a:r>
            <a:endParaRPr lang="en-US" sz="1900" dirty="0"/>
          </a:p>
        </p:txBody>
      </p:sp>
      <p:sp>
        <p:nvSpPr>
          <p:cNvPr id="16" name="Text 14"/>
          <p:cNvSpPr txBox="1"/>
          <p:nvPr/>
        </p:nvSpPr>
        <p:spPr>
          <a:xfrm>
            <a:off x="6172200" y="2697480"/>
            <a:ext cx="2606040" cy="292608"/>
          </a:xfrm>
          <a:prstGeom prst="rect">
            <a:avLst/>
          </a:prstGeom>
          <a:noFill/>
          <a:ln/>
        </p:spPr>
        <p:txBody>
          <a:bodyPr wrap="square" lIns="0" tIns="0" rIns="0" bIns="0" rtlCol="0" anchor="t"/>
          <a:lstStyle/>
          <a:p>
            <a:pPr indent="0" marL="0">
              <a:buNone/>
            </a:pPr>
            <a:r>
              <a:rPr lang="en-US" sz="1300" b="1" dirty="0">
                <a:solidFill>
                  <a:schemeClr val="accent5"/>
                </a:solidFill>
              </a:rPr>
              <a:t>Optional</a:t>
            </a:r>
            <a:endParaRPr lang="en-US" sz="1300" dirty="0"/>
          </a:p>
        </p:txBody>
      </p:sp>
      <p:sp>
        <p:nvSpPr>
          <p:cNvPr id="17" name="Text 15"/>
          <p:cNvSpPr txBox="1"/>
          <p:nvPr/>
        </p:nvSpPr>
        <p:spPr>
          <a:xfrm>
            <a:off x="617220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Instant confirmation</a:t>
            </a:r>
            <a:endParaRPr lang="en-US" sz="1400" dirty="0"/>
          </a:p>
          <a:p>
            <a:pPr marL="342900" indent="-342900">
              <a:spcAft>
                <a:spcPts val="600"/>
              </a:spcAft>
              <a:buSzPct val="100000"/>
              <a:buChar char="•"/>
            </a:pPr>
            <a:r>
              <a:rPr lang="en-US" sz="1400" dirty="0">
                <a:solidFill>
                  <a:srgbClr val="4D4D4D"/>
                </a:solidFill>
              </a:rPr>
              <a:t>Live seats and waitlists</a:t>
            </a:r>
            <a:endParaRPr lang="en-US" sz="1400" dirty="0"/>
          </a:p>
          <a:p>
            <a:pPr marL="342900" indent="-342900">
              <a:spcAft>
                <a:spcPts val="600"/>
              </a:spcAft>
              <a:buSzPct val="100000"/>
              <a:buChar char="•"/>
            </a:pPr>
            <a:r>
              <a:rPr lang="en-US" sz="1400" dirty="0">
                <a:solidFill>
                  <a:srgbClr val="4D4D4D"/>
                </a:solidFill>
              </a:rPr>
              <a:t>Check-in and reporting</a:t>
            </a:r>
            <a:endParaRPr lang="en-US" sz="1400" dirty="0"/>
          </a:p>
        </p:txBody>
      </p:sp>
      <p:sp>
        <p:nvSpPr>
          <p:cNvPr id="18" name="circle-4"/>
          <p:cNvSpPr/>
          <p:nvPr/>
        </p:nvSpPr>
        <p:spPr>
          <a:xfrm>
            <a:off x="9006840" y="1691640"/>
            <a:ext cx="420624" cy="420624"/>
          </a:xfrm>
          <a:prstGeom prst="ellipse">
            <a:avLst/>
          </a:prstGeom>
          <a:ln w="15875">
            <a:solidFill>
              <a:schemeClr val="tx1"/>
            </a:solidFill>
            <a:prstDash val="solid"/>
          </a:ln>
        </p:spPr>
      </p:sp>
      <p:sp>
        <p:nvSpPr>
          <p:cNvPr id="19" name="Text 17"/>
          <p:cNvSpPr txBox="1"/>
          <p:nvPr/>
        </p:nvSpPr>
        <p:spPr>
          <a:xfrm>
            <a:off x="9006840" y="1691640"/>
            <a:ext cx="420624" cy="420624"/>
          </a:xfrm>
          <a:prstGeom prst="rect">
            <a:avLst/>
          </a:prstGeom>
          <a:noFill/>
          <a:ln/>
        </p:spPr>
        <p:txBody>
          <a:bodyPr wrap="square" lIns="0" tIns="0" rIns="0" bIns="0" rtlCol="0" anchor="ctr"/>
          <a:lstStyle/>
          <a:p>
            <a:pPr algn="ctr" indent="0" marL="0">
              <a:buNone/>
            </a:pPr>
            <a:r>
              <a:rPr lang="en-US" sz="1400" dirty="0">
                <a:solidFill>
                  <a:schemeClr val="tx1"/>
                </a:solidFill>
              </a:rPr>
              <a:t>4</a:t>
            </a:r>
            <a:endParaRPr lang="en-US" sz="1400" dirty="0"/>
          </a:p>
        </p:txBody>
      </p:sp>
      <p:sp>
        <p:nvSpPr>
          <p:cNvPr id="20" name="Text 18"/>
          <p:cNvSpPr txBox="1"/>
          <p:nvPr/>
        </p:nvSpPr>
        <p:spPr>
          <a:xfrm>
            <a:off x="9006840" y="2286000"/>
            <a:ext cx="2606040" cy="384048"/>
          </a:xfrm>
          <a:prstGeom prst="rect">
            <a:avLst/>
          </a:prstGeom>
          <a:noFill/>
          <a:ln/>
        </p:spPr>
        <p:txBody>
          <a:bodyPr wrap="square" lIns="0" tIns="0" rIns="0" bIns="0" rtlCol="0" anchor="t"/>
          <a:lstStyle/>
          <a:p>
            <a:pPr indent="0" marL="0">
              <a:buNone/>
            </a:pPr>
            <a:r>
              <a:rPr lang="en-US" sz="1900" b="1" dirty="0">
                <a:solidFill>
                  <a:schemeClr val="tx1"/>
                </a:solidFill>
              </a:rPr>
              <a:t>AI agents</a:t>
            </a:r>
            <a:endParaRPr lang="en-US" sz="1900" dirty="0"/>
          </a:p>
        </p:txBody>
      </p:sp>
      <p:sp>
        <p:nvSpPr>
          <p:cNvPr id="21" name="Text 19"/>
          <p:cNvSpPr txBox="1"/>
          <p:nvPr/>
        </p:nvSpPr>
        <p:spPr>
          <a:xfrm>
            <a:off x="9006840" y="2697480"/>
            <a:ext cx="2606040" cy="292608"/>
          </a:xfrm>
          <a:prstGeom prst="rect">
            <a:avLst/>
          </a:prstGeom>
          <a:noFill/>
          <a:ln/>
        </p:spPr>
        <p:txBody>
          <a:bodyPr wrap="square" lIns="0" tIns="0" rIns="0" bIns="0" rtlCol="0" anchor="t"/>
          <a:lstStyle/>
          <a:p>
            <a:pPr indent="0" marL="0">
              <a:buNone/>
            </a:pPr>
            <a:r>
              <a:rPr lang="en-US" sz="1300" b="1" dirty="0">
                <a:solidFill>
                  <a:schemeClr val="accent4"/>
                </a:solidFill>
              </a:rPr>
              <a:t>Later</a:t>
            </a:r>
            <a:endParaRPr lang="en-US" sz="1300" dirty="0"/>
          </a:p>
        </p:txBody>
      </p:sp>
      <p:sp>
        <p:nvSpPr>
          <p:cNvPr id="22" name="Text 20"/>
          <p:cNvSpPr txBox="1"/>
          <p:nvPr/>
        </p:nvSpPr>
        <p:spPr>
          <a:xfrm>
            <a:off x="9006840" y="3154680"/>
            <a:ext cx="256032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4D4D4D"/>
                </a:solidFill>
              </a:rPr>
              <a:t>Agents in a controlled harness</a:t>
            </a:r>
            <a:endParaRPr lang="en-US" sz="1400" dirty="0"/>
          </a:p>
          <a:p>
            <a:pPr marL="342900" indent="-342900">
              <a:spcAft>
                <a:spcPts val="600"/>
              </a:spcAft>
              <a:buSzPct val="100000"/>
              <a:buChar char="•"/>
            </a:pPr>
            <a:r>
              <a:rPr lang="en-US" sz="1400" dirty="0">
                <a:solidFill>
                  <a:srgbClr val="4D4D4D"/>
                </a:solidFill>
              </a:rPr>
              <a:t>Demand and campaign agents</a:t>
            </a:r>
            <a:endParaRPr lang="en-US" sz="1400" dirty="0"/>
          </a:p>
          <a:p>
            <a:pPr marL="342900" indent="-342900">
              <a:spcAft>
                <a:spcPts val="600"/>
              </a:spcAft>
              <a:buSzPct val="100000"/>
              <a:buChar char="•"/>
            </a:pPr>
            <a:r>
              <a:rPr lang="en-US" sz="1400" dirty="0">
                <a:solidFill>
                  <a:srgbClr val="4D4D4D"/>
                </a:solidFill>
              </a:rPr>
              <a:t>Concierge on web and SMS</a:t>
            </a:r>
            <a:endParaRPr lang="en-US" sz="1400" dirty="0"/>
          </a:p>
        </p:txBody>
      </p:sp>
      <p:sp>
        <p:nvSpPr>
          <p:cNvPr id="23" name="Text 21"/>
          <p:cNvSpPr txBox="1"/>
          <p:nvPr/>
        </p:nvSpPr>
        <p:spPr>
          <a:xfrm>
            <a:off x="502920" y="5257800"/>
            <a:ext cx="11185855" cy="365760"/>
          </a:xfrm>
          <a:prstGeom prst="rect">
            <a:avLst/>
          </a:prstGeom>
          <a:noFill/>
          <a:ln/>
        </p:spPr>
        <p:txBody>
          <a:bodyPr wrap="square" lIns="0" tIns="0" rIns="0" bIns="0" rtlCol="0" anchor="t"/>
          <a:lstStyle/>
          <a:p>
            <a:pPr indent="0" marL="0">
              <a:buNone/>
            </a:pPr>
            <a:r>
              <a:rPr lang="en-US" sz="1400" b="1" dirty="0">
                <a:solidFill>
                  <a:schemeClr val="tx1"/>
                </a:solidFill>
              </a:rPr>
              <a:t>Step 1 solves today’s problem in eight weeks. Steps 2 to 4 grow engagement and the network on the same platform.</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Future state: AI agents in a controlled harness</a:t>
            </a:r>
            <a:endParaRPr lang="en-US" sz="3200" dirty="0"/>
          </a:p>
        </p:txBody>
      </p:sp>
      <p:sp>
        <p:nvSpPr>
          <p:cNvPr id="3" name="Text 1"/>
          <p:cNvSpPr txBox="1"/>
          <p:nvPr/>
        </p:nvSpPr>
        <p:spPr>
          <a:xfrm>
            <a:off x="502920" y="1325880"/>
            <a:ext cx="8229600" cy="320040"/>
          </a:xfrm>
          <a:prstGeom prst="rect">
            <a:avLst/>
          </a:prstGeom>
          <a:noFill/>
          <a:ln/>
        </p:spPr>
        <p:txBody>
          <a:bodyPr wrap="square" lIns="0" tIns="0" rIns="0" bIns="0" rtlCol="0" anchor="t"/>
          <a:lstStyle/>
          <a:p>
            <a:pPr indent="0" marL="0">
              <a:buNone/>
            </a:pPr>
            <a:r>
              <a:rPr lang="en-US" sz="1400" dirty="0">
                <a:solidFill>
                  <a:srgbClr val="BFBFBF"/>
                </a:solidFill>
              </a:rPr>
              <a:t>Phase 4, after the core platform is stable. Agentforce and Data Cloud [to confirm].</a:t>
            </a:r>
            <a:endParaRPr lang="en-US" sz="1400" dirty="0"/>
          </a:p>
        </p:txBody>
      </p:sp>
      <p:sp>
        <p:nvSpPr>
          <p:cNvPr id="4" name="Shape 2"/>
          <p:cNvSpPr/>
          <p:nvPr/>
        </p:nvSpPr>
        <p:spPr>
          <a:xfrm>
            <a:off x="2194560" y="2148840"/>
            <a:ext cx="3657600" cy="3657600"/>
          </a:xfrm>
          <a:prstGeom prst="ellipse">
            <a:avLst/>
          </a:prstGeom>
          <a:ln w="12700">
            <a:solidFill>
              <a:srgbClr val="5A5A64"/>
            </a:solidFill>
            <a:prstDash val="sysDot"/>
          </a:ln>
        </p:spPr>
      </p:sp>
      <p:sp>
        <p:nvSpPr>
          <p:cNvPr id="5" name="harness"/>
          <p:cNvSpPr/>
          <p:nvPr/>
        </p:nvSpPr>
        <p:spPr>
          <a:xfrm>
            <a:off x="2834640" y="2788920"/>
            <a:ext cx="2377440" cy="2377440"/>
          </a:xfrm>
          <a:prstGeom prst="ellipse">
            <a:avLst/>
          </a:prstGeom>
          <a:solidFill>
            <a:srgbClr val="0E1A1D"/>
          </a:solidFill>
          <a:ln w="28575">
            <a:solidFill>
              <a:srgbClr val="00D6F2"/>
            </a:solidFill>
            <a:prstDash val="solid"/>
          </a:ln>
        </p:spPr>
      </p:sp>
      <p:sp>
        <p:nvSpPr>
          <p:cNvPr id="6" name="Text 4"/>
          <p:cNvSpPr txBox="1"/>
          <p:nvPr/>
        </p:nvSpPr>
        <p:spPr>
          <a:xfrm>
            <a:off x="3108960" y="2953512"/>
            <a:ext cx="1828800" cy="256032"/>
          </a:xfrm>
          <a:prstGeom prst="rect">
            <a:avLst/>
          </a:prstGeom>
          <a:noFill/>
          <a:ln/>
        </p:spPr>
        <p:txBody>
          <a:bodyPr wrap="square" lIns="0" tIns="0" rIns="0" bIns="0" rtlCol="0" anchor="t"/>
          <a:lstStyle/>
          <a:p>
            <a:pPr algn="ctr" indent="0" marL="0">
              <a:buNone/>
            </a:pPr>
            <a:r>
              <a:rPr lang="en-US" sz="1000" b="1" spc="400" kern="0" dirty="0">
                <a:solidFill>
                  <a:srgbClr val="00D6F2"/>
                </a:solidFill>
              </a:rPr>
              <a:t>HARNESS</a:t>
            </a:r>
            <a:endParaRPr lang="en-US" sz="1000" dirty="0"/>
          </a:p>
        </p:txBody>
      </p:sp>
      <p:sp>
        <p:nvSpPr>
          <p:cNvPr id="7" name="platform"/>
          <p:cNvSpPr/>
          <p:nvPr/>
        </p:nvSpPr>
        <p:spPr>
          <a:xfrm>
            <a:off x="3291840" y="3319272"/>
            <a:ext cx="1463040" cy="1463040"/>
          </a:xfrm>
          <a:prstGeom prst="ellipse">
            <a:avLst/>
          </a:prstGeom>
          <a:solidFill>
            <a:srgbClr val="00D6F2"/>
          </a:solidFill>
          <a:ln w="12700">
            <a:solidFill>
              <a:srgbClr val="00D6F2"/>
            </a:solidFill>
            <a:prstDash val="solid"/>
          </a:ln>
        </p:spPr>
      </p:sp>
      <p:sp>
        <p:nvSpPr>
          <p:cNvPr id="8" name="Text 6"/>
          <p:cNvSpPr txBox="1"/>
          <p:nvPr/>
        </p:nvSpPr>
        <p:spPr>
          <a:xfrm>
            <a:off x="3401568" y="3520440"/>
            <a:ext cx="1243584" cy="1060704"/>
          </a:xfrm>
          <a:prstGeom prst="rect">
            <a:avLst/>
          </a:prstGeom>
          <a:noFill/>
          <a:ln/>
        </p:spPr>
        <p:txBody>
          <a:bodyPr wrap="square" lIns="0" tIns="0" rIns="0" bIns="0" rtlCol="0" anchor="ctr"/>
          <a:lstStyle/>
          <a:p>
            <a:pPr algn="ctr" indent="0" marL="0">
              <a:buNone/>
            </a:pPr>
            <a:r>
              <a:rPr lang="en-US" sz="1150" b="1" dirty="0">
                <a:solidFill>
                  <a:srgbClr val="000000"/>
                </a:solidFill>
              </a:rPr>
              <a:t>Event platform + Marketing Cloud</a:t>
            </a:r>
            <a:endParaRPr lang="en-US" sz="1150" dirty="0"/>
          </a:p>
        </p:txBody>
      </p:sp>
      <p:sp>
        <p:nvSpPr>
          <p:cNvPr id="9" name="Shape 7"/>
          <p:cNvSpPr/>
          <p:nvPr/>
        </p:nvSpPr>
        <p:spPr>
          <a:xfrm flipH="1">
            <a:off x="4023360" y="2560320"/>
            <a:ext cx="0" cy="228600"/>
          </a:xfrm>
          <a:prstGeom prst="line">
            <a:avLst/>
          </a:prstGeom>
          <a:noFill/>
          <a:ln w="15875">
            <a:solidFill>
              <a:srgbClr val="FED700"/>
            </a:solidFill>
            <a:prstDash val="dash"/>
          </a:ln>
        </p:spPr>
      </p:sp>
      <p:sp>
        <p:nvSpPr>
          <p:cNvPr id="10" name="agent-Event Ops"/>
          <p:cNvSpPr/>
          <p:nvPr/>
        </p:nvSpPr>
        <p:spPr>
          <a:xfrm>
            <a:off x="3611880" y="1737360"/>
            <a:ext cx="822960" cy="822960"/>
          </a:xfrm>
          <a:prstGeom prst="ellipse">
            <a:avLst/>
          </a:prstGeom>
          <a:solidFill>
            <a:srgbClr val="15151A"/>
          </a:solidFill>
          <a:ln w="22225">
            <a:solidFill>
              <a:srgbClr val="FED700"/>
            </a:solidFill>
            <a:prstDash val="solid"/>
          </a:ln>
        </p:spPr>
      </p:sp>
      <p:pic>
        <p:nvPicPr>
          <p:cNvPr id="11" name="Image 0" descr="preencoded.png">    </p:cNvPr>
          <p:cNvPicPr>
            <a:picLocks noChangeAspect="1"/>
          </p:cNvPicPr>
          <p:nvPr/>
        </p:nvPicPr>
        <p:blipFill>
          <a:blip r:embed="rId1"/>
          <a:stretch>
            <a:fillRect/>
          </a:stretch>
        </p:blipFill>
        <p:spPr>
          <a:xfrm>
            <a:off x="3849624" y="1975104"/>
            <a:ext cx="347472" cy="347472"/>
          </a:xfrm>
          <a:prstGeom prst="rect">
            <a:avLst/>
          </a:prstGeom>
        </p:spPr>
      </p:pic>
      <p:sp>
        <p:nvSpPr>
          <p:cNvPr id="12" name="Text 9"/>
          <p:cNvSpPr txBox="1"/>
          <p:nvPr/>
        </p:nvSpPr>
        <p:spPr>
          <a:xfrm>
            <a:off x="4544568" y="185623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Event Ops</a:t>
            </a:r>
            <a:endParaRPr lang="en-US" sz="1300" dirty="0"/>
          </a:p>
        </p:txBody>
      </p:sp>
      <p:sp>
        <p:nvSpPr>
          <p:cNvPr id="13" name="Text 10"/>
          <p:cNvSpPr txBox="1"/>
          <p:nvPr/>
        </p:nvSpPr>
        <p:spPr>
          <a:xfrm>
            <a:off x="4544568" y="213055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Sessions, capacity, reminders</a:t>
            </a:r>
            <a:endParaRPr lang="en-US" sz="1050" dirty="0"/>
          </a:p>
        </p:txBody>
      </p:sp>
      <p:sp>
        <p:nvSpPr>
          <p:cNvPr id="14" name="Shape 11"/>
          <p:cNvSpPr/>
          <p:nvPr/>
        </p:nvSpPr>
        <p:spPr>
          <a:xfrm flipH="1">
            <a:off x="5153900" y="3539664"/>
            <a:ext cx="217412" cy="70641"/>
          </a:xfrm>
          <a:prstGeom prst="line">
            <a:avLst/>
          </a:prstGeom>
          <a:noFill/>
          <a:ln w="15875">
            <a:solidFill>
              <a:srgbClr val="FF0068"/>
            </a:solidFill>
            <a:prstDash val="dash"/>
          </a:ln>
        </p:spPr>
      </p:sp>
      <p:sp>
        <p:nvSpPr>
          <p:cNvPr id="15" name="agent-Demand"/>
          <p:cNvSpPr/>
          <p:nvPr/>
        </p:nvSpPr>
        <p:spPr>
          <a:xfrm>
            <a:off x="5351172" y="3001030"/>
            <a:ext cx="822960" cy="822960"/>
          </a:xfrm>
          <a:prstGeom prst="ellipse">
            <a:avLst/>
          </a:prstGeom>
          <a:solidFill>
            <a:srgbClr val="15151A"/>
          </a:solidFill>
          <a:ln w="22225">
            <a:solidFill>
              <a:srgbClr val="FF0068"/>
            </a:solidFill>
            <a:prstDash val="solid"/>
          </a:ln>
        </p:spPr>
      </p:sp>
      <p:pic>
        <p:nvPicPr>
          <p:cNvPr id="16" name="Image 1" descr="preencoded.png">    </p:cNvPr>
          <p:cNvPicPr>
            <a:picLocks noChangeAspect="1"/>
          </p:cNvPicPr>
          <p:nvPr/>
        </p:nvPicPr>
        <p:blipFill>
          <a:blip r:embed="rId2"/>
          <a:stretch>
            <a:fillRect/>
          </a:stretch>
        </p:blipFill>
        <p:spPr>
          <a:xfrm>
            <a:off x="5588916" y="3238774"/>
            <a:ext cx="347472" cy="347472"/>
          </a:xfrm>
          <a:prstGeom prst="rect">
            <a:avLst/>
          </a:prstGeom>
        </p:spPr>
      </p:pic>
      <p:sp>
        <p:nvSpPr>
          <p:cNvPr id="17" name="Text 13"/>
          <p:cNvSpPr txBox="1"/>
          <p:nvPr/>
        </p:nvSpPr>
        <p:spPr>
          <a:xfrm>
            <a:off x="6283860" y="3119902"/>
            <a:ext cx="1214220" cy="274320"/>
          </a:xfrm>
          <a:prstGeom prst="rect">
            <a:avLst/>
          </a:prstGeom>
          <a:noFill/>
          <a:ln/>
        </p:spPr>
        <p:txBody>
          <a:bodyPr wrap="square" lIns="0" tIns="0" rIns="0" bIns="0" rtlCol="0" anchor="t"/>
          <a:lstStyle/>
          <a:p>
            <a:pPr algn="l" indent="0" marL="0">
              <a:buNone/>
            </a:pPr>
            <a:r>
              <a:rPr lang="en-US" sz="1300" b="1" dirty="0">
                <a:solidFill>
                  <a:schemeClr val="bg1"/>
                </a:solidFill>
              </a:rPr>
              <a:t>Demand</a:t>
            </a:r>
            <a:endParaRPr lang="en-US" sz="1300" dirty="0"/>
          </a:p>
        </p:txBody>
      </p:sp>
      <p:sp>
        <p:nvSpPr>
          <p:cNvPr id="18" name="Text 14"/>
          <p:cNvSpPr txBox="1"/>
          <p:nvPr/>
        </p:nvSpPr>
        <p:spPr>
          <a:xfrm>
            <a:off x="6283860" y="3394222"/>
            <a:ext cx="1214220" cy="603504"/>
          </a:xfrm>
          <a:prstGeom prst="rect">
            <a:avLst/>
          </a:prstGeom>
          <a:noFill/>
          <a:ln/>
        </p:spPr>
        <p:txBody>
          <a:bodyPr wrap="square" lIns="0" tIns="0" rIns="0" bIns="0" rtlCol="0" anchor="t"/>
          <a:lstStyle/>
          <a:p>
            <a:pPr algn="l" indent="0" marL="0">
              <a:buNone/>
            </a:pPr>
            <a:r>
              <a:rPr lang="en-US" sz="1050" dirty="0">
                <a:solidFill>
                  <a:srgbClr val="BFBFBF"/>
                </a:solidFill>
              </a:rPr>
              <a:t>Spots surges, drafts new dates</a:t>
            </a:r>
            <a:endParaRPr lang="en-US" sz="1050" dirty="0"/>
          </a:p>
        </p:txBody>
      </p:sp>
      <p:sp>
        <p:nvSpPr>
          <p:cNvPr id="19" name="Shape 15"/>
          <p:cNvSpPr/>
          <p:nvPr/>
        </p:nvSpPr>
        <p:spPr>
          <a:xfrm>
            <a:off x="4722072" y="4939335"/>
            <a:ext cx="134368" cy="184941"/>
          </a:xfrm>
          <a:prstGeom prst="line">
            <a:avLst/>
          </a:prstGeom>
          <a:noFill/>
          <a:ln w="15875">
            <a:solidFill>
              <a:srgbClr val="FED700"/>
            </a:solidFill>
            <a:prstDash val="dash"/>
          </a:ln>
        </p:spPr>
      </p:sp>
      <p:sp>
        <p:nvSpPr>
          <p:cNvPr id="20" name="agent-Campaign"/>
          <p:cNvSpPr/>
          <p:nvPr/>
        </p:nvSpPr>
        <p:spPr>
          <a:xfrm>
            <a:off x="4686822" y="5045690"/>
            <a:ext cx="822960" cy="822960"/>
          </a:xfrm>
          <a:prstGeom prst="ellipse">
            <a:avLst/>
          </a:prstGeom>
          <a:solidFill>
            <a:srgbClr val="15151A"/>
          </a:solidFill>
          <a:ln w="22225">
            <a:solidFill>
              <a:srgbClr val="FED700"/>
            </a:solidFill>
            <a:prstDash val="solid"/>
          </a:ln>
        </p:spPr>
      </p:sp>
      <p:pic>
        <p:nvPicPr>
          <p:cNvPr id="21" name="Image 2" descr="preencoded.png">    </p:cNvPr>
          <p:cNvPicPr>
            <a:picLocks noChangeAspect="1"/>
          </p:cNvPicPr>
          <p:nvPr/>
        </p:nvPicPr>
        <p:blipFill>
          <a:blip r:embed="rId3"/>
          <a:stretch>
            <a:fillRect/>
          </a:stretch>
        </p:blipFill>
        <p:spPr>
          <a:xfrm>
            <a:off x="4924566" y="5283434"/>
            <a:ext cx="347472" cy="347472"/>
          </a:xfrm>
          <a:prstGeom prst="rect">
            <a:avLst/>
          </a:prstGeom>
        </p:spPr>
      </p:pic>
      <p:sp>
        <p:nvSpPr>
          <p:cNvPr id="22" name="Text 17"/>
          <p:cNvSpPr txBox="1"/>
          <p:nvPr/>
        </p:nvSpPr>
        <p:spPr>
          <a:xfrm>
            <a:off x="5619510" y="5164562"/>
            <a:ext cx="1828800" cy="274320"/>
          </a:xfrm>
          <a:prstGeom prst="rect">
            <a:avLst/>
          </a:prstGeom>
          <a:noFill/>
          <a:ln/>
        </p:spPr>
        <p:txBody>
          <a:bodyPr wrap="square" lIns="0" tIns="0" rIns="0" bIns="0" rtlCol="0" anchor="t"/>
          <a:lstStyle/>
          <a:p>
            <a:pPr algn="l" indent="0" marL="0">
              <a:buNone/>
            </a:pPr>
            <a:r>
              <a:rPr lang="en-US" sz="1300" b="1" dirty="0">
                <a:solidFill>
                  <a:schemeClr val="bg1"/>
                </a:solidFill>
              </a:rPr>
              <a:t>Campaign</a:t>
            </a:r>
            <a:endParaRPr lang="en-US" sz="1300" dirty="0"/>
          </a:p>
        </p:txBody>
      </p:sp>
      <p:sp>
        <p:nvSpPr>
          <p:cNvPr id="23" name="Text 18"/>
          <p:cNvSpPr txBox="1"/>
          <p:nvPr/>
        </p:nvSpPr>
        <p:spPr>
          <a:xfrm>
            <a:off x="5619510" y="5438882"/>
            <a:ext cx="1828800" cy="603504"/>
          </a:xfrm>
          <a:prstGeom prst="rect">
            <a:avLst/>
          </a:prstGeom>
          <a:noFill/>
          <a:ln/>
        </p:spPr>
        <p:txBody>
          <a:bodyPr wrap="square" lIns="0" tIns="0" rIns="0" bIns="0" rtlCol="0" anchor="t"/>
          <a:lstStyle/>
          <a:p>
            <a:pPr algn="l" indent="0" marL="0">
              <a:buNone/>
            </a:pPr>
            <a:r>
              <a:rPr lang="en-US" sz="1050" dirty="0">
                <a:solidFill>
                  <a:srgbClr val="BFBFBF"/>
                </a:solidFill>
              </a:rPr>
              <a:t>Builds PEI journeys</a:t>
            </a:r>
            <a:endParaRPr lang="en-US" sz="1050" dirty="0"/>
          </a:p>
        </p:txBody>
      </p:sp>
      <p:sp>
        <p:nvSpPr>
          <p:cNvPr id="24" name="Shape 19"/>
          <p:cNvSpPr/>
          <p:nvPr/>
        </p:nvSpPr>
        <p:spPr>
          <a:xfrm flipH="1">
            <a:off x="3190280" y="4939335"/>
            <a:ext cx="134368" cy="184941"/>
          </a:xfrm>
          <a:prstGeom prst="line">
            <a:avLst/>
          </a:prstGeom>
          <a:noFill/>
          <a:ln w="15875">
            <a:solidFill>
              <a:srgbClr val="FF0068"/>
            </a:solidFill>
            <a:prstDash val="dash"/>
          </a:ln>
        </p:spPr>
      </p:sp>
      <p:sp>
        <p:nvSpPr>
          <p:cNvPr id="25" name="agent-Concierge"/>
          <p:cNvSpPr/>
          <p:nvPr/>
        </p:nvSpPr>
        <p:spPr>
          <a:xfrm>
            <a:off x="2536938" y="5045690"/>
            <a:ext cx="822960" cy="822960"/>
          </a:xfrm>
          <a:prstGeom prst="ellipse">
            <a:avLst/>
          </a:prstGeom>
          <a:solidFill>
            <a:srgbClr val="15151A"/>
          </a:solidFill>
          <a:ln w="22225">
            <a:solidFill>
              <a:srgbClr val="FF0068"/>
            </a:solidFill>
            <a:prstDash val="solid"/>
          </a:ln>
        </p:spPr>
      </p:sp>
      <p:pic>
        <p:nvPicPr>
          <p:cNvPr id="26" name="Image 3" descr="preencoded.png">    </p:cNvPr>
          <p:cNvPicPr>
            <a:picLocks noChangeAspect="1"/>
          </p:cNvPicPr>
          <p:nvPr/>
        </p:nvPicPr>
        <p:blipFill>
          <a:blip r:embed="rId4"/>
          <a:stretch>
            <a:fillRect/>
          </a:stretch>
        </p:blipFill>
        <p:spPr>
          <a:xfrm>
            <a:off x="2774682" y="5283434"/>
            <a:ext cx="347472" cy="347472"/>
          </a:xfrm>
          <a:prstGeom prst="rect">
            <a:avLst/>
          </a:prstGeom>
        </p:spPr>
      </p:pic>
      <p:sp>
        <p:nvSpPr>
          <p:cNvPr id="27" name="Text 21"/>
          <p:cNvSpPr txBox="1"/>
          <p:nvPr/>
        </p:nvSpPr>
        <p:spPr>
          <a:xfrm>
            <a:off x="598410" y="5164562"/>
            <a:ext cx="1828800" cy="274320"/>
          </a:xfrm>
          <a:prstGeom prst="rect">
            <a:avLst/>
          </a:prstGeom>
          <a:noFill/>
          <a:ln/>
        </p:spPr>
        <p:txBody>
          <a:bodyPr wrap="square" lIns="0" tIns="0" rIns="0" bIns="0" rtlCol="0" anchor="t"/>
          <a:lstStyle/>
          <a:p>
            <a:pPr algn="r" indent="0" marL="0">
              <a:buNone/>
            </a:pPr>
            <a:r>
              <a:rPr lang="en-US" sz="1300" b="1" dirty="0">
                <a:solidFill>
                  <a:schemeClr val="bg1"/>
                </a:solidFill>
              </a:rPr>
              <a:t>Concierge</a:t>
            </a:r>
            <a:endParaRPr lang="en-US" sz="1300" dirty="0"/>
          </a:p>
        </p:txBody>
      </p:sp>
      <p:sp>
        <p:nvSpPr>
          <p:cNvPr id="28" name="Text 22"/>
          <p:cNvSpPr txBox="1"/>
          <p:nvPr/>
        </p:nvSpPr>
        <p:spPr>
          <a:xfrm>
            <a:off x="598410" y="5438882"/>
            <a:ext cx="1828800" cy="603504"/>
          </a:xfrm>
          <a:prstGeom prst="rect">
            <a:avLst/>
          </a:prstGeom>
          <a:noFill/>
          <a:ln/>
        </p:spPr>
        <p:txBody>
          <a:bodyPr wrap="square" lIns="0" tIns="0" rIns="0" bIns="0" rtlCol="0" anchor="t"/>
          <a:lstStyle/>
          <a:p>
            <a:pPr algn="r" indent="0" marL="0">
              <a:buNone/>
            </a:pPr>
            <a:r>
              <a:rPr lang="en-US" sz="1050" dirty="0">
                <a:solidFill>
                  <a:srgbClr val="BFBFBF"/>
                </a:solidFill>
              </a:rPr>
              <a:t>Registers and answers on web and SMS</a:t>
            </a:r>
            <a:endParaRPr lang="en-US" sz="1050" dirty="0"/>
          </a:p>
        </p:txBody>
      </p:sp>
      <p:sp>
        <p:nvSpPr>
          <p:cNvPr id="29" name="Shape 23"/>
          <p:cNvSpPr/>
          <p:nvPr/>
        </p:nvSpPr>
        <p:spPr>
          <a:xfrm>
            <a:off x="2675409" y="3539664"/>
            <a:ext cx="217412" cy="70641"/>
          </a:xfrm>
          <a:prstGeom prst="line">
            <a:avLst/>
          </a:prstGeom>
          <a:noFill/>
          <a:ln w="15875">
            <a:solidFill>
              <a:srgbClr val="FED700"/>
            </a:solidFill>
            <a:prstDash val="dash"/>
          </a:ln>
        </p:spPr>
      </p:sp>
      <p:sp>
        <p:nvSpPr>
          <p:cNvPr id="30" name="agent-Insights"/>
          <p:cNvSpPr/>
          <p:nvPr/>
        </p:nvSpPr>
        <p:spPr>
          <a:xfrm>
            <a:off x="1872588" y="3001030"/>
            <a:ext cx="822960" cy="822960"/>
          </a:xfrm>
          <a:prstGeom prst="ellipse">
            <a:avLst/>
          </a:prstGeom>
          <a:solidFill>
            <a:srgbClr val="15151A"/>
          </a:solidFill>
          <a:ln w="22225">
            <a:solidFill>
              <a:srgbClr val="FED700"/>
            </a:solidFill>
            <a:prstDash val="solid"/>
          </a:ln>
        </p:spPr>
      </p:sp>
      <p:pic>
        <p:nvPicPr>
          <p:cNvPr id="31" name="Image 4" descr="preencoded.png">    </p:cNvPr>
          <p:cNvPicPr>
            <a:picLocks noChangeAspect="1"/>
          </p:cNvPicPr>
          <p:nvPr/>
        </p:nvPicPr>
        <p:blipFill>
          <a:blip r:embed="rId5"/>
          <a:stretch>
            <a:fillRect/>
          </a:stretch>
        </p:blipFill>
        <p:spPr>
          <a:xfrm>
            <a:off x="2110332" y="3238774"/>
            <a:ext cx="347472" cy="347472"/>
          </a:xfrm>
          <a:prstGeom prst="rect">
            <a:avLst/>
          </a:prstGeom>
        </p:spPr>
      </p:pic>
      <p:sp>
        <p:nvSpPr>
          <p:cNvPr id="32" name="Text 25"/>
          <p:cNvSpPr txBox="1"/>
          <p:nvPr/>
        </p:nvSpPr>
        <p:spPr>
          <a:xfrm>
            <a:off x="502920" y="3119902"/>
            <a:ext cx="1259940" cy="274320"/>
          </a:xfrm>
          <a:prstGeom prst="rect">
            <a:avLst/>
          </a:prstGeom>
          <a:noFill/>
          <a:ln/>
        </p:spPr>
        <p:txBody>
          <a:bodyPr wrap="square" lIns="0" tIns="0" rIns="0" bIns="0" rtlCol="0" anchor="t"/>
          <a:lstStyle/>
          <a:p>
            <a:pPr algn="r" indent="0" marL="0">
              <a:buNone/>
            </a:pPr>
            <a:r>
              <a:rPr lang="en-US" sz="1300" b="1" dirty="0">
                <a:solidFill>
                  <a:schemeClr val="bg1"/>
                </a:solidFill>
              </a:rPr>
              <a:t>Insights</a:t>
            </a:r>
            <a:endParaRPr lang="en-US" sz="1300" dirty="0"/>
          </a:p>
        </p:txBody>
      </p:sp>
      <p:sp>
        <p:nvSpPr>
          <p:cNvPr id="33" name="Text 26"/>
          <p:cNvSpPr txBox="1"/>
          <p:nvPr/>
        </p:nvSpPr>
        <p:spPr>
          <a:xfrm>
            <a:off x="502920" y="3394222"/>
            <a:ext cx="1259940" cy="603504"/>
          </a:xfrm>
          <a:prstGeom prst="rect">
            <a:avLst/>
          </a:prstGeom>
          <a:noFill/>
          <a:ln/>
        </p:spPr>
        <p:txBody>
          <a:bodyPr wrap="square" lIns="0" tIns="0" rIns="0" bIns="0" rtlCol="0" anchor="t"/>
          <a:lstStyle/>
          <a:p>
            <a:pPr algn="r" indent="0" marL="0">
              <a:buNone/>
            </a:pPr>
            <a:r>
              <a:rPr lang="en-US" sz="1050" dirty="0">
                <a:solidFill>
                  <a:srgbClr val="BFBFBF"/>
                </a:solidFill>
              </a:rPr>
              <a:t>Summarizes feedback and results</a:t>
            </a:r>
            <a:endParaRPr lang="en-US" sz="1050" dirty="0"/>
          </a:p>
        </p:txBody>
      </p:sp>
      <p:sp>
        <p:nvSpPr>
          <p:cNvPr id="34" name="Text 27"/>
          <p:cNvSpPr txBox="1"/>
          <p:nvPr/>
        </p:nvSpPr>
        <p:spPr>
          <a:xfrm>
            <a:off x="7635240" y="1600200"/>
            <a:ext cx="4050792" cy="365760"/>
          </a:xfrm>
          <a:prstGeom prst="rect">
            <a:avLst/>
          </a:prstGeom>
          <a:noFill/>
          <a:ln/>
        </p:spPr>
        <p:txBody>
          <a:bodyPr wrap="square" lIns="0" tIns="0" rIns="0" bIns="0" rtlCol="0" anchor="t"/>
          <a:lstStyle/>
          <a:p>
            <a:pPr indent="0" marL="0">
              <a:buNone/>
            </a:pPr>
            <a:r>
              <a:rPr lang="en-US" sz="1700" b="1" dirty="0">
                <a:solidFill>
                  <a:schemeClr val="bg1"/>
                </a:solidFill>
              </a:rPr>
              <a:t>What the harness controls</a:t>
            </a:r>
            <a:endParaRPr lang="en-US" sz="1700" dirty="0"/>
          </a:p>
        </p:txBody>
      </p:sp>
      <p:pic>
        <p:nvPicPr>
          <p:cNvPr id="35" name="Image 5" descr="preencoded.png">    </p:cNvPr>
          <p:cNvPicPr>
            <a:picLocks noChangeAspect="1"/>
          </p:cNvPicPr>
          <p:nvPr/>
        </p:nvPicPr>
        <p:blipFill>
          <a:blip r:embed="rId6"/>
          <a:stretch>
            <a:fillRect/>
          </a:stretch>
        </p:blipFill>
        <p:spPr>
          <a:xfrm>
            <a:off x="7635240" y="2130552"/>
            <a:ext cx="237744" cy="237744"/>
          </a:xfrm>
          <a:prstGeom prst="rect">
            <a:avLst/>
          </a:prstGeom>
        </p:spPr>
      </p:pic>
      <p:sp>
        <p:nvSpPr>
          <p:cNvPr id="36" name="Text 28"/>
          <p:cNvSpPr txBox="1"/>
          <p:nvPr/>
        </p:nvSpPr>
        <p:spPr>
          <a:xfrm>
            <a:off x="8019288" y="2103120"/>
            <a:ext cx="3666744" cy="310896"/>
          </a:xfrm>
          <a:prstGeom prst="rect">
            <a:avLst/>
          </a:prstGeom>
          <a:noFill/>
          <a:ln/>
        </p:spPr>
        <p:txBody>
          <a:bodyPr wrap="square" lIns="0" tIns="0" rIns="0" bIns="0" rtlCol="0" anchor="ctr"/>
          <a:lstStyle/>
          <a:p>
            <a:pPr indent="0" marL="0">
              <a:buNone/>
            </a:pPr>
            <a:r>
              <a:rPr lang="en-US" sz="1200" dirty="0">
                <a:solidFill>
                  <a:schemeClr val="bg1"/>
                </a:solidFill>
              </a:rPr>
              <a:t>Approved actions only</a:t>
            </a:r>
            <a:endParaRPr lang="en-US" sz="1200" dirty="0"/>
          </a:p>
        </p:txBody>
      </p:sp>
      <p:pic>
        <p:nvPicPr>
          <p:cNvPr id="37" name="Image 6" descr="preencoded.png">    </p:cNvPr>
          <p:cNvPicPr>
            <a:picLocks noChangeAspect="1"/>
          </p:cNvPicPr>
          <p:nvPr/>
        </p:nvPicPr>
        <p:blipFill>
          <a:blip r:embed="rId7"/>
          <a:stretch>
            <a:fillRect/>
          </a:stretch>
        </p:blipFill>
        <p:spPr>
          <a:xfrm>
            <a:off x="7635240" y="2560320"/>
            <a:ext cx="237744" cy="237744"/>
          </a:xfrm>
          <a:prstGeom prst="rect">
            <a:avLst/>
          </a:prstGeom>
        </p:spPr>
      </p:pic>
      <p:sp>
        <p:nvSpPr>
          <p:cNvPr id="38" name="Text 29"/>
          <p:cNvSpPr txBox="1"/>
          <p:nvPr/>
        </p:nvSpPr>
        <p:spPr>
          <a:xfrm>
            <a:off x="8019288" y="2532888"/>
            <a:ext cx="3666744" cy="310896"/>
          </a:xfrm>
          <a:prstGeom prst="rect">
            <a:avLst/>
          </a:prstGeom>
          <a:noFill/>
          <a:ln/>
        </p:spPr>
        <p:txBody>
          <a:bodyPr wrap="square" lIns="0" tIns="0" rIns="0" bIns="0" rtlCol="0" anchor="ctr"/>
          <a:lstStyle/>
          <a:p>
            <a:pPr indent="0" marL="0">
              <a:buNone/>
            </a:pPr>
            <a:r>
              <a:rPr lang="en-US" sz="1200" dirty="0">
                <a:solidFill>
                  <a:schemeClr val="bg1"/>
                </a:solidFill>
              </a:rPr>
              <a:t>Guardrails: consent, patient data, spend limits</a:t>
            </a:r>
            <a:endParaRPr lang="en-US" sz="1200" dirty="0"/>
          </a:p>
        </p:txBody>
      </p:sp>
      <p:pic>
        <p:nvPicPr>
          <p:cNvPr id="39" name="Image 7" descr="preencoded.png">    </p:cNvPr>
          <p:cNvPicPr>
            <a:picLocks noChangeAspect="1"/>
          </p:cNvPicPr>
          <p:nvPr/>
        </p:nvPicPr>
        <p:blipFill>
          <a:blip r:embed="rId8"/>
          <a:stretch>
            <a:fillRect/>
          </a:stretch>
        </p:blipFill>
        <p:spPr>
          <a:xfrm>
            <a:off x="7635240" y="2990088"/>
            <a:ext cx="237744" cy="237744"/>
          </a:xfrm>
          <a:prstGeom prst="rect">
            <a:avLst/>
          </a:prstGeom>
        </p:spPr>
      </p:pic>
      <p:sp>
        <p:nvSpPr>
          <p:cNvPr id="40" name="Text 30"/>
          <p:cNvSpPr txBox="1"/>
          <p:nvPr/>
        </p:nvSpPr>
        <p:spPr>
          <a:xfrm>
            <a:off x="8019288" y="2962656"/>
            <a:ext cx="3666744" cy="310896"/>
          </a:xfrm>
          <a:prstGeom prst="rect">
            <a:avLst/>
          </a:prstGeom>
          <a:noFill/>
          <a:ln/>
        </p:spPr>
        <p:txBody>
          <a:bodyPr wrap="square" lIns="0" tIns="0" rIns="0" bIns="0" rtlCol="0" anchor="ctr"/>
          <a:lstStyle/>
          <a:p>
            <a:pPr indent="0" marL="0">
              <a:buNone/>
            </a:pPr>
            <a:r>
              <a:rPr lang="en-US" sz="1200" dirty="0">
                <a:solidFill>
                  <a:schemeClr val="bg1"/>
                </a:solidFill>
              </a:rPr>
              <a:t>Staff approve anything sent or published</a:t>
            </a:r>
            <a:endParaRPr lang="en-US" sz="1200" dirty="0"/>
          </a:p>
        </p:txBody>
      </p:sp>
      <p:pic>
        <p:nvPicPr>
          <p:cNvPr id="41" name="Image 8" descr="preencoded.png">    </p:cNvPr>
          <p:cNvPicPr>
            <a:picLocks noChangeAspect="1"/>
          </p:cNvPicPr>
          <p:nvPr/>
        </p:nvPicPr>
        <p:blipFill>
          <a:blip r:embed="rId9"/>
          <a:stretch>
            <a:fillRect/>
          </a:stretch>
        </p:blipFill>
        <p:spPr>
          <a:xfrm>
            <a:off x="7635240" y="3419856"/>
            <a:ext cx="237744" cy="237744"/>
          </a:xfrm>
          <a:prstGeom prst="rect">
            <a:avLst/>
          </a:prstGeom>
        </p:spPr>
      </p:pic>
      <p:sp>
        <p:nvSpPr>
          <p:cNvPr id="42" name="Text 31"/>
          <p:cNvSpPr txBox="1"/>
          <p:nvPr/>
        </p:nvSpPr>
        <p:spPr>
          <a:xfrm>
            <a:off x="8019288" y="3392424"/>
            <a:ext cx="3666744" cy="310896"/>
          </a:xfrm>
          <a:prstGeom prst="rect">
            <a:avLst/>
          </a:prstGeom>
          <a:noFill/>
          <a:ln/>
        </p:spPr>
        <p:txBody>
          <a:bodyPr wrap="square" lIns="0" tIns="0" rIns="0" bIns="0" rtlCol="0" anchor="ctr"/>
          <a:lstStyle/>
          <a:p>
            <a:pPr indent="0" marL="0">
              <a:buNone/>
            </a:pPr>
            <a:r>
              <a:rPr lang="en-US" sz="1200" dirty="0">
                <a:solidFill>
                  <a:schemeClr val="bg1"/>
                </a:solidFill>
              </a:rPr>
              <a:t>Least-privilege identity per agent</a:t>
            </a:r>
            <a:endParaRPr lang="en-US" sz="1200" dirty="0"/>
          </a:p>
        </p:txBody>
      </p:sp>
      <p:pic>
        <p:nvPicPr>
          <p:cNvPr id="43" name="Image 9" descr="preencoded.png">    </p:cNvPr>
          <p:cNvPicPr>
            <a:picLocks noChangeAspect="1"/>
          </p:cNvPicPr>
          <p:nvPr/>
        </p:nvPicPr>
        <p:blipFill>
          <a:blip r:embed="rId10"/>
          <a:stretch>
            <a:fillRect/>
          </a:stretch>
        </p:blipFill>
        <p:spPr>
          <a:xfrm>
            <a:off x="7635240" y="3849624"/>
            <a:ext cx="237744" cy="237744"/>
          </a:xfrm>
          <a:prstGeom prst="rect">
            <a:avLst/>
          </a:prstGeom>
        </p:spPr>
      </p:pic>
      <p:sp>
        <p:nvSpPr>
          <p:cNvPr id="44" name="Text 32"/>
          <p:cNvSpPr txBox="1"/>
          <p:nvPr/>
        </p:nvSpPr>
        <p:spPr>
          <a:xfrm>
            <a:off x="8019288" y="3822192"/>
            <a:ext cx="3666744" cy="310896"/>
          </a:xfrm>
          <a:prstGeom prst="rect">
            <a:avLst/>
          </a:prstGeom>
          <a:noFill/>
          <a:ln/>
        </p:spPr>
        <p:txBody>
          <a:bodyPr wrap="square" lIns="0" tIns="0" rIns="0" bIns="0" rtlCol="0" anchor="ctr"/>
          <a:lstStyle/>
          <a:p>
            <a:pPr indent="0" marL="0">
              <a:buNone/>
            </a:pPr>
            <a:r>
              <a:rPr lang="en-US" sz="1200" dirty="0">
                <a:solidFill>
                  <a:schemeClr val="bg1"/>
                </a:solidFill>
              </a:rPr>
              <a:t>Full audit trail of every action</a:t>
            </a:r>
            <a:endParaRPr lang="en-US" sz="1200" dirty="0"/>
          </a:p>
        </p:txBody>
      </p:sp>
      <p:pic>
        <p:nvPicPr>
          <p:cNvPr id="45" name="Image 10" descr="preencoded.png">    </p:cNvPr>
          <p:cNvPicPr>
            <a:picLocks noChangeAspect="1"/>
          </p:cNvPicPr>
          <p:nvPr/>
        </p:nvPicPr>
        <p:blipFill>
          <a:blip r:embed="rId11"/>
          <a:stretch>
            <a:fillRect/>
          </a:stretch>
        </p:blipFill>
        <p:spPr>
          <a:xfrm>
            <a:off x="7635240" y="4279392"/>
            <a:ext cx="237744" cy="237744"/>
          </a:xfrm>
          <a:prstGeom prst="rect">
            <a:avLst/>
          </a:prstGeom>
        </p:spPr>
      </p:pic>
      <p:sp>
        <p:nvSpPr>
          <p:cNvPr id="46" name="Text 33"/>
          <p:cNvSpPr txBox="1"/>
          <p:nvPr/>
        </p:nvSpPr>
        <p:spPr>
          <a:xfrm>
            <a:off x="8019288" y="4251960"/>
            <a:ext cx="3666744" cy="310896"/>
          </a:xfrm>
          <a:prstGeom prst="rect">
            <a:avLst/>
          </a:prstGeom>
          <a:noFill/>
          <a:ln/>
        </p:spPr>
        <p:txBody>
          <a:bodyPr wrap="square" lIns="0" tIns="0" rIns="0" bIns="0" rtlCol="0" anchor="ctr"/>
          <a:lstStyle/>
          <a:p>
            <a:pPr indent="0" marL="0">
              <a:buNone/>
            </a:pPr>
            <a:r>
              <a:rPr lang="en-US" sz="1200" dirty="0">
                <a:solidFill>
                  <a:schemeClr val="bg1"/>
                </a:solidFill>
              </a:rPr>
              <a:t>Tested and evaluated before each release</a:t>
            </a:r>
            <a:endParaRPr lang="en-US" sz="1200" dirty="0"/>
          </a:p>
        </p:txBody>
      </p:sp>
      <p:pic>
        <p:nvPicPr>
          <p:cNvPr id="47" name="Image 11" descr="preencoded.png">    </p:cNvPr>
          <p:cNvPicPr>
            <a:picLocks noChangeAspect="1"/>
          </p:cNvPicPr>
          <p:nvPr/>
        </p:nvPicPr>
        <p:blipFill>
          <a:blip r:embed="rId12"/>
          <a:stretch>
            <a:fillRect/>
          </a:stretch>
        </p:blipFill>
        <p:spPr>
          <a:xfrm>
            <a:off x="7635240" y="4709160"/>
            <a:ext cx="237744" cy="237744"/>
          </a:xfrm>
          <a:prstGeom prst="rect">
            <a:avLst/>
          </a:prstGeom>
        </p:spPr>
      </p:pic>
      <p:sp>
        <p:nvSpPr>
          <p:cNvPr id="48" name="Text 34"/>
          <p:cNvSpPr txBox="1"/>
          <p:nvPr/>
        </p:nvSpPr>
        <p:spPr>
          <a:xfrm>
            <a:off x="8019288" y="4681728"/>
            <a:ext cx="3666744" cy="310896"/>
          </a:xfrm>
          <a:prstGeom prst="rect">
            <a:avLst/>
          </a:prstGeom>
          <a:noFill/>
          <a:ln/>
        </p:spPr>
        <p:txBody>
          <a:bodyPr wrap="square" lIns="0" tIns="0" rIns="0" bIns="0" rtlCol="0" anchor="ctr"/>
          <a:lstStyle/>
          <a:p>
            <a:pPr indent="0" marL="0">
              <a:buNone/>
            </a:pPr>
            <a:r>
              <a:rPr lang="en-US" sz="1200" dirty="0">
                <a:solidFill>
                  <a:schemeClr val="bg1"/>
                </a:solidFill>
              </a:rPr>
              <a:t>Einstein Trust Layer: masking, zero data retention</a:t>
            </a:r>
            <a:endParaRPr lang="en-US" sz="1200" dirty="0"/>
          </a:p>
        </p:txBody>
      </p:sp>
      <p:pic>
        <p:nvPicPr>
          <p:cNvPr id="49" name="Image 12" descr="preencoded.png">    </p:cNvPr>
          <p:cNvPicPr>
            <a:picLocks noChangeAspect="1"/>
          </p:cNvPicPr>
          <p:nvPr/>
        </p:nvPicPr>
        <p:blipFill>
          <a:blip r:embed="rId13"/>
          <a:stretch>
            <a:fillRect/>
          </a:stretch>
        </p:blipFill>
        <p:spPr>
          <a:xfrm>
            <a:off x="7635240" y="5138928"/>
            <a:ext cx="237744" cy="237744"/>
          </a:xfrm>
          <a:prstGeom prst="rect">
            <a:avLst/>
          </a:prstGeom>
        </p:spPr>
      </p:pic>
      <p:sp>
        <p:nvSpPr>
          <p:cNvPr id="50" name="Text 35"/>
          <p:cNvSpPr txBox="1"/>
          <p:nvPr/>
        </p:nvSpPr>
        <p:spPr>
          <a:xfrm>
            <a:off x="8019288" y="5111496"/>
            <a:ext cx="3666744" cy="310896"/>
          </a:xfrm>
          <a:prstGeom prst="rect">
            <a:avLst/>
          </a:prstGeom>
          <a:noFill/>
          <a:ln/>
        </p:spPr>
        <p:txBody>
          <a:bodyPr wrap="square" lIns="0" tIns="0" rIns="0" bIns="0" rtlCol="0" anchor="ctr"/>
          <a:lstStyle/>
          <a:p>
            <a:pPr indent="0" marL="0">
              <a:buNone/>
            </a:pPr>
            <a:r>
              <a:rPr lang="en-US" sz="1200" dirty="0">
                <a:solidFill>
                  <a:schemeClr val="bg1"/>
                </a:solidFill>
              </a:rPr>
              <a:t>Kill switch for any agent</a:t>
            </a:r>
            <a:endParaRPr lang="en-US" sz="1200" dirty="0"/>
          </a:p>
        </p:txBody>
      </p:sp>
      <p:sp>
        <p:nvSpPr>
          <p:cNvPr id="51" name="Text 36"/>
          <p:cNvSpPr txBox="1"/>
          <p:nvPr/>
        </p:nvSpPr>
        <p:spPr>
          <a:xfrm>
            <a:off x="7635240" y="5641848"/>
            <a:ext cx="4050792" cy="228600"/>
          </a:xfrm>
          <a:prstGeom prst="rect">
            <a:avLst/>
          </a:prstGeom>
          <a:noFill/>
          <a:ln/>
        </p:spPr>
        <p:txBody>
          <a:bodyPr wrap="square" lIns="0" tIns="0" rIns="0" bIns="0" rtlCol="0" anchor="t"/>
          <a:lstStyle/>
          <a:p>
            <a:pPr indent="0" marL="0">
              <a:buNone/>
            </a:pPr>
            <a:r>
              <a:rPr lang="en-US" sz="900" b="1" spc="200" kern="0" dirty="0">
                <a:solidFill>
                  <a:srgbClr val="BFBFBF"/>
                </a:solidFill>
              </a:rPr>
              <a:t>AUTONOMY GROWS WITH TRUST</a:t>
            </a:r>
            <a:endParaRPr lang="en-US" sz="900" dirty="0"/>
          </a:p>
        </p:txBody>
      </p:sp>
      <p:sp>
        <p:nvSpPr>
          <p:cNvPr id="52" name="Shape 37"/>
          <p:cNvSpPr/>
          <p:nvPr/>
        </p:nvSpPr>
        <p:spPr>
          <a:xfrm>
            <a:off x="7635240" y="5897880"/>
            <a:ext cx="1261872" cy="310896"/>
          </a:xfrm>
          <a:prstGeom prst="roundRect">
            <a:avLst>
              <a:gd name="adj" fmla="val 50000"/>
            </a:avLst>
          </a:prstGeom>
          <a:ln w="15875">
            <a:solidFill>
              <a:srgbClr val="00D6F2"/>
            </a:solidFill>
            <a:prstDash val="solid"/>
          </a:ln>
        </p:spPr>
      </p:sp>
      <p:sp>
        <p:nvSpPr>
          <p:cNvPr id="53" name="Text 38"/>
          <p:cNvSpPr txBox="1"/>
          <p:nvPr/>
        </p:nvSpPr>
        <p:spPr>
          <a:xfrm>
            <a:off x="76352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Suggest</a:t>
            </a:r>
            <a:endParaRPr lang="en-US" sz="1000" dirty="0"/>
          </a:p>
        </p:txBody>
      </p:sp>
      <p:sp>
        <p:nvSpPr>
          <p:cNvPr id="54" name="Shape 39"/>
          <p:cNvSpPr/>
          <p:nvPr/>
        </p:nvSpPr>
        <p:spPr>
          <a:xfrm>
            <a:off x="9006840" y="5897880"/>
            <a:ext cx="1261872" cy="310896"/>
          </a:xfrm>
          <a:prstGeom prst="roundRect">
            <a:avLst>
              <a:gd name="adj" fmla="val 50000"/>
            </a:avLst>
          </a:prstGeom>
          <a:ln w="15875">
            <a:solidFill>
              <a:srgbClr val="FED700"/>
            </a:solidFill>
            <a:prstDash val="solid"/>
          </a:ln>
        </p:spPr>
      </p:sp>
      <p:sp>
        <p:nvSpPr>
          <p:cNvPr id="55" name="Text 40"/>
          <p:cNvSpPr txBox="1"/>
          <p:nvPr/>
        </p:nvSpPr>
        <p:spPr>
          <a:xfrm>
            <a:off x="90068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 approval</a:t>
            </a:r>
            <a:endParaRPr lang="en-US" sz="1000" dirty="0"/>
          </a:p>
        </p:txBody>
      </p:sp>
      <p:sp>
        <p:nvSpPr>
          <p:cNvPr id="56" name="Shape 41"/>
          <p:cNvSpPr/>
          <p:nvPr/>
        </p:nvSpPr>
        <p:spPr>
          <a:xfrm>
            <a:off x="10378440" y="5897880"/>
            <a:ext cx="1261872" cy="310896"/>
          </a:xfrm>
          <a:prstGeom prst="roundRect">
            <a:avLst>
              <a:gd name="adj" fmla="val 50000"/>
            </a:avLst>
          </a:prstGeom>
          <a:ln w="15875">
            <a:solidFill>
              <a:srgbClr val="FF0068"/>
            </a:solidFill>
            <a:prstDash val="solid"/>
          </a:ln>
        </p:spPr>
      </p:sp>
      <p:sp>
        <p:nvSpPr>
          <p:cNvPr id="57" name="Text 42"/>
          <p:cNvSpPr txBox="1"/>
          <p:nvPr/>
        </p:nvSpPr>
        <p:spPr>
          <a:xfrm>
            <a:off x="10378440" y="5897880"/>
            <a:ext cx="1261872" cy="310896"/>
          </a:xfrm>
          <a:prstGeom prst="rect">
            <a:avLst/>
          </a:prstGeom>
          <a:noFill/>
          <a:ln/>
        </p:spPr>
        <p:txBody>
          <a:bodyPr wrap="square" lIns="0" tIns="0" rIns="0" bIns="0" rtlCol="0" anchor="ctr"/>
          <a:lstStyle/>
          <a:p>
            <a:pPr algn="ctr" indent="0" marL="0">
              <a:buNone/>
            </a:pPr>
            <a:r>
              <a:rPr lang="en-US" sz="1000" b="1" dirty="0">
                <a:solidFill>
                  <a:schemeClr val="bg1"/>
                </a:solidFill>
              </a:rPr>
              <a:t>Act within limits</a:t>
            </a:r>
            <a:endParaRPr lang="en-US" sz="10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tx1"/>
                </a:solidFill>
              </a:rPr>
              <a:t>Investment</a:t>
            </a:r>
            <a:endParaRPr lang="en-US" sz="3200" dirty="0"/>
          </a:p>
        </p:txBody>
      </p:sp>
      <p:sp>
        <p:nvSpPr>
          <p:cNvPr id="3" name="Text 1"/>
          <p:cNvSpPr txBox="1"/>
          <p:nvPr/>
        </p:nvSpPr>
        <p:spPr>
          <a:xfrm>
            <a:off x="502920" y="1298448"/>
            <a:ext cx="8229600" cy="292608"/>
          </a:xfrm>
          <a:prstGeom prst="rect">
            <a:avLst/>
          </a:prstGeom>
          <a:noFill/>
          <a:ln/>
        </p:spPr>
        <p:txBody>
          <a:bodyPr wrap="square" lIns="0" tIns="0" rIns="0" bIns="0" rtlCol="0" anchor="t"/>
          <a:lstStyle/>
          <a:p>
            <a:pPr indent="0" marL="0">
              <a:buNone/>
            </a:pPr>
            <a:r>
              <a:rPr lang="en-US" sz="1400" dirty="0">
                <a:solidFill>
                  <a:srgbClr val="4D4D4D"/>
                </a:solidFill>
              </a:rPr>
              <a:t>Offshore delivery model: fixed scope, four-person pod, 8 weeks</a:t>
            </a:r>
            <a:endParaRPr lang="en-US" sz="1400" dirty="0"/>
          </a:p>
        </p:txBody>
      </p:sp>
      <p:sp>
        <p:nvSpPr>
          <p:cNvPr id="4" name="price-card"/>
          <p:cNvSpPr/>
          <p:nvPr/>
        </p:nvSpPr>
        <p:spPr>
          <a:xfrm>
            <a:off x="502920" y="1783080"/>
            <a:ext cx="4206240" cy="4069080"/>
          </a:xfrm>
          <a:prstGeom prst="roundRect">
            <a:avLst>
              <a:gd name="adj" fmla="val 3146"/>
            </a:avLst>
          </a:prstGeom>
          <a:solidFill>
            <a:srgbClr val="000000"/>
          </a:solidFill>
          <a:ln w="12700">
            <a:solidFill>
              <a:srgbClr val="000000"/>
            </a:solidFill>
            <a:prstDash val="solid"/>
          </a:ln>
        </p:spPr>
      </p:sp>
      <p:sp>
        <p:nvSpPr>
          <p:cNvPr id="5" name="Shape 3"/>
          <p:cNvSpPr/>
          <p:nvPr/>
        </p:nvSpPr>
        <p:spPr>
          <a:xfrm>
            <a:off x="3291840" y="2057400"/>
            <a:ext cx="1097280" cy="292608"/>
          </a:xfrm>
          <a:prstGeom prst="roundRect">
            <a:avLst>
              <a:gd name="adj" fmla="val 50000"/>
            </a:avLst>
          </a:prstGeom>
          <a:ln w="15875">
            <a:solidFill>
              <a:srgbClr val="00D6F2"/>
            </a:solidFill>
            <a:prstDash val="solid"/>
          </a:ln>
        </p:spPr>
      </p:sp>
      <p:sp>
        <p:nvSpPr>
          <p:cNvPr id="6" name="Text 4"/>
          <p:cNvSpPr txBox="1"/>
          <p:nvPr/>
        </p:nvSpPr>
        <p:spPr>
          <a:xfrm>
            <a:off x="3291840" y="2057400"/>
            <a:ext cx="1097280" cy="292608"/>
          </a:xfrm>
          <a:prstGeom prst="rect">
            <a:avLst/>
          </a:prstGeom>
          <a:noFill/>
          <a:ln/>
        </p:spPr>
        <p:txBody>
          <a:bodyPr wrap="square" lIns="0" tIns="0" rIns="0" bIns="0" rtlCol="0" anchor="ctr"/>
          <a:lstStyle/>
          <a:p>
            <a:pPr algn="ctr" indent="0" marL="0">
              <a:buNone/>
            </a:pPr>
            <a:r>
              <a:rPr lang="en-US" sz="950" b="1" spc="200" kern="0" dirty="0">
                <a:solidFill>
                  <a:srgbClr val="00D6F2"/>
                </a:solidFill>
              </a:rPr>
              <a:t>OFFSHORE</a:t>
            </a:r>
            <a:endParaRPr lang="en-US" sz="950" dirty="0"/>
          </a:p>
        </p:txBody>
      </p:sp>
      <p:sp>
        <p:nvSpPr>
          <p:cNvPr id="7" name="Text 5"/>
          <p:cNvSpPr txBox="1"/>
          <p:nvPr/>
        </p:nvSpPr>
        <p:spPr>
          <a:xfrm>
            <a:off x="822960" y="2103120"/>
            <a:ext cx="2377440" cy="219456"/>
          </a:xfrm>
          <a:prstGeom prst="rect">
            <a:avLst/>
          </a:prstGeom>
          <a:noFill/>
          <a:ln/>
        </p:spPr>
        <p:txBody>
          <a:bodyPr wrap="square" lIns="0" tIns="0" rIns="0" bIns="0" rtlCol="0" anchor="t"/>
          <a:lstStyle/>
          <a:p>
            <a:pPr indent="0" marL="0">
              <a:buNone/>
            </a:pPr>
            <a:r>
              <a:rPr lang="en-US" sz="1000" b="1" spc="200" kern="0" dirty="0">
                <a:solidFill>
                  <a:srgbClr val="BFBFBF"/>
                </a:solidFill>
              </a:rPr>
              <a:t>STANDARD PROGRAM VALUE</a:t>
            </a:r>
            <a:endParaRPr lang="en-US" sz="1000" dirty="0"/>
          </a:p>
        </p:txBody>
      </p:sp>
      <p:sp>
        <p:nvSpPr>
          <p:cNvPr id="8" name="Text 6"/>
          <p:cNvSpPr txBox="1"/>
          <p:nvPr/>
        </p:nvSpPr>
        <p:spPr>
          <a:xfrm>
            <a:off x="822960" y="2350008"/>
            <a:ext cx="3566160" cy="548640"/>
          </a:xfrm>
          <a:prstGeom prst="rect">
            <a:avLst/>
          </a:prstGeom>
          <a:noFill/>
          <a:ln/>
        </p:spPr>
        <p:txBody>
          <a:bodyPr wrap="square" lIns="0" tIns="0" rIns="0" bIns="0" rtlCol="0" anchor="t"/>
          <a:lstStyle/>
          <a:p>
            <a:pPr indent="0" marL="0">
              <a:buNone/>
            </a:pPr>
            <a:r>
              <a:rPr lang="en-US" sz="3000" strike="sngStrike" dirty="0">
                <a:solidFill>
                  <a:srgbClr val="8C8C8C"/>
                </a:solidFill>
                <a:latin typeface="Trenda IG Text Light" pitchFamily="34" charset="0"/>
                <a:ea typeface="Trenda IG Text Light" pitchFamily="34" charset="-122"/>
                <a:cs typeface="Trenda IG Text Light" pitchFamily="34" charset="-120"/>
              </a:rPr>
              <a:t>$120,000</a:t>
            </a:r>
            <a:endParaRPr lang="en-US" sz="3000" dirty="0"/>
          </a:p>
        </p:txBody>
      </p:sp>
      <p:sp>
        <p:nvSpPr>
          <p:cNvPr id="9" name="Shape 7"/>
          <p:cNvSpPr/>
          <p:nvPr/>
        </p:nvSpPr>
        <p:spPr>
          <a:xfrm>
            <a:off x="822960" y="3108960"/>
            <a:ext cx="3566160" cy="0"/>
          </a:xfrm>
          <a:prstGeom prst="line">
            <a:avLst/>
          </a:prstGeom>
          <a:noFill/>
          <a:ln w="9525">
            <a:solidFill>
              <a:srgbClr val="444444"/>
            </a:solidFill>
            <a:prstDash val="solid"/>
          </a:ln>
        </p:spPr>
      </p:sp>
      <p:sp>
        <p:nvSpPr>
          <p:cNvPr id="10" name="Text 8"/>
          <p:cNvSpPr txBox="1"/>
          <p:nvPr/>
        </p:nvSpPr>
        <p:spPr>
          <a:xfrm>
            <a:off x="822960" y="3291840"/>
            <a:ext cx="3566160" cy="219456"/>
          </a:xfrm>
          <a:prstGeom prst="rect">
            <a:avLst/>
          </a:prstGeom>
          <a:noFill/>
          <a:ln/>
        </p:spPr>
        <p:txBody>
          <a:bodyPr wrap="square" lIns="0" tIns="0" rIns="0" bIns="0" rtlCol="0" anchor="t"/>
          <a:lstStyle/>
          <a:p>
            <a:pPr indent="0" marL="0">
              <a:buNone/>
            </a:pPr>
            <a:r>
              <a:rPr lang="en-US" sz="1000" b="1" spc="200" kern="0" dirty="0">
                <a:solidFill>
                  <a:srgbClr val="00D6F2"/>
                </a:solidFill>
              </a:rPr>
              <a:t>STRATEGIC PARTNER INVESTMENT</a:t>
            </a:r>
            <a:endParaRPr lang="en-US" sz="1000" dirty="0"/>
          </a:p>
        </p:txBody>
      </p:sp>
      <p:sp>
        <p:nvSpPr>
          <p:cNvPr id="11" name="Text 9"/>
          <p:cNvSpPr txBox="1"/>
          <p:nvPr/>
        </p:nvSpPr>
        <p:spPr>
          <a:xfrm>
            <a:off x="822960" y="3566160"/>
            <a:ext cx="3566160" cy="914400"/>
          </a:xfrm>
          <a:prstGeom prst="rect">
            <a:avLst/>
          </a:prstGeom>
          <a:noFill/>
          <a:ln/>
        </p:spPr>
        <p:txBody>
          <a:bodyPr wrap="square" lIns="0" tIns="0" rIns="0" bIns="0" rtlCol="0" anchor="t"/>
          <a:lstStyle/>
          <a:p>
            <a:pPr indent="0" marL="0">
              <a:buNone/>
            </a:pPr>
            <a:r>
              <a:rPr lang="en-US" sz="5400" dirty="0">
                <a:solidFill>
                  <a:srgbClr val="FFFFFF"/>
                </a:solidFill>
                <a:latin typeface="Trenda IG Text Light" pitchFamily="34" charset="0"/>
                <a:ea typeface="Trenda IG Text Light" pitchFamily="34" charset="-122"/>
                <a:cs typeface="Trenda IG Text Light" pitchFamily="34" charset="-120"/>
              </a:rPr>
              <a:t>$60,000</a:t>
            </a:r>
            <a:endParaRPr lang="en-US" sz="5400" dirty="0"/>
          </a:p>
        </p:txBody>
      </p:sp>
      <p:sp>
        <p:nvSpPr>
          <p:cNvPr id="12" name="Shape 10"/>
          <p:cNvSpPr/>
          <p:nvPr/>
        </p:nvSpPr>
        <p:spPr>
          <a:xfrm>
            <a:off x="822960" y="4617720"/>
            <a:ext cx="3108960" cy="384048"/>
          </a:xfrm>
          <a:prstGeom prst="roundRect">
            <a:avLst>
              <a:gd name="adj" fmla="val 50000"/>
            </a:avLst>
          </a:prstGeom>
          <a:solidFill>
            <a:srgbClr val="FF0068"/>
          </a:solidFill>
          <a:ln w="12700">
            <a:solidFill>
              <a:srgbClr val="FF0068"/>
            </a:solidFill>
            <a:prstDash val="solid"/>
          </a:ln>
        </p:spPr>
      </p:sp>
      <p:sp>
        <p:nvSpPr>
          <p:cNvPr id="13" name="Text 11"/>
          <p:cNvSpPr txBox="1"/>
          <p:nvPr/>
        </p:nvSpPr>
        <p:spPr>
          <a:xfrm>
            <a:off x="822960" y="4617720"/>
            <a:ext cx="3108960" cy="384048"/>
          </a:xfrm>
          <a:prstGeom prst="rect">
            <a:avLst/>
          </a:prstGeom>
          <a:noFill/>
          <a:ln/>
        </p:spPr>
        <p:txBody>
          <a:bodyPr wrap="square" lIns="0" tIns="0" rIns="0" bIns="0" rtlCol="0" anchor="ctr"/>
          <a:lstStyle/>
          <a:p>
            <a:pPr algn="ctr" indent="0" marL="0">
              <a:buNone/>
            </a:pPr>
            <a:r>
              <a:rPr lang="en-US" sz="1200" b="1" dirty="0">
                <a:solidFill>
                  <a:srgbClr val="FFFFFF"/>
                </a:solidFill>
              </a:rPr>
              <a:t>50% partnership credit, applied upfront</a:t>
            </a:r>
            <a:endParaRPr lang="en-US" sz="1200" dirty="0"/>
          </a:p>
        </p:txBody>
      </p:sp>
      <p:sp>
        <p:nvSpPr>
          <p:cNvPr id="14" name="Text 12"/>
          <p:cNvSpPr txBox="1"/>
          <p:nvPr/>
        </p:nvSpPr>
        <p:spPr>
          <a:xfrm>
            <a:off x="822960" y="5184648"/>
            <a:ext cx="3566160" cy="274320"/>
          </a:xfrm>
          <a:prstGeom prst="rect">
            <a:avLst/>
          </a:prstGeom>
          <a:noFill/>
          <a:ln/>
        </p:spPr>
        <p:txBody>
          <a:bodyPr wrap="square" lIns="0" tIns="0" rIns="0" bIns="0" rtlCol="0" anchor="t"/>
          <a:lstStyle/>
          <a:p>
            <a:pPr indent="0" marL="0">
              <a:buNone/>
            </a:pPr>
            <a:r>
              <a:rPr lang="en-US" sz="1200" dirty="0">
                <a:solidFill>
                  <a:srgbClr val="D9D9D9"/>
                </a:solidFill>
              </a:rPr>
              <a:t>You save $60,000 on the full program</a:t>
            </a:r>
            <a:endParaRPr lang="en-US" sz="1200" dirty="0"/>
          </a:p>
        </p:txBody>
      </p:sp>
      <p:sp>
        <p:nvSpPr>
          <p:cNvPr id="15" name="Text 13"/>
          <p:cNvSpPr txBox="1"/>
          <p:nvPr/>
        </p:nvSpPr>
        <p:spPr>
          <a:xfrm>
            <a:off x="5129784" y="1783080"/>
            <a:ext cx="3182112" cy="329184"/>
          </a:xfrm>
          <a:prstGeom prst="rect">
            <a:avLst/>
          </a:prstGeom>
          <a:noFill/>
          <a:ln/>
        </p:spPr>
        <p:txBody>
          <a:bodyPr wrap="square" lIns="0" tIns="0" rIns="0" bIns="0" rtlCol="0" anchor="ctr"/>
          <a:lstStyle/>
          <a:p>
            <a:pPr algn="l" indent="0" marL="0">
              <a:buNone/>
            </a:pPr>
            <a:r>
              <a:rPr lang="en-US" sz="1200" b="1" dirty="0">
                <a:solidFill>
                  <a:srgbClr val="000000"/>
                </a:solidFill>
              </a:rPr>
              <a:t>Phase</a:t>
            </a:r>
            <a:endParaRPr lang="en-US" sz="1200" dirty="0"/>
          </a:p>
        </p:txBody>
      </p:sp>
      <p:sp>
        <p:nvSpPr>
          <p:cNvPr id="16" name="Text 14"/>
          <p:cNvSpPr txBox="1"/>
          <p:nvPr/>
        </p:nvSpPr>
        <p:spPr>
          <a:xfrm>
            <a:off x="8421624" y="1783080"/>
            <a:ext cx="896112" cy="329184"/>
          </a:xfrm>
          <a:prstGeom prst="rect">
            <a:avLst/>
          </a:prstGeom>
          <a:noFill/>
          <a:ln/>
        </p:spPr>
        <p:txBody>
          <a:bodyPr wrap="square" lIns="0" tIns="0" rIns="0" bIns="0" rtlCol="0" anchor="ctr"/>
          <a:lstStyle/>
          <a:p>
            <a:pPr algn="l" indent="0" marL="0">
              <a:buNone/>
            </a:pPr>
            <a:r>
              <a:rPr lang="en-US" sz="1200" b="1" dirty="0">
                <a:solidFill>
                  <a:srgbClr val="000000"/>
                </a:solidFill>
              </a:rPr>
              <a:t>Weeks</a:t>
            </a:r>
            <a:endParaRPr lang="en-US" sz="1200" dirty="0"/>
          </a:p>
        </p:txBody>
      </p:sp>
      <p:sp>
        <p:nvSpPr>
          <p:cNvPr id="17" name="Text 15"/>
          <p:cNvSpPr txBox="1"/>
          <p:nvPr/>
        </p:nvSpPr>
        <p:spPr>
          <a:xfrm>
            <a:off x="9427464" y="1783080"/>
            <a:ext cx="1078992" cy="329184"/>
          </a:xfrm>
          <a:prstGeom prst="rect">
            <a:avLst/>
          </a:prstGeom>
          <a:noFill/>
          <a:ln/>
        </p:spPr>
        <p:txBody>
          <a:bodyPr wrap="square" lIns="0" tIns="0" rIns="0" bIns="0" rtlCol="0" anchor="ctr"/>
          <a:lstStyle/>
          <a:p>
            <a:pPr algn="r" indent="0" marL="0">
              <a:buNone/>
            </a:pPr>
            <a:r>
              <a:rPr lang="en-US" sz="1200" b="1" dirty="0">
                <a:solidFill>
                  <a:srgbClr val="000000"/>
                </a:solidFill>
              </a:rPr>
              <a:t>Standard</a:t>
            </a:r>
            <a:endParaRPr lang="en-US" sz="1200" dirty="0"/>
          </a:p>
        </p:txBody>
      </p:sp>
      <p:sp>
        <p:nvSpPr>
          <p:cNvPr id="18" name="Text 16"/>
          <p:cNvSpPr txBox="1"/>
          <p:nvPr/>
        </p:nvSpPr>
        <p:spPr>
          <a:xfrm>
            <a:off x="10616184" y="1783080"/>
            <a:ext cx="1014984" cy="329184"/>
          </a:xfrm>
          <a:prstGeom prst="rect">
            <a:avLst/>
          </a:prstGeom>
          <a:noFill/>
          <a:ln/>
        </p:spPr>
        <p:txBody>
          <a:bodyPr wrap="square" lIns="0" tIns="0" rIns="0" bIns="0" rtlCol="0" anchor="ctr"/>
          <a:lstStyle/>
          <a:p>
            <a:pPr algn="r" indent="0" marL="0">
              <a:buNone/>
            </a:pPr>
            <a:r>
              <a:rPr lang="en-US" sz="1200" b="1" dirty="0">
                <a:solidFill>
                  <a:srgbClr val="000000"/>
                </a:solidFill>
              </a:rPr>
              <a:t>Partner</a:t>
            </a:r>
            <a:endParaRPr lang="en-US" sz="1200" dirty="0"/>
          </a:p>
        </p:txBody>
      </p:sp>
      <p:sp>
        <p:nvSpPr>
          <p:cNvPr id="19" name="Shape 17"/>
          <p:cNvSpPr/>
          <p:nvPr/>
        </p:nvSpPr>
        <p:spPr>
          <a:xfrm>
            <a:off x="5074920" y="2112264"/>
            <a:ext cx="6611112" cy="0"/>
          </a:xfrm>
          <a:prstGeom prst="line">
            <a:avLst/>
          </a:prstGeom>
          <a:noFill/>
          <a:ln w="15875">
            <a:solidFill>
              <a:srgbClr val="000000"/>
            </a:solidFill>
            <a:prstDash val="solid"/>
          </a:ln>
        </p:spPr>
      </p:sp>
      <p:sp>
        <p:nvSpPr>
          <p:cNvPr id="20" name="Text 18"/>
          <p:cNvSpPr txBox="1"/>
          <p:nvPr/>
        </p:nvSpPr>
        <p:spPr>
          <a:xfrm>
            <a:off x="5129784" y="21122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Assess and design</a:t>
            </a:r>
            <a:endParaRPr lang="en-US" sz="1200" dirty="0"/>
          </a:p>
        </p:txBody>
      </p:sp>
      <p:sp>
        <p:nvSpPr>
          <p:cNvPr id="21" name="Text 19"/>
          <p:cNvSpPr txBox="1"/>
          <p:nvPr/>
        </p:nvSpPr>
        <p:spPr>
          <a:xfrm>
            <a:off x="8421624" y="21122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1-2</a:t>
            </a:r>
            <a:endParaRPr lang="en-US" sz="1200" dirty="0"/>
          </a:p>
        </p:txBody>
      </p:sp>
      <p:sp>
        <p:nvSpPr>
          <p:cNvPr id="22" name="Text 20"/>
          <p:cNvSpPr txBox="1"/>
          <p:nvPr/>
        </p:nvSpPr>
        <p:spPr>
          <a:xfrm>
            <a:off x="9427464" y="21122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$30,000</a:t>
            </a:r>
            <a:endParaRPr lang="en-US" sz="1200" dirty="0"/>
          </a:p>
        </p:txBody>
      </p:sp>
      <p:sp>
        <p:nvSpPr>
          <p:cNvPr id="23" name="Text 21"/>
          <p:cNvSpPr txBox="1"/>
          <p:nvPr/>
        </p:nvSpPr>
        <p:spPr>
          <a:xfrm>
            <a:off x="10616184" y="21122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$15,000</a:t>
            </a:r>
            <a:endParaRPr lang="en-US" sz="1200" dirty="0"/>
          </a:p>
        </p:txBody>
      </p:sp>
      <p:sp>
        <p:nvSpPr>
          <p:cNvPr id="24" name="Shape 22"/>
          <p:cNvSpPr/>
          <p:nvPr/>
        </p:nvSpPr>
        <p:spPr>
          <a:xfrm>
            <a:off x="5074920" y="2569464"/>
            <a:ext cx="6611112" cy="0"/>
          </a:xfrm>
          <a:prstGeom prst="line">
            <a:avLst/>
          </a:prstGeom>
          <a:noFill/>
          <a:ln w="9525">
            <a:solidFill>
              <a:srgbClr val="A0A0A8"/>
            </a:solidFill>
            <a:prstDash val="sysDot"/>
          </a:ln>
        </p:spPr>
      </p:sp>
      <p:sp>
        <p:nvSpPr>
          <p:cNvPr id="25" name="Text 23"/>
          <p:cNvSpPr txBox="1"/>
          <p:nvPr/>
        </p:nvSpPr>
        <p:spPr>
          <a:xfrm>
            <a:off x="5129784" y="2569464"/>
            <a:ext cx="3182112" cy="457200"/>
          </a:xfrm>
          <a:prstGeom prst="rect">
            <a:avLst/>
          </a:prstGeom>
          <a:noFill/>
          <a:ln/>
        </p:spPr>
        <p:txBody>
          <a:bodyPr wrap="square" lIns="0" tIns="0" rIns="0" bIns="0" rtlCol="0" anchor="ctr"/>
          <a:lstStyle/>
          <a:p>
            <a:pPr algn="l" indent="0" marL="0">
              <a:buNone/>
            </a:pPr>
            <a:r>
              <a:rPr lang="en-US" sz="1200" dirty="0">
                <a:solidFill>
                  <a:srgbClr val="000000"/>
                </a:solidFill>
              </a:rPr>
              <a:t>Build, test and go live</a:t>
            </a:r>
            <a:endParaRPr lang="en-US" sz="1200" dirty="0"/>
          </a:p>
        </p:txBody>
      </p:sp>
      <p:sp>
        <p:nvSpPr>
          <p:cNvPr id="26" name="Text 24"/>
          <p:cNvSpPr txBox="1"/>
          <p:nvPr/>
        </p:nvSpPr>
        <p:spPr>
          <a:xfrm>
            <a:off x="8421624" y="2569464"/>
            <a:ext cx="896112" cy="457200"/>
          </a:xfrm>
          <a:prstGeom prst="rect">
            <a:avLst/>
          </a:prstGeom>
          <a:noFill/>
          <a:ln/>
        </p:spPr>
        <p:txBody>
          <a:bodyPr wrap="square" lIns="0" tIns="0" rIns="0" bIns="0" rtlCol="0" anchor="ctr"/>
          <a:lstStyle/>
          <a:p>
            <a:pPr algn="l" indent="0" marL="0">
              <a:buNone/>
            </a:pPr>
            <a:r>
              <a:rPr lang="en-US" sz="1200" dirty="0">
                <a:solidFill>
                  <a:srgbClr val="000000"/>
                </a:solidFill>
              </a:rPr>
              <a:t>3-8</a:t>
            </a:r>
            <a:endParaRPr lang="en-US" sz="1200" dirty="0"/>
          </a:p>
        </p:txBody>
      </p:sp>
      <p:sp>
        <p:nvSpPr>
          <p:cNvPr id="27" name="Text 25"/>
          <p:cNvSpPr txBox="1"/>
          <p:nvPr/>
        </p:nvSpPr>
        <p:spPr>
          <a:xfrm>
            <a:off x="9427464" y="2569464"/>
            <a:ext cx="1078992" cy="457200"/>
          </a:xfrm>
          <a:prstGeom prst="rect">
            <a:avLst/>
          </a:prstGeom>
          <a:noFill/>
          <a:ln/>
        </p:spPr>
        <p:txBody>
          <a:bodyPr wrap="square" lIns="0" tIns="0" rIns="0" bIns="0" rtlCol="0" anchor="ctr"/>
          <a:lstStyle/>
          <a:p>
            <a:pPr algn="r" indent="0" marL="0">
              <a:buNone/>
            </a:pPr>
            <a:r>
              <a:rPr lang="en-US" sz="1200" strike="sngStrike" dirty="0">
                <a:solidFill>
                  <a:srgbClr val="8C8C8C"/>
                </a:solidFill>
              </a:rPr>
              <a:t>$90,000</a:t>
            </a:r>
            <a:endParaRPr lang="en-US" sz="1200" dirty="0"/>
          </a:p>
        </p:txBody>
      </p:sp>
      <p:sp>
        <p:nvSpPr>
          <p:cNvPr id="28" name="Text 26"/>
          <p:cNvSpPr txBox="1"/>
          <p:nvPr/>
        </p:nvSpPr>
        <p:spPr>
          <a:xfrm>
            <a:off x="10616184" y="25694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$45,000</a:t>
            </a:r>
            <a:endParaRPr lang="en-US" sz="1200" dirty="0"/>
          </a:p>
        </p:txBody>
      </p:sp>
      <p:sp>
        <p:nvSpPr>
          <p:cNvPr id="29" name="Shape 27"/>
          <p:cNvSpPr/>
          <p:nvPr/>
        </p:nvSpPr>
        <p:spPr>
          <a:xfrm>
            <a:off x="5074920" y="3026664"/>
            <a:ext cx="6611112" cy="0"/>
          </a:xfrm>
          <a:prstGeom prst="line">
            <a:avLst/>
          </a:prstGeom>
          <a:noFill/>
          <a:ln w="15875">
            <a:solidFill>
              <a:srgbClr val="000000"/>
            </a:solidFill>
            <a:prstDash val="solid"/>
          </a:ln>
        </p:spPr>
      </p:sp>
      <p:sp>
        <p:nvSpPr>
          <p:cNvPr id="30" name="Text 28"/>
          <p:cNvSpPr txBox="1"/>
          <p:nvPr/>
        </p:nvSpPr>
        <p:spPr>
          <a:xfrm>
            <a:off x="5129784" y="3026664"/>
            <a:ext cx="3182112" cy="457200"/>
          </a:xfrm>
          <a:prstGeom prst="rect">
            <a:avLst/>
          </a:prstGeom>
          <a:noFill/>
          <a:ln/>
        </p:spPr>
        <p:txBody>
          <a:bodyPr wrap="square" lIns="0" tIns="0" rIns="0" bIns="0" rtlCol="0" anchor="ctr"/>
          <a:lstStyle/>
          <a:p>
            <a:pPr algn="l" indent="0" marL="0">
              <a:buNone/>
            </a:pPr>
            <a:r>
              <a:rPr lang="en-US" sz="1200" b="1" dirty="0">
                <a:solidFill>
                  <a:srgbClr val="000000"/>
                </a:solidFill>
              </a:rPr>
              <a:t>Total program</a:t>
            </a:r>
            <a:endParaRPr lang="en-US" sz="1200" dirty="0"/>
          </a:p>
        </p:txBody>
      </p:sp>
      <p:sp>
        <p:nvSpPr>
          <p:cNvPr id="31" name="Text 29"/>
          <p:cNvSpPr txBox="1"/>
          <p:nvPr/>
        </p:nvSpPr>
        <p:spPr>
          <a:xfrm>
            <a:off x="8421624" y="3026664"/>
            <a:ext cx="896112" cy="457200"/>
          </a:xfrm>
          <a:prstGeom prst="rect">
            <a:avLst/>
          </a:prstGeom>
          <a:noFill/>
          <a:ln/>
        </p:spPr>
        <p:txBody>
          <a:bodyPr wrap="square" lIns="0" tIns="0" rIns="0" bIns="0" rtlCol="0" anchor="ctr"/>
          <a:lstStyle/>
          <a:p>
            <a:pPr algn="l" indent="0" marL="0">
              <a:buNone/>
            </a:pPr>
            <a:r>
              <a:rPr lang="en-US" sz="1200" b="1" dirty="0">
                <a:solidFill>
                  <a:srgbClr val="000000"/>
                </a:solidFill>
              </a:rPr>
              <a:t>8</a:t>
            </a:r>
            <a:endParaRPr lang="en-US" sz="1200" dirty="0"/>
          </a:p>
        </p:txBody>
      </p:sp>
      <p:sp>
        <p:nvSpPr>
          <p:cNvPr id="32" name="Text 30"/>
          <p:cNvSpPr txBox="1"/>
          <p:nvPr/>
        </p:nvSpPr>
        <p:spPr>
          <a:xfrm>
            <a:off x="9427464" y="3026664"/>
            <a:ext cx="1078992" cy="457200"/>
          </a:xfrm>
          <a:prstGeom prst="rect">
            <a:avLst/>
          </a:prstGeom>
          <a:noFill/>
          <a:ln/>
        </p:spPr>
        <p:txBody>
          <a:bodyPr wrap="square" lIns="0" tIns="0" rIns="0" bIns="0" rtlCol="0" anchor="ctr"/>
          <a:lstStyle/>
          <a:p>
            <a:pPr algn="r" indent="0" marL="0">
              <a:buNone/>
            </a:pPr>
            <a:r>
              <a:rPr lang="en-US" sz="1200" b="1" strike="sngStrike" dirty="0">
                <a:solidFill>
                  <a:srgbClr val="8C8C8C"/>
                </a:solidFill>
              </a:rPr>
              <a:t>$120,000</a:t>
            </a:r>
            <a:endParaRPr lang="en-US" sz="1200" dirty="0"/>
          </a:p>
        </p:txBody>
      </p:sp>
      <p:sp>
        <p:nvSpPr>
          <p:cNvPr id="33" name="Text 31"/>
          <p:cNvSpPr txBox="1"/>
          <p:nvPr/>
        </p:nvSpPr>
        <p:spPr>
          <a:xfrm>
            <a:off x="10616184" y="3026664"/>
            <a:ext cx="1014984" cy="457200"/>
          </a:xfrm>
          <a:prstGeom prst="rect">
            <a:avLst/>
          </a:prstGeom>
          <a:noFill/>
          <a:ln/>
        </p:spPr>
        <p:txBody>
          <a:bodyPr wrap="square" lIns="0" tIns="0" rIns="0" bIns="0" rtlCol="0" anchor="ctr"/>
          <a:lstStyle/>
          <a:p>
            <a:pPr algn="r" indent="0" marL="0">
              <a:buNone/>
            </a:pPr>
            <a:r>
              <a:rPr lang="en-US" sz="1200" b="1" dirty="0">
                <a:solidFill>
                  <a:srgbClr val="000000"/>
                </a:solidFill>
              </a:rPr>
              <a:t>$60,000</a:t>
            </a:r>
            <a:endParaRPr lang="en-US" sz="1200" dirty="0"/>
          </a:p>
        </p:txBody>
      </p:sp>
      <p:sp>
        <p:nvSpPr>
          <p:cNvPr id="34" name="Shape 32"/>
          <p:cNvSpPr/>
          <p:nvPr/>
        </p:nvSpPr>
        <p:spPr>
          <a:xfrm>
            <a:off x="5074920" y="3483864"/>
            <a:ext cx="6611112" cy="0"/>
          </a:xfrm>
          <a:prstGeom prst="line">
            <a:avLst/>
          </a:prstGeom>
          <a:noFill/>
          <a:ln w="9525">
            <a:solidFill>
              <a:srgbClr val="A0A0A8"/>
            </a:solidFill>
            <a:prstDash val="sysDot"/>
          </a:ln>
        </p:spPr>
      </p:sp>
      <p:sp>
        <p:nvSpPr>
          <p:cNvPr id="35" name="Text 33"/>
          <p:cNvSpPr txBox="1"/>
          <p:nvPr/>
        </p:nvSpPr>
        <p:spPr>
          <a:xfrm>
            <a:off x="5074920" y="3703320"/>
            <a:ext cx="3200400" cy="274320"/>
          </a:xfrm>
          <a:prstGeom prst="rect">
            <a:avLst/>
          </a:prstGeom>
          <a:noFill/>
          <a:ln/>
        </p:spPr>
        <p:txBody>
          <a:bodyPr wrap="square" lIns="0" tIns="0" rIns="0" bIns="0" rtlCol="0" anchor="t"/>
          <a:lstStyle/>
          <a:p>
            <a:pPr indent="0" marL="0">
              <a:buNone/>
            </a:pPr>
            <a:r>
              <a:rPr lang="en-US" sz="1400" b="1" dirty="0">
                <a:solidFill>
                  <a:srgbClr val="000000"/>
                </a:solidFill>
              </a:rPr>
              <a:t>Included</a:t>
            </a:r>
            <a:endParaRPr lang="en-US" sz="1400" dirty="0"/>
          </a:p>
        </p:txBody>
      </p:sp>
      <p:sp>
        <p:nvSpPr>
          <p:cNvPr id="36" name="Text 34"/>
          <p:cNvSpPr txBox="1"/>
          <p:nvPr/>
        </p:nvSpPr>
        <p:spPr>
          <a:xfrm>
            <a:off x="5074920" y="4032504"/>
            <a:ext cx="3291840"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Dedicated four-person offshore pod for 8 weeks</a:t>
            </a:r>
            <a:endParaRPr lang="en-US" sz="1100" dirty="0"/>
          </a:p>
          <a:p>
            <a:pPr marL="342900" indent="-342900">
              <a:spcAft>
                <a:spcPts val="400"/>
              </a:spcAft>
              <a:buSzPct val="100000"/>
              <a:buChar char="•"/>
            </a:pPr>
            <a:r>
              <a:rPr lang="en-US" sz="1100" dirty="0">
                <a:solidFill>
                  <a:srgbClr val="4D4D4D"/>
                </a:solidFill>
              </a:rPr>
              <a:t>Sprint demos and milestone sign-offs</a:t>
            </a:r>
            <a:endParaRPr lang="en-US" sz="1100" dirty="0"/>
          </a:p>
          <a:p>
            <a:pPr marL="342900" indent="-342900">
              <a:spcAft>
                <a:spcPts val="400"/>
              </a:spcAft>
              <a:buSzPct val="100000"/>
              <a:buChar char="•"/>
            </a:pPr>
            <a:r>
              <a:rPr lang="en-US" sz="1100" dirty="0">
                <a:solidFill>
                  <a:srgbClr val="4D4D4D"/>
                </a:solidFill>
              </a:rPr>
              <a:t>Testing, load testing, go-live and hypercare</a:t>
            </a:r>
            <a:endParaRPr lang="en-US" sz="1100" dirty="0"/>
          </a:p>
          <a:p>
            <a:pPr marL="342900" indent="-342900">
              <a:spcAft>
                <a:spcPts val="400"/>
              </a:spcAft>
              <a:buSzPct val="100000"/>
              <a:buChar char="•"/>
            </a:pPr>
            <a:r>
              <a:rPr lang="en-US" sz="1100" dirty="0">
                <a:solidFill>
                  <a:srgbClr val="4D4D4D"/>
                </a:solidFill>
              </a:rPr>
              <a:t>Documentation and handover to your admins</a:t>
            </a:r>
            <a:endParaRPr lang="en-US" sz="1100" dirty="0"/>
          </a:p>
        </p:txBody>
      </p:sp>
      <p:sp>
        <p:nvSpPr>
          <p:cNvPr id="37" name="Text 35"/>
          <p:cNvSpPr txBox="1"/>
          <p:nvPr/>
        </p:nvSpPr>
        <p:spPr>
          <a:xfrm>
            <a:off x="8595360" y="3703320"/>
            <a:ext cx="3108960" cy="274320"/>
          </a:xfrm>
          <a:prstGeom prst="rect">
            <a:avLst/>
          </a:prstGeom>
          <a:noFill/>
          <a:ln/>
        </p:spPr>
        <p:txBody>
          <a:bodyPr wrap="square" lIns="0" tIns="0" rIns="0" bIns="0" rtlCol="0" anchor="t"/>
          <a:lstStyle/>
          <a:p>
            <a:pPr indent="0" marL="0">
              <a:buNone/>
            </a:pPr>
            <a:r>
              <a:rPr lang="en-US" sz="1400" b="1" dirty="0">
                <a:solidFill>
                  <a:srgbClr val="000000"/>
                </a:solidFill>
              </a:rPr>
              <a:t>Not included</a:t>
            </a:r>
            <a:endParaRPr lang="en-US" sz="1400" dirty="0"/>
          </a:p>
        </p:txBody>
      </p:sp>
      <p:sp>
        <p:nvSpPr>
          <p:cNvPr id="38" name="Text 36"/>
          <p:cNvSpPr txBox="1"/>
          <p:nvPr/>
        </p:nvSpPr>
        <p:spPr>
          <a:xfrm>
            <a:off x="8595360" y="4032504"/>
            <a:ext cx="3090672" cy="1463040"/>
          </a:xfrm>
          <a:prstGeom prst="rect">
            <a:avLst/>
          </a:prstGeom>
          <a:noFill/>
          <a:ln/>
        </p:spPr>
        <p:txBody>
          <a:bodyPr wrap="square" lIns="0" tIns="0" rIns="0" bIns="0" rtlCol="0" anchor="t"/>
          <a:lstStyle/>
          <a:p>
            <a:pPr marL="342900" indent="-342900">
              <a:spcAft>
                <a:spcPts val="400"/>
              </a:spcAft>
              <a:buSzPct val="100000"/>
              <a:buChar char="•"/>
            </a:pPr>
            <a:r>
              <a:rPr lang="en-US" sz="1100" dirty="0">
                <a:solidFill>
                  <a:srgbClr val="4D4D4D"/>
                </a:solidFill>
              </a:rPr>
              <a:t>Salesforce licenses</a:t>
            </a:r>
            <a:endParaRPr lang="en-US" sz="1100" dirty="0"/>
          </a:p>
          <a:p>
            <a:pPr marL="342900" indent="-342900">
              <a:spcAft>
                <a:spcPts val="400"/>
              </a:spcAft>
              <a:buSzPct val="100000"/>
              <a:buChar char="•"/>
            </a:pPr>
            <a:r>
              <a:rPr lang="en-US" sz="1100" dirty="0">
                <a:solidFill>
                  <a:srgbClr val="4D4D4D"/>
                </a:solidFill>
              </a:rPr>
              <a:t>Zoom or Teams licenses</a:t>
            </a:r>
            <a:endParaRPr lang="en-US" sz="1100" dirty="0"/>
          </a:p>
          <a:p>
            <a:pPr marL="342900" indent="-342900">
              <a:spcAft>
                <a:spcPts val="400"/>
              </a:spcAft>
              <a:buSzPct val="100000"/>
              <a:buChar char="•"/>
            </a:pPr>
            <a:r>
              <a:rPr lang="en-US" sz="1100" dirty="0">
                <a:solidFill>
                  <a:srgbClr val="4D4D4D"/>
                </a:solidFill>
              </a:rPr>
              <a:t>Payment gateway transaction fees</a:t>
            </a:r>
            <a:endParaRPr lang="en-US" sz="1100" dirty="0"/>
          </a:p>
          <a:p>
            <a:pPr marL="342900" indent="-342900">
              <a:spcAft>
                <a:spcPts val="400"/>
              </a:spcAft>
              <a:buSzPct val="100000"/>
              <a:buChar char="•"/>
            </a:pPr>
            <a:r>
              <a:rPr lang="en-US" sz="1100" dirty="0">
                <a:solidFill>
                  <a:srgbClr val="4D4D4D"/>
                </a:solidFill>
              </a:rPr>
              <a:t>Waiting room subscription</a:t>
            </a:r>
            <a:endParaRPr lang="en-US" sz="1100" dirty="0"/>
          </a:p>
        </p:txBody>
      </p:sp>
      <p:sp>
        <p:nvSpPr>
          <p:cNvPr id="39" name="Text 37"/>
          <p:cNvSpPr txBox="1"/>
          <p:nvPr/>
        </p:nvSpPr>
        <p:spPr>
          <a:xfrm>
            <a:off x="5074920" y="5577840"/>
            <a:ext cx="6611112" cy="274320"/>
          </a:xfrm>
          <a:prstGeom prst="rect">
            <a:avLst/>
          </a:prstGeom>
          <a:noFill/>
          <a:ln/>
        </p:spPr>
        <p:txBody>
          <a:bodyPr wrap="square" lIns="0" tIns="0" rIns="0" bIns="0" rtlCol="0" anchor="t"/>
          <a:lstStyle/>
          <a:p>
            <a:pPr indent="0" marL="0">
              <a:buNone/>
            </a:pPr>
            <a:r>
              <a:rPr lang="en-US" sz="1050" i="1" dirty="0">
                <a:solidFill>
                  <a:srgbClr val="4D4D4D"/>
                </a:solidFill>
              </a:rPr>
              <a:t>Pricing is for an offshore delivery model. Indicative, billed at sprint milestones; final commercials in the statement of work.</a:t>
            </a:r>
            <a:endParaRPr lang="en-US" sz="105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02920" y="658368"/>
            <a:ext cx="11185855" cy="822960"/>
          </a:xfrm>
          <a:prstGeom prst="rect">
            <a:avLst/>
          </a:prstGeom>
          <a:noFill/>
          <a:ln/>
        </p:spPr>
        <p:txBody>
          <a:bodyPr wrap="square" lIns="0" tIns="0" rIns="0" bIns="0" rtlCol="0" anchor="t"/>
          <a:lstStyle/>
          <a:p>
            <a:pPr algn="l" indent="0" marL="0">
              <a:buNone/>
            </a:pPr>
            <a:r>
              <a:rPr lang="en-US" sz="3200" b="1" dirty="0">
                <a:solidFill>
                  <a:schemeClr val="bg1"/>
                </a:solidFill>
              </a:rPr>
              <a:t>Next steps</a:t>
            </a:r>
            <a:endParaRPr lang="en-US" sz="3200" dirty="0"/>
          </a:p>
        </p:txBody>
      </p:sp>
      <p:sp>
        <p:nvSpPr>
          <p:cNvPr id="3" name="circle-1"/>
          <p:cNvSpPr/>
          <p:nvPr/>
        </p:nvSpPr>
        <p:spPr>
          <a:xfrm>
            <a:off x="548640" y="1600200"/>
            <a:ext cx="420624" cy="420624"/>
          </a:xfrm>
          <a:prstGeom prst="ellipse">
            <a:avLst/>
          </a:prstGeom>
          <a:ln w="15875">
            <a:solidFill>
              <a:schemeClr val="bg1"/>
            </a:solidFill>
            <a:prstDash val="solid"/>
          </a:ln>
        </p:spPr>
      </p:sp>
      <p:sp>
        <p:nvSpPr>
          <p:cNvPr id="4" name="Text 2"/>
          <p:cNvSpPr txBox="1"/>
          <p:nvPr/>
        </p:nvSpPr>
        <p:spPr>
          <a:xfrm>
            <a:off x="548640" y="160020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1</a:t>
            </a:r>
            <a:endParaRPr lang="en-US" sz="1400" dirty="0"/>
          </a:p>
        </p:txBody>
      </p:sp>
      <p:sp>
        <p:nvSpPr>
          <p:cNvPr id="5" name="Text 3"/>
          <p:cNvSpPr txBox="1"/>
          <p:nvPr/>
        </p:nvSpPr>
        <p:spPr>
          <a:xfrm>
            <a:off x="1188720" y="160020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Walk through today’s Experience Cloud site, event objects and Certain</a:t>
            </a:r>
            <a:endParaRPr lang="en-US" sz="2000" dirty="0"/>
          </a:p>
        </p:txBody>
      </p:sp>
      <p:sp>
        <p:nvSpPr>
          <p:cNvPr id="6" name="circle-2"/>
          <p:cNvSpPr/>
          <p:nvPr/>
        </p:nvSpPr>
        <p:spPr>
          <a:xfrm>
            <a:off x="548640" y="2185416"/>
            <a:ext cx="420624" cy="420624"/>
          </a:xfrm>
          <a:prstGeom prst="ellipse">
            <a:avLst/>
          </a:prstGeom>
          <a:ln w="15875">
            <a:solidFill>
              <a:schemeClr val="bg1"/>
            </a:solidFill>
            <a:prstDash val="solid"/>
          </a:ln>
        </p:spPr>
      </p:sp>
      <p:sp>
        <p:nvSpPr>
          <p:cNvPr id="7" name="Text 5"/>
          <p:cNvSpPr txBox="1"/>
          <p:nvPr/>
        </p:nvSpPr>
        <p:spPr>
          <a:xfrm>
            <a:off x="548640" y="218541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2</a:t>
            </a:r>
            <a:endParaRPr lang="en-US" sz="1400" dirty="0"/>
          </a:p>
        </p:txBody>
      </p:sp>
      <p:sp>
        <p:nvSpPr>
          <p:cNvPr id="8" name="Text 6"/>
          <p:cNvSpPr txBox="1"/>
          <p:nvPr/>
        </p:nvSpPr>
        <p:spPr>
          <a:xfrm>
            <a:off x="1188720" y="218541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volumes: sessions, attendees, online audience</a:t>
            </a:r>
            <a:endParaRPr lang="en-US" sz="2000" dirty="0"/>
          </a:p>
        </p:txBody>
      </p:sp>
      <p:sp>
        <p:nvSpPr>
          <p:cNvPr id="9" name="circle-3"/>
          <p:cNvSpPr/>
          <p:nvPr/>
        </p:nvSpPr>
        <p:spPr>
          <a:xfrm>
            <a:off x="548640" y="2770632"/>
            <a:ext cx="420624" cy="420624"/>
          </a:xfrm>
          <a:prstGeom prst="ellipse">
            <a:avLst/>
          </a:prstGeom>
          <a:ln w="15875">
            <a:solidFill>
              <a:schemeClr val="bg1"/>
            </a:solidFill>
            <a:prstDash val="solid"/>
          </a:ln>
        </p:spPr>
      </p:sp>
      <p:sp>
        <p:nvSpPr>
          <p:cNvPr id="10" name="Text 8"/>
          <p:cNvSpPr txBox="1"/>
          <p:nvPr/>
        </p:nvSpPr>
        <p:spPr>
          <a:xfrm>
            <a:off x="548640" y="2770632"/>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3</a:t>
            </a:r>
            <a:endParaRPr lang="en-US" sz="1400" dirty="0"/>
          </a:p>
        </p:txBody>
      </p:sp>
      <p:sp>
        <p:nvSpPr>
          <p:cNvPr id="11" name="Text 9"/>
          <p:cNvSpPr txBox="1"/>
          <p:nvPr/>
        </p:nvSpPr>
        <p:spPr>
          <a:xfrm>
            <a:off x="1188720" y="2770632"/>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conference must-haves: sessions, badges, sponsors, CME</a:t>
            </a:r>
            <a:endParaRPr lang="en-US" sz="2000" dirty="0"/>
          </a:p>
        </p:txBody>
      </p:sp>
      <p:sp>
        <p:nvSpPr>
          <p:cNvPr id="12" name="circle-4"/>
          <p:cNvSpPr/>
          <p:nvPr/>
        </p:nvSpPr>
        <p:spPr>
          <a:xfrm>
            <a:off x="548640" y="3355848"/>
            <a:ext cx="420624" cy="420624"/>
          </a:xfrm>
          <a:prstGeom prst="ellipse">
            <a:avLst/>
          </a:prstGeom>
          <a:ln w="15875">
            <a:solidFill>
              <a:schemeClr val="bg1"/>
            </a:solidFill>
            <a:prstDash val="solid"/>
          </a:ln>
        </p:spPr>
      </p:sp>
      <p:sp>
        <p:nvSpPr>
          <p:cNvPr id="13" name="Text 11"/>
          <p:cNvSpPr txBox="1"/>
          <p:nvPr/>
        </p:nvSpPr>
        <p:spPr>
          <a:xfrm>
            <a:off x="548640" y="3355848"/>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4</a:t>
            </a:r>
            <a:endParaRPr lang="en-US" sz="1400" dirty="0"/>
          </a:p>
        </p:txBody>
      </p:sp>
      <p:sp>
        <p:nvSpPr>
          <p:cNvPr id="14" name="Text 12"/>
          <p:cNvSpPr txBox="1"/>
          <p:nvPr/>
        </p:nvSpPr>
        <p:spPr>
          <a:xfrm>
            <a:off x="1188720" y="3355848"/>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Chase for conference payments with finance</a:t>
            </a:r>
            <a:endParaRPr lang="en-US" sz="2000" dirty="0"/>
          </a:p>
        </p:txBody>
      </p:sp>
      <p:sp>
        <p:nvSpPr>
          <p:cNvPr id="15" name="circle-5"/>
          <p:cNvSpPr/>
          <p:nvPr/>
        </p:nvSpPr>
        <p:spPr>
          <a:xfrm>
            <a:off x="548640" y="3941064"/>
            <a:ext cx="420624" cy="420624"/>
          </a:xfrm>
          <a:prstGeom prst="ellipse">
            <a:avLst/>
          </a:prstGeom>
          <a:ln w="15875">
            <a:solidFill>
              <a:schemeClr val="bg1"/>
            </a:solidFill>
            <a:prstDash val="solid"/>
          </a:ln>
        </p:spPr>
      </p:sp>
      <p:sp>
        <p:nvSpPr>
          <p:cNvPr id="16" name="Text 14"/>
          <p:cNvSpPr txBox="1"/>
          <p:nvPr/>
        </p:nvSpPr>
        <p:spPr>
          <a:xfrm>
            <a:off x="548640" y="3941064"/>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5</a:t>
            </a:r>
            <a:endParaRPr lang="en-US" sz="1400" dirty="0"/>
          </a:p>
        </p:txBody>
      </p:sp>
      <p:sp>
        <p:nvSpPr>
          <p:cNvPr id="17" name="Text 15"/>
          <p:cNvSpPr txBox="1"/>
          <p:nvPr/>
        </p:nvSpPr>
        <p:spPr>
          <a:xfrm>
            <a:off x="1188720" y="3941064"/>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Confirm Zoom or Teams, and MH’s rules for external attendees</a:t>
            </a:r>
            <a:endParaRPr lang="en-US" sz="2000" dirty="0"/>
          </a:p>
        </p:txBody>
      </p:sp>
      <p:sp>
        <p:nvSpPr>
          <p:cNvPr id="18" name="circle-6"/>
          <p:cNvSpPr/>
          <p:nvPr/>
        </p:nvSpPr>
        <p:spPr>
          <a:xfrm>
            <a:off x="548640" y="4526280"/>
            <a:ext cx="420624" cy="420624"/>
          </a:xfrm>
          <a:prstGeom prst="ellipse">
            <a:avLst/>
          </a:prstGeom>
          <a:ln w="15875">
            <a:solidFill>
              <a:schemeClr val="bg1"/>
            </a:solidFill>
            <a:prstDash val="solid"/>
          </a:ln>
        </p:spPr>
      </p:sp>
      <p:sp>
        <p:nvSpPr>
          <p:cNvPr id="19" name="Text 17"/>
          <p:cNvSpPr txBox="1"/>
          <p:nvPr/>
        </p:nvSpPr>
        <p:spPr>
          <a:xfrm>
            <a:off x="548640" y="4526280"/>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6</a:t>
            </a:r>
            <a:endParaRPr lang="en-US" sz="1400" dirty="0"/>
          </a:p>
        </p:txBody>
      </p:sp>
      <p:sp>
        <p:nvSpPr>
          <p:cNvPr id="20" name="Text 18"/>
          <p:cNvSpPr txBox="1"/>
          <p:nvPr/>
        </p:nvSpPr>
        <p:spPr>
          <a:xfrm>
            <a:off x="1188720" y="4526280"/>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Share the Certain renewal date and next conference date to set go-live</a:t>
            </a:r>
            <a:endParaRPr lang="en-US" sz="2000" dirty="0"/>
          </a:p>
        </p:txBody>
      </p:sp>
      <p:sp>
        <p:nvSpPr>
          <p:cNvPr id="21" name="circle-7"/>
          <p:cNvSpPr/>
          <p:nvPr/>
        </p:nvSpPr>
        <p:spPr>
          <a:xfrm>
            <a:off x="548640" y="5111496"/>
            <a:ext cx="420624" cy="420624"/>
          </a:xfrm>
          <a:prstGeom prst="ellipse">
            <a:avLst/>
          </a:prstGeom>
          <a:ln w="15875">
            <a:solidFill>
              <a:schemeClr val="bg1"/>
            </a:solidFill>
            <a:prstDash val="solid"/>
          </a:ln>
        </p:spPr>
      </p:sp>
      <p:sp>
        <p:nvSpPr>
          <p:cNvPr id="22" name="Text 20"/>
          <p:cNvSpPr txBox="1"/>
          <p:nvPr/>
        </p:nvSpPr>
        <p:spPr>
          <a:xfrm>
            <a:off x="548640" y="5111496"/>
            <a:ext cx="420624" cy="420624"/>
          </a:xfrm>
          <a:prstGeom prst="rect">
            <a:avLst/>
          </a:prstGeom>
          <a:noFill/>
          <a:ln/>
        </p:spPr>
        <p:txBody>
          <a:bodyPr wrap="square" lIns="0" tIns="0" rIns="0" bIns="0" rtlCol="0" anchor="ctr"/>
          <a:lstStyle/>
          <a:p>
            <a:pPr algn="ctr" indent="0" marL="0">
              <a:buNone/>
            </a:pPr>
            <a:r>
              <a:rPr lang="en-US" sz="1400" dirty="0">
                <a:solidFill>
                  <a:schemeClr val="bg1"/>
                </a:solidFill>
              </a:rPr>
              <a:t>7</a:t>
            </a:r>
            <a:endParaRPr lang="en-US" sz="1400" dirty="0"/>
          </a:p>
        </p:txBody>
      </p:sp>
      <p:sp>
        <p:nvSpPr>
          <p:cNvPr id="23" name="Text 21"/>
          <p:cNvSpPr txBox="1"/>
          <p:nvPr/>
        </p:nvSpPr>
        <p:spPr>
          <a:xfrm>
            <a:off x="1188720" y="5111496"/>
            <a:ext cx="10058400" cy="420624"/>
          </a:xfrm>
          <a:prstGeom prst="rect">
            <a:avLst/>
          </a:prstGeom>
          <a:noFill/>
          <a:ln/>
        </p:spPr>
        <p:txBody>
          <a:bodyPr wrap="square" lIns="0" tIns="0" rIns="0" bIns="0" rtlCol="0" anchor="ctr"/>
          <a:lstStyle/>
          <a:p>
            <a:pPr indent="0" marL="0">
              <a:buNone/>
            </a:pPr>
            <a:r>
              <a:rPr lang="en-US" sz="2000" dirty="0">
                <a:solidFill>
                  <a:schemeClr val="bg1"/>
                </a:solidFill>
                <a:latin typeface="Trenda IG Text Light" pitchFamily="34" charset="0"/>
                <a:ea typeface="Trenda IG Text Light" pitchFamily="34" charset="-122"/>
                <a:cs typeface="Trenda IG Text Light" pitchFamily="34" charset="-120"/>
              </a:rPr>
              <a:t>Pick 2 to 3 service lines for the first engagement journeys</a:t>
            </a:r>
            <a:endParaRPr lang="en-US" sz="2000" dirty="0"/>
          </a:p>
        </p:txBody>
      </p:sp>
      <p:sp>
        <p:nvSpPr>
          <p:cNvPr id="24" name="Text 22"/>
          <p:cNvSpPr txBox="1"/>
          <p:nvPr/>
        </p:nvSpPr>
        <p:spPr>
          <a:xfrm>
            <a:off x="1188720" y="5806440"/>
            <a:ext cx="10058400" cy="320040"/>
          </a:xfrm>
          <a:prstGeom prst="rect">
            <a:avLst/>
          </a:prstGeom>
          <a:noFill/>
          <a:ln/>
        </p:spPr>
        <p:txBody>
          <a:bodyPr wrap="square" lIns="0" tIns="0" rIns="0" bIns="0" rtlCol="0" anchor="t"/>
          <a:lstStyle/>
          <a:p>
            <a:pPr indent="0" marL="0">
              <a:buNone/>
            </a:pPr>
            <a:r>
              <a:rPr lang="en-US" sz="1400" b="1" dirty="0">
                <a:solidFill>
                  <a:schemeClr val="accent1"/>
                </a:solidFill>
              </a:rPr>
              <a:t>Then we confirm scope and start Sprint 1.</a:t>
            </a:r>
            <a:endParaRPr lang="en-US" sz="1400" dirty="0"/>
          </a:p>
        </p:txBody>
      </p:sp>
      <p:sp>
        <p:nvSpPr>
          <p:cNvPr id="25" name="Slide Number Placeholder 0"/>
          <p:cNvSpPr>
            <a:spLocks noGrp="1"/>
          </p:cNvSpPr>
          <p:nvPr>
            <p:ph type="sldNum" sz="quarter" idx="4294967295"/>
          </p:nvPr>
        </p:nvSpPr>
        <p:spPr>
          <a:xfrm>
            <a:off x="11292840" y="6336792"/>
            <a:ext cx="457200" cy="228600"/>
          </a:xfrm>
          <a:prstGeom prst="rect">
            <a:avLst/>
          </a:prstGeom>
          <a:extLst>
            <a:ext uri="{C572A759-6A51-4108-AA02-DFA0A04FC94B}">
              <ma14:wrappingTextBoxFlag xmlns:ma14="http://schemas.microsoft.com/office/mac/drawingml/2011/main" val="0"/>
            </a:ext>
          </a:extLst>
        </p:spPr>
        <p:txBody>
          <a:bodyPr/>
          <a:lstStyle>
            <a:lvl1pPr>
              <a:defRPr sz="900">
                <a:solidFill>
                  <a:schemeClr val="bg1"/>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Insight Global">
  <a:themeElements>
    <a:clrScheme name="Insight Global">
      <a:dk1>
        <a:srgbClr val="000000"/>
      </a:dk1>
      <a:lt1>
        <a:srgbClr val="FFFFFF"/>
      </a:lt1>
      <a:dk2>
        <a:srgbClr val="01273C"/>
      </a:dk2>
      <a:lt2>
        <a:srgbClr val="F2F2F2"/>
      </a:lt2>
      <a:accent1>
        <a:srgbClr val="00D6F2"/>
      </a:accent1>
      <a:accent2>
        <a:srgbClr val="FED700"/>
      </a:accent2>
      <a:accent3>
        <a:srgbClr val="FF0068"/>
      </a:accent3>
      <a:accent4>
        <a:srgbClr val="F98B34"/>
      </a:accent4>
      <a:accent5>
        <a:srgbClr val="D214AA"/>
      </a:accent5>
      <a:accent6>
        <a:srgbClr val="45289F"/>
      </a:accent6>
      <a:hlink>
        <a:srgbClr val="FF0068"/>
      </a:hlink>
      <a:folHlink>
        <a:srgbClr val="D214AA"/>
      </a:folHlink>
    </a:clrScheme>
    <a:fontScheme name="Insight Global">
      <a:majorFont>
        <a:latin typeface="Trenda IG Tex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renda IG Tex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Insight Global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Memorial Hermann: One Event Platform on Salesforce</dc:title>
  <dc:subject>PptxGenJS Presentation</dc:subject>
  <dc:creator>Insight Global</dc:creator>
  <cp:lastModifiedBy>Insight Global</cp:lastModifiedBy>
  <cp:revision>1</cp:revision>
  <dcterms:created xsi:type="dcterms:W3CDTF">2026-10-22T13:00:41Z</dcterms:created>
  <dcterms:modified xsi:type="dcterms:W3CDTF">2026-10-22T13:00:41Z</dcterms:modified>
</cp:coreProperties>
</file>