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notesMasterIdLst>
    <p:notesMasterId r:id="rId3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51ab69c-f523-ab43-1314-64c5ee58bb67}">
          <p14:sldIdLst>
            <p14:sldId id="256"/>
            <p14:sldId id="257"/>
            <p14:sldId id="258"/>
            <p14:sldId id="259"/>
          </p14:sldIdLst>
        </p14:section>
        <p14:section name="The solution" id="{80043d34-d962-5e6f-8ed9-0d180cf5b73a}">
          <p14:sldIdLst>
            <p14:sldId id="260"/>
            <p14:sldId id="261"/>
            <p14:sldId id="262"/>
            <p14:sldId id="263"/>
            <p14:sldId id="264"/>
            <p14:sldId id="265"/>
            <p14:sldId id="266"/>
            <p14:sldId id="267"/>
            <p14:sldId id="268"/>
            <p14:sldId id="269"/>
          </p14:sldIdLst>
        </p14:section>
        <p14:section name="Delivery plan" id="{8b710d8c-14d9-8083-2b06-7bc6c3b0963c}">
          <p14:sldIdLst>
            <p14:sldId id="270"/>
            <p14:sldId id="271"/>
            <p14:sldId id="272"/>
            <p14:sldId id="273"/>
            <p14:sldId id="274"/>
            <p14:sldId id="275"/>
          </p14:sldIdLst>
        </p14:section>
        <p14:section name="Beyond the event" id="{eb628ef6-54bb-964d-01d4-4181fb5099eb}">
          <p14:sldIdLst>
            <p14:sldId id="276"/>
            <p14:sldId id="277"/>
            <p14:sldId id="278"/>
            <p14:sldId id="279"/>
            <p14:sldId id="280"/>
            <p14:sldId id="281"/>
          </p14:sldIdLst>
        </p14:section>
        <p14:section name="Roadmap and next steps" id="{a2de19f8-e917-9def-9b29-218b4a4a2e69}">
          <p14:sldIdLst>
            <p14:sldId id="282"/>
            <p14:sldId id="283"/>
            <p14:sldId id="284"/>
            <p14:sldId id="285"/>
            <p14:sldId id="28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notesMaster" Target="notesMasters/notesMaster1.xml"/><Relationship Id="rId34" Type="http://schemas.openxmlformats.org/officeDocument/2006/relationships/presProps" Target="presProps.xml"/><Relationship Id="rId35" Type="http://schemas.openxmlformats.org/officeDocument/2006/relationships/viewProps" Target="viewProps.xml"/><Relationship Id="rId36" Type="http://schemas.openxmlformats.org/officeDocument/2006/relationships/theme" Target="theme/theme1.xml"/><Relationship Id="rId3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our position. We keep the Sitecore listings, the Experience Cloud registration site and the app. We improve classes where today’s experience is weak, such as confirmations that can take up to 24 hours. We replace only Certain. Engagement and AI come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website or the existing My Memorial Hermann app, with a seat held while they pay. Pay: the gateway hosts the card page; we receive only a token. Confirm: Salesforce records the registration and Marketing Cloud sends confirmation and reminders. Attend: QR check-in. Engage: patient engagement initiatives. Grow: staff see demand and add sessions. It replaces Certain and builds on today’s Experience Cloud site and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listing for conferences, classes and events, on the Sitecore page people already use. Book on a conference opens the registration site: pick sessions by day (seats are held while paying), pay on Chase’s hosted page, then get an instant confirmation with a QR code for check-in and add-to-calendar links. Classes and events use the same flow without the session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Organizers create a class, event or conference from one form, add ticket types, then build the agenda session by session: day, time, room, track, speaker and seat limit. Payment (Chase) and the Marketing Cloud journey are set per event. Publishing puts the agenda on the website and app. This replaces the conference setup done in Certain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class, event or session is full, people register interest with their preferred location and time, and consent to be contacted. Organizers see demand beyond capacity by event, location and time, which tells them where to add dates. When a new date opens, the interest list is invited first with a head start before seats go public. The length of the head start is Memorial Hermann’s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Chase already takes class payments in Salesforce, so conferences reuse that integration: one gateway, one reconciliation. Authorize.net stays open only until refunds on payments taken before cutover are done, because its card tokens cannot move to Chase. Merchant setup for conference fees to confirm with Memorial Hermann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Phase 1 replaces Certain around week 12, with a six-week Certain to Salesforce data transition in weeks 7 to 12; cutover is planned between conferences and before the Certain renewal. Phase 2 brings classes onto the same platform and improves them by week 20, without rebuilding the registration site. Engagement work can start once classes are on the shared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team and same platform across both phases, so Phase 2 builds on Phase 1 rather than starting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migration from Certain is planned as its own six-week workstream inside Phase 1 (weeks 7 to 12), so conferences go live on Salesforce with their data. A sample Certain export is reviewed in Sprint 1 so the event model fits Certain’s data; every record keeps its Certain ID. Two trial loads run with emails and journeys switched off and are reconciled before the final load. Cutover is planned between conferences so only history moves; if a conference is open, its registrations move with new QR codes and a welcome email. How many years of history to bring across is Memorial Hermann’s decision, agreed in discovery; older history can stay in an archive export. Card data is never migrated: payment history moves as a summary marked Authorize.net, and Authorize.net stays open only until refunds on past payments are done. For Phase 2 the shared model extends today’s class objects where possible, so classes need no second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Two-week sprints, each closing with a demo and a milestone Memorial Hermann signs off. Sprint 1 assesses today’s Experience Cloud site, app and Certain. Sprints 2 to 6 deliver conference and session management (live at week 12, Certain retired), with the six-week Certain to Salesforce data transition running in weeks 7 to 12. Sprints 7 to 10 move classes onto the same platform and improve them (live at week 20). Sprint scope is refined after the current-state walkthrough.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dedicated pod: one Scrum Master or Project Manager leading delivery, one QA engineer embedded in every sprint, and a build team of two Salesforce developers and one Marketing Cloud developer. Memorial Hermann provides a product owner and an Epic and app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is for an offshore delivery model. Standard program value is $580,000. As a strategic partner, Memorial Hermann receives a 50% partnership credit applied upfront, for an investment of $290,000. Billing follows sprint milestones. Licenses and third-party fees are outside this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8.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8.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7.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8.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8.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8.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7.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image" Target="../media/image-28-7.png"/><Relationship Id="rId8" Type="http://schemas.openxmlformats.org/officeDocument/2006/relationships/image" Target="../media/image-28-8.png"/><Relationship Id="rId9" Type="http://schemas.openxmlformats.org/officeDocument/2006/relationships/image" Target="../media/image-28-9.png"/><Relationship Id="rId10" Type="http://schemas.openxmlformats.org/officeDocument/2006/relationships/image" Target="../media/image-28-10.png"/><Relationship Id="rId11" Type="http://schemas.openxmlformats.org/officeDocument/2006/relationships/image" Target="../media/image-28-11.png"/><Relationship Id="rId12" Type="http://schemas.openxmlformats.org/officeDocument/2006/relationships/image" Target="../media/image-28-12.png"/><Relationship Id="rId13" Type="http://schemas.openxmlformats.org/officeDocument/2006/relationships/image" Target="../media/image-28-13.png"/><Relationship Id="rId14" Type="http://schemas.openxmlformats.org/officeDocument/2006/relationships/slideLayout" Target="../slideLayouts/slideLayout7.xml"/><Relationship Id="rId1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CLASSES  ·  EVENTS  ·  CONFERENCES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Business opportunity</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Business opportunity</a:t>
            </a:r>
            <a:endParaRPr lang="en-US" sz="3200" dirty="0"/>
          </a:p>
        </p:txBody>
      </p:sp>
      <p:sp>
        <p:nvSpPr>
          <p:cNvPr id="3" name="primary-ask"/>
          <p:cNvSpPr/>
          <p:nvPr/>
        </p:nvSpPr>
        <p:spPr>
          <a:xfrm>
            <a:off x="502920" y="1463040"/>
            <a:ext cx="11185855" cy="1115568"/>
          </a:xfrm>
          <a:prstGeom prst="roundRect">
            <a:avLst>
              <a:gd name="adj" fmla="val 9836"/>
            </a:avLst>
          </a:prstGeom>
          <a:solidFill>
            <a:srgbClr val="000000"/>
          </a:solidFill>
          <a:ln w="25400">
            <a:solidFill>
              <a:srgbClr val="FF0068"/>
            </a:solidFill>
            <a:prstDash val="solid"/>
          </a:ln>
        </p:spPr>
      </p:sp>
      <p:sp>
        <p:nvSpPr>
          <p:cNvPr id="4" name="Text 2"/>
          <p:cNvSpPr txBox="1"/>
          <p:nvPr/>
        </p:nvSpPr>
        <p:spPr>
          <a:xfrm>
            <a:off x="777240" y="1591056"/>
            <a:ext cx="3657600" cy="219456"/>
          </a:xfrm>
          <a:prstGeom prst="rect">
            <a:avLst/>
          </a:prstGeom>
          <a:noFill/>
          <a:ln/>
        </p:spPr>
        <p:txBody>
          <a:bodyPr wrap="square" lIns="0" tIns="0" rIns="0" bIns="0" rtlCol="0" anchor="t"/>
          <a:lstStyle/>
          <a:p>
            <a:pPr indent="0" marL="0">
              <a:buNone/>
            </a:pPr>
            <a:r>
              <a:rPr lang="en-US" sz="1000" b="1" spc="300" kern="0" dirty="0">
                <a:solidFill>
                  <a:srgbClr val="FF0068"/>
                </a:solidFill>
              </a:rPr>
              <a:t>PRIMARY ASK</a:t>
            </a:r>
            <a:endParaRPr lang="en-US" sz="1000" dirty="0"/>
          </a:p>
        </p:txBody>
      </p:sp>
      <p:sp>
        <p:nvSpPr>
          <p:cNvPr id="5" name="Text 3"/>
          <p:cNvSpPr txBox="1"/>
          <p:nvPr/>
        </p:nvSpPr>
        <p:spPr>
          <a:xfrm>
            <a:off x="777240" y="1828800"/>
            <a:ext cx="7498080" cy="640080"/>
          </a:xfrm>
          <a:prstGeom prst="rect">
            <a:avLst/>
          </a:prstGeom>
          <a:noFill/>
          <a:ln/>
        </p:spPr>
        <p:txBody>
          <a:bodyPr wrap="square" lIns="0" tIns="0" rIns="0" bIns="0" rtlCol="0" anchor="ctr"/>
          <a:lstStyle/>
          <a:p>
            <a:pPr indent="0" marL="0">
              <a:buNone/>
            </a:pPr>
            <a:r>
              <a:rPr lang="en-US" sz="2100" b="1" dirty="0">
                <a:solidFill>
                  <a:srgbClr val="FFFFFF"/>
                </a:solidFill>
              </a:rPr>
              <a:t>Replace Certain with conference and session management on Salesforce</a:t>
            </a:r>
            <a:endParaRPr lang="en-US" sz="2100" dirty="0"/>
          </a:p>
        </p:txBody>
      </p:sp>
      <p:sp>
        <p:nvSpPr>
          <p:cNvPr id="6" name="Text 4"/>
          <p:cNvSpPr txBox="1"/>
          <p:nvPr/>
        </p:nvSpPr>
        <p:spPr>
          <a:xfrm>
            <a:off x="8321040" y="1627632"/>
            <a:ext cx="3154680" cy="868680"/>
          </a:xfrm>
          <a:prstGeom prst="rect">
            <a:avLst/>
          </a:prstGeom>
          <a:noFill/>
          <a:ln/>
        </p:spPr>
        <p:txBody>
          <a:bodyPr wrap="square" lIns="0" tIns="0" rIns="0" bIns="0" rtlCol="0" anchor="ctr"/>
          <a:lstStyle/>
          <a:p>
            <a:pPr indent="0" marL="0">
              <a:buNone/>
            </a:pPr>
            <a:r>
              <a:rPr lang="en-US" sz="1150" dirty="0">
                <a:solidFill>
                  <a:srgbClr val="D9D9D9"/>
                </a:solidFill>
              </a:rPr>
              <a:t>1 to 2 multi-day conferences a year, with session management, for providers, caregivers and consumers. Authorize.net today, moving to Chase.</a:t>
            </a:r>
            <a:endParaRPr lang="en-US" sz="1150" dirty="0"/>
          </a:p>
        </p:txBody>
      </p:sp>
      <p:sp>
        <p:nvSpPr>
          <p:cNvPr id="7" name="Text 5"/>
          <p:cNvSpPr txBox="1"/>
          <p:nvPr/>
        </p:nvSpPr>
        <p:spPr>
          <a:xfrm>
            <a:off x="502920" y="2816352"/>
            <a:ext cx="11185855" cy="292608"/>
          </a:xfrm>
          <a:prstGeom prst="rect">
            <a:avLst/>
          </a:prstGeom>
          <a:noFill/>
          <a:ln/>
        </p:spPr>
        <p:txBody>
          <a:bodyPr wrap="square" lIns="0" tIns="0" rIns="0" bIns="0" rtlCol="0" anchor="t"/>
          <a:lstStyle/>
          <a:p>
            <a:pPr indent="0" marL="0">
              <a:buNone/>
            </a:pPr>
            <a:r>
              <a:rPr lang="en-US" sz="1400" b="1" dirty="0">
                <a:solidFill>
                  <a:schemeClr val="tx1"/>
                </a:solidFill>
              </a:rPr>
              <a:t>Also: run classes on the same platform, building on today’s registration instead of rebuilding it.</a:t>
            </a:r>
            <a:endParaRPr lang="en-US" sz="1400" dirty="0"/>
          </a:p>
        </p:txBody>
      </p:sp>
      <p:sp>
        <p:nvSpPr>
          <p:cNvPr id="8" name="Text 6"/>
          <p:cNvSpPr txBox="1"/>
          <p:nvPr/>
        </p:nvSpPr>
        <p:spPr>
          <a:xfrm>
            <a:off x="576072" y="3200400"/>
            <a:ext cx="2093976" cy="384048"/>
          </a:xfrm>
          <a:prstGeom prst="rect">
            <a:avLst/>
          </a:prstGeom>
          <a:noFill/>
          <a:ln/>
        </p:spPr>
        <p:txBody>
          <a:bodyPr wrap="square" lIns="0" tIns="0" rIns="0" bIns="0" rtlCol="0" anchor="b"/>
          <a:lstStyle/>
          <a:p>
            <a:pPr indent="0" marL="0">
              <a:buNone/>
            </a:pPr>
            <a:r>
              <a:rPr lang="en-US" sz="1400" b="1" dirty="0">
                <a:solidFill>
                  <a:schemeClr val="tx1"/>
                </a:solidFill>
              </a:rPr>
              <a:t>Area</a:t>
            </a:r>
            <a:endParaRPr lang="en-US" sz="1400" dirty="0"/>
          </a:p>
        </p:txBody>
      </p:sp>
      <p:sp>
        <p:nvSpPr>
          <p:cNvPr id="9" name="Text 7"/>
          <p:cNvSpPr txBox="1"/>
          <p:nvPr/>
        </p:nvSpPr>
        <p:spPr>
          <a:xfrm>
            <a:off x="2816352" y="3200400"/>
            <a:ext cx="4608576" cy="384048"/>
          </a:xfrm>
          <a:prstGeom prst="rect">
            <a:avLst/>
          </a:prstGeom>
          <a:noFill/>
          <a:ln/>
        </p:spPr>
        <p:txBody>
          <a:bodyPr wrap="square" lIns="0" tIns="0" rIns="0" bIns="0" rtlCol="0" anchor="b"/>
          <a:lstStyle/>
          <a:p>
            <a:pPr indent="0" marL="0">
              <a:buNone/>
            </a:pPr>
            <a:r>
              <a:rPr lang="en-US" sz="1400" b="1" dirty="0">
                <a:solidFill>
                  <a:schemeClr val="tx1"/>
                </a:solidFill>
              </a:rPr>
              <a:t>Today</a:t>
            </a:r>
            <a:endParaRPr lang="en-US" sz="1400" dirty="0"/>
          </a:p>
        </p:txBody>
      </p:sp>
      <p:sp>
        <p:nvSpPr>
          <p:cNvPr id="10" name="Text 8"/>
          <p:cNvSpPr txBox="1"/>
          <p:nvPr/>
        </p:nvSpPr>
        <p:spPr>
          <a:xfrm>
            <a:off x="7571232" y="3200400"/>
            <a:ext cx="4041648" cy="384048"/>
          </a:xfrm>
          <a:prstGeom prst="rect">
            <a:avLst/>
          </a:prstGeom>
          <a:noFill/>
          <a:ln/>
        </p:spPr>
        <p:txBody>
          <a:bodyPr wrap="square" lIns="0" tIns="0" rIns="0" bIns="0" rtlCol="0" anchor="b"/>
          <a:lstStyle/>
          <a:p>
            <a:pPr indent="0" marL="0">
              <a:buNone/>
            </a:pPr>
            <a:r>
              <a:rPr lang="en-US" sz="1400" b="1" dirty="0">
                <a:solidFill>
                  <a:schemeClr val="tx1"/>
                </a:solidFill>
              </a:rPr>
              <a:t>Where we take it</a:t>
            </a:r>
            <a:endParaRPr lang="en-US" sz="1400" dirty="0"/>
          </a:p>
        </p:txBody>
      </p:sp>
      <p:sp>
        <p:nvSpPr>
          <p:cNvPr id="11" name="Shape 9"/>
          <p:cNvSpPr/>
          <p:nvPr/>
        </p:nvSpPr>
        <p:spPr>
          <a:xfrm>
            <a:off x="502920" y="3657600"/>
            <a:ext cx="11183112" cy="0"/>
          </a:xfrm>
          <a:prstGeom prst="line">
            <a:avLst/>
          </a:prstGeom>
          <a:noFill/>
          <a:ln w="19050">
            <a:solidFill>
              <a:schemeClr val="tx1"/>
            </a:solidFill>
            <a:prstDash val="solid"/>
          </a:ln>
        </p:spPr>
      </p:sp>
      <p:sp>
        <p:nvSpPr>
          <p:cNvPr id="12" name="Text 10"/>
          <p:cNvSpPr txBox="1"/>
          <p:nvPr/>
        </p:nvSpPr>
        <p:spPr>
          <a:xfrm>
            <a:off x="576072" y="3730752"/>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Conferences</a:t>
            </a:r>
            <a:endParaRPr lang="en-US" sz="1250" dirty="0"/>
          </a:p>
        </p:txBody>
      </p:sp>
      <p:sp>
        <p:nvSpPr>
          <p:cNvPr id="13" name="Text 11"/>
          <p:cNvSpPr txBox="1"/>
          <p:nvPr/>
        </p:nvSpPr>
        <p:spPr>
          <a:xfrm>
            <a:off x="2816352" y="3730752"/>
            <a:ext cx="4608576" cy="457200"/>
          </a:xfrm>
          <a:prstGeom prst="rect">
            <a:avLst/>
          </a:prstGeom>
          <a:noFill/>
          <a:ln/>
        </p:spPr>
        <p:txBody>
          <a:bodyPr wrap="square" lIns="0" tIns="0" rIns="0" bIns="0" rtlCol="0" anchor="ctr"/>
          <a:lstStyle/>
          <a:p>
            <a:pPr indent="0" marL="0">
              <a:buNone/>
            </a:pPr>
            <a:r>
              <a:rPr lang="en-US" sz="1250" dirty="0">
                <a:solidFill>
                  <a:srgbClr val="4D4D4D"/>
                </a:solidFill>
              </a:rPr>
              <a:t>Certain for multi-day events; Authorize.net payments</a:t>
            </a:r>
            <a:endParaRPr lang="en-US" sz="1250" dirty="0"/>
          </a:p>
        </p:txBody>
      </p:sp>
      <p:sp>
        <p:nvSpPr>
          <p:cNvPr id="14" name="Text 12"/>
          <p:cNvSpPr txBox="1"/>
          <p:nvPr/>
        </p:nvSpPr>
        <p:spPr>
          <a:xfrm>
            <a:off x="7571232" y="3730752"/>
            <a:ext cx="4041648" cy="457200"/>
          </a:xfrm>
          <a:prstGeom prst="rect">
            <a:avLst/>
          </a:prstGeom>
          <a:noFill/>
          <a:ln/>
        </p:spPr>
        <p:txBody>
          <a:bodyPr wrap="square" lIns="0" tIns="0" rIns="0" bIns="0" rtlCol="0" anchor="ctr"/>
          <a:lstStyle/>
          <a:p>
            <a:pPr indent="0" marL="0">
              <a:buNone/>
            </a:pPr>
            <a:r>
              <a:rPr lang="en-US" sz="1250" dirty="0">
                <a:solidFill>
                  <a:srgbClr val="4D4D4D"/>
                </a:solidFill>
              </a:rPr>
              <a:t>Replace with Salesforce conference and session management, paid through Chase</a:t>
            </a:r>
            <a:endParaRPr lang="en-US" sz="1250" dirty="0"/>
          </a:p>
        </p:txBody>
      </p:sp>
      <p:sp>
        <p:nvSpPr>
          <p:cNvPr id="15" name="Shape 13"/>
          <p:cNvSpPr/>
          <p:nvPr/>
        </p:nvSpPr>
        <p:spPr>
          <a:xfrm>
            <a:off x="502920" y="4224528"/>
            <a:ext cx="11183112" cy="0"/>
          </a:xfrm>
          <a:prstGeom prst="line">
            <a:avLst/>
          </a:prstGeom>
          <a:noFill/>
          <a:ln w="9525">
            <a:solidFill>
              <a:srgbClr val="8C8C8C"/>
            </a:solidFill>
            <a:prstDash val="sysDot"/>
          </a:ln>
        </p:spPr>
      </p:sp>
      <p:sp>
        <p:nvSpPr>
          <p:cNvPr id="16" name="Text 14"/>
          <p:cNvSpPr txBox="1"/>
          <p:nvPr/>
        </p:nvSpPr>
        <p:spPr>
          <a:xfrm>
            <a:off x="576072" y="4297680"/>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Classes and events</a:t>
            </a:r>
            <a:endParaRPr lang="en-US" sz="1250" dirty="0"/>
          </a:p>
        </p:txBody>
      </p:sp>
      <p:sp>
        <p:nvSpPr>
          <p:cNvPr id="17" name="Text 15"/>
          <p:cNvSpPr txBox="1"/>
          <p:nvPr/>
        </p:nvSpPr>
        <p:spPr>
          <a:xfrm>
            <a:off x="2816352" y="4297680"/>
            <a:ext cx="4608576" cy="457200"/>
          </a:xfrm>
          <a:prstGeom prst="rect">
            <a:avLst/>
          </a:prstGeom>
          <a:noFill/>
          <a:ln/>
        </p:spPr>
        <p:txBody>
          <a:bodyPr wrap="square" lIns="0" tIns="0" rIns="0" bIns="0" rtlCol="0" anchor="ctr"/>
          <a:lstStyle/>
          <a:p>
            <a:pPr indent="0" marL="0">
              <a:buNone/>
            </a:pPr>
            <a:r>
              <a:rPr lang="en-US" sz="1250" dirty="0">
                <a:solidFill>
                  <a:srgbClr val="4D4D4D"/>
                </a:solidFill>
              </a:rPr>
              <a:t>Sitecore listings open a home-built Experience Cloud site; Chase payments; confirmation up to 24 hours</a:t>
            </a:r>
            <a:endParaRPr lang="en-US" sz="1250" dirty="0"/>
          </a:p>
        </p:txBody>
      </p:sp>
      <p:sp>
        <p:nvSpPr>
          <p:cNvPr id="18" name="Text 16"/>
          <p:cNvSpPr txBox="1"/>
          <p:nvPr/>
        </p:nvSpPr>
        <p:spPr>
          <a:xfrm>
            <a:off x="7571232" y="4297680"/>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the site and improve it on one shared event model</a:t>
            </a:r>
            <a:endParaRPr lang="en-US" sz="1250" dirty="0"/>
          </a:p>
        </p:txBody>
      </p:sp>
      <p:sp>
        <p:nvSpPr>
          <p:cNvPr id="19" name="Shape 17"/>
          <p:cNvSpPr/>
          <p:nvPr/>
        </p:nvSpPr>
        <p:spPr>
          <a:xfrm>
            <a:off x="502920" y="4791456"/>
            <a:ext cx="11183112" cy="0"/>
          </a:xfrm>
          <a:prstGeom prst="line">
            <a:avLst/>
          </a:prstGeom>
          <a:noFill/>
          <a:ln w="9525">
            <a:solidFill>
              <a:srgbClr val="8C8C8C"/>
            </a:solidFill>
            <a:prstDash val="sysDot"/>
          </a:ln>
        </p:spPr>
      </p:sp>
      <p:sp>
        <p:nvSpPr>
          <p:cNvPr id="20" name="Text 18"/>
          <p:cNvSpPr txBox="1"/>
          <p:nvPr/>
        </p:nvSpPr>
        <p:spPr>
          <a:xfrm>
            <a:off x="576072" y="4864608"/>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Mobile app</a:t>
            </a:r>
            <a:endParaRPr lang="en-US" sz="1250" dirty="0"/>
          </a:p>
        </p:txBody>
      </p:sp>
      <p:sp>
        <p:nvSpPr>
          <p:cNvPr id="21" name="Text 19"/>
          <p:cNvSpPr txBox="1"/>
          <p:nvPr/>
        </p:nvSpPr>
        <p:spPr>
          <a:xfrm>
            <a:off x="2816352" y="4864608"/>
            <a:ext cx="4608576" cy="457200"/>
          </a:xfrm>
          <a:prstGeom prst="rect">
            <a:avLst/>
          </a:prstGeom>
          <a:noFill/>
          <a:ln/>
        </p:spPr>
        <p:txBody>
          <a:bodyPr wrap="square" lIns="0" tIns="0" rIns="0" bIns="0" rtlCol="0" anchor="ctr"/>
          <a:lstStyle/>
          <a:p>
            <a:pPr indent="0" marL="0">
              <a:buNone/>
            </a:pPr>
            <a:r>
              <a:rPr lang="en-US" sz="1250" dirty="0">
                <a:solidFill>
                  <a:srgbClr val="4D4D4D"/>
                </a:solidFill>
              </a:rPr>
              <a:t>People can already register for events in the app</a:t>
            </a:r>
            <a:endParaRPr lang="en-US" sz="1250" dirty="0"/>
          </a:p>
        </p:txBody>
      </p:sp>
      <p:sp>
        <p:nvSpPr>
          <p:cNvPr id="22" name="Text 20"/>
          <p:cNvSpPr txBox="1"/>
          <p:nvPr/>
        </p:nvSpPr>
        <p:spPr>
          <a:xfrm>
            <a:off x="7571232" y="4864608"/>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it, connected to the same event model</a:t>
            </a:r>
            <a:endParaRPr lang="en-US" sz="1250" dirty="0"/>
          </a:p>
        </p:txBody>
      </p:sp>
      <p:sp>
        <p:nvSpPr>
          <p:cNvPr id="23" name="Shape 21"/>
          <p:cNvSpPr/>
          <p:nvPr/>
        </p:nvSpPr>
        <p:spPr>
          <a:xfrm>
            <a:off x="502920" y="5358384"/>
            <a:ext cx="11183112" cy="0"/>
          </a:xfrm>
          <a:prstGeom prst="line">
            <a:avLst/>
          </a:prstGeom>
          <a:noFill/>
          <a:ln w="9525">
            <a:solidFill>
              <a:srgbClr val="8C8C8C"/>
            </a:solidFill>
            <a:prstDash val="sysDot"/>
          </a:ln>
        </p:spPr>
      </p:sp>
      <p:sp>
        <p:nvSpPr>
          <p:cNvPr id="24" name="Text 22"/>
          <p:cNvSpPr txBox="1"/>
          <p:nvPr/>
        </p:nvSpPr>
        <p:spPr>
          <a:xfrm>
            <a:off x="576072" y="5431536"/>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Platform</a:t>
            </a:r>
            <a:endParaRPr lang="en-US" sz="1250" dirty="0"/>
          </a:p>
        </p:txBody>
      </p:sp>
      <p:sp>
        <p:nvSpPr>
          <p:cNvPr id="25" name="Text 23"/>
          <p:cNvSpPr txBox="1"/>
          <p:nvPr/>
        </p:nvSpPr>
        <p:spPr>
          <a:xfrm>
            <a:off x="2816352" y="5431536"/>
            <a:ext cx="4608576" cy="457200"/>
          </a:xfrm>
          <a:prstGeom prst="rect">
            <a:avLst/>
          </a:prstGeom>
          <a:noFill/>
          <a:ln/>
        </p:spPr>
        <p:txBody>
          <a:bodyPr wrap="square" lIns="0" tIns="0" rIns="0" bIns="0" rtlCol="0" anchor="ctr"/>
          <a:lstStyle/>
          <a:p>
            <a:pPr indent="0" marL="0">
              <a:buNone/>
            </a:pPr>
            <a:r>
              <a:rPr lang="en-US" sz="1250" dirty="0">
                <a:solidFill>
                  <a:srgbClr val="4D4D4D"/>
                </a:solidFill>
              </a:rPr>
              <a:t>Health Cloud and Marketing Cloud; Epic not needed</a:t>
            </a:r>
            <a:endParaRPr lang="en-US" sz="1250" dirty="0"/>
          </a:p>
        </p:txBody>
      </p:sp>
      <p:sp>
        <p:nvSpPr>
          <p:cNvPr id="26" name="Text 24"/>
          <p:cNvSpPr txBox="1"/>
          <p:nvPr/>
        </p:nvSpPr>
        <p:spPr>
          <a:xfrm>
            <a:off x="7571232" y="5431536"/>
            <a:ext cx="4041648" cy="457200"/>
          </a:xfrm>
          <a:prstGeom prst="rect">
            <a:avLst/>
          </a:prstGeom>
          <a:noFill/>
          <a:ln/>
        </p:spPr>
        <p:txBody>
          <a:bodyPr wrap="square" lIns="0" tIns="0" rIns="0" bIns="0" rtlCol="0" anchor="ctr"/>
          <a:lstStyle/>
          <a:p>
            <a:pPr indent="0" marL="0">
              <a:buNone/>
            </a:pPr>
            <a:r>
              <a:rPr lang="en-US" sz="1250" dirty="0">
                <a:solidFill>
                  <a:srgbClr val="4D4D4D"/>
                </a:solidFill>
              </a:rPr>
              <a:t>Built on what Memorial Hermann already owns</a:t>
            </a:r>
            <a:endParaRPr lang="en-US" sz="1250" dirty="0"/>
          </a:p>
        </p:txBody>
      </p:sp>
      <p:sp>
        <p:nvSpPr>
          <p:cNvPr id="27" name="Shape 25"/>
          <p:cNvSpPr/>
          <p:nvPr/>
        </p:nvSpPr>
        <p:spPr>
          <a:xfrm>
            <a:off x="502920" y="5925312"/>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Build on what already works</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No rebuild of today’s class registration. Replace only Certain, then bring every event onto one platform.</a:t>
            </a:r>
            <a:endParaRPr lang="en-US" sz="1400" dirty="0"/>
          </a:p>
        </p:txBody>
      </p:sp>
      <p:sp>
        <p:nvSpPr>
          <p:cNvPr id="4" name="kir-KEEP"/>
          <p:cNvSpPr/>
          <p:nvPr/>
        </p:nvSpPr>
        <p:spPr>
          <a:xfrm>
            <a:off x="502920" y="1783080"/>
            <a:ext cx="2659304" cy="3794760"/>
          </a:xfrm>
          <a:prstGeom prst="roundRect">
            <a:avLst>
              <a:gd name="adj" fmla="val 4126"/>
            </a:avLst>
          </a:prstGeom>
          <a:solidFill>
            <a:srgbClr val="F2F2F2"/>
          </a:solidFill>
          <a:ln w="22225">
            <a:solidFill>
              <a:srgbClr val="00A9C0"/>
            </a:solidFill>
            <a:prstDash val="solid"/>
          </a:ln>
        </p:spPr>
      </p:sp>
      <p:sp>
        <p:nvSpPr>
          <p:cNvPr id="5" name="Text 3"/>
          <p:cNvSpPr txBox="1"/>
          <p:nvPr/>
        </p:nvSpPr>
        <p:spPr>
          <a:xfrm>
            <a:off x="704088" y="1984248"/>
            <a:ext cx="2256968" cy="292608"/>
          </a:xfrm>
          <a:prstGeom prst="rect">
            <a:avLst/>
          </a:prstGeom>
          <a:noFill/>
          <a:ln/>
        </p:spPr>
        <p:txBody>
          <a:bodyPr wrap="square" lIns="0" tIns="0" rIns="0" bIns="0" rtlCol="0" anchor="t"/>
          <a:lstStyle/>
          <a:p>
            <a:pPr indent="0" marL="0">
              <a:buNone/>
            </a:pPr>
            <a:r>
              <a:rPr lang="en-US" sz="1500" b="1" spc="300" kern="0" dirty="0">
                <a:solidFill>
                  <a:srgbClr val="007C8C"/>
                </a:solidFill>
              </a:rPr>
              <a:t>KEEP</a:t>
            </a:r>
            <a:endParaRPr lang="en-US" sz="1500" dirty="0"/>
          </a:p>
        </p:txBody>
      </p:sp>
      <p:sp>
        <p:nvSpPr>
          <p:cNvPr id="6" name="Text 4"/>
          <p:cNvSpPr txBox="1"/>
          <p:nvPr/>
        </p:nvSpPr>
        <p:spPr>
          <a:xfrm>
            <a:off x="704088"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Sitecore class listings</a:t>
            </a:r>
            <a:endParaRPr lang="en-US" sz="1300" dirty="0"/>
          </a:p>
          <a:p>
            <a:pPr marL="342900" indent="-342900">
              <a:spcAft>
                <a:spcPts val="600"/>
              </a:spcAft>
              <a:buSzPct val="100000"/>
              <a:buChar char="•"/>
            </a:pPr>
            <a:r>
              <a:rPr lang="en-US" sz="1300" dirty="0">
                <a:solidFill>
                  <a:schemeClr val="tx1"/>
                </a:solidFill>
              </a:rPr>
              <a:t>Experience Cloud registration site</a:t>
            </a:r>
            <a:endParaRPr lang="en-US" sz="1300" dirty="0"/>
          </a:p>
          <a:p>
            <a:pPr marL="342900" indent="-342900">
              <a:spcAft>
                <a:spcPts val="600"/>
              </a:spcAft>
              <a:buSzPct val="100000"/>
              <a:buChar char="•"/>
            </a:pPr>
            <a:r>
              <a:rPr lang="en-US" sz="1300" dirty="0">
                <a:solidFill>
                  <a:schemeClr val="tx1"/>
                </a:solidFill>
              </a:rPr>
              <a:t>Mobile app registration</a:t>
            </a:r>
            <a:endParaRPr lang="en-US" sz="1300" dirty="0"/>
          </a:p>
          <a:p>
            <a:pPr marL="342900" indent="-342900">
              <a:spcAft>
                <a:spcPts val="600"/>
              </a:spcAft>
              <a:buSzPct val="100000"/>
              <a:buChar char="•"/>
            </a:pPr>
            <a:r>
              <a:rPr lang="en-US" sz="1300" dirty="0">
                <a:solidFill>
                  <a:schemeClr val="tx1"/>
                </a:solidFill>
              </a:rPr>
              <a:t>Chase payments, now for conferences too</a:t>
            </a:r>
            <a:endParaRPr lang="en-US" sz="1300" dirty="0"/>
          </a:p>
          <a:p>
            <a:pPr marL="342900" indent="-342900">
              <a:spcAft>
                <a:spcPts val="600"/>
              </a:spcAft>
              <a:buSzPct val="100000"/>
              <a:buChar char="•"/>
            </a:pPr>
            <a:r>
              <a:rPr lang="en-US" sz="1300" dirty="0">
                <a:solidFill>
                  <a:schemeClr val="tx1"/>
                </a:solidFill>
              </a:rPr>
              <a:t>Health Cloud and Marketing Cloud</a:t>
            </a:r>
            <a:endParaRPr lang="en-US" sz="1300" dirty="0"/>
          </a:p>
        </p:txBody>
      </p:sp>
      <p:sp>
        <p:nvSpPr>
          <p:cNvPr id="7" name="kir-IMPROVE"/>
          <p:cNvSpPr/>
          <p:nvPr/>
        </p:nvSpPr>
        <p:spPr>
          <a:xfrm>
            <a:off x="3345104" y="1783080"/>
            <a:ext cx="2659304" cy="3794760"/>
          </a:xfrm>
          <a:prstGeom prst="roundRect">
            <a:avLst>
              <a:gd name="adj" fmla="val 4126"/>
            </a:avLst>
          </a:prstGeom>
          <a:solidFill>
            <a:srgbClr val="F2F2F2"/>
          </a:solidFill>
          <a:ln w="22225">
            <a:solidFill>
              <a:srgbClr val="D9B200"/>
            </a:solidFill>
            <a:prstDash val="solid"/>
          </a:ln>
        </p:spPr>
      </p:sp>
      <p:sp>
        <p:nvSpPr>
          <p:cNvPr id="8" name="Text 6"/>
          <p:cNvSpPr txBox="1"/>
          <p:nvPr/>
        </p:nvSpPr>
        <p:spPr>
          <a:xfrm>
            <a:off x="3546272" y="1984248"/>
            <a:ext cx="2256968" cy="292608"/>
          </a:xfrm>
          <a:prstGeom prst="rect">
            <a:avLst/>
          </a:prstGeom>
          <a:noFill/>
          <a:ln/>
        </p:spPr>
        <p:txBody>
          <a:bodyPr wrap="square" lIns="0" tIns="0" rIns="0" bIns="0" rtlCol="0" anchor="t"/>
          <a:lstStyle/>
          <a:p>
            <a:pPr indent="0" marL="0">
              <a:buNone/>
            </a:pPr>
            <a:r>
              <a:rPr lang="en-US" sz="1500" b="1" spc="300" kern="0" dirty="0">
                <a:solidFill>
                  <a:srgbClr val="7A6100"/>
                </a:solidFill>
              </a:rPr>
              <a:t>IMPROVE</a:t>
            </a:r>
            <a:endParaRPr lang="en-US" sz="1500" dirty="0"/>
          </a:p>
        </p:txBody>
      </p:sp>
      <p:sp>
        <p:nvSpPr>
          <p:cNvPr id="9" name="Text 7"/>
          <p:cNvSpPr txBox="1"/>
          <p:nvPr/>
        </p:nvSpPr>
        <p:spPr>
          <a:xfrm>
            <a:off x="3546272"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Instant confirmation (today up to 24 hours)</a:t>
            </a:r>
            <a:endParaRPr lang="en-US" sz="1300" dirty="0"/>
          </a:p>
          <a:p>
            <a:pPr marL="342900" indent="-342900">
              <a:spcAft>
                <a:spcPts val="600"/>
              </a:spcAft>
              <a:buSzPct val="100000"/>
              <a:buChar char="•"/>
            </a:pPr>
            <a:r>
              <a:rPr lang="en-US" sz="1300" dirty="0">
                <a:solidFill>
                  <a:schemeClr val="tx1"/>
                </a:solidFill>
              </a:rPr>
              <a:t>Safe payment retries</a:t>
            </a:r>
            <a:endParaRPr lang="en-US" sz="1300" dirty="0"/>
          </a:p>
          <a:p>
            <a:pPr marL="342900" indent="-342900">
              <a:spcAft>
                <a:spcPts val="600"/>
              </a:spcAft>
              <a:buSzPct val="100000"/>
              <a:buChar char="•"/>
            </a:pPr>
            <a:r>
              <a:rPr lang="en-US" sz="1300" dirty="0">
                <a:solidFill>
                  <a:schemeClr val="tx1"/>
                </a:solidFill>
              </a:rPr>
              <a:t>Live seats and waitlists</a:t>
            </a:r>
            <a:endParaRPr lang="en-US" sz="1300" dirty="0"/>
          </a:p>
          <a:p>
            <a:pPr marL="342900" indent="-342900">
              <a:spcAft>
                <a:spcPts val="600"/>
              </a:spcAft>
              <a:buSzPct val="100000"/>
              <a:buChar char="•"/>
            </a:pPr>
            <a:r>
              <a:rPr lang="en-US" sz="1300" dirty="0">
                <a:solidFill>
                  <a:schemeClr val="tx1"/>
                </a:solidFill>
              </a:rPr>
              <a:t>Check-in and reporting</a:t>
            </a:r>
            <a:endParaRPr lang="en-US" sz="1300" dirty="0"/>
          </a:p>
          <a:p>
            <a:pPr marL="342900" indent="-342900">
              <a:spcAft>
                <a:spcPts val="600"/>
              </a:spcAft>
              <a:buSzPct val="100000"/>
              <a:buChar char="•"/>
            </a:pPr>
            <a:r>
              <a:rPr lang="en-US" sz="1300" dirty="0">
                <a:solidFill>
                  <a:schemeClr val="tx1"/>
                </a:solidFill>
              </a:rPr>
              <a:t>One shared event model</a:t>
            </a:r>
            <a:endParaRPr lang="en-US" sz="1300" dirty="0"/>
          </a:p>
        </p:txBody>
      </p:sp>
      <p:sp>
        <p:nvSpPr>
          <p:cNvPr id="10" name="kir-REPLACE"/>
          <p:cNvSpPr/>
          <p:nvPr/>
        </p:nvSpPr>
        <p:spPr>
          <a:xfrm>
            <a:off x="6187288" y="1783080"/>
            <a:ext cx="2659304" cy="3794760"/>
          </a:xfrm>
          <a:prstGeom prst="roundRect">
            <a:avLst>
              <a:gd name="adj" fmla="val 4126"/>
            </a:avLst>
          </a:prstGeom>
          <a:solidFill>
            <a:srgbClr val="000000"/>
          </a:solidFill>
          <a:ln w="22225">
            <a:solidFill>
              <a:srgbClr val="FF0068"/>
            </a:solidFill>
            <a:prstDash val="solid"/>
          </a:ln>
        </p:spPr>
      </p:sp>
      <p:sp>
        <p:nvSpPr>
          <p:cNvPr id="11" name="Text 9"/>
          <p:cNvSpPr txBox="1"/>
          <p:nvPr/>
        </p:nvSpPr>
        <p:spPr>
          <a:xfrm>
            <a:off x="6388456" y="1984248"/>
            <a:ext cx="2256968" cy="292608"/>
          </a:xfrm>
          <a:prstGeom prst="rect">
            <a:avLst/>
          </a:prstGeom>
          <a:noFill/>
          <a:ln/>
        </p:spPr>
        <p:txBody>
          <a:bodyPr wrap="square" lIns="0" tIns="0" rIns="0" bIns="0" rtlCol="0" anchor="t"/>
          <a:lstStyle/>
          <a:p>
            <a:pPr indent="0" marL="0">
              <a:buNone/>
            </a:pPr>
            <a:r>
              <a:rPr lang="en-US" sz="1500" b="1" spc="300" kern="0" dirty="0">
                <a:solidFill>
                  <a:srgbClr val="FF0068"/>
                </a:solidFill>
              </a:rPr>
              <a:t>REPLACE</a:t>
            </a:r>
            <a:endParaRPr lang="en-US" sz="1500" dirty="0"/>
          </a:p>
        </p:txBody>
      </p:sp>
      <p:sp>
        <p:nvSpPr>
          <p:cNvPr id="12" name="Text 10"/>
          <p:cNvSpPr txBox="1"/>
          <p:nvPr/>
        </p:nvSpPr>
        <p:spPr>
          <a:xfrm>
            <a:off x="6388456"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rPr>
              <a:t>Certain, with Salesforce conference and session management</a:t>
            </a:r>
            <a:endParaRPr lang="en-US" sz="1300" dirty="0"/>
          </a:p>
          <a:p>
            <a:pPr marL="342900" indent="-342900">
              <a:spcAft>
                <a:spcPts val="600"/>
              </a:spcAft>
              <a:buSzPct val="100000"/>
              <a:buChar char="•"/>
            </a:pPr>
            <a:r>
              <a:rPr lang="en-US" sz="1300" dirty="0">
                <a:solidFill>
                  <a:srgbClr val="FFFFFF"/>
                </a:solidFill>
              </a:rPr>
              <a:t>My Agenda portal on Experience Cloud</a:t>
            </a:r>
            <a:endParaRPr lang="en-US" sz="1300" dirty="0"/>
          </a:p>
          <a:p>
            <a:pPr marL="342900" indent="-342900">
              <a:spcAft>
                <a:spcPts val="600"/>
              </a:spcAft>
              <a:buSzPct val="100000"/>
              <a:buChar char="•"/>
            </a:pPr>
            <a:r>
              <a:rPr lang="en-US" sz="1300" dirty="0">
                <a:solidFill>
                  <a:srgbClr val="FFFFFF"/>
                </a:solidFill>
              </a:rPr>
              <a:t>Authorize.net, by reusing today’s Chase checkout</a:t>
            </a:r>
            <a:endParaRPr lang="en-US" sz="1300" dirty="0"/>
          </a:p>
          <a:p>
            <a:pPr marL="342900" indent="-342900">
              <a:spcAft>
                <a:spcPts val="600"/>
              </a:spcAft>
              <a:buSzPct val="100000"/>
              <a:buChar char="•"/>
            </a:pPr>
            <a:r>
              <a:rPr lang="en-US" sz="1300" dirty="0">
                <a:solidFill>
                  <a:srgbClr val="FFFFFF"/>
                </a:solidFill>
              </a:rPr>
              <a:t>Certain data migrated</a:t>
            </a:r>
            <a:endParaRPr lang="en-US" sz="1300" dirty="0"/>
          </a:p>
        </p:txBody>
      </p:sp>
      <p:sp>
        <p:nvSpPr>
          <p:cNvPr id="13" name="kir-ADD LATER"/>
          <p:cNvSpPr/>
          <p:nvPr/>
        </p:nvSpPr>
        <p:spPr>
          <a:xfrm>
            <a:off x="9029471" y="1783080"/>
            <a:ext cx="2659304" cy="3794760"/>
          </a:xfrm>
          <a:prstGeom prst="roundRect">
            <a:avLst>
              <a:gd name="adj" fmla="val 4126"/>
            </a:avLst>
          </a:prstGeom>
          <a:solidFill>
            <a:srgbClr val="F2F2F2"/>
          </a:solidFill>
          <a:ln w="22225">
            <a:solidFill>
              <a:srgbClr val="8C8C96"/>
            </a:solidFill>
            <a:prstDash val="solid"/>
          </a:ln>
        </p:spPr>
      </p:sp>
      <p:sp>
        <p:nvSpPr>
          <p:cNvPr id="14" name="Text 12"/>
          <p:cNvSpPr txBox="1"/>
          <p:nvPr/>
        </p:nvSpPr>
        <p:spPr>
          <a:xfrm>
            <a:off x="9230639" y="1984248"/>
            <a:ext cx="2256968" cy="292608"/>
          </a:xfrm>
          <a:prstGeom prst="rect">
            <a:avLst/>
          </a:prstGeom>
          <a:noFill/>
          <a:ln/>
        </p:spPr>
        <p:txBody>
          <a:bodyPr wrap="square" lIns="0" tIns="0" rIns="0" bIns="0" rtlCol="0" anchor="t"/>
          <a:lstStyle/>
          <a:p>
            <a:pPr indent="0" marL="0">
              <a:buNone/>
            </a:pPr>
            <a:r>
              <a:rPr lang="en-US" sz="1500" b="1" spc="300" kern="0" dirty="0">
                <a:solidFill>
                  <a:srgbClr val="4D4D4D"/>
                </a:solidFill>
              </a:rPr>
              <a:t>ADD LATER</a:t>
            </a:r>
            <a:endParaRPr lang="en-US" sz="1500" dirty="0"/>
          </a:p>
        </p:txBody>
      </p:sp>
      <p:sp>
        <p:nvSpPr>
          <p:cNvPr id="15" name="Text 13"/>
          <p:cNvSpPr txBox="1"/>
          <p:nvPr/>
        </p:nvSpPr>
        <p:spPr>
          <a:xfrm>
            <a:off x="9230639"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Patient engagement initiatives (PEIs)</a:t>
            </a:r>
            <a:endParaRPr lang="en-US" sz="1300" dirty="0"/>
          </a:p>
          <a:p>
            <a:pPr marL="342900" indent="-342900">
              <a:spcAft>
                <a:spcPts val="600"/>
              </a:spcAft>
              <a:buSzPct val="100000"/>
              <a:buChar char="•"/>
            </a:pPr>
            <a:r>
              <a:rPr lang="en-US" sz="1300" dirty="0">
                <a:solidFill>
                  <a:schemeClr val="tx1"/>
                </a:solidFill>
              </a:rPr>
              <a:t>App adoption campaigns</a:t>
            </a:r>
            <a:endParaRPr lang="en-US" sz="1300" dirty="0"/>
          </a:p>
          <a:p>
            <a:pPr marL="342900" indent="-342900">
              <a:spcAft>
                <a:spcPts val="600"/>
              </a:spcAft>
              <a:buSzPct val="100000"/>
              <a:buChar char="•"/>
            </a:pPr>
            <a:r>
              <a:rPr lang="en-US" sz="1300" dirty="0">
                <a:solidFill>
                  <a:schemeClr val="tx1"/>
                </a:solidFill>
              </a:rPr>
              <a:t>AI agents in a controlled harness</a:t>
            </a:r>
            <a:endParaRPr lang="en-US" sz="1300" dirty="0"/>
          </a:p>
        </p:txBody>
      </p:sp>
      <p:sp>
        <p:nvSpPr>
          <p:cNvPr id="16" name="Text 14"/>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300" i="1" dirty="0">
                <a:solidFill>
                  <a:srgbClr val="4D4D4D"/>
                </a:solidFill>
              </a:rPr>
              <a:t>Lowest-risk path: what works stays, the one tool you want gone goes, and every event ends up on the same data, payments and reporting.</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Conferences first, then classes on the same Salesforce platform</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One event platform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Your existing front doors</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Sitecore listings and today’s Experience Cloud site</a:t>
            </a:r>
            <a:endParaRPr lang="en-US" sz="1400" dirty="0"/>
          </a:p>
          <a:p>
            <a:pPr marL="342900" indent="-342900">
              <a:spcAft>
                <a:spcPts val="600"/>
              </a:spcAft>
              <a:buSzPct val="100000"/>
              <a:buChar char="•"/>
            </a:pPr>
            <a:r>
              <a:rPr lang="en-US" sz="1400" dirty="0">
                <a:solidFill>
                  <a:srgbClr val="BFBFBF"/>
                </a:solidFill>
              </a:rPr>
              <a:t>Existing mobile app</a:t>
            </a:r>
            <a:endParaRPr lang="en-US" sz="1400" dirty="0"/>
          </a:p>
          <a:p>
            <a:pPr marL="342900" indent="-342900">
              <a:spcAft>
                <a:spcPts val="600"/>
              </a:spcAft>
              <a:buSzPct val="100000"/>
              <a:buChar char="•"/>
            </a:pPr>
            <a:r>
              <a:rPr lang="en-US" sz="1400" dirty="0">
                <a:solidFill>
                  <a:srgbClr val="BFBFBF"/>
                </a:solidFill>
              </a:rPr>
              <a:t>“My Agenda” portal for conferences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app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Classes, series, sessions, speakers</a:t>
            </a:r>
            <a:endParaRPr lang="en-US" sz="1400" dirty="0"/>
          </a:p>
          <a:p>
            <a:pPr marL="342900" indent="-342900">
              <a:spcAft>
                <a:spcPts val="600"/>
              </a:spcAft>
              <a:buSzPct val="100000"/>
              <a:buChar char="•"/>
            </a:pPr>
            <a:r>
              <a:rPr lang="en-US" sz="1400" dirty="0">
                <a:solidFill>
                  <a:srgbClr val="BFBFBF"/>
                </a:solidFill>
              </a:rPr>
              <a:t>Capacity, waitlists, refunds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Marketing Cloud journeys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virtual links</a:t>
            </a:r>
            <a:endParaRPr lang="en-US" sz="1400" dirty="0"/>
          </a:p>
          <a:p>
            <a:pPr marL="342900" indent="-342900">
              <a:spcAft>
                <a:spcPts val="600"/>
              </a:spcAft>
              <a:buSzPct val="100000"/>
              <a:buChar char="•"/>
            </a:pPr>
            <a:r>
              <a:rPr lang="en-US" sz="1400" dirty="0">
                <a:solidFill>
                  <a:srgbClr val="BFBFBF"/>
                </a:solidFill>
              </a:rPr>
              <a:t>Patient engagement initiatives (PEIs)</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Experience Cloud</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One flow for conferences and classes on your existing Experience Cloud site and app; replaces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 or app</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Chase payment page</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4418838" y="3413019"/>
            <a:ext cx="1987906"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token only</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2935224"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idempotent)</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reminders</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Classes and conferences share this flow; conferences add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Registrant view: find it, book it, pay, add to calendar</a:t>
            </a:r>
            <a:endParaRPr lang="en-US" sz="3200" dirty="0"/>
          </a:p>
        </p:txBody>
      </p:sp>
      <p:sp>
        <p:nvSpPr>
          <p:cNvPr id="3" name="Shape 1"/>
          <p:cNvSpPr/>
          <p:nvPr/>
        </p:nvSpPr>
        <p:spPr>
          <a:xfrm>
            <a:off x="502920" y="1371600"/>
            <a:ext cx="310896" cy="310896"/>
          </a:xfrm>
          <a:prstGeom prst="ellipse">
            <a:avLst/>
          </a:prstGeom>
          <a:solidFill>
            <a:srgbClr val="000000"/>
          </a:solidFill>
          <a:ln w="12700">
            <a:solidFill>
              <a:srgbClr val="000000"/>
            </a:solidFill>
            <a:prstDash val="solid"/>
          </a:ln>
        </p:spPr>
      </p:sp>
      <p:sp>
        <p:nvSpPr>
          <p:cNvPr id="4" name="Text 2"/>
          <p:cNvSpPr txBox="1"/>
          <p:nvPr/>
        </p:nvSpPr>
        <p:spPr>
          <a:xfrm>
            <a:off x="502920" y="1371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5" name="Text 3"/>
          <p:cNvSpPr txBox="1"/>
          <p:nvPr/>
        </p:nvSpPr>
        <p:spPr>
          <a:xfrm>
            <a:off x="914400" y="1371600"/>
            <a:ext cx="4416552" cy="310896"/>
          </a:xfrm>
          <a:prstGeom prst="rect">
            <a:avLst/>
          </a:prstGeom>
          <a:noFill/>
          <a:ln/>
        </p:spPr>
        <p:txBody>
          <a:bodyPr wrap="square" lIns="0" tIns="0" rIns="0" bIns="0" rtlCol="0" anchor="ctr"/>
          <a:lstStyle/>
          <a:p>
            <a:pPr indent="0" marL="0">
              <a:buNone/>
            </a:pPr>
            <a:r>
              <a:rPr lang="en-US" sz="1400" b="1" dirty="0">
                <a:solidFill>
                  <a:srgbClr val="000000"/>
                </a:solidFill>
              </a:rPr>
              <a:t>Sitecore page: conferences, classes and events</a:t>
            </a:r>
            <a:endParaRPr lang="en-US" sz="1400" dirty="0"/>
          </a:p>
        </p:txBody>
      </p:sp>
      <p:sp>
        <p:nvSpPr>
          <p:cNvPr id="6" name="Shape 4"/>
          <p:cNvSpPr/>
          <p:nvPr/>
        </p:nvSpPr>
        <p:spPr>
          <a:xfrm>
            <a:off x="5330952" y="1371600"/>
            <a:ext cx="310896" cy="310896"/>
          </a:xfrm>
          <a:prstGeom prst="ellipse">
            <a:avLst/>
          </a:prstGeom>
          <a:solidFill>
            <a:srgbClr val="000000"/>
          </a:solidFill>
          <a:ln w="12700">
            <a:solidFill>
              <a:srgbClr val="000000"/>
            </a:solidFill>
            <a:prstDash val="solid"/>
          </a:ln>
        </p:spPr>
      </p:sp>
      <p:sp>
        <p:nvSpPr>
          <p:cNvPr id="7" name="Text 5"/>
          <p:cNvSpPr txBox="1"/>
          <p:nvPr/>
        </p:nvSpPr>
        <p:spPr>
          <a:xfrm>
            <a:off x="5330952" y="137160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8" name="Text 6"/>
          <p:cNvSpPr txBox="1"/>
          <p:nvPr/>
        </p:nvSpPr>
        <p:spPr>
          <a:xfrm>
            <a:off x="5742432" y="1371600"/>
            <a:ext cx="5946343" cy="310896"/>
          </a:xfrm>
          <a:prstGeom prst="rect">
            <a:avLst/>
          </a:prstGeom>
          <a:noFill/>
          <a:ln/>
        </p:spPr>
        <p:txBody>
          <a:bodyPr wrap="square" lIns="0" tIns="0" rIns="0" bIns="0" rtlCol="0" anchor="ctr"/>
          <a:lstStyle/>
          <a:p>
            <a:pPr indent="0" marL="0">
              <a:buNone/>
            </a:pPr>
            <a:r>
              <a:rPr lang="en-US" sz="1400" b="1" dirty="0">
                <a:solidFill>
                  <a:srgbClr val="000000"/>
                </a:solidFill>
              </a:rPr>
              <a:t>Click Book on a conference: session details, pay, add to calendar</a:t>
            </a:r>
            <a:endParaRPr lang="en-US" sz="1400" dirty="0"/>
          </a:p>
        </p:txBody>
      </p:sp>
      <p:pic>
        <p:nvPicPr>
          <p:cNvPr id="9" name="07-sitecore-listing.png" descr="/home/user/presales_memorial-hermann/deck/mockups/png/07-sitecore-listing.png">    </p:cNvPr>
          <p:cNvPicPr>
            <a:picLocks noChangeAspect="1"/>
          </p:cNvPicPr>
          <p:nvPr/>
        </p:nvPicPr>
        <p:blipFill>
          <a:blip r:embed="rId1"/>
          <a:stretch>
            <a:fillRect/>
          </a:stretch>
        </p:blipFill>
        <p:spPr>
          <a:xfrm>
            <a:off x="502920" y="1828800"/>
            <a:ext cx="4553712" cy="4065814"/>
          </a:xfrm>
          <a:prstGeom prst="rect">
            <a:avLst/>
          </a:prstGeom>
          <a:effectLst>
            <a:outerShdw sx="100000" sy="100000" kx="0" ky="0" algn="bl" rotWithShape="0" blurRad="101600" dist="25400" dir="5400000">
              <a:srgbClr val="000000">
                <a:alpha val="25000"/>
              </a:srgbClr>
            </a:outerShdw>
          </a:effectLst>
        </p:spPr>
      </p:pic>
      <p:pic>
        <p:nvPicPr>
          <p:cNvPr id="10" name="08-conference-booking.png" descr="/home/user/presales_memorial-hermann/deck/mockups/png/08-conference-booking.png">    </p:cNvPr>
          <p:cNvPicPr>
            <a:picLocks noChangeAspect="1"/>
          </p:cNvPicPr>
          <p:nvPr/>
        </p:nvPicPr>
        <p:blipFill>
          <a:blip r:embed="rId2"/>
          <a:stretch>
            <a:fillRect/>
          </a:stretch>
        </p:blipFill>
        <p:spPr>
          <a:xfrm>
            <a:off x="5330952" y="1828800"/>
            <a:ext cx="6357823" cy="4045887"/>
          </a:xfrm>
          <a:prstGeom prst="rect">
            <a:avLst/>
          </a:prstGeom>
          <a:effectLst>
            <a:outerShdw sx="100000" sy="100000" kx="0" ky="0" algn="bl" rotWithShape="0" blurRad="101600" dist="25400" dir="5400000">
              <a:srgbClr val="000000">
                <a:alpha val="25000"/>
              </a:srgbClr>
            </a:outerShdw>
          </a:effectLst>
        </p:spPr>
      </p:pic>
      <p:sp>
        <p:nvSpPr>
          <p:cNvPr id="11" name="Text 7"/>
          <p:cNvSpPr txBox="1"/>
          <p:nvPr/>
        </p:nvSpPr>
        <p:spPr>
          <a:xfrm>
            <a:off x="502920" y="6016752"/>
            <a:ext cx="11185855" cy="256032"/>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Listings stay on Sitecore; booking runs on the existing Experience Cloud site and app; payment on Chase’s hosted page.</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view: set up a conference and its sessions</a:t>
            </a:r>
            <a:endParaRPr lang="en-US" sz="3200" dirty="0"/>
          </a:p>
        </p:txBody>
      </p:sp>
      <p:pic>
        <p:nvPicPr>
          <p:cNvPr id="3" name="09-staff-conference-setup.png" descr="/home/user/presales_memorial-hermann/deck/mockups/png/09-staff-conference-setup.png">    </p:cNvPr>
          <p:cNvPicPr>
            <a:picLocks noChangeAspect="1"/>
          </p:cNvPicPr>
          <p:nvPr/>
        </p:nvPicPr>
        <p:blipFill>
          <a:blip r:embed="rId1"/>
          <a:stretch>
            <a:fillRect/>
          </a:stretch>
        </p:blipFill>
        <p:spPr>
          <a:xfrm>
            <a:off x="502920" y="1600200"/>
            <a:ext cx="8138160" cy="4069080"/>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961120" y="1600200"/>
            <a:ext cx="2724912" cy="365760"/>
          </a:xfrm>
          <a:prstGeom prst="rect">
            <a:avLst/>
          </a:prstGeom>
          <a:noFill/>
          <a:ln/>
        </p:spPr>
        <p:txBody>
          <a:bodyPr wrap="square" lIns="0" tIns="0" rIns="0" bIns="0" rtlCol="0" anchor="t"/>
          <a:lstStyle/>
          <a:p>
            <a:pPr indent="0" marL="0">
              <a:buNone/>
            </a:pPr>
            <a:r>
              <a:rPr lang="en-US" sz="1800" b="1" dirty="0">
                <a:solidFill>
                  <a:srgbClr val="000000"/>
                </a:solidFill>
              </a:rPr>
              <a:t>How organizers work</a:t>
            </a:r>
            <a:endParaRPr lang="en-US" sz="1800" dirty="0"/>
          </a:p>
        </p:txBody>
      </p:sp>
      <p:sp>
        <p:nvSpPr>
          <p:cNvPr id="5" name="Shape 2"/>
          <p:cNvSpPr/>
          <p:nvPr/>
        </p:nvSpPr>
        <p:spPr>
          <a:xfrm>
            <a:off x="8961120" y="2139696"/>
            <a:ext cx="54864" cy="548640"/>
          </a:xfrm>
          <a:prstGeom prst="rect">
            <a:avLst/>
          </a:prstGeom>
          <a:solidFill>
            <a:srgbClr val="C8005A"/>
          </a:solidFill>
          <a:ln w="12700">
            <a:solidFill>
              <a:srgbClr val="C8005A"/>
            </a:solidFill>
            <a:prstDash val="solid"/>
          </a:ln>
        </p:spPr>
      </p:sp>
      <p:sp>
        <p:nvSpPr>
          <p:cNvPr id="6" name="Text 3"/>
          <p:cNvSpPr txBox="1"/>
          <p:nvPr/>
        </p:nvSpPr>
        <p:spPr>
          <a:xfrm>
            <a:off x="9144000" y="2103120"/>
            <a:ext cx="2542032" cy="256032"/>
          </a:xfrm>
          <a:prstGeom prst="rect">
            <a:avLst/>
          </a:prstGeom>
          <a:noFill/>
          <a:ln/>
        </p:spPr>
        <p:txBody>
          <a:bodyPr wrap="square" lIns="0" tIns="0" rIns="0" bIns="0" rtlCol="0" anchor="t"/>
          <a:lstStyle/>
          <a:p>
            <a:pPr indent="0" marL="0">
              <a:buNone/>
            </a:pPr>
            <a:r>
              <a:rPr lang="en-US" sz="1300" b="1" dirty="0">
                <a:solidFill>
                  <a:srgbClr val="000000"/>
                </a:solidFill>
              </a:rPr>
              <a:t>One form for every event</a:t>
            </a:r>
            <a:endParaRPr lang="en-US" sz="1300" dirty="0"/>
          </a:p>
        </p:txBody>
      </p:sp>
      <p:sp>
        <p:nvSpPr>
          <p:cNvPr id="7" name="Text 4"/>
          <p:cNvSpPr txBox="1"/>
          <p:nvPr/>
        </p:nvSpPr>
        <p:spPr>
          <a:xfrm>
            <a:off x="9144000" y="2368296"/>
            <a:ext cx="2542032" cy="384048"/>
          </a:xfrm>
          <a:prstGeom prst="rect">
            <a:avLst/>
          </a:prstGeom>
          <a:noFill/>
          <a:ln/>
        </p:spPr>
        <p:txBody>
          <a:bodyPr wrap="square" lIns="0" tIns="0" rIns="0" bIns="0" rtlCol="0" anchor="t"/>
          <a:lstStyle/>
          <a:p>
            <a:pPr indent="0" marL="0">
              <a:buNone/>
            </a:pPr>
            <a:r>
              <a:rPr lang="en-US" sz="1100" dirty="0">
                <a:solidFill>
                  <a:srgbClr val="4D4D4D"/>
                </a:solidFill>
              </a:rPr>
              <a:t>Pick class, event or conference; dates, venue, capacity</a:t>
            </a:r>
            <a:endParaRPr lang="en-US" sz="1100" dirty="0"/>
          </a:p>
        </p:txBody>
      </p:sp>
      <p:sp>
        <p:nvSpPr>
          <p:cNvPr id="8" name="Shape 5"/>
          <p:cNvSpPr/>
          <p:nvPr/>
        </p:nvSpPr>
        <p:spPr>
          <a:xfrm>
            <a:off x="8961120" y="2852928"/>
            <a:ext cx="54864" cy="548640"/>
          </a:xfrm>
          <a:prstGeom prst="rect">
            <a:avLst/>
          </a:prstGeom>
          <a:solidFill>
            <a:srgbClr val="C8005A"/>
          </a:solidFill>
          <a:ln w="12700">
            <a:solidFill>
              <a:srgbClr val="C8005A"/>
            </a:solidFill>
            <a:prstDash val="solid"/>
          </a:ln>
        </p:spPr>
      </p:sp>
      <p:sp>
        <p:nvSpPr>
          <p:cNvPr id="9" name="Text 6"/>
          <p:cNvSpPr txBox="1"/>
          <p:nvPr/>
        </p:nvSpPr>
        <p:spPr>
          <a:xfrm>
            <a:off x="9144000" y="2816352"/>
            <a:ext cx="2542032" cy="256032"/>
          </a:xfrm>
          <a:prstGeom prst="rect">
            <a:avLst/>
          </a:prstGeom>
          <a:noFill/>
          <a:ln/>
        </p:spPr>
        <p:txBody>
          <a:bodyPr wrap="square" lIns="0" tIns="0" rIns="0" bIns="0" rtlCol="0" anchor="t"/>
          <a:lstStyle/>
          <a:p>
            <a:pPr indent="0" marL="0">
              <a:buNone/>
            </a:pPr>
            <a:r>
              <a:rPr lang="en-US" sz="1300" b="1" dirty="0">
                <a:solidFill>
                  <a:srgbClr val="000000"/>
                </a:solidFill>
              </a:rPr>
              <a:t>Ticket types per audience</a:t>
            </a:r>
            <a:endParaRPr lang="en-US" sz="1300" dirty="0"/>
          </a:p>
        </p:txBody>
      </p:sp>
      <p:sp>
        <p:nvSpPr>
          <p:cNvPr id="10" name="Text 7"/>
          <p:cNvSpPr txBox="1"/>
          <p:nvPr/>
        </p:nvSpPr>
        <p:spPr>
          <a:xfrm>
            <a:off x="9144000" y="3081528"/>
            <a:ext cx="2542032" cy="384048"/>
          </a:xfrm>
          <a:prstGeom prst="rect">
            <a:avLst/>
          </a:prstGeom>
          <a:noFill/>
          <a:ln/>
        </p:spPr>
        <p:txBody>
          <a:bodyPr wrap="square" lIns="0" tIns="0" rIns="0" bIns="0" rtlCol="0" anchor="t"/>
          <a:lstStyle/>
          <a:p>
            <a:pPr indent="0" marL="0">
              <a:buNone/>
            </a:pPr>
            <a:r>
              <a:rPr lang="en-US" sz="1100" dirty="0">
                <a:solidFill>
                  <a:srgbClr val="4D4D4D"/>
                </a:solidFill>
              </a:rPr>
              <a:t>Provider, nurse, caregiver and community prices</a:t>
            </a:r>
            <a:endParaRPr lang="en-US" sz="1100" dirty="0"/>
          </a:p>
        </p:txBody>
      </p:sp>
      <p:sp>
        <p:nvSpPr>
          <p:cNvPr id="11" name="Shape 8"/>
          <p:cNvSpPr/>
          <p:nvPr/>
        </p:nvSpPr>
        <p:spPr>
          <a:xfrm>
            <a:off x="8961120" y="3566160"/>
            <a:ext cx="54864" cy="548640"/>
          </a:xfrm>
          <a:prstGeom prst="rect">
            <a:avLst/>
          </a:prstGeom>
          <a:solidFill>
            <a:srgbClr val="C8005A"/>
          </a:solidFill>
          <a:ln w="12700">
            <a:solidFill>
              <a:srgbClr val="C8005A"/>
            </a:solidFill>
            <a:prstDash val="solid"/>
          </a:ln>
        </p:spPr>
      </p:sp>
      <p:sp>
        <p:nvSpPr>
          <p:cNvPr id="12" name="Text 9"/>
          <p:cNvSpPr txBox="1"/>
          <p:nvPr/>
        </p:nvSpPr>
        <p:spPr>
          <a:xfrm>
            <a:off x="9144000" y="3529584"/>
            <a:ext cx="2542032" cy="256032"/>
          </a:xfrm>
          <a:prstGeom prst="rect">
            <a:avLst/>
          </a:prstGeom>
          <a:noFill/>
          <a:ln/>
        </p:spPr>
        <p:txBody>
          <a:bodyPr wrap="square" lIns="0" tIns="0" rIns="0" bIns="0" rtlCol="0" anchor="t"/>
          <a:lstStyle/>
          <a:p>
            <a:pPr indent="0" marL="0">
              <a:buNone/>
            </a:pPr>
            <a:r>
              <a:rPr lang="en-US" sz="1300" b="1" dirty="0">
                <a:solidFill>
                  <a:srgbClr val="000000"/>
                </a:solidFill>
              </a:rPr>
              <a:t>Sessions in minutes</a:t>
            </a:r>
            <a:endParaRPr lang="en-US" sz="1300" dirty="0"/>
          </a:p>
        </p:txBody>
      </p:sp>
      <p:sp>
        <p:nvSpPr>
          <p:cNvPr id="13" name="Text 10"/>
          <p:cNvSpPr txBox="1"/>
          <p:nvPr/>
        </p:nvSpPr>
        <p:spPr>
          <a:xfrm>
            <a:off x="9144000" y="3794760"/>
            <a:ext cx="2542032" cy="384048"/>
          </a:xfrm>
          <a:prstGeom prst="rect">
            <a:avLst/>
          </a:prstGeom>
          <a:noFill/>
          <a:ln/>
        </p:spPr>
        <p:txBody>
          <a:bodyPr wrap="square" lIns="0" tIns="0" rIns="0" bIns="0" rtlCol="0" anchor="t"/>
          <a:lstStyle/>
          <a:p>
            <a:pPr indent="0" marL="0">
              <a:buNone/>
            </a:pPr>
            <a:r>
              <a:rPr lang="en-US" sz="1100" dirty="0">
                <a:solidFill>
                  <a:srgbClr val="4D4D4D"/>
                </a:solidFill>
              </a:rPr>
              <a:t>Day, time, room, track, speaker, seat limit, CME [to confirm]</a:t>
            </a:r>
            <a:endParaRPr lang="en-US" sz="1100" dirty="0"/>
          </a:p>
        </p:txBody>
      </p:sp>
      <p:sp>
        <p:nvSpPr>
          <p:cNvPr id="14" name="Shape 11"/>
          <p:cNvSpPr/>
          <p:nvPr/>
        </p:nvSpPr>
        <p:spPr>
          <a:xfrm>
            <a:off x="8961120" y="4279392"/>
            <a:ext cx="54864" cy="548640"/>
          </a:xfrm>
          <a:prstGeom prst="rect">
            <a:avLst/>
          </a:prstGeom>
          <a:solidFill>
            <a:srgbClr val="C8005A"/>
          </a:solidFill>
          <a:ln w="12700">
            <a:solidFill>
              <a:srgbClr val="C8005A"/>
            </a:solidFill>
            <a:prstDash val="solid"/>
          </a:ln>
        </p:spPr>
      </p:sp>
      <p:sp>
        <p:nvSpPr>
          <p:cNvPr id="15" name="Text 12"/>
          <p:cNvSpPr txBox="1"/>
          <p:nvPr/>
        </p:nvSpPr>
        <p:spPr>
          <a:xfrm>
            <a:off x="9144000" y="4242816"/>
            <a:ext cx="2542032" cy="256032"/>
          </a:xfrm>
          <a:prstGeom prst="rect">
            <a:avLst/>
          </a:prstGeom>
          <a:noFill/>
          <a:ln/>
        </p:spPr>
        <p:txBody>
          <a:bodyPr wrap="square" lIns="0" tIns="0" rIns="0" bIns="0" rtlCol="0" anchor="t"/>
          <a:lstStyle/>
          <a:p>
            <a:pPr indent="0" marL="0">
              <a:buNone/>
            </a:pPr>
            <a:r>
              <a:rPr lang="en-US" sz="1300" b="1" dirty="0">
                <a:solidFill>
                  <a:srgbClr val="000000"/>
                </a:solidFill>
              </a:rPr>
              <a:t>Payment and journey</a:t>
            </a:r>
            <a:endParaRPr lang="en-US" sz="1300" dirty="0"/>
          </a:p>
        </p:txBody>
      </p:sp>
      <p:sp>
        <p:nvSpPr>
          <p:cNvPr id="16" name="Text 13"/>
          <p:cNvSpPr txBox="1"/>
          <p:nvPr/>
        </p:nvSpPr>
        <p:spPr>
          <a:xfrm>
            <a:off x="9144000" y="4507992"/>
            <a:ext cx="2542032" cy="384048"/>
          </a:xfrm>
          <a:prstGeom prst="rect">
            <a:avLst/>
          </a:prstGeom>
          <a:noFill/>
          <a:ln/>
        </p:spPr>
        <p:txBody>
          <a:bodyPr wrap="square" lIns="0" tIns="0" rIns="0" bIns="0" rtlCol="0" anchor="t"/>
          <a:lstStyle/>
          <a:p>
            <a:pPr indent="0" marL="0">
              <a:buNone/>
            </a:pPr>
            <a:r>
              <a:rPr lang="en-US" sz="1100" dirty="0">
                <a:solidFill>
                  <a:srgbClr val="4D4D4D"/>
                </a:solidFill>
              </a:rPr>
              <a:t>Chase checkout and a Marketing Cloud journey set per event</a:t>
            </a:r>
            <a:endParaRPr lang="en-US" sz="1100" dirty="0"/>
          </a:p>
        </p:txBody>
      </p:sp>
      <p:sp>
        <p:nvSpPr>
          <p:cNvPr id="17" name="Shape 14"/>
          <p:cNvSpPr/>
          <p:nvPr/>
        </p:nvSpPr>
        <p:spPr>
          <a:xfrm>
            <a:off x="8961120" y="4992624"/>
            <a:ext cx="54864" cy="548640"/>
          </a:xfrm>
          <a:prstGeom prst="rect">
            <a:avLst/>
          </a:prstGeom>
          <a:solidFill>
            <a:srgbClr val="C8005A"/>
          </a:solidFill>
          <a:ln w="12700">
            <a:solidFill>
              <a:srgbClr val="C8005A"/>
            </a:solidFill>
            <a:prstDash val="solid"/>
          </a:ln>
        </p:spPr>
      </p:sp>
      <p:sp>
        <p:nvSpPr>
          <p:cNvPr id="18" name="Text 15"/>
          <p:cNvSpPr txBox="1"/>
          <p:nvPr/>
        </p:nvSpPr>
        <p:spPr>
          <a:xfrm>
            <a:off x="9144000" y="4956048"/>
            <a:ext cx="2542032" cy="256032"/>
          </a:xfrm>
          <a:prstGeom prst="rect">
            <a:avLst/>
          </a:prstGeom>
          <a:noFill/>
          <a:ln/>
        </p:spPr>
        <p:txBody>
          <a:bodyPr wrap="square" lIns="0" tIns="0" rIns="0" bIns="0" rtlCol="0" anchor="t"/>
          <a:lstStyle/>
          <a:p>
            <a:pPr indent="0" marL="0">
              <a:buNone/>
            </a:pPr>
            <a:r>
              <a:rPr lang="en-US" sz="1300" b="1" dirty="0">
                <a:solidFill>
                  <a:srgbClr val="000000"/>
                </a:solidFill>
              </a:rPr>
              <a:t>Publish</a:t>
            </a:r>
            <a:endParaRPr lang="en-US" sz="1300" dirty="0"/>
          </a:p>
        </p:txBody>
      </p:sp>
      <p:sp>
        <p:nvSpPr>
          <p:cNvPr id="19" name="Text 16"/>
          <p:cNvSpPr txBox="1"/>
          <p:nvPr/>
        </p:nvSpPr>
        <p:spPr>
          <a:xfrm>
            <a:off x="9144000" y="5221224"/>
            <a:ext cx="2542032" cy="384048"/>
          </a:xfrm>
          <a:prstGeom prst="rect">
            <a:avLst/>
          </a:prstGeom>
          <a:noFill/>
          <a:ln/>
        </p:spPr>
        <p:txBody>
          <a:bodyPr wrap="square" lIns="0" tIns="0" rIns="0" bIns="0" rtlCol="0" anchor="t"/>
          <a:lstStyle/>
          <a:p>
            <a:pPr indent="0" marL="0">
              <a:buNone/>
            </a:pPr>
            <a:r>
              <a:rPr lang="en-US" sz="1100" dirty="0">
                <a:solidFill>
                  <a:srgbClr val="4D4D4D"/>
                </a:solidFill>
              </a:rPr>
              <a:t>The agenda appears on the website and app</a:t>
            </a:r>
            <a:endParaRPr lang="en-US" sz="1100" dirty="0"/>
          </a:p>
        </p:txBody>
      </p:sp>
      <p:sp>
        <p:nvSpPr>
          <p:cNvPr id="20" name="Text 17"/>
          <p:cNvSpPr txBox="1"/>
          <p:nvPr/>
        </p:nvSpPr>
        <p:spPr>
          <a:xfrm>
            <a:off x="502920" y="5852160"/>
            <a:ext cx="8138160" cy="274320"/>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A standard Salesforce Lightning app, so Memorial Hermann’s admins can own it after launch.</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Fully booked? Capture interest and invite them first</a:t>
            </a:r>
            <a:endParaRPr lang="en-US" sz="3200" dirty="0"/>
          </a:p>
        </p:txBody>
      </p:sp>
      <p:pic>
        <p:nvPicPr>
          <p:cNvPr id="3" name="10-interest-list.png" descr="/home/user/presales_memorial-hermann/deck/mockups/png/10-interest-list.png">    </p:cNvPr>
          <p:cNvPicPr>
            <a:picLocks noChangeAspect="1"/>
          </p:cNvPicPr>
          <p:nvPr/>
        </p:nvPicPr>
        <p:blipFill>
          <a:blip r:embed="rId1"/>
          <a:stretch>
            <a:fillRect/>
          </a:stretch>
        </p:blipFill>
        <p:spPr>
          <a:xfrm>
            <a:off x="502920" y="1481328"/>
            <a:ext cx="11185855" cy="4474342"/>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502920" y="6035040"/>
            <a:ext cx="11185855" cy="256032"/>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Works for classes, events and conference sessions. Head-start window [to confirm].</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When interest outruns seats: a popular class or a conference opening</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Experience Cloud or app</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Chase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as for classes today)</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 or app)</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Chase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Chase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One gateway: Chase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RECOMMENDED</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Chase for every event</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Reuse today’s class integration; Authorize.net kept only for past refunds</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TO CONFIRM</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Finance sign-off</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merchant setup for conference fees [to confirm]</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Full and partial refunds by token from Salesforce</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Ten sprints: conferences live at week 12, classes improved by week 20</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1-2  ·  Assess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Review today’s Experience Cloud site, the app, Certain and a sample of its data; shared event model</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3-12  ·  Phase 1 live</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Conferences: sessions, speakers, My Agenda, badges. Certain data moved and Certain retired</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13-20  ·  Phase 2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Classes on the shared model: instant confirmation, waitlists, check-in, reporting</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21+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3" name="certain-transition"/>
          <p:cNvSpPr/>
          <p:nvPr/>
        </p:nvSpPr>
        <p:spPr>
          <a:xfrm>
            <a:off x="4654296" y="3529584"/>
            <a:ext cx="1591056" cy="164592"/>
          </a:xfrm>
          <a:prstGeom prst="roundRect">
            <a:avLst>
              <a:gd name="adj" fmla="val 50000"/>
            </a:avLst>
          </a:prstGeom>
          <a:solidFill>
            <a:schemeClr val="accent3"/>
          </a:solidFill>
          <a:ln w="12700">
            <a:solidFill>
              <a:schemeClr val="bg1"/>
            </a:solidFill>
            <a:prstDash val="solid"/>
          </a:ln>
        </p:spPr>
      </p:sp>
      <p:sp>
        <p:nvSpPr>
          <p:cNvPr id="24" name="Text 22"/>
          <p:cNvSpPr txBox="1"/>
          <p:nvPr/>
        </p:nvSpPr>
        <p:spPr>
          <a:xfrm>
            <a:off x="4654296" y="3840480"/>
            <a:ext cx="1691640" cy="292608"/>
          </a:xfrm>
          <a:prstGeom prst="rect">
            <a:avLst/>
          </a:prstGeom>
          <a:noFill/>
          <a:ln/>
        </p:spPr>
        <p:txBody>
          <a:bodyPr wrap="square" lIns="0" tIns="0" rIns="0" bIns="0" rtlCol="0" anchor="t"/>
          <a:lstStyle/>
          <a:p>
            <a:pPr indent="0" marL="0">
              <a:buNone/>
            </a:pPr>
            <a:r>
              <a:rPr lang="en-US" sz="1300" b="1" dirty="0">
                <a:solidFill>
                  <a:schemeClr val="bg1"/>
                </a:solidFill>
              </a:rPr>
              <a:t>Certain transition</a:t>
            </a:r>
            <a:endParaRPr lang="en-US" sz="1300" dirty="0"/>
          </a:p>
        </p:txBody>
      </p:sp>
      <p:sp>
        <p:nvSpPr>
          <p:cNvPr id="25" name="Text 23"/>
          <p:cNvSpPr txBox="1"/>
          <p:nvPr/>
        </p:nvSpPr>
        <p:spPr>
          <a:xfrm>
            <a:off x="4654296" y="4206240"/>
            <a:ext cx="1600200" cy="822960"/>
          </a:xfrm>
          <a:prstGeom prst="rect">
            <a:avLst/>
          </a:prstGeom>
          <a:noFill/>
          <a:ln/>
        </p:spPr>
        <p:txBody>
          <a:bodyPr wrap="square" lIns="0" tIns="0" rIns="0" bIns="0" rtlCol="0" anchor="t"/>
          <a:lstStyle/>
          <a:p>
            <a:pPr indent="0" marL="0">
              <a:buNone/>
            </a:pPr>
            <a:r>
              <a:rPr lang="en-US" sz="1100" dirty="0">
                <a:solidFill>
                  <a:schemeClr val="bg1"/>
                </a:solidFill>
              </a:rPr>
              <a:t>Weeks 7-12: export, map, two trial loads, cutover between conferences</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each phase delivers</a:t>
            </a:r>
            <a:endParaRPr lang="en-US" sz="3200" dirty="0"/>
          </a:p>
        </p:txBody>
      </p:sp>
      <p:sp>
        <p:nvSpPr>
          <p:cNvPr id="3" name="Text 1"/>
          <p:cNvSpPr txBox="1"/>
          <p:nvPr/>
        </p:nvSpPr>
        <p:spPr>
          <a:xfrm>
            <a:off x="576072" y="1554480"/>
            <a:ext cx="1865376" cy="384048"/>
          </a:xfrm>
          <a:prstGeom prst="rect">
            <a:avLst/>
          </a:prstGeom>
          <a:noFill/>
          <a:ln/>
        </p:spPr>
        <p:txBody>
          <a:bodyPr wrap="square" lIns="0" tIns="0" rIns="0" bIns="0" rtlCol="0" anchor="b"/>
          <a:lstStyle/>
          <a:p>
            <a:pPr indent="0" marL="0">
              <a:buNone/>
            </a:pPr>
            <a:endParaRPr lang="en-US" sz="1500" dirty="0"/>
          </a:p>
        </p:txBody>
      </p:sp>
      <p:sp>
        <p:nvSpPr>
          <p:cNvPr id="4" name="Text 2"/>
          <p:cNvSpPr txBox="1"/>
          <p:nvPr/>
        </p:nvSpPr>
        <p:spPr>
          <a:xfrm>
            <a:off x="2587752" y="1554480"/>
            <a:ext cx="4425696" cy="384048"/>
          </a:xfrm>
          <a:prstGeom prst="rect">
            <a:avLst/>
          </a:prstGeom>
          <a:noFill/>
          <a:ln/>
        </p:spPr>
        <p:txBody>
          <a:bodyPr wrap="square" lIns="0" tIns="0" rIns="0" bIns="0" rtlCol="0" anchor="b"/>
          <a:lstStyle/>
          <a:p>
            <a:pPr indent="0" marL="0">
              <a:buNone/>
            </a:pPr>
            <a:r>
              <a:rPr lang="en-US" sz="1500" b="1" dirty="0">
                <a:solidFill>
                  <a:schemeClr val="tx1"/>
                </a:solidFill>
              </a:rPr>
              <a:t>Phase 1  ·  Conferences (replaces Certain)</a:t>
            </a:r>
            <a:endParaRPr lang="en-US" sz="1500" dirty="0"/>
          </a:p>
        </p:txBody>
      </p:sp>
      <p:sp>
        <p:nvSpPr>
          <p:cNvPr id="5" name="Text 3"/>
          <p:cNvSpPr txBox="1"/>
          <p:nvPr/>
        </p:nvSpPr>
        <p:spPr>
          <a:xfrm>
            <a:off x="7159752" y="1554480"/>
            <a:ext cx="4453128" cy="384048"/>
          </a:xfrm>
          <a:prstGeom prst="rect">
            <a:avLst/>
          </a:prstGeom>
          <a:noFill/>
          <a:ln/>
        </p:spPr>
        <p:txBody>
          <a:bodyPr wrap="square" lIns="0" tIns="0" rIns="0" bIns="0" rtlCol="0" anchor="b"/>
          <a:lstStyle/>
          <a:p>
            <a:pPr indent="0" marL="0">
              <a:buNone/>
            </a:pPr>
            <a:r>
              <a:rPr lang="en-US" sz="1500" b="1" dirty="0">
                <a:solidFill>
                  <a:schemeClr val="tx1"/>
                </a:solidFill>
              </a:rPr>
              <a:t>Phase 2  ·  Classes on the shared platform</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Scope</a:t>
            </a:r>
            <a:endParaRPr lang="en-US" sz="1300" dirty="0"/>
          </a:p>
        </p:txBody>
      </p:sp>
      <p:sp>
        <p:nvSpPr>
          <p:cNvPr id="8" name="Text 6"/>
          <p:cNvSpPr txBox="1"/>
          <p:nvPr/>
        </p:nvSpPr>
        <p:spPr>
          <a:xfrm>
            <a:off x="2587752" y="20848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Multi-day agenda, tracks, rooms and session capacity</a:t>
            </a:r>
            <a:endParaRPr lang="en-US" sz="1300" dirty="0"/>
          </a:p>
        </p:txBody>
      </p:sp>
      <p:sp>
        <p:nvSpPr>
          <p:cNvPr id="9" name="Text 7"/>
          <p:cNvSpPr txBox="1"/>
          <p:nvPr/>
        </p:nvSpPr>
        <p:spPr>
          <a:xfrm>
            <a:off x="7159752" y="20848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Today’s classes moved onto the shared event model</a:t>
            </a:r>
            <a:endParaRPr lang="en-US" sz="1300" dirty="0"/>
          </a:p>
        </p:txBody>
      </p:sp>
      <p:sp>
        <p:nvSpPr>
          <p:cNvPr id="10" name="Shape 8"/>
          <p:cNvSpPr/>
          <p:nvPr/>
        </p:nvSpPr>
        <p:spPr>
          <a:xfrm>
            <a:off x="502920" y="2560320"/>
            <a:ext cx="11183112" cy="0"/>
          </a:xfrm>
          <a:prstGeom prst="line">
            <a:avLst/>
          </a:prstGeom>
          <a:noFill/>
          <a:ln w="9525">
            <a:solidFill>
              <a:srgbClr val="8C8C8C"/>
            </a:solidFill>
            <a:prstDash val="sysDot"/>
          </a:ln>
        </p:spPr>
      </p:sp>
      <p:sp>
        <p:nvSpPr>
          <p:cNvPr id="11" name="Text 9"/>
          <p:cNvSpPr txBox="1"/>
          <p:nvPr/>
        </p:nvSpPr>
        <p:spPr>
          <a:xfrm>
            <a:off x="576072" y="26334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Registration</a:t>
            </a:r>
            <a:endParaRPr lang="en-US" sz="1300" dirty="0"/>
          </a:p>
        </p:txBody>
      </p:sp>
      <p:sp>
        <p:nvSpPr>
          <p:cNvPr id="12" name="Text 10"/>
          <p:cNvSpPr txBox="1"/>
          <p:nvPr/>
        </p:nvSpPr>
        <p:spPr>
          <a:xfrm>
            <a:off x="2587752" y="26334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Providers and guests, ticket types, My Agenda on Experience Cloud</a:t>
            </a:r>
            <a:endParaRPr lang="en-US" sz="1300" dirty="0"/>
          </a:p>
        </p:txBody>
      </p:sp>
      <p:sp>
        <p:nvSpPr>
          <p:cNvPr id="13" name="Text 11"/>
          <p:cNvSpPr txBox="1"/>
          <p:nvPr/>
        </p:nvSpPr>
        <p:spPr>
          <a:xfrm>
            <a:off x="7159752" y="26334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Existing Experience Cloud site and app, now with instant confirmation</a:t>
            </a:r>
            <a:endParaRPr lang="en-US" sz="1300" dirty="0"/>
          </a:p>
        </p:txBody>
      </p:sp>
      <p:sp>
        <p:nvSpPr>
          <p:cNvPr id="14" name="Shape 12"/>
          <p:cNvSpPr/>
          <p:nvPr/>
        </p:nvSpPr>
        <p:spPr>
          <a:xfrm>
            <a:off x="502920" y="3108960"/>
            <a:ext cx="11183112" cy="0"/>
          </a:xfrm>
          <a:prstGeom prst="line">
            <a:avLst/>
          </a:prstGeom>
          <a:noFill/>
          <a:ln w="9525">
            <a:solidFill>
              <a:srgbClr val="8C8C8C"/>
            </a:solidFill>
            <a:prstDash val="sysDot"/>
          </a:ln>
        </p:spPr>
      </p:sp>
      <p:sp>
        <p:nvSpPr>
          <p:cNvPr id="15" name="Text 13"/>
          <p:cNvSpPr txBox="1"/>
          <p:nvPr/>
        </p:nvSpPr>
        <p:spPr>
          <a:xfrm>
            <a:off x="576072" y="318211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Payments</a:t>
            </a:r>
            <a:endParaRPr lang="en-US" sz="1300" dirty="0"/>
          </a:p>
        </p:txBody>
      </p:sp>
      <p:sp>
        <p:nvSpPr>
          <p:cNvPr id="16" name="Text 14"/>
          <p:cNvSpPr txBox="1"/>
          <p:nvPr/>
        </p:nvSpPr>
        <p:spPr>
          <a:xfrm>
            <a:off x="2587752" y="318211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Chase checkout, reusing today’s class integration</a:t>
            </a:r>
            <a:endParaRPr lang="en-US" sz="1300" dirty="0"/>
          </a:p>
        </p:txBody>
      </p:sp>
      <p:sp>
        <p:nvSpPr>
          <p:cNvPr id="17" name="Text 15"/>
          <p:cNvSpPr txBox="1"/>
          <p:nvPr/>
        </p:nvSpPr>
        <p:spPr>
          <a:xfrm>
            <a:off x="7159752" y="318211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Chase checkout with safe payment retries and refunds</a:t>
            </a:r>
            <a:endParaRPr lang="en-US" sz="1300" dirty="0"/>
          </a:p>
        </p:txBody>
      </p:sp>
      <p:sp>
        <p:nvSpPr>
          <p:cNvPr id="18" name="Shape 16"/>
          <p:cNvSpPr/>
          <p:nvPr/>
        </p:nvSpPr>
        <p:spPr>
          <a:xfrm>
            <a:off x="502920" y="3657600"/>
            <a:ext cx="11183112" cy="0"/>
          </a:xfrm>
          <a:prstGeom prst="line">
            <a:avLst/>
          </a:prstGeom>
          <a:noFill/>
          <a:ln w="9525">
            <a:solidFill>
              <a:srgbClr val="8C8C8C"/>
            </a:solidFill>
            <a:prstDash val="sysDot"/>
          </a:ln>
        </p:spPr>
      </p:sp>
      <p:sp>
        <p:nvSpPr>
          <p:cNvPr id="19" name="Text 17"/>
          <p:cNvSpPr txBox="1"/>
          <p:nvPr/>
        </p:nvSpPr>
        <p:spPr>
          <a:xfrm>
            <a:off x="576072" y="373075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Engagement</a:t>
            </a:r>
            <a:endParaRPr lang="en-US" sz="1300" dirty="0"/>
          </a:p>
        </p:txBody>
      </p:sp>
      <p:sp>
        <p:nvSpPr>
          <p:cNvPr id="20" name="Text 18"/>
          <p:cNvSpPr txBox="1"/>
          <p:nvPr/>
        </p:nvSpPr>
        <p:spPr>
          <a:xfrm>
            <a:off x="2587752" y="3730752"/>
            <a:ext cx="4425696" cy="438912"/>
          </a:xfrm>
          <a:prstGeom prst="rect">
            <a:avLst/>
          </a:prstGeom>
          <a:noFill/>
          <a:ln/>
        </p:spPr>
        <p:txBody>
          <a:bodyPr wrap="square" lIns="0" tIns="0" rIns="0" bIns="0" rtlCol="0" anchor="ctr"/>
          <a:lstStyle/>
          <a:p>
            <a:pPr indent="0" marL="0">
              <a:buNone/>
            </a:pPr>
            <a:r>
              <a:rPr lang="en-US" sz="1300" dirty="0">
                <a:solidFill>
                  <a:srgbClr val="4D4D4D"/>
                </a:solidFill>
              </a:rPr>
              <a:t>Speaker and attendee communications, badges, CME [to confirm]</a:t>
            </a:r>
            <a:endParaRPr lang="en-US" sz="1300" dirty="0"/>
          </a:p>
        </p:txBody>
      </p:sp>
      <p:sp>
        <p:nvSpPr>
          <p:cNvPr id="21" name="Text 19"/>
          <p:cNvSpPr txBox="1"/>
          <p:nvPr/>
        </p:nvSpPr>
        <p:spPr>
          <a:xfrm>
            <a:off x="7159752" y="3730752"/>
            <a:ext cx="4453128" cy="438912"/>
          </a:xfrm>
          <a:prstGeom prst="rect">
            <a:avLst/>
          </a:prstGeom>
          <a:noFill/>
          <a:ln/>
        </p:spPr>
        <p:txBody>
          <a:bodyPr wrap="square" lIns="0" tIns="0" rIns="0" bIns="0" rtlCol="0" anchor="ctr"/>
          <a:lstStyle/>
          <a:p>
            <a:pPr indent="0" marL="0">
              <a:buNone/>
            </a:pPr>
            <a:r>
              <a:rPr lang="en-US" sz="1300" dirty="0">
                <a:solidFill>
                  <a:srgbClr val="4D4D4D"/>
                </a:solidFill>
              </a:rPr>
              <a:t>Reminder journeys, waitlists, QR check-in</a:t>
            </a:r>
            <a:endParaRPr lang="en-US" sz="1300" dirty="0"/>
          </a:p>
        </p:txBody>
      </p:sp>
      <p:sp>
        <p:nvSpPr>
          <p:cNvPr id="22" name="Shape 20"/>
          <p:cNvSpPr/>
          <p:nvPr/>
        </p:nvSpPr>
        <p:spPr>
          <a:xfrm>
            <a:off x="502920" y="4206240"/>
            <a:ext cx="11183112" cy="0"/>
          </a:xfrm>
          <a:prstGeom prst="line">
            <a:avLst/>
          </a:prstGeom>
          <a:noFill/>
          <a:ln w="9525">
            <a:solidFill>
              <a:srgbClr val="8C8C8C"/>
            </a:solidFill>
            <a:prstDash val="sysDot"/>
          </a:ln>
        </p:spPr>
      </p:sp>
      <p:sp>
        <p:nvSpPr>
          <p:cNvPr id="23" name="Text 21"/>
          <p:cNvSpPr txBox="1"/>
          <p:nvPr/>
        </p:nvSpPr>
        <p:spPr>
          <a:xfrm>
            <a:off x="576072" y="427939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p:txBody>
      </p:sp>
      <p:sp>
        <p:nvSpPr>
          <p:cNvPr id="24" name="Text 22"/>
          <p:cNvSpPr txBox="1"/>
          <p:nvPr/>
        </p:nvSpPr>
        <p:spPr>
          <a:xfrm>
            <a:off x="2587752" y="427939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Certain data moved in a six-week transition (weeks 7-12)</a:t>
            </a:r>
            <a:endParaRPr lang="en-US" sz="1300" dirty="0"/>
          </a:p>
        </p:txBody>
      </p:sp>
      <p:sp>
        <p:nvSpPr>
          <p:cNvPr id="25" name="Text 23"/>
          <p:cNvSpPr txBox="1"/>
          <p:nvPr/>
        </p:nvSpPr>
        <p:spPr>
          <a:xfrm>
            <a:off x="7159752" y="4279392"/>
            <a:ext cx="4453128" cy="438912"/>
          </a:xfrm>
          <a:prstGeom prst="rect">
            <a:avLst/>
          </a:prstGeom>
          <a:noFill/>
          <a:ln/>
        </p:spPr>
        <p:txBody>
          <a:bodyPr wrap="square" lIns="0" tIns="0" rIns="0" bIns="0" rtlCol="0" anchor="ctr"/>
          <a:lstStyle/>
          <a:p>
            <a:pPr indent="0" marL="0">
              <a:buNone/>
            </a:pPr>
            <a:r>
              <a:rPr lang="en-US" sz="1300" dirty="0">
                <a:solidFill>
                  <a:srgbClr val="4D4D4D"/>
                </a:solidFill>
              </a:rPr>
              <a:t>Class data stays in place: the shared model extends today’s objects</a:t>
            </a:r>
            <a:endParaRPr lang="en-US" sz="1300" dirty="0"/>
          </a:p>
        </p:txBody>
      </p:sp>
      <p:sp>
        <p:nvSpPr>
          <p:cNvPr id="26" name="Shape 24"/>
          <p:cNvSpPr/>
          <p:nvPr/>
        </p:nvSpPr>
        <p:spPr>
          <a:xfrm>
            <a:off x="502920" y="4754880"/>
            <a:ext cx="11183112" cy="0"/>
          </a:xfrm>
          <a:prstGeom prst="line">
            <a:avLst/>
          </a:prstGeom>
          <a:noFill/>
          <a:ln w="9525">
            <a:solidFill>
              <a:srgbClr val="8C8C8C"/>
            </a:solidFill>
            <a:prstDash val="sysDot"/>
          </a:ln>
        </p:spPr>
      </p:sp>
      <p:sp>
        <p:nvSpPr>
          <p:cNvPr id="27" name="Text 25"/>
          <p:cNvSpPr txBox="1"/>
          <p:nvPr/>
        </p:nvSpPr>
        <p:spPr>
          <a:xfrm>
            <a:off x="576072" y="482803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Built in</a:t>
            </a:r>
            <a:endParaRPr lang="en-US" sz="1300" dirty="0"/>
          </a:p>
        </p:txBody>
      </p:sp>
      <p:sp>
        <p:nvSpPr>
          <p:cNvPr id="28" name="Text 26"/>
          <p:cNvSpPr txBox="1"/>
          <p:nvPr/>
        </p:nvSpPr>
        <p:spPr>
          <a:xfrm>
            <a:off x="2587752" y="4828032"/>
            <a:ext cx="4425696" cy="438912"/>
          </a:xfrm>
          <a:prstGeom prst="rect">
            <a:avLst/>
          </a:prstGeom>
          <a:noFill/>
          <a:ln/>
        </p:spPr>
        <p:txBody>
          <a:bodyPr wrap="square" lIns="0" tIns="0" rIns="0" bIns="0" rtlCol="0" anchor="ctr"/>
          <a:lstStyle/>
          <a:p>
            <a:pPr indent="0" marL="0">
              <a:buNone/>
            </a:pPr>
            <a:r>
              <a:rPr lang="en-US" sz="1300" dirty="0">
                <a:solidFill>
                  <a:srgbClr val="4D4D4D"/>
                </a:solidFill>
              </a:rPr>
              <a:t>Load test before each conference opens</a:t>
            </a:r>
            <a:endParaRPr lang="en-US" sz="1300" dirty="0"/>
          </a:p>
        </p:txBody>
      </p:sp>
      <p:sp>
        <p:nvSpPr>
          <p:cNvPr id="29" name="Text 27"/>
          <p:cNvSpPr txBox="1"/>
          <p:nvPr/>
        </p:nvSpPr>
        <p:spPr>
          <a:xfrm>
            <a:off x="7159752" y="4828032"/>
            <a:ext cx="4453128" cy="438912"/>
          </a:xfrm>
          <a:prstGeom prst="rect">
            <a:avLst/>
          </a:prstGeom>
          <a:noFill/>
          <a:ln/>
        </p:spPr>
        <p:txBody>
          <a:bodyPr wrap="square" lIns="0" tIns="0" rIns="0" bIns="0" rtlCol="0" anchor="ctr"/>
          <a:lstStyle/>
          <a:p>
            <a:pPr indent="0" marL="0">
              <a:buNone/>
            </a:pPr>
            <a:r>
              <a:rPr lang="en-US" sz="1300" dirty="0">
                <a:solidFill>
                  <a:srgbClr val="4D4D4D"/>
                </a:solidFill>
              </a:rPr>
              <a:t>Live seats, waitlists, encryption, monitoring</a:t>
            </a:r>
            <a:endParaRPr lang="en-US" sz="1300" dirty="0"/>
          </a:p>
        </p:txBody>
      </p:sp>
      <p:sp>
        <p:nvSpPr>
          <p:cNvPr id="30" name="Shape 28"/>
          <p:cNvSpPr/>
          <p:nvPr/>
        </p:nvSpPr>
        <p:spPr>
          <a:xfrm>
            <a:off x="502920" y="5303520"/>
            <a:ext cx="11183112" cy="0"/>
          </a:xfrm>
          <a:prstGeom prst="line">
            <a:avLst/>
          </a:prstGeom>
          <a:noFill/>
          <a:ln w="9525">
            <a:solidFill>
              <a:srgbClr val="8C8C8C"/>
            </a:solidFill>
            <a:prstDash val="sysDot"/>
          </a:ln>
        </p:spPr>
      </p:sp>
      <p:sp>
        <p:nvSpPr>
          <p:cNvPr id="31" name="Text 29"/>
          <p:cNvSpPr txBox="1"/>
          <p:nvPr/>
        </p:nvSpPr>
        <p:spPr>
          <a:xfrm>
            <a:off x="576072" y="5376672"/>
            <a:ext cx="1865376" cy="438912"/>
          </a:xfrm>
          <a:prstGeom prst="rect">
            <a:avLst/>
          </a:prstGeom>
          <a:noFill/>
          <a:ln/>
        </p:spPr>
        <p:txBody>
          <a:bodyPr wrap="square" lIns="0" tIns="0" rIns="0" bIns="0" rtlCol="0" anchor="ctr"/>
          <a:lstStyle/>
          <a:p>
            <a:pPr indent="0" marL="0">
              <a:buNone/>
            </a:pPr>
            <a:r>
              <a:rPr lang="en-US" sz="1300" b="1" dirty="0">
                <a:solidFill>
                  <a:schemeClr val="tx1"/>
                </a:solidFill>
              </a:rPr>
              <a:t>Retires</a:t>
            </a:r>
            <a:endParaRPr lang="en-US" sz="1300" dirty="0"/>
          </a:p>
        </p:txBody>
      </p:sp>
      <p:sp>
        <p:nvSpPr>
          <p:cNvPr id="32" name="Text 30"/>
          <p:cNvSpPr txBox="1"/>
          <p:nvPr/>
        </p:nvSpPr>
        <p:spPr>
          <a:xfrm>
            <a:off x="2587752" y="5376672"/>
            <a:ext cx="4425696" cy="438912"/>
          </a:xfrm>
          <a:prstGeom prst="rect">
            <a:avLst/>
          </a:prstGeom>
          <a:noFill/>
          <a:ln/>
        </p:spPr>
        <p:txBody>
          <a:bodyPr wrap="square" lIns="0" tIns="0" rIns="0" bIns="0" rtlCol="0" anchor="ctr"/>
          <a:lstStyle/>
          <a:p>
            <a:pPr indent="0" marL="0">
              <a:buNone/>
            </a:pPr>
            <a:r>
              <a:rPr lang="en-US" sz="1300" dirty="0">
                <a:solidFill>
                  <a:srgbClr val="4D4D4D"/>
                </a:solidFill>
              </a:rPr>
              <a:t>Certain</a:t>
            </a:r>
            <a:endParaRPr lang="en-US" sz="1300" dirty="0"/>
          </a:p>
        </p:txBody>
      </p:sp>
      <p:sp>
        <p:nvSpPr>
          <p:cNvPr id="33" name="Text 31"/>
          <p:cNvSpPr txBox="1"/>
          <p:nvPr/>
        </p:nvSpPr>
        <p:spPr>
          <a:xfrm>
            <a:off x="7159752" y="5376672"/>
            <a:ext cx="4453128" cy="438912"/>
          </a:xfrm>
          <a:prstGeom prst="rect">
            <a:avLst/>
          </a:prstGeom>
          <a:noFill/>
          <a:ln/>
        </p:spPr>
        <p:txBody>
          <a:bodyPr wrap="square" lIns="0" tIns="0" rIns="0" bIns="0" rtlCol="0" anchor="ctr"/>
          <a:lstStyle/>
          <a:p>
            <a:pPr indent="0" marL="0">
              <a:buNone/>
            </a:pPr>
            <a:r>
              <a:rPr lang="en-US" sz="1300" dirty="0">
                <a:solidFill>
                  <a:srgbClr val="4D4D4D"/>
                </a:solidFill>
              </a:rPr>
              <a:t>Nothing retired; today’s registration is improved</a:t>
            </a:r>
            <a:endParaRPr lang="en-US" sz="1300" dirty="0"/>
          </a:p>
        </p:txBody>
      </p:sp>
      <p:sp>
        <p:nvSpPr>
          <p:cNvPr id="34" name="Shape 32"/>
          <p:cNvSpPr/>
          <p:nvPr/>
        </p:nvSpPr>
        <p:spPr>
          <a:xfrm>
            <a:off x="502920" y="585216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Certain to Salesforce transition</a:t>
            </a:r>
            <a:endParaRPr lang="en-US" sz="3200" dirty="0"/>
          </a:p>
        </p:txBody>
      </p:sp>
      <p:sp>
        <p:nvSpPr>
          <p:cNvPr id="3" name="Text 1"/>
          <p:cNvSpPr txBox="1"/>
          <p:nvPr/>
        </p:nvSpPr>
        <p:spPr>
          <a:xfrm>
            <a:off x="502920" y="1298448"/>
            <a:ext cx="11185855" cy="292608"/>
          </a:xfrm>
          <a:prstGeom prst="rect">
            <a:avLst/>
          </a:prstGeom>
          <a:noFill/>
          <a:ln/>
        </p:spPr>
        <p:txBody>
          <a:bodyPr wrap="square" lIns="0" tIns="0" rIns="0" bIns="0" rtlCol="0" anchor="t"/>
          <a:lstStyle/>
          <a:p>
            <a:pPr indent="0" marL="0">
              <a:buNone/>
            </a:pPr>
            <a:r>
              <a:rPr lang="en-US" sz="1400" dirty="0">
                <a:solidFill>
                  <a:srgbClr val="4D4D4D"/>
                </a:solidFill>
              </a:rPr>
              <a:t>Six weeks (weeks 7 to 12) alongside Phase 1, with cutover planned between conferences. Certain stays live until sign-off.</a:t>
            </a:r>
            <a:endParaRPr lang="en-US" sz="1400" dirty="0"/>
          </a:p>
        </p:txBody>
      </p:sp>
      <p:sp>
        <p:nvSpPr>
          <p:cNvPr id="4" name="transition-1"/>
          <p:cNvSpPr/>
          <p:nvPr/>
        </p:nvSpPr>
        <p:spPr>
          <a:xfrm>
            <a:off x="502920" y="1737360"/>
            <a:ext cx="2127443" cy="1417320"/>
          </a:xfrm>
          <a:prstGeom prst="roundRect">
            <a:avLst>
              <a:gd name="adj" fmla="val 6452"/>
            </a:avLst>
          </a:prstGeom>
          <a:solidFill>
            <a:srgbClr val="F2F2F2"/>
          </a:solidFill>
          <a:ln w="22225">
            <a:solidFill>
              <a:srgbClr val="45289F"/>
            </a:solidFill>
            <a:prstDash val="solid"/>
          </a:ln>
        </p:spPr>
      </p:sp>
      <p:sp>
        <p:nvSpPr>
          <p:cNvPr id="5" name="Text 3"/>
          <p:cNvSpPr txBox="1"/>
          <p:nvPr/>
        </p:nvSpPr>
        <p:spPr>
          <a:xfrm>
            <a:off x="640080"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1  ·  WEEKS 7-8</a:t>
            </a:r>
            <a:endParaRPr lang="en-US" sz="1000" dirty="0"/>
          </a:p>
        </p:txBody>
      </p:sp>
      <p:sp>
        <p:nvSpPr>
          <p:cNvPr id="6" name="Text 4"/>
          <p:cNvSpPr txBox="1"/>
          <p:nvPr/>
        </p:nvSpPr>
        <p:spPr>
          <a:xfrm>
            <a:off x="640080"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Inventory and export</a:t>
            </a:r>
            <a:endParaRPr lang="en-US" sz="1400" dirty="0"/>
          </a:p>
        </p:txBody>
      </p:sp>
      <p:sp>
        <p:nvSpPr>
          <p:cNvPr id="7" name="Text 5"/>
          <p:cNvSpPr txBox="1"/>
          <p:nvPr/>
        </p:nvSpPr>
        <p:spPr>
          <a:xfrm>
            <a:off x="640080"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Data sample reviewed in Sprint 1 to shape the model; full export; history window agreed</a:t>
            </a:r>
            <a:endParaRPr lang="en-US" sz="1050" dirty="0"/>
          </a:p>
        </p:txBody>
      </p:sp>
      <p:sp>
        <p:nvSpPr>
          <p:cNvPr id="8" name="transition-2"/>
          <p:cNvSpPr/>
          <p:nvPr/>
        </p:nvSpPr>
        <p:spPr>
          <a:xfrm>
            <a:off x="2767523" y="1737360"/>
            <a:ext cx="2127443" cy="1417320"/>
          </a:xfrm>
          <a:prstGeom prst="roundRect">
            <a:avLst>
              <a:gd name="adj" fmla="val 6452"/>
            </a:avLst>
          </a:prstGeom>
          <a:solidFill>
            <a:srgbClr val="F2F2F2"/>
          </a:solidFill>
          <a:ln w="22225">
            <a:solidFill>
              <a:srgbClr val="45289F"/>
            </a:solidFill>
            <a:prstDash val="solid"/>
          </a:ln>
        </p:spPr>
      </p:sp>
      <p:sp>
        <p:nvSpPr>
          <p:cNvPr id="9" name="Text 7"/>
          <p:cNvSpPr txBox="1"/>
          <p:nvPr/>
        </p:nvSpPr>
        <p:spPr>
          <a:xfrm>
            <a:off x="2904683"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2  ·  WEEKS 7-8</a:t>
            </a:r>
            <a:endParaRPr lang="en-US" sz="1000" dirty="0"/>
          </a:p>
        </p:txBody>
      </p:sp>
      <p:sp>
        <p:nvSpPr>
          <p:cNvPr id="10" name="Text 8"/>
          <p:cNvSpPr txBox="1"/>
          <p:nvPr/>
        </p:nvSpPr>
        <p:spPr>
          <a:xfrm>
            <a:off x="2904683"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Map and cleanse</a:t>
            </a:r>
            <a:endParaRPr lang="en-US" sz="1400" dirty="0"/>
          </a:p>
        </p:txBody>
      </p:sp>
      <p:sp>
        <p:nvSpPr>
          <p:cNvPr id="11" name="Text 9"/>
          <p:cNvSpPr txBox="1"/>
          <p:nvPr/>
        </p:nvSpPr>
        <p:spPr>
          <a:xfrm>
            <a:off x="2904683"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Certain IDs kept for traceability; duplicates removed; attendees matched</a:t>
            </a:r>
            <a:endParaRPr lang="en-US" sz="1050" dirty="0"/>
          </a:p>
        </p:txBody>
      </p:sp>
      <p:sp>
        <p:nvSpPr>
          <p:cNvPr id="12" name="transition-3"/>
          <p:cNvSpPr/>
          <p:nvPr/>
        </p:nvSpPr>
        <p:spPr>
          <a:xfrm>
            <a:off x="5032126" y="1737360"/>
            <a:ext cx="2127443" cy="1417320"/>
          </a:xfrm>
          <a:prstGeom prst="roundRect">
            <a:avLst>
              <a:gd name="adj" fmla="val 6452"/>
            </a:avLst>
          </a:prstGeom>
          <a:solidFill>
            <a:srgbClr val="F2F2F2"/>
          </a:solidFill>
          <a:ln w="22225">
            <a:solidFill>
              <a:srgbClr val="45289F"/>
            </a:solidFill>
            <a:prstDash val="solid"/>
          </a:ln>
        </p:spPr>
      </p:sp>
      <p:sp>
        <p:nvSpPr>
          <p:cNvPr id="13" name="Text 11"/>
          <p:cNvSpPr txBox="1"/>
          <p:nvPr/>
        </p:nvSpPr>
        <p:spPr>
          <a:xfrm>
            <a:off x="5169286"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3  ·  WEEKS 9-10</a:t>
            </a:r>
            <a:endParaRPr lang="en-US" sz="1000" dirty="0"/>
          </a:p>
        </p:txBody>
      </p:sp>
      <p:sp>
        <p:nvSpPr>
          <p:cNvPr id="14" name="Text 12"/>
          <p:cNvSpPr txBox="1"/>
          <p:nvPr/>
        </p:nvSpPr>
        <p:spPr>
          <a:xfrm>
            <a:off x="5169286"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Trial loads</a:t>
            </a:r>
            <a:endParaRPr lang="en-US" sz="1400" dirty="0"/>
          </a:p>
        </p:txBody>
      </p:sp>
      <p:sp>
        <p:nvSpPr>
          <p:cNvPr id="15" name="Text 13"/>
          <p:cNvSpPr txBox="1"/>
          <p:nvPr/>
        </p:nvSpPr>
        <p:spPr>
          <a:xfrm>
            <a:off x="5169286"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Two rehearsal loads with emails and journeys switched off; counts and totals reconciled</a:t>
            </a:r>
            <a:endParaRPr lang="en-US" sz="1050" dirty="0"/>
          </a:p>
        </p:txBody>
      </p:sp>
      <p:sp>
        <p:nvSpPr>
          <p:cNvPr id="16" name="transition-4"/>
          <p:cNvSpPr/>
          <p:nvPr/>
        </p:nvSpPr>
        <p:spPr>
          <a:xfrm>
            <a:off x="7296729" y="1737360"/>
            <a:ext cx="2127443" cy="1417320"/>
          </a:xfrm>
          <a:prstGeom prst="roundRect">
            <a:avLst>
              <a:gd name="adj" fmla="val 6452"/>
            </a:avLst>
          </a:prstGeom>
          <a:solidFill>
            <a:srgbClr val="000000"/>
          </a:solidFill>
          <a:ln w="22225">
            <a:solidFill>
              <a:srgbClr val="C8005A"/>
            </a:solidFill>
            <a:prstDash val="solid"/>
          </a:ln>
        </p:spPr>
      </p:sp>
      <p:sp>
        <p:nvSpPr>
          <p:cNvPr id="17" name="Text 15"/>
          <p:cNvSpPr txBox="1"/>
          <p:nvPr/>
        </p:nvSpPr>
        <p:spPr>
          <a:xfrm>
            <a:off x="7433889" y="1856232"/>
            <a:ext cx="1853123" cy="219456"/>
          </a:xfrm>
          <a:prstGeom prst="rect">
            <a:avLst/>
          </a:prstGeom>
          <a:noFill/>
          <a:ln/>
        </p:spPr>
        <p:txBody>
          <a:bodyPr wrap="square" lIns="0" tIns="0" rIns="0" bIns="0" rtlCol="0" anchor="t"/>
          <a:lstStyle/>
          <a:p>
            <a:pPr indent="0" marL="0">
              <a:buNone/>
            </a:pPr>
            <a:r>
              <a:rPr lang="en-US" sz="1000" b="1" spc="200" kern="0" dirty="0">
                <a:solidFill>
                  <a:srgbClr val="FF0068"/>
                </a:solidFill>
              </a:rPr>
              <a:t>4  ·  WEEKS 11-12</a:t>
            </a:r>
            <a:endParaRPr lang="en-US" sz="1000" dirty="0"/>
          </a:p>
        </p:txBody>
      </p:sp>
      <p:sp>
        <p:nvSpPr>
          <p:cNvPr id="18" name="Text 16"/>
          <p:cNvSpPr txBox="1"/>
          <p:nvPr/>
        </p:nvSpPr>
        <p:spPr>
          <a:xfrm>
            <a:off x="7433889" y="2103120"/>
            <a:ext cx="1853123" cy="274320"/>
          </a:xfrm>
          <a:prstGeom prst="rect">
            <a:avLst/>
          </a:prstGeom>
          <a:noFill/>
          <a:ln/>
        </p:spPr>
        <p:txBody>
          <a:bodyPr wrap="square" lIns="0" tIns="0" rIns="0" bIns="0" rtlCol="0" anchor="t"/>
          <a:lstStyle/>
          <a:p>
            <a:pPr indent="0" marL="0">
              <a:buNone/>
            </a:pPr>
            <a:r>
              <a:rPr lang="en-US" sz="1400" b="1" dirty="0">
                <a:solidFill>
                  <a:srgbClr val="FFFFFF"/>
                </a:solidFill>
              </a:rPr>
              <a:t>Cutover</a:t>
            </a:r>
            <a:endParaRPr lang="en-US" sz="1400" dirty="0"/>
          </a:p>
        </p:txBody>
      </p:sp>
      <p:sp>
        <p:nvSpPr>
          <p:cNvPr id="19" name="Text 17"/>
          <p:cNvSpPr txBox="1"/>
          <p:nvPr/>
        </p:nvSpPr>
        <p:spPr>
          <a:xfrm>
            <a:off x="7433889" y="2414016"/>
            <a:ext cx="1853123" cy="731520"/>
          </a:xfrm>
          <a:prstGeom prst="rect">
            <a:avLst/>
          </a:prstGeom>
          <a:noFill/>
          <a:ln/>
        </p:spPr>
        <p:txBody>
          <a:bodyPr wrap="square" lIns="0" tIns="0" rIns="0" bIns="0" rtlCol="0" anchor="t"/>
          <a:lstStyle/>
          <a:p>
            <a:pPr indent="0" marL="0">
              <a:buNone/>
            </a:pPr>
            <a:r>
              <a:rPr lang="en-US" sz="1050" dirty="0">
                <a:solidFill>
                  <a:srgbClr val="D9D9D9"/>
                </a:solidFill>
              </a:rPr>
              <a:t>Between conferences, so only history moves; final delta load; go live on Salesforce</a:t>
            </a:r>
            <a:endParaRPr lang="en-US" sz="1050" dirty="0"/>
          </a:p>
        </p:txBody>
      </p:sp>
      <p:sp>
        <p:nvSpPr>
          <p:cNvPr id="20" name="transition-5"/>
          <p:cNvSpPr/>
          <p:nvPr/>
        </p:nvSpPr>
        <p:spPr>
          <a:xfrm>
            <a:off x="9561332" y="1737360"/>
            <a:ext cx="2127443" cy="1417320"/>
          </a:xfrm>
          <a:prstGeom prst="roundRect">
            <a:avLst>
              <a:gd name="adj" fmla="val 6452"/>
            </a:avLst>
          </a:prstGeom>
          <a:solidFill>
            <a:srgbClr val="F2F2F2"/>
          </a:solidFill>
          <a:ln w="22225">
            <a:solidFill>
              <a:srgbClr val="45289F"/>
            </a:solidFill>
            <a:prstDash val="solid"/>
          </a:ln>
        </p:spPr>
      </p:sp>
      <p:sp>
        <p:nvSpPr>
          <p:cNvPr id="21" name="Text 19"/>
          <p:cNvSpPr txBox="1"/>
          <p:nvPr/>
        </p:nvSpPr>
        <p:spPr>
          <a:xfrm>
            <a:off x="9698492" y="1856232"/>
            <a:ext cx="1853123" cy="219456"/>
          </a:xfrm>
          <a:prstGeom prst="rect">
            <a:avLst/>
          </a:prstGeom>
          <a:noFill/>
          <a:ln/>
        </p:spPr>
        <p:txBody>
          <a:bodyPr wrap="square" lIns="0" tIns="0" rIns="0" bIns="0" rtlCol="0" anchor="t"/>
          <a:lstStyle/>
          <a:p>
            <a:pPr indent="0" marL="0">
              <a:buNone/>
            </a:pPr>
            <a:r>
              <a:rPr lang="en-US" sz="1000" b="1" spc="200" kern="0" dirty="0">
                <a:solidFill>
                  <a:srgbClr val="45289F"/>
                </a:solidFill>
              </a:rPr>
              <a:t>5  ·  WEEK 12+</a:t>
            </a:r>
            <a:endParaRPr lang="en-US" sz="1000" dirty="0"/>
          </a:p>
        </p:txBody>
      </p:sp>
      <p:sp>
        <p:nvSpPr>
          <p:cNvPr id="22" name="Text 20"/>
          <p:cNvSpPr txBox="1"/>
          <p:nvPr/>
        </p:nvSpPr>
        <p:spPr>
          <a:xfrm>
            <a:off x="9698492" y="2103120"/>
            <a:ext cx="1853123" cy="274320"/>
          </a:xfrm>
          <a:prstGeom prst="rect">
            <a:avLst/>
          </a:prstGeom>
          <a:noFill/>
          <a:ln/>
        </p:spPr>
        <p:txBody>
          <a:bodyPr wrap="square" lIns="0" tIns="0" rIns="0" bIns="0" rtlCol="0" anchor="t"/>
          <a:lstStyle/>
          <a:p>
            <a:pPr indent="0" marL="0">
              <a:buNone/>
            </a:pPr>
            <a:r>
              <a:rPr lang="en-US" sz="1400" b="1" dirty="0">
                <a:solidFill>
                  <a:srgbClr val="000000"/>
                </a:solidFill>
              </a:rPr>
              <a:t>Retire Certain</a:t>
            </a:r>
            <a:endParaRPr lang="en-US" sz="1400" dirty="0"/>
          </a:p>
        </p:txBody>
      </p:sp>
      <p:sp>
        <p:nvSpPr>
          <p:cNvPr id="23" name="Text 21"/>
          <p:cNvSpPr txBox="1"/>
          <p:nvPr/>
        </p:nvSpPr>
        <p:spPr>
          <a:xfrm>
            <a:off x="9698492" y="2414016"/>
            <a:ext cx="1853123" cy="731520"/>
          </a:xfrm>
          <a:prstGeom prst="rect">
            <a:avLst/>
          </a:prstGeom>
          <a:noFill/>
          <a:ln/>
        </p:spPr>
        <p:txBody>
          <a:bodyPr wrap="square" lIns="0" tIns="0" rIns="0" bIns="0" rtlCol="0" anchor="t"/>
          <a:lstStyle/>
          <a:p>
            <a:pPr indent="0" marL="0">
              <a:buNone/>
            </a:pPr>
            <a:r>
              <a:rPr lang="en-US" sz="1050" dirty="0">
                <a:solidFill>
                  <a:srgbClr val="4D4D4D"/>
                </a:solidFill>
              </a:rPr>
              <a:t>Read-only until the contract ends; Authorize.net open only for past refunds</a:t>
            </a:r>
            <a:endParaRPr lang="en-US" sz="1050" dirty="0"/>
          </a:p>
        </p:txBody>
      </p:sp>
      <p:sp>
        <p:nvSpPr>
          <p:cNvPr id="24" name="Text 22"/>
          <p:cNvSpPr txBox="1"/>
          <p:nvPr/>
        </p:nvSpPr>
        <p:spPr>
          <a:xfrm>
            <a:off x="576072" y="3310128"/>
            <a:ext cx="2880360" cy="274320"/>
          </a:xfrm>
          <a:prstGeom prst="rect">
            <a:avLst/>
          </a:prstGeom>
          <a:noFill/>
          <a:ln/>
        </p:spPr>
        <p:txBody>
          <a:bodyPr wrap="square" lIns="0" tIns="0" rIns="0" bIns="0" rtlCol="0" anchor="b"/>
          <a:lstStyle/>
          <a:p>
            <a:pPr indent="0" marL="0">
              <a:buNone/>
            </a:pPr>
            <a:r>
              <a:rPr lang="en-US" sz="1300" b="1" dirty="0">
                <a:solidFill>
                  <a:srgbClr val="000000"/>
                </a:solidFill>
              </a:rPr>
              <a:t>Data</a:t>
            </a:r>
            <a:endParaRPr lang="en-US" sz="1300" dirty="0"/>
          </a:p>
        </p:txBody>
      </p:sp>
      <p:sp>
        <p:nvSpPr>
          <p:cNvPr id="25" name="Text 23"/>
          <p:cNvSpPr txBox="1"/>
          <p:nvPr/>
        </p:nvSpPr>
        <p:spPr>
          <a:xfrm>
            <a:off x="3456432" y="3310128"/>
            <a:ext cx="3886200" cy="274320"/>
          </a:xfrm>
          <a:prstGeom prst="rect">
            <a:avLst/>
          </a:prstGeom>
          <a:noFill/>
          <a:ln/>
        </p:spPr>
        <p:txBody>
          <a:bodyPr wrap="square" lIns="0" tIns="0" rIns="0" bIns="0" rtlCol="0" anchor="b"/>
          <a:lstStyle/>
          <a:p>
            <a:pPr indent="0" marL="0">
              <a:buNone/>
            </a:pPr>
            <a:r>
              <a:rPr lang="en-US" sz="1300" b="1" dirty="0">
                <a:solidFill>
                  <a:srgbClr val="000000"/>
                </a:solidFill>
              </a:rPr>
              <a:t>How it moves</a:t>
            </a:r>
            <a:endParaRPr lang="en-US" sz="1300" dirty="0"/>
          </a:p>
        </p:txBody>
      </p:sp>
      <p:sp>
        <p:nvSpPr>
          <p:cNvPr id="26" name="Shape 24"/>
          <p:cNvSpPr/>
          <p:nvPr/>
        </p:nvSpPr>
        <p:spPr>
          <a:xfrm>
            <a:off x="502920" y="3639312"/>
            <a:ext cx="6766560" cy="0"/>
          </a:xfrm>
          <a:prstGeom prst="line">
            <a:avLst/>
          </a:prstGeom>
          <a:noFill/>
          <a:ln w="19050">
            <a:solidFill>
              <a:srgbClr val="000000"/>
            </a:solidFill>
            <a:prstDash val="solid"/>
          </a:ln>
        </p:spPr>
      </p:sp>
      <p:sp>
        <p:nvSpPr>
          <p:cNvPr id="27" name="Text 25"/>
          <p:cNvSpPr txBox="1"/>
          <p:nvPr/>
        </p:nvSpPr>
        <p:spPr>
          <a:xfrm>
            <a:off x="576072" y="366674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Past events, sessions, speakers, attendees</a:t>
            </a:r>
            <a:endParaRPr lang="en-US" sz="1050" dirty="0"/>
          </a:p>
        </p:txBody>
      </p:sp>
      <p:sp>
        <p:nvSpPr>
          <p:cNvPr id="28" name="Text 26"/>
          <p:cNvSpPr txBox="1"/>
          <p:nvPr/>
        </p:nvSpPr>
        <p:spPr>
          <a:xfrm>
            <a:off x="3456432" y="3666744"/>
            <a:ext cx="3739896" cy="356616"/>
          </a:xfrm>
          <a:prstGeom prst="rect">
            <a:avLst/>
          </a:prstGeom>
          <a:noFill/>
          <a:ln/>
        </p:spPr>
        <p:txBody>
          <a:bodyPr wrap="square" lIns="0" tIns="0" rIns="0" bIns="0" rtlCol="0" anchor="ctr"/>
          <a:lstStyle/>
          <a:p>
            <a:pPr indent="0" marL="0">
              <a:buNone/>
            </a:pPr>
            <a:r>
              <a:rPr lang="en-US" sz="1050" dirty="0">
                <a:solidFill>
                  <a:srgbClr val="4D4D4D"/>
                </a:solidFill>
              </a:rPr>
              <a:t>Loaded for the agreed history window</a:t>
            </a:r>
            <a:endParaRPr lang="en-US" sz="1050" dirty="0"/>
          </a:p>
        </p:txBody>
      </p:sp>
      <p:sp>
        <p:nvSpPr>
          <p:cNvPr id="29" name="Shape 27"/>
          <p:cNvSpPr/>
          <p:nvPr/>
        </p:nvSpPr>
        <p:spPr>
          <a:xfrm>
            <a:off x="502920" y="4050792"/>
            <a:ext cx="6766560" cy="0"/>
          </a:xfrm>
          <a:prstGeom prst="line">
            <a:avLst/>
          </a:prstGeom>
          <a:noFill/>
          <a:ln w="9525">
            <a:solidFill>
              <a:srgbClr val="8C8C8C"/>
            </a:solidFill>
            <a:prstDash val="sysDot"/>
          </a:ln>
        </p:spPr>
      </p:sp>
      <p:sp>
        <p:nvSpPr>
          <p:cNvPr id="30" name="Text 28"/>
          <p:cNvSpPr txBox="1"/>
          <p:nvPr/>
        </p:nvSpPr>
        <p:spPr>
          <a:xfrm>
            <a:off x="576072" y="407822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Attendance and CME records</a:t>
            </a:r>
            <a:endParaRPr lang="en-US" sz="1050" dirty="0"/>
          </a:p>
        </p:txBody>
      </p:sp>
      <p:sp>
        <p:nvSpPr>
          <p:cNvPr id="31" name="Text 29"/>
          <p:cNvSpPr txBox="1"/>
          <p:nvPr/>
        </p:nvSpPr>
        <p:spPr>
          <a:xfrm>
            <a:off x="3456432" y="4078224"/>
            <a:ext cx="3739896" cy="356616"/>
          </a:xfrm>
          <a:prstGeom prst="rect">
            <a:avLst/>
          </a:prstGeom>
          <a:noFill/>
          <a:ln/>
        </p:spPr>
        <p:txBody>
          <a:bodyPr wrap="square" lIns="0" tIns="0" rIns="0" bIns="0" rtlCol="0" anchor="ctr"/>
          <a:lstStyle/>
          <a:p>
            <a:pPr indent="0" marL="0">
              <a:buNone/>
            </a:pPr>
            <a:r>
              <a:rPr lang="en-US" sz="1050" dirty="0">
                <a:solidFill>
                  <a:srgbClr val="4D4D4D"/>
                </a:solidFill>
              </a:rPr>
              <a:t>Loaded and kept for retention needs [to confirm]</a:t>
            </a:r>
            <a:endParaRPr lang="en-US" sz="1050" dirty="0"/>
          </a:p>
        </p:txBody>
      </p:sp>
      <p:sp>
        <p:nvSpPr>
          <p:cNvPr id="32" name="Shape 30"/>
          <p:cNvSpPr/>
          <p:nvPr/>
        </p:nvSpPr>
        <p:spPr>
          <a:xfrm>
            <a:off x="502920" y="4462272"/>
            <a:ext cx="6766560" cy="0"/>
          </a:xfrm>
          <a:prstGeom prst="line">
            <a:avLst/>
          </a:prstGeom>
          <a:noFill/>
          <a:ln w="9525">
            <a:solidFill>
              <a:srgbClr val="8C8C8C"/>
            </a:solidFill>
            <a:prstDash val="sysDot"/>
          </a:ln>
        </p:spPr>
      </p:sp>
      <p:sp>
        <p:nvSpPr>
          <p:cNvPr id="33" name="Text 31"/>
          <p:cNvSpPr txBox="1"/>
          <p:nvPr/>
        </p:nvSpPr>
        <p:spPr>
          <a:xfrm>
            <a:off x="576072" y="448970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Payment history</a:t>
            </a:r>
            <a:endParaRPr lang="en-US" sz="1050" dirty="0"/>
          </a:p>
        </p:txBody>
      </p:sp>
      <p:sp>
        <p:nvSpPr>
          <p:cNvPr id="34" name="Text 32"/>
          <p:cNvSpPr txBox="1"/>
          <p:nvPr/>
        </p:nvSpPr>
        <p:spPr>
          <a:xfrm>
            <a:off x="3456432" y="4489704"/>
            <a:ext cx="3739896" cy="356616"/>
          </a:xfrm>
          <a:prstGeom prst="rect">
            <a:avLst/>
          </a:prstGeom>
          <a:noFill/>
          <a:ln/>
        </p:spPr>
        <p:txBody>
          <a:bodyPr wrap="square" lIns="0" tIns="0" rIns="0" bIns="0" rtlCol="0" anchor="ctr"/>
          <a:lstStyle/>
          <a:p>
            <a:pPr indent="0" marL="0">
              <a:buNone/>
            </a:pPr>
            <a:r>
              <a:rPr lang="en-US" sz="1050" dirty="0">
                <a:solidFill>
                  <a:srgbClr val="4D4D4D"/>
                </a:solidFill>
              </a:rPr>
              <a:t>Summary marked as Authorize.net; card data never moves</a:t>
            </a:r>
            <a:endParaRPr lang="en-US" sz="1050" dirty="0"/>
          </a:p>
        </p:txBody>
      </p:sp>
      <p:sp>
        <p:nvSpPr>
          <p:cNvPr id="35" name="Shape 33"/>
          <p:cNvSpPr/>
          <p:nvPr/>
        </p:nvSpPr>
        <p:spPr>
          <a:xfrm>
            <a:off x="502920" y="4873752"/>
            <a:ext cx="6766560" cy="0"/>
          </a:xfrm>
          <a:prstGeom prst="line">
            <a:avLst/>
          </a:prstGeom>
          <a:noFill/>
          <a:ln w="9525">
            <a:solidFill>
              <a:srgbClr val="8C8C8C"/>
            </a:solidFill>
            <a:prstDash val="sysDot"/>
          </a:ln>
        </p:spPr>
      </p:sp>
      <p:sp>
        <p:nvSpPr>
          <p:cNvPr id="36" name="Text 34"/>
          <p:cNvSpPr txBox="1"/>
          <p:nvPr/>
        </p:nvSpPr>
        <p:spPr>
          <a:xfrm>
            <a:off x="576072" y="490118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Open registrations at cutover</a:t>
            </a:r>
            <a:endParaRPr lang="en-US" sz="1050" dirty="0"/>
          </a:p>
        </p:txBody>
      </p:sp>
      <p:sp>
        <p:nvSpPr>
          <p:cNvPr id="37" name="Text 35"/>
          <p:cNvSpPr txBox="1"/>
          <p:nvPr/>
        </p:nvSpPr>
        <p:spPr>
          <a:xfrm>
            <a:off x="3456432" y="4901184"/>
            <a:ext cx="3739896" cy="356616"/>
          </a:xfrm>
          <a:prstGeom prst="rect">
            <a:avLst/>
          </a:prstGeom>
          <a:noFill/>
          <a:ln/>
        </p:spPr>
        <p:txBody>
          <a:bodyPr wrap="square" lIns="0" tIns="0" rIns="0" bIns="0" rtlCol="0" anchor="ctr"/>
          <a:lstStyle/>
          <a:p>
            <a:pPr indent="0" marL="0">
              <a:buNone/>
            </a:pPr>
            <a:r>
              <a:rPr lang="en-US" sz="1050" dirty="0">
                <a:solidFill>
                  <a:srgbClr val="4D4D4D"/>
                </a:solidFill>
              </a:rPr>
              <a:t>Ideally none. If any: moved with sessions, new QR codes, welcome email</a:t>
            </a:r>
            <a:endParaRPr lang="en-US" sz="1050" dirty="0"/>
          </a:p>
        </p:txBody>
      </p:sp>
      <p:sp>
        <p:nvSpPr>
          <p:cNvPr id="38" name="Shape 36"/>
          <p:cNvSpPr/>
          <p:nvPr/>
        </p:nvSpPr>
        <p:spPr>
          <a:xfrm>
            <a:off x="502920" y="5285232"/>
            <a:ext cx="6766560" cy="0"/>
          </a:xfrm>
          <a:prstGeom prst="line">
            <a:avLst/>
          </a:prstGeom>
          <a:noFill/>
          <a:ln w="9525">
            <a:solidFill>
              <a:srgbClr val="8C8C8C"/>
            </a:solidFill>
            <a:prstDash val="sysDot"/>
          </a:ln>
        </p:spPr>
      </p:sp>
      <p:sp>
        <p:nvSpPr>
          <p:cNvPr id="39" name="Text 37"/>
          <p:cNvSpPr txBox="1"/>
          <p:nvPr/>
        </p:nvSpPr>
        <p:spPr>
          <a:xfrm>
            <a:off x="576072" y="531266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Older history</a:t>
            </a:r>
            <a:endParaRPr lang="en-US" sz="1050" dirty="0"/>
          </a:p>
        </p:txBody>
      </p:sp>
      <p:sp>
        <p:nvSpPr>
          <p:cNvPr id="40" name="Text 38"/>
          <p:cNvSpPr txBox="1"/>
          <p:nvPr/>
        </p:nvSpPr>
        <p:spPr>
          <a:xfrm>
            <a:off x="3456432" y="5312664"/>
            <a:ext cx="3739896" cy="356616"/>
          </a:xfrm>
          <a:prstGeom prst="rect">
            <a:avLst/>
          </a:prstGeom>
          <a:noFill/>
          <a:ln/>
        </p:spPr>
        <p:txBody>
          <a:bodyPr wrap="square" lIns="0" tIns="0" rIns="0" bIns="0" rtlCol="0" anchor="ctr"/>
          <a:lstStyle/>
          <a:p>
            <a:pPr indent="0" marL="0">
              <a:buNone/>
            </a:pPr>
            <a:r>
              <a:rPr lang="en-US" sz="1050" dirty="0">
                <a:solidFill>
                  <a:srgbClr val="4D4D4D"/>
                </a:solidFill>
              </a:rPr>
              <a:t>Archive export, outside Salesforce storage</a:t>
            </a:r>
            <a:endParaRPr lang="en-US" sz="1050" dirty="0"/>
          </a:p>
        </p:txBody>
      </p:sp>
      <p:sp>
        <p:nvSpPr>
          <p:cNvPr id="41" name="Shape 39"/>
          <p:cNvSpPr/>
          <p:nvPr/>
        </p:nvSpPr>
        <p:spPr>
          <a:xfrm>
            <a:off x="502920" y="5696712"/>
            <a:ext cx="6766560" cy="0"/>
          </a:xfrm>
          <a:prstGeom prst="line">
            <a:avLst/>
          </a:prstGeom>
          <a:noFill/>
          <a:ln w="9525">
            <a:solidFill>
              <a:srgbClr val="8C8C8C"/>
            </a:solidFill>
            <a:prstDash val="sysDot"/>
          </a:ln>
        </p:spPr>
      </p:sp>
      <p:sp>
        <p:nvSpPr>
          <p:cNvPr id="42" name="Text 40"/>
          <p:cNvSpPr txBox="1"/>
          <p:nvPr/>
        </p:nvSpPr>
        <p:spPr>
          <a:xfrm>
            <a:off x="576072" y="5724144"/>
            <a:ext cx="2734056" cy="356616"/>
          </a:xfrm>
          <a:prstGeom prst="rect">
            <a:avLst/>
          </a:prstGeom>
          <a:noFill/>
          <a:ln/>
        </p:spPr>
        <p:txBody>
          <a:bodyPr wrap="square" lIns="0" tIns="0" rIns="0" bIns="0" rtlCol="0" anchor="ctr"/>
          <a:lstStyle/>
          <a:p>
            <a:pPr indent="0" marL="0">
              <a:buNone/>
            </a:pPr>
            <a:r>
              <a:rPr lang="en-US" sz="1050" b="1" dirty="0">
                <a:solidFill>
                  <a:srgbClr val="000000"/>
                </a:solidFill>
              </a:rPr>
              <a:t>Today’s classes (Phase 2)</a:t>
            </a:r>
            <a:endParaRPr lang="en-US" sz="1050" dirty="0"/>
          </a:p>
        </p:txBody>
      </p:sp>
      <p:sp>
        <p:nvSpPr>
          <p:cNvPr id="43" name="Text 41"/>
          <p:cNvSpPr txBox="1"/>
          <p:nvPr/>
        </p:nvSpPr>
        <p:spPr>
          <a:xfrm>
            <a:off x="3456432" y="5724144"/>
            <a:ext cx="3739896" cy="356616"/>
          </a:xfrm>
          <a:prstGeom prst="rect">
            <a:avLst/>
          </a:prstGeom>
          <a:noFill/>
          <a:ln/>
        </p:spPr>
        <p:txBody>
          <a:bodyPr wrap="square" lIns="0" tIns="0" rIns="0" bIns="0" rtlCol="0" anchor="ctr"/>
          <a:lstStyle/>
          <a:p>
            <a:pPr indent="0" marL="0">
              <a:buNone/>
            </a:pPr>
            <a:r>
              <a:rPr lang="en-US" sz="1050" dirty="0">
                <a:solidFill>
                  <a:srgbClr val="4D4D4D"/>
                </a:solidFill>
              </a:rPr>
              <a:t>Shared model extends today’s class objects, so no second migration [to confirm]</a:t>
            </a:r>
            <a:endParaRPr lang="en-US" sz="1050" dirty="0"/>
          </a:p>
        </p:txBody>
      </p:sp>
      <p:sp>
        <p:nvSpPr>
          <p:cNvPr id="44" name="Shape 42"/>
          <p:cNvSpPr/>
          <p:nvPr/>
        </p:nvSpPr>
        <p:spPr>
          <a:xfrm>
            <a:off x="502920" y="6108192"/>
            <a:ext cx="6766560" cy="0"/>
          </a:xfrm>
          <a:prstGeom prst="line">
            <a:avLst/>
          </a:prstGeom>
          <a:noFill/>
          <a:ln w="9525">
            <a:solidFill>
              <a:srgbClr val="8C8C8C"/>
            </a:solidFill>
            <a:prstDash val="sysDot"/>
          </a:ln>
        </p:spPr>
      </p:sp>
      <p:sp>
        <p:nvSpPr>
          <p:cNvPr id="45" name="Shape 43"/>
          <p:cNvSpPr/>
          <p:nvPr/>
        </p:nvSpPr>
        <p:spPr>
          <a:xfrm>
            <a:off x="7589520" y="3310128"/>
            <a:ext cx="4099255" cy="2798064"/>
          </a:xfrm>
          <a:prstGeom prst="roundRect">
            <a:avLst>
              <a:gd name="adj" fmla="val 3268"/>
            </a:avLst>
          </a:prstGeom>
          <a:solidFill>
            <a:srgbClr val="F2F2F2"/>
          </a:solidFill>
          <a:ln w="12700">
            <a:solidFill>
              <a:srgbClr val="D0D0D6"/>
            </a:solidFill>
            <a:prstDash val="solid"/>
          </a:ln>
        </p:spPr>
      </p:sp>
      <p:sp>
        <p:nvSpPr>
          <p:cNvPr id="46" name="Text 44"/>
          <p:cNvSpPr txBox="1"/>
          <p:nvPr/>
        </p:nvSpPr>
        <p:spPr>
          <a:xfrm>
            <a:off x="7772400" y="3447288"/>
            <a:ext cx="3733495" cy="274320"/>
          </a:xfrm>
          <a:prstGeom prst="rect">
            <a:avLst/>
          </a:prstGeom>
          <a:noFill/>
          <a:ln/>
        </p:spPr>
        <p:txBody>
          <a:bodyPr wrap="square" lIns="0" tIns="0" rIns="0" bIns="0" rtlCol="0" anchor="t"/>
          <a:lstStyle/>
          <a:p>
            <a:pPr indent="0" marL="0">
              <a:buNone/>
            </a:pPr>
            <a:r>
              <a:rPr lang="en-US" sz="1400" b="1" dirty="0">
                <a:solidFill>
                  <a:srgbClr val="000000"/>
                </a:solidFill>
              </a:rPr>
              <a:t>Safeguards</a:t>
            </a:r>
            <a:endParaRPr lang="en-US" sz="1400" dirty="0"/>
          </a:p>
        </p:txBody>
      </p:sp>
      <p:sp>
        <p:nvSpPr>
          <p:cNvPr id="47" name="Text 45"/>
          <p:cNvSpPr txBox="1"/>
          <p:nvPr/>
        </p:nvSpPr>
        <p:spPr>
          <a:xfrm>
            <a:off x="7772400" y="3813048"/>
            <a:ext cx="3733495" cy="20116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D4D4D"/>
                </a:solidFill>
              </a:rPr>
              <a:t>Reconciliation report signed off before cutover</a:t>
            </a:r>
            <a:endParaRPr lang="en-US" sz="1150" dirty="0"/>
          </a:p>
          <a:p>
            <a:pPr marL="342900" indent="-342900">
              <a:spcAft>
                <a:spcPts val="500"/>
              </a:spcAft>
              <a:buSzPct val="100000"/>
              <a:buChar char="•"/>
            </a:pPr>
            <a:r>
              <a:rPr lang="en-US" sz="1150" dirty="0">
                <a:solidFill>
                  <a:srgbClr val="4D4D4D"/>
                </a:solidFill>
              </a:rPr>
              <a:t>Rollback ready: Certain stays live until sign-off</a:t>
            </a:r>
            <a:endParaRPr lang="en-US" sz="1150" dirty="0"/>
          </a:p>
          <a:p>
            <a:pPr marL="342900" indent="-342900">
              <a:spcAft>
                <a:spcPts val="500"/>
              </a:spcAft>
              <a:buSzPct val="100000"/>
              <a:buChar char="•"/>
            </a:pPr>
            <a:r>
              <a:rPr lang="en-US" sz="1150" dirty="0">
                <a:solidFill>
                  <a:srgbClr val="4D4D4D"/>
                </a:solidFill>
              </a:rPr>
              <a:t>No emails or journeys fire for migrated records</a:t>
            </a:r>
            <a:endParaRPr lang="en-US" sz="1150" dirty="0"/>
          </a:p>
          <a:p>
            <a:pPr marL="342900" indent="-342900">
              <a:spcAft>
                <a:spcPts val="500"/>
              </a:spcAft>
              <a:buSzPct val="100000"/>
              <a:buChar char="•"/>
            </a:pPr>
            <a:r>
              <a:rPr lang="en-US" sz="1150" dirty="0">
                <a:solidFill>
                  <a:srgbClr val="4D4D4D"/>
                </a:solidFill>
              </a:rPr>
              <a:t>Certain contract covers the read-only period [to confirm]</a:t>
            </a:r>
            <a:endParaRPr lang="en-US" sz="1150" dirty="0"/>
          </a:p>
          <a:p>
            <a:pPr marL="342900" indent="-342900">
              <a:spcAft>
                <a:spcPts val="500"/>
              </a:spcAft>
              <a:buSzPct val="100000"/>
              <a:buChar char="•"/>
            </a:pPr>
            <a:r>
              <a:rPr lang="en-US" sz="1150" dirty="0">
                <a:solidFill>
                  <a:srgbClr val="4D4D4D"/>
                </a:solidFill>
              </a:rPr>
              <a:t>Delivered by the same five-person pod</a:t>
            </a:r>
            <a:endParaRPr lang="en-US" sz="11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Delivery plan: 10 two-week sprints</a:t>
            </a:r>
            <a:endParaRPr lang="en-US" sz="3200" dirty="0"/>
          </a:p>
        </p:txBody>
      </p:sp>
      <p:sp>
        <p:nvSpPr>
          <p:cNvPr id="3" name="Text 1"/>
          <p:cNvSpPr txBox="1"/>
          <p:nvPr/>
        </p:nvSpPr>
        <p:spPr>
          <a:xfrm>
            <a:off x="502920" y="1298448"/>
            <a:ext cx="8686800" cy="292608"/>
          </a:xfrm>
          <a:prstGeom prst="rect">
            <a:avLst/>
          </a:prstGeom>
          <a:noFill/>
          <a:ln/>
        </p:spPr>
        <p:txBody>
          <a:bodyPr wrap="square" lIns="0" tIns="0" rIns="0" bIns="0" rtlCol="0" anchor="t"/>
          <a:lstStyle/>
          <a:p>
            <a:pPr indent="0" marL="0">
              <a:buNone/>
            </a:pPr>
            <a:r>
              <a:rPr lang="en-US" sz="1400" dirty="0">
                <a:solidFill>
                  <a:srgbClr val="4D4D4D"/>
                </a:solidFill>
              </a:rPr>
              <a:t>A working demo and a milestone sign-off with Memorial Hermann at the end of every sprint</a:t>
            </a:r>
            <a:endParaRPr lang="en-US" sz="1400" dirty="0"/>
          </a:p>
        </p:txBody>
      </p:sp>
      <p:sp>
        <p:nvSpPr>
          <p:cNvPr id="4" name="Shape 2"/>
          <p:cNvSpPr/>
          <p:nvPr/>
        </p:nvSpPr>
        <p:spPr>
          <a:xfrm>
            <a:off x="502920" y="1737360"/>
            <a:ext cx="292608" cy="146304"/>
          </a:xfrm>
          <a:prstGeom prst="roundRect">
            <a:avLst>
              <a:gd name="adj" fmla="val 50000"/>
            </a:avLst>
          </a:prstGeom>
          <a:solidFill>
            <a:srgbClr val="00A9C0"/>
          </a:solidFill>
          <a:ln w="12700">
            <a:solidFill>
              <a:srgbClr val="00A9C0"/>
            </a:solidFill>
            <a:prstDash val="solid"/>
          </a:ln>
        </p:spPr>
      </p:sp>
      <p:sp>
        <p:nvSpPr>
          <p:cNvPr id="5" name="Text 3"/>
          <p:cNvSpPr txBox="1"/>
          <p:nvPr/>
        </p:nvSpPr>
        <p:spPr>
          <a:xfrm>
            <a:off x="886968" y="1682496"/>
            <a:ext cx="1504188" cy="256032"/>
          </a:xfrm>
          <a:prstGeom prst="rect">
            <a:avLst/>
          </a:prstGeom>
          <a:noFill/>
          <a:ln/>
        </p:spPr>
        <p:txBody>
          <a:bodyPr wrap="square" lIns="0" tIns="0" rIns="0" bIns="0" rtlCol="0" anchor="ctr"/>
          <a:lstStyle/>
          <a:p>
            <a:pPr indent="0" marL="0">
              <a:buNone/>
            </a:pPr>
            <a:r>
              <a:rPr lang="en-US" sz="1100" b="1" dirty="0">
                <a:solidFill>
                  <a:srgbClr val="007C8C"/>
                </a:solidFill>
              </a:rPr>
              <a:t>Assess and design</a:t>
            </a:r>
            <a:endParaRPr lang="en-US" sz="1100" dirty="0"/>
          </a:p>
        </p:txBody>
      </p:sp>
      <p:sp>
        <p:nvSpPr>
          <p:cNvPr id="6" name="Shape 4"/>
          <p:cNvSpPr/>
          <p:nvPr/>
        </p:nvSpPr>
        <p:spPr>
          <a:xfrm>
            <a:off x="2711196" y="1737360"/>
            <a:ext cx="292608" cy="146304"/>
          </a:xfrm>
          <a:prstGeom prst="roundRect">
            <a:avLst>
              <a:gd name="adj" fmla="val 50000"/>
            </a:avLst>
          </a:prstGeom>
          <a:solidFill>
            <a:srgbClr val="FF0068"/>
          </a:solidFill>
          <a:ln w="12700">
            <a:solidFill>
              <a:srgbClr val="FF0068"/>
            </a:solidFill>
            <a:prstDash val="solid"/>
          </a:ln>
        </p:spPr>
      </p:sp>
      <p:sp>
        <p:nvSpPr>
          <p:cNvPr id="7" name="Text 5"/>
          <p:cNvSpPr txBox="1"/>
          <p:nvPr/>
        </p:nvSpPr>
        <p:spPr>
          <a:xfrm>
            <a:off x="3095244" y="1682496"/>
            <a:ext cx="1815084" cy="256032"/>
          </a:xfrm>
          <a:prstGeom prst="rect">
            <a:avLst/>
          </a:prstGeom>
          <a:noFill/>
          <a:ln/>
        </p:spPr>
        <p:txBody>
          <a:bodyPr wrap="square" lIns="0" tIns="0" rIns="0" bIns="0" rtlCol="0" anchor="ctr"/>
          <a:lstStyle/>
          <a:p>
            <a:pPr indent="0" marL="0">
              <a:buNone/>
            </a:pPr>
            <a:r>
              <a:rPr lang="en-US" sz="1100" b="1" dirty="0">
                <a:solidFill>
                  <a:srgbClr val="C8005A"/>
                </a:solidFill>
              </a:rPr>
              <a:t>Phase 1 · Conferences</a:t>
            </a:r>
            <a:endParaRPr lang="en-US" sz="1100" dirty="0"/>
          </a:p>
        </p:txBody>
      </p:sp>
      <p:sp>
        <p:nvSpPr>
          <p:cNvPr id="8" name="Shape 6"/>
          <p:cNvSpPr/>
          <p:nvPr/>
        </p:nvSpPr>
        <p:spPr>
          <a:xfrm>
            <a:off x="5230368" y="1737360"/>
            <a:ext cx="292608" cy="146304"/>
          </a:xfrm>
          <a:prstGeom prst="roundRect">
            <a:avLst>
              <a:gd name="adj" fmla="val 50000"/>
            </a:avLst>
          </a:prstGeom>
          <a:solidFill>
            <a:srgbClr val="D9B200"/>
          </a:solidFill>
          <a:ln w="12700">
            <a:solidFill>
              <a:srgbClr val="D9B200"/>
            </a:solidFill>
            <a:prstDash val="solid"/>
          </a:ln>
        </p:spPr>
      </p:sp>
      <p:sp>
        <p:nvSpPr>
          <p:cNvPr id="9" name="Text 7"/>
          <p:cNvSpPr txBox="1"/>
          <p:nvPr/>
        </p:nvSpPr>
        <p:spPr>
          <a:xfrm>
            <a:off x="5614416" y="1682496"/>
            <a:ext cx="1504188" cy="256032"/>
          </a:xfrm>
          <a:prstGeom prst="rect">
            <a:avLst/>
          </a:prstGeom>
          <a:noFill/>
          <a:ln/>
        </p:spPr>
        <p:txBody>
          <a:bodyPr wrap="square" lIns="0" tIns="0" rIns="0" bIns="0" rtlCol="0" anchor="ctr"/>
          <a:lstStyle/>
          <a:p>
            <a:pPr indent="0" marL="0">
              <a:buNone/>
            </a:pPr>
            <a:r>
              <a:rPr lang="en-US" sz="1100" b="1" dirty="0">
                <a:solidFill>
                  <a:srgbClr val="7A6100"/>
                </a:solidFill>
              </a:rPr>
              <a:t>Phase 2 · Classes</a:t>
            </a:r>
            <a:endParaRPr lang="en-US" sz="1100" dirty="0"/>
          </a:p>
        </p:txBody>
      </p:sp>
      <p:sp>
        <p:nvSpPr>
          <p:cNvPr id="10" name="Shape 8"/>
          <p:cNvSpPr/>
          <p:nvPr/>
        </p:nvSpPr>
        <p:spPr>
          <a:xfrm>
            <a:off x="7438644" y="1737360"/>
            <a:ext cx="292608" cy="146304"/>
          </a:xfrm>
          <a:prstGeom prst="roundRect">
            <a:avLst>
              <a:gd name="adj" fmla="val 50000"/>
            </a:avLst>
          </a:prstGeom>
          <a:solidFill>
            <a:srgbClr val="45289F"/>
          </a:solidFill>
          <a:ln w="12700">
            <a:solidFill>
              <a:srgbClr val="45289F"/>
            </a:solidFill>
            <a:prstDash val="solid"/>
          </a:ln>
        </p:spPr>
      </p:sp>
      <p:sp>
        <p:nvSpPr>
          <p:cNvPr id="11" name="Text 9"/>
          <p:cNvSpPr txBox="1"/>
          <p:nvPr/>
        </p:nvSpPr>
        <p:spPr>
          <a:xfrm>
            <a:off x="7822692" y="1682496"/>
            <a:ext cx="1554480" cy="256032"/>
          </a:xfrm>
          <a:prstGeom prst="rect">
            <a:avLst/>
          </a:prstGeom>
          <a:noFill/>
          <a:ln/>
        </p:spPr>
        <p:txBody>
          <a:bodyPr wrap="square" lIns="0" tIns="0" rIns="0" bIns="0" rtlCol="0" anchor="ctr"/>
          <a:lstStyle/>
          <a:p>
            <a:pPr indent="0" marL="0">
              <a:buNone/>
            </a:pPr>
            <a:r>
              <a:rPr lang="en-US" sz="1100" b="1" dirty="0">
                <a:solidFill>
                  <a:srgbClr val="45289F"/>
                </a:solidFill>
              </a:rPr>
              <a:t>Certain transition</a:t>
            </a:r>
            <a:endParaRPr lang="en-US" sz="1100" dirty="0"/>
          </a:p>
        </p:txBody>
      </p:sp>
      <p:sp>
        <p:nvSpPr>
          <p:cNvPr id="12" name="Shape 10"/>
          <p:cNvSpPr/>
          <p:nvPr/>
        </p:nvSpPr>
        <p:spPr>
          <a:xfrm>
            <a:off x="9905695" y="1728216"/>
            <a:ext cx="164592" cy="164592"/>
          </a:xfrm>
          <a:prstGeom prst="diamond">
            <a:avLst/>
          </a:prstGeom>
          <a:solidFill>
            <a:srgbClr val="000000"/>
          </a:solidFill>
          <a:ln w="12700">
            <a:solidFill>
              <a:srgbClr val="000000"/>
            </a:solidFill>
            <a:prstDash val="solid"/>
          </a:ln>
        </p:spPr>
      </p:sp>
      <p:sp>
        <p:nvSpPr>
          <p:cNvPr id="13" name="Text 11"/>
          <p:cNvSpPr txBox="1"/>
          <p:nvPr/>
        </p:nvSpPr>
        <p:spPr>
          <a:xfrm>
            <a:off x="10134295" y="1682496"/>
            <a:ext cx="1554480" cy="256032"/>
          </a:xfrm>
          <a:prstGeom prst="rect">
            <a:avLst/>
          </a:prstGeom>
          <a:noFill/>
          <a:ln/>
        </p:spPr>
        <p:txBody>
          <a:bodyPr wrap="square" lIns="0" tIns="0" rIns="0" bIns="0" rtlCol="0" anchor="ctr"/>
          <a:lstStyle/>
          <a:p>
            <a:pPr indent="0" marL="0">
              <a:buNone/>
            </a:pPr>
            <a:r>
              <a:rPr lang="en-US" sz="1100" dirty="0">
                <a:solidFill>
                  <a:srgbClr val="4D4D4D"/>
                </a:solidFill>
              </a:rPr>
              <a:t>Sprint-end milestone</a:t>
            </a:r>
            <a:endParaRPr lang="en-US" sz="1100" dirty="0"/>
          </a:p>
        </p:txBody>
      </p:sp>
      <p:sp>
        <p:nvSpPr>
          <p:cNvPr id="14" name="sprint-1"/>
          <p:cNvSpPr/>
          <p:nvPr/>
        </p:nvSpPr>
        <p:spPr>
          <a:xfrm>
            <a:off x="502920" y="2103120"/>
            <a:ext cx="2134758" cy="1691640"/>
          </a:xfrm>
          <a:prstGeom prst="roundRect">
            <a:avLst>
              <a:gd name="adj" fmla="val 5405"/>
            </a:avLst>
          </a:prstGeom>
          <a:solidFill>
            <a:srgbClr val="F2F2F2"/>
          </a:solidFill>
          <a:ln w="22225">
            <a:solidFill>
              <a:srgbClr val="00A9C0"/>
            </a:solidFill>
            <a:prstDash val="solid"/>
          </a:ln>
        </p:spPr>
      </p:sp>
      <p:sp>
        <p:nvSpPr>
          <p:cNvPr id="15" name="Text 13"/>
          <p:cNvSpPr txBox="1"/>
          <p:nvPr/>
        </p:nvSpPr>
        <p:spPr>
          <a:xfrm>
            <a:off x="640080" y="2221992"/>
            <a:ext cx="1860438" cy="219456"/>
          </a:xfrm>
          <a:prstGeom prst="rect">
            <a:avLst/>
          </a:prstGeom>
          <a:noFill/>
          <a:ln/>
        </p:spPr>
        <p:txBody>
          <a:bodyPr wrap="square" lIns="0" tIns="0" rIns="0" bIns="0" rtlCol="0" anchor="t"/>
          <a:lstStyle/>
          <a:p>
            <a:pPr indent="0" marL="0">
              <a:buNone/>
            </a:pPr>
            <a:r>
              <a:rPr lang="en-US" sz="1100" b="1" spc="200" kern="0" dirty="0">
                <a:solidFill>
                  <a:srgbClr val="007C8C"/>
                </a:solidFill>
              </a:rPr>
              <a:t>SPRINT 1</a:t>
            </a:r>
            <a:endParaRPr lang="en-US" sz="1100" dirty="0"/>
          </a:p>
        </p:txBody>
      </p:sp>
      <p:sp>
        <p:nvSpPr>
          <p:cNvPr id="16" name="Text 14"/>
          <p:cNvSpPr txBox="1"/>
          <p:nvPr/>
        </p:nvSpPr>
        <p:spPr>
          <a:xfrm>
            <a:off x="640080"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1-2</a:t>
            </a:r>
            <a:endParaRPr lang="en-US" sz="1000" dirty="0"/>
          </a:p>
        </p:txBody>
      </p:sp>
      <p:sp>
        <p:nvSpPr>
          <p:cNvPr id="17" name="Text 15"/>
          <p:cNvSpPr txBox="1"/>
          <p:nvPr/>
        </p:nvSpPr>
        <p:spPr>
          <a:xfrm>
            <a:off x="640080"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Review today’s site, app and a Certain data sample; design</a:t>
            </a:r>
            <a:endParaRPr lang="en-US" sz="1100" dirty="0"/>
          </a:p>
        </p:txBody>
      </p:sp>
      <p:sp>
        <p:nvSpPr>
          <p:cNvPr id="18" name="Shape 16"/>
          <p:cNvSpPr/>
          <p:nvPr/>
        </p:nvSpPr>
        <p:spPr>
          <a:xfrm>
            <a:off x="640080" y="3291840"/>
            <a:ext cx="1860438" cy="0"/>
          </a:xfrm>
          <a:prstGeom prst="line">
            <a:avLst/>
          </a:prstGeom>
          <a:noFill/>
          <a:ln w="9525">
            <a:solidFill>
              <a:srgbClr val="D0D0D6"/>
            </a:solidFill>
            <a:prstDash val="solid"/>
          </a:ln>
        </p:spPr>
      </p:sp>
      <p:sp>
        <p:nvSpPr>
          <p:cNvPr id="19" name="Shape 17"/>
          <p:cNvSpPr/>
          <p:nvPr/>
        </p:nvSpPr>
        <p:spPr>
          <a:xfrm>
            <a:off x="640080" y="3429000"/>
            <a:ext cx="155448" cy="155448"/>
          </a:xfrm>
          <a:prstGeom prst="diamond">
            <a:avLst/>
          </a:prstGeom>
          <a:solidFill>
            <a:srgbClr val="000000"/>
          </a:solidFill>
          <a:ln w="12700">
            <a:solidFill>
              <a:srgbClr val="000000"/>
            </a:solidFill>
            <a:prstDash val="solid"/>
          </a:ln>
        </p:spPr>
      </p:sp>
      <p:sp>
        <p:nvSpPr>
          <p:cNvPr id="20" name="Text 18"/>
          <p:cNvSpPr txBox="1"/>
          <p:nvPr/>
        </p:nvSpPr>
        <p:spPr>
          <a:xfrm>
            <a:off x="886968" y="3364992"/>
            <a:ext cx="1631838" cy="384048"/>
          </a:xfrm>
          <a:prstGeom prst="rect">
            <a:avLst/>
          </a:prstGeom>
          <a:noFill/>
          <a:ln/>
        </p:spPr>
        <p:txBody>
          <a:bodyPr wrap="square" lIns="0" tIns="0" rIns="0" bIns="0" rtlCol="0" anchor="t"/>
          <a:lstStyle/>
          <a:p>
            <a:pPr indent="0" marL="0">
              <a:buNone/>
            </a:pPr>
            <a:r>
              <a:rPr lang="en-US" sz="1050" b="1" dirty="0">
                <a:solidFill>
                  <a:srgbClr val="000000"/>
                </a:solidFill>
              </a:rPr>
              <a:t>Design sign-off</a:t>
            </a:r>
            <a:endParaRPr lang="en-US" sz="1050" dirty="0"/>
          </a:p>
        </p:txBody>
      </p:sp>
      <p:sp>
        <p:nvSpPr>
          <p:cNvPr id="21" name="sprint-2"/>
          <p:cNvSpPr/>
          <p:nvPr/>
        </p:nvSpPr>
        <p:spPr>
          <a:xfrm>
            <a:off x="2765694" y="2103120"/>
            <a:ext cx="2134758" cy="1691640"/>
          </a:xfrm>
          <a:prstGeom prst="roundRect">
            <a:avLst>
              <a:gd name="adj" fmla="val 5405"/>
            </a:avLst>
          </a:prstGeom>
          <a:solidFill>
            <a:srgbClr val="F2F2F2"/>
          </a:solidFill>
          <a:ln w="22225">
            <a:solidFill>
              <a:srgbClr val="FF0068"/>
            </a:solidFill>
            <a:prstDash val="solid"/>
          </a:ln>
        </p:spPr>
      </p:sp>
      <p:sp>
        <p:nvSpPr>
          <p:cNvPr id="22" name="Text 20"/>
          <p:cNvSpPr txBox="1"/>
          <p:nvPr/>
        </p:nvSpPr>
        <p:spPr>
          <a:xfrm>
            <a:off x="2902854"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2</a:t>
            </a:r>
            <a:endParaRPr lang="en-US" sz="1100" dirty="0"/>
          </a:p>
        </p:txBody>
      </p:sp>
      <p:sp>
        <p:nvSpPr>
          <p:cNvPr id="23" name="Text 21"/>
          <p:cNvSpPr txBox="1"/>
          <p:nvPr/>
        </p:nvSpPr>
        <p:spPr>
          <a:xfrm>
            <a:off x="2902854"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3-4</a:t>
            </a:r>
            <a:endParaRPr lang="en-US" sz="1000" dirty="0"/>
          </a:p>
        </p:txBody>
      </p:sp>
      <p:sp>
        <p:nvSpPr>
          <p:cNvPr id="24" name="Text 22"/>
          <p:cNvSpPr txBox="1"/>
          <p:nvPr/>
        </p:nvSpPr>
        <p:spPr>
          <a:xfrm>
            <a:off x="2902854"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Shared event model; sessions, tracks, rooms, speakers</a:t>
            </a:r>
            <a:endParaRPr lang="en-US" sz="1100" dirty="0"/>
          </a:p>
        </p:txBody>
      </p:sp>
      <p:sp>
        <p:nvSpPr>
          <p:cNvPr id="25" name="Shape 23"/>
          <p:cNvSpPr/>
          <p:nvPr/>
        </p:nvSpPr>
        <p:spPr>
          <a:xfrm>
            <a:off x="2902854" y="3291840"/>
            <a:ext cx="1860438" cy="0"/>
          </a:xfrm>
          <a:prstGeom prst="line">
            <a:avLst/>
          </a:prstGeom>
          <a:noFill/>
          <a:ln w="9525">
            <a:solidFill>
              <a:srgbClr val="D0D0D6"/>
            </a:solidFill>
            <a:prstDash val="solid"/>
          </a:ln>
        </p:spPr>
      </p:sp>
      <p:sp>
        <p:nvSpPr>
          <p:cNvPr id="26" name="Shape 24"/>
          <p:cNvSpPr/>
          <p:nvPr/>
        </p:nvSpPr>
        <p:spPr>
          <a:xfrm>
            <a:off x="2902854" y="3429000"/>
            <a:ext cx="155448" cy="155448"/>
          </a:xfrm>
          <a:prstGeom prst="diamond">
            <a:avLst/>
          </a:prstGeom>
          <a:solidFill>
            <a:srgbClr val="000000"/>
          </a:solidFill>
          <a:ln w="12700">
            <a:solidFill>
              <a:srgbClr val="000000"/>
            </a:solidFill>
            <a:prstDash val="solid"/>
          </a:ln>
        </p:spPr>
      </p:sp>
      <p:sp>
        <p:nvSpPr>
          <p:cNvPr id="27" name="Text 25"/>
          <p:cNvSpPr txBox="1"/>
          <p:nvPr/>
        </p:nvSpPr>
        <p:spPr>
          <a:xfrm>
            <a:off x="3149742" y="3364992"/>
            <a:ext cx="1631838" cy="384048"/>
          </a:xfrm>
          <a:prstGeom prst="rect">
            <a:avLst/>
          </a:prstGeom>
          <a:noFill/>
          <a:ln/>
        </p:spPr>
        <p:txBody>
          <a:bodyPr wrap="square" lIns="0" tIns="0" rIns="0" bIns="0" rtlCol="0" anchor="t"/>
          <a:lstStyle/>
          <a:p>
            <a:pPr indent="0" marL="0">
              <a:buNone/>
            </a:pPr>
            <a:r>
              <a:rPr lang="en-US" sz="1050" b="1" dirty="0">
                <a:solidFill>
                  <a:srgbClr val="000000"/>
                </a:solidFill>
              </a:rPr>
              <a:t>Conference model demo</a:t>
            </a:r>
            <a:endParaRPr lang="en-US" sz="1050" dirty="0"/>
          </a:p>
        </p:txBody>
      </p:sp>
      <p:sp>
        <p:nvSpPr>
          <p:cNvPr id="28" name="sprint-3"/>
          <p:cNvSpPr/>
          <p:nvPr/>
        </p:nvSpPr>
        <p:spPr>
          <a:xfrm>
            <a:off x="5028468" y="2103120"/>
            <a:ext cx="2134758" cy="1691640"/>
          </a:xfrm>
          <a:prstGeom prst="roundRect">
            <a:avLst>
              <a:gd name="adj" fmla="val 5405"/>
            </a:avLst>
          </a:prstGeom>
          <a:solidFill>
            <a:srgbClr val="F2F2F2"/>
          </a:solidFill>
          <a:ln w="22225">
            <a:solidFill>
              <a:srgbClr val="FF0068"/>
            </a:solidFill>
            <a:prstDash val="solid"/>
          </a:ln>
        </p:spPr>
      </p:sp>
      <p:sp>
        <p:nvSpPr>
          <p:cNvPr id="29" name="Text 27"/>
          <p:cNvSpPr txBox="1"/>
          <p:nvPr/>
        </p:nvSpPr>
        <p:spPr>
          <a:xfrm>
            <a:off x="5165628"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3</a:t>
            </a:r>
            <a:endParaRPr lang="en-US" sz="1100" dirty="0"/>
          </a:p>
        </p:txBody>
      </p:sp>
      <p:sp>
        <p:nvSpPr>
          <p:cNvPr id="30" name="Text 28"/>
          <p:cNvSpPr txBox="1"/>
          <p:nvPr/>
        </p:nvSpPr>
        <p:spPr>
          <a:xfrm>
            <a:off x="5165628"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5-6</a:t>
            </a:r>
            <a:endParaRPr lang="en-US" sz="1000" dirty="0"/>
          </a:p>
        </p:txBody>
      </p:sp>
      <p:sp>
        <p:nvSpPr>
          <p:cNvPr id="31" name="Text 29"/>
          <p:cNvSpPr txBox="1"/>
          <p:nvPr/>
        </p:nvSpPr>
        <p:spPr>
          <a:xfrm>
            <a:off x="5165628"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My Agenda portal on Experience Cloud; ticket types</a:t>
            </a:r>
            <a:endParaRPr lang="en-US" sz="1100" dirty="0"/>
          </a:p>
        </p:txBody>
      </p:sp>
      <p:sp>
        <p:nvSpPr>
          <p:cNvPr id="32" name="Shape 30"/>
          <p:cNvSpPr/>
          <p:nvPr/>
        </p:nvSpPr>
        <p:spPr>
          <a:xfrm>
            <a:off x="5165628" y="3291840"/>
            <a:ext cx="1860438" cy="0"/>
          </a:xfrm>
          <a:prstGeom prst="line">
            <a:avLst/>
          </a:prstGeom>
          <a:noFill/>
          <a:ln w="9525">
            <a:solidFill>
              <a:srgbClr val="D0D0D6"/>
            </a:solidFill>
            <a:prstDash val="solid"/>
          </a:ln>
        </p:spPr>
      </p:sp>
      <p:sp>
        <p:nvSpPr>
          <p:cNvPr id="33" name="Shape 31"/>
          <p:cNvSpPr/>
          <p:nvPr/>
        </p:nvSpPr>
        <p:spPr>
          <a:xfrm>
            <a:off x="5165628" y="3429000"/>
            <a:ext cx="155448" cy="155448"/>
          </a:xfrm>
          <a:prstGeom prst="diamond">
            <a:avLst/>
          </a:prstGeom>
          <a:solidFill>
            <a:srgbClr val="000000"/>
          </a:solidFill>
          <a:ln w="12700">
            <a:solidFill>
              <a:srgbClr val="000000"/>
            </a:solidFill>
            <a:prstDash val="solid"/>
          </a:ln>
        </p:spPr>
      </p:sp>
      <p:sp>
        <p:nvSpPr>
          <p:cNvPr id="34" name="Text 32"/>
          <p:cNvSpPr txBox="1"/>
          <p:nvPr/>
        </p:nvSpPr>
        <p:spPr>
          <a:xfrm>
            <a:off x="5412516" y="3364992"/>
            <a:ext cx="1631838" cy="384048"/>
          </a:xfrm>
          <a:prstGeom prst="rect">
            <a:avLst/>
          </a:prstGeom>
          <a:noFill/>
          <a:ln/>
        </p:spPr>
        <p:txBody>
          <a:bodyPr wrap="square" lIns="0" tIns="0" rIns="0" bIns="0" rtlCol="0" anchor="t"/>
          <a:lstStyle/>
          <a:p>
            <a:pPr indent="0" marL="0">
              <a:buNone/>
            </a:pPr>
            <a:r>
              <a:rPr lang="en-US" sz="1050" b="1" dirty="0">
                <a:solidFill>
                  <a:srgbClr val="000000"/>
                </a:solidFill>
              </a:rPr>
              <a:t>Attendee portal demo</a:t>
            </a:r>
            <a:endParaRPr lang="en-US" sz="1050" dirty="0"/>
          </a:p>
        </p:txBody>
      </p:sp>
      <p:sp>
        <p:nvSpPr>
          <p:cNvPr id="35" name="sprint-4"/>
          <p:cNvSpPr/>
          <p:nvPr/>
        </p:nvSpPr>
        <p:spPr>
          <a:xfrm>
            <a:off x="7291243" y="2103120"/>
            <a:ext cx="2134758" cy="1691640"/>
          </a:xfrm>
          <a:prstGeom prst="roundRect">
            <a:avLst>
              <a:gd name="adj" fmla="val 5405"/>
            </a:avLst>
          </a:prstGeom>
          <a:solidFill>
            <a:srgbClr val="F2F2F2"/>
          </a:solidFill>
          <a:ln w="22225">
            <a:solidFill>
              <a:srgbClr val="FF0068"/>
            </a:solidFill>
            <a:prstDash val="solid"/>
          </a:ln>
        </p:spPr>
      </p:sp>
      <p:sp>
        <p:nvSpPr>
          <p:cNvPr id="36" name="Text 34"/>
          <p:cNvSpPr txBox="1"/>
          <p:nvPr/>
        </p:nvSpPr>
        <p:spPr>
          <a:xfrm>
            <a:off x="7428403"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4</a:t>
            </a:r>
            <a:endParaRPr lang="en-US" sz="1100" dirty="0"/>
          </a:p>
        </p:txBody>
      </p:sp>
      <p:sp>
        <p:nvSpPr>
          <p:cNvPr id="37" name="Text 35"/>
          <p:cNvSpPr txBox="1"/>
          <p:nvPr/>
        </p:nvSpPr>
        <p:spPr>
          <a:xfrm>
            <a:off x="7428403"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7-8</a:t>
            </a:r>
            <a:endParaRPr lang="en-US" sz="1000" dirty="0"/>
          </a:p>
        </p:txBody>
      </p:sp>
      <p:sp>
        <p:nvSpPr>
          <p:cNvPr id="38" name="Text 36"/>
          <p:cNvSpPr txBox="1"/>
          <p:nvPr/>
        </p:nvSpPr>
        <p:spPr>
          <a:xfrm>
            <a:off x="7428403"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Chase checkout for conferences; badges; CME [to confirm]</a:t>
            </a:r>
            <a:endParaRPr lang="en-US" sz="1100" dirty="0"/>
          </a:p>
        </p:txBody>
      </p:sp>
      <p:sp>
        <p:nvSpPr>
          <p:cNvPr id="39" name="Shape 37"/>
          <p:cNvSpPr/>
          <p:nvPr/>
        </p:nvSpPr>
        <p:spPr>
          <a:xfrm>
            <a:off x="7428403" y="3291840"/>
            <a:ext cx="1860438" cy="0"/>
          </a:xfrm>
          <a:prstGeom prst="line">
            <a:avLst/>
          </a:prstGeom>
          <a:noFill/>
          <a:ln w="9525">
            <a:solidFill>
              <a:srgbClr val="D0D0D6"/>
            </a:solidFill>
            <a:prstDash val="solid"/>
          </a:ln>
        </p:spPr>
      </p:sp>
      <p:sp>
        <p:nvSpPr>
          <p:cNvPr id="40" name="Shape 38"/>
          <p:cNvSpPr/>
          <p:nvPr/>
        </p:nvSpPr>
        <p:spPr>
          <a:xfrm>
            <a:off x="7428403" y="3429000"/>
            <a:ext cx="155448" cy="155448"/>
          </a:xfrm>
          <a:prstGeom prst="diamond">
            <a:avLst/>
          </a:prstGeom>
          <a:solidFill>
            <a:srgbClr val="000000"/>
          </a:solidFill>
          <a:ln w="12700">
            <a:solidFill>
              <a:srgbClr val="000000"/>
            </a:solidFill>
            <a:prstDash val="solid"/>
          </a:ln>
        </p:spPr>
      </p:sp>
      <p:sp>
        <p:nvSpPr>
          <p:cNvPr id="41" name="Text 39"/>
          <p:cNvSpPr txBox="1"/>
          <p:nvPr/>
        </p:nvSpPr>
        <p:spPr>
          <a:xfrm>
            <a:off x="7675291" y="3364992"/>
            <a:ext cx="1631838" cy="384048"/>
          </a:xfrm>
          <a:prstGeom prst="rect">
            <a:avLst/>
          </a:prstGeom>
          <a:noFill/>
          <a:ln/>
        </p:spPr>
        <p:txBody>
          <a:bodyPr wrap="square" lIns="0" tIns="0" rIns="0" bIns="0" rtlCol="0" anchor="t"/>
          <a:lstStyle/>
          <a:p>
            <a:pPr indent="0" marL="0">
              <a:buNone/>
            </a:pPr>
            <a:r>
              <a:rPr lang="en-US" sz="1050" b="1" dirty="0">
                <a:solidFill>
                  <a:srgbClr val="000000"/>
                </a:solidFill>
              </a:rPr>
              <a:t>Pay and badge end to end</a:t>
            </a:r>
            <a:endParaRPr lang="en-US" sz="1050" dirty="0"/>
          </a:p>
        </p:txBody>
      </p:sp>
      <p:sp>
        <p:nvSpPr>
          <p:cNvPr id="42" name="sprint-5"/>
          <p:cNvSpPr/>
          <p:nvPr/>
        </p:nvSpPr>
        <p:spPr>
          <a:xfrm>
            <a:off x="9554017" y="2103120"/>
            <a:ext cx="2134758" cy="1691640"/>
          </a:xfrm>
          <a:prstGeom prst="roundRect">
            <a:avLst>
              <a:gd name="adj" fmla="val 5405"/>
            </a:avLst>
          </a:prstGeom>
          <a:solidFill>
            <a:srgbClr val="F2F2F2"/>
          </a:solidFill>
          <a:ln w="22225">
            <a:solidFill>
              <a:srgbClr val="FF0068"/>
            </a:solidFill>
            <a:prstDash val="solid"/>
          </a:ln>
        </p:spPr>
      </p:sp>
      <p:sp>
        <p:nvSpPr>
          <p:cNvPr id="43" name="Text 41"/>
          <p:cNvSpPr txBox="1"/>
          <p:nvPr/>
        </p:nvSpPr>
        <p:spPr>
          <a:xfrm>
            <a:off x="9691177" y="2221992"/>
            <a:ext cx="1860438" cy="219456"/>
          </a:xfrm>
          <a:prstGeom prst="rect">
            <a:avLst/>
          </a:prstGeom>
          <a:noFill/>
          <a:ln/>
        </p:spPr>
        <p:txBody>
          <a:bodyPr wrap="square" lIns="0" tIns="0" rIns="0" bIns="0" rtlCol="0" anchor="t"/>
          <a:lstStyle/>
          <a:p>
            <a:pPr indent="0" marL="0">
              <a:buNone/>
            </a:pPr>
            <a:r>
              <a:rPr lang="en-US" sz="1100" b="1" spc="200" kern="0" dirty="0">
                <a:solidFill>
                  <a:srgbClr val="C8005A"/>
                </a:solidFill>
              </a:rPr>
              <a:t>SPRINT 5</a:t>
            </a:r>
            <a:endParaRPr lang="en-US" sz="1100" dirty="0"/>
          </a:p>
        </p:txBody>
      </p:sp>
      <p:sp>
        <p:nvSpPr>
          <p:cNvPr id="44" name="Text 42"/>
          <p:cNvSpPr txBox="1"/>
          <p:nvPr/>
        </p:nvSpPr>
        <p:spPr>
          <a:xfrm>
            <a:off x="9691177" y="245059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9-10</a:t>
            </a:r>
            <a:endParaRPr lang="en-US" sz="1000" dirty="0"/>
          </a:p>
        </p:txBody>
      </p:sp>
      <p:sp>
        <p:nvSpPr>
          <p:cNvPr id="45" name="Text 43"/>
          <p:cNvSpPr txBox="1"/>
          <p:nvPr/>
        </p:nvSpPr>
        <p:spPr>
          <a:xfrm>
            <a:off x="9691177" y="2706624"/>
            <a:ext cx="1860438" cy="603504"/>
          </a:xfrm>
          <a:prstGeom prst="rect">
            <a:avLst/>
          </a:prstGeom>
          <a:noFill/>
          <a:ln/>
        </p:spPr>
        <p:txBody>
          <a:bodyPr wrap="square" lIns="0" tIns="0" rIns="0" bIns="0" rtlCol="0" anchor="t"/>
          <a:lstStyle/>
          <a:p>
            <a:pPr indent="0" marL="0">
              <a:buNone/>
            </a:pPr>
            <a:r>
              <a:rPr lang="en-US" sz="1100" dirty="0">
                <a:solidFill>
                  <a:srgbClr val="000000"/>
                </a:solidFill>
              </a:rPr>
              <a:t>Load test, user testing, conference reporting</a:t>
            </a:r>
            <a:endParaRPr lang="en-US" sz="1100" dirty="0"/>
          </a:p>
        </p:txBody>
      </p:sp>
      <p:sp>
        <p:nvSpPr>
          <p:cNvPr id="46" name="Shape 44"/>
          <p:cNvSpPr/>
          <p:nvPr/>
        </p:nvSpPr>
        <p:spPr>
          <a:xfrm>
            <a:off x="9691177" y="3291840"/>
            <a:ext cx="1860438" cy="0"/>
          </a:xfrm>
          <a:prstGeom prst="line">
            <a:avLst/>
          </a:prstGeom>
          <a:noFill/>
          <a:ln w="9525">
            <a:solidFill>
              <a:srgbClr val="D0D0D6"/>
            </a:solidFill>
            <a:prstDash val="solid"/>
          </a:ln>
        </p:spPr>
      </p:sp>
      <p:sp>
        <p:nvSpPr>
          <p:cNvPr id="47" name="Shape 45"/>
          <p:cNvSpPr/>
          <p:nvPr/>
        </p:nvSpPr>
        <p:spPr>
          <a:xfrm>
            <a:off x="9691177" y="3429000"/>
            <a:ext cx="155448" cy="155448"/>
          </a:xfrm>
          <a:prstGeom prst="diamond">
            <a:avLst/>
          </a:prstGeom>
          <a:solidFill>
            <a:srgbClr val="000000"/>
          </a:solidFill>
          <a:ln w="12700">
            <a:solidFill>
              <a:srgbClr val="000000"/>
            </a:solidFill>
            <a:prstDash val="solid"/>
          </a:ln>
        </p:spPr>
      </p:sp>
      <p:sp>
        <p:nvSpPr>
          <p:cNvPr id="48" name="Text 46"/>
          <p:cNvSpPr txBox="1"/>
          <p:nvPr/>
        </p:nvSpPr>
        <p:spPr>
          <a:xfrm>
            <a:off x="9938065" y="3364992"/>
            <a:ext cx="1631838" cy="384048"/>
          </a:xfrm>
          <a:prstGeom prst="rect">
            <a:avLst/>
          </a:prstGeom>
          <a:noFill/>
          <a:ln/>
        </p:spPr>
        <p:txBody>
          <a:bodyPr wrap="square" lIns="0" tIns="0" rIns="0" bIns="0" rtlCol="0" anchor="t"/>
          <a:lstStyle/>
          <a:p>
            <a:pPr indent="0" marL="0">
              <a:buNone/>
            </a:pPr>
            <a:r>
              <a:rPr lang="en-US" sz="1050" b="1" dirty="0">
                <a:solidFill>
                  <a:srgbClr val="000000"/>
                </a:solidFill>
              </a:rPr>
              <a:t>Testing sign-off</a:t>
            </a:r>
            <a:endParaRPr lang="en-US" sz="1050" dirty="0"/>
          </a:p>
        </p:txBody>
      </p:sp>
      <p:sp>
        <p:nvSpPr>
          <p:cNvPr id="49" name="sprint-6"/>
          <p:cNvSpPr/>
          <p:nvPr/>
        </p:nvSpPr>
        <p:spPr>
          <a:xfrm>
            <a:off x="502920" y="4251960"/>
            <a:ext cx="2134758" cy="1691640"/>
          </a:xfrm>
          <a:prstGeom prst="roundRect">
            <a:avLst>
              <a:gd name="adj" fmla="val 5405"/>
            </a:avLst>
          </a:prstGeom>
          <a:solidFill>
            <a:srgbClr val="000000"/>
          </a:solidFill>
          <a:ln w="22225">
            <a:solidFill>
              <a:srgbClr val="FF0068"/>
            </a:solidFill>
            <a:prstDash val="solid"/>
          </a:ln>
        </p:spPr>
      </p:sp>
      <p:sp>
        <p:nvSpPr>
          <p:cNvPr id="50" name="Text 48"/>
          <p:cNvSpPr txBox="1"/>
          <p:nvPr/>
        </p:nvSpPr>
        <p:spPr>
          <a:xfrm>
            <a:off x="640080" y="4370832"/>
            <a:ext cx="1860438" cy="219456"/>
          </a:xfrm>
          <a:prstGeom prst="rect">
            <a:avLst/>
          </a:prstGeom>
          <a:noFill/>
          <a:ln/>
        </p:spPr>
        <p:txBody>
          <a:bodyPr wrap="square" lIns="0" tIns="0" rIns="0" bIns="0" rtlCol="0" anchor="t"/>
          <a:lstStyle/>
          <a:p>
            <a:pPr indent="0" marL="0">
              <a:buNone/>
            </a:pPr>
            <a:r>
              <a:rPr lang="en-US" sz="1100" b="1" spc="200" kern="0" dirty="0">
                <a:solidFill>
                  <a:srgbClr val="FF0068"/>
                </a:solidFill>
              </a:rPr>
              <a:t>SPRINT 6</a:t>
            </a:r>
            <a:endParaRPr lang="en-US" sz="1100" dirty="0"/>
          </a:p>
        </p:txBody>
      </p:sp>
      <p:sp>
        <p:nvSpPr>
          <p:cNvPr id="51" name="Text 49"/>
          <p:cNvSpPr txBox="1"/>
          <p:nvPr/>
        </p:nvSpPr>
        <p:spPr>
          <a:xfrm>
            <a:off x="640080" y="4599432"/>
            <a:ext cx="1860438" cy="201168"/>
          </a:xfrm>
          <a:prstGeom prst="rect">
            <a:avLst/>
          </a:prstGeom>
          <a:noFill/>
          <a:ln/>
        </p:spPr>
        <p:txBody>
          <a:bodyPr wrap="square" lIns="0" tIns="0" rIns="0" bIns="0" rtlCol="0" anchor="t"/>
          <a:lstStyle/>
          <a:p>
            <a:pPr indent="0" marL="0">
              <a:buNone/>
            </a:pPr>
            <a:r>
              <a:rPr lang="en-US" sz="1000" dirty="0">
                <a:solidFill>
                  <a:srgbClr val="D9D9D9"/>
                </a:solidFill>
              </a:rPr>
              <a:t>Weeks 11-12</a:t>
            </a:r>
            <a:endParaRPr lang="en-US" sz="1000" dirty="0"/>
          </a:p>
        </p:txBody>
      </p:sp>
      <p:sp>
        <p:nvSpPr>
          <p:cNvPr id="52" name="Text 50"/>
          <p:cNvSpPr txBox="1"/>
          <p:nvPr/>
        </p:nvSpPr>
        <p:spPr>
          <a:xfrm>
            <a:off x="640080" y="4855464"/>
            <a:ext cx="1860438" cy="603504"/>
          </a:xfrm>
          <a:prstGeom prst="rect">
            <a:avLst/>
          </a:prstGeom>
          <a:noFill/>
          <a:ln/>
        </p:spPr>
        <p:txBody>
          <a:bodyPr wrap="square" lIns="0" tIns="0" rIns="0" bIns="0" rtlCol="0" anchor="t"/>
          <a:lstStyle/>
          <a:p>
            <a:pPr indent="0" marL="0">
              <a:buNone/>
            </a:pPr>
            <a:r>
              <a:rPr lang="en-US" sz="1100" dirty="0">
                <a:solidFill>
                  <a:srgbClr val="FFFFFF"/>
                </a:solidFill>
              </a:rPr>
              <a:t>Final data load, conference go-live, hypercare</a:t>
            </a:r>
            <a:endParaRPr lang="en-US" sz="1100" dirty="0"/>
          </a:p>
        </p:txBody>
      </p:sp>
      <p:sp>
        <p:nvSpPr>
          <p:cNvPr id="53" name="Shape 51"/>
          <p:cNvSpPr/>
          <p:nvPr/>
        </p:nvSpPr>
        <p:spPr>
          <a:xfrm>
            <a:off x="640080" y="5440680"/>
            <a:ext cx="1860438" cy="0"/>
          </a:xfrm>
          <a:prstGeom prst="line">
            <a:avLst/>
          </a:prstGeom>
          <a:noFill/>
          <a:ln w="9525">
            <a:solidFill>
              <a:srgbClr val="555555"/>
            </a:solidFill>
            <a:prstDash val="solid"/>
          </a:ln>
        </p:spPr>
      </p:sp>
      <p:sp>
        <p:nvSpPr>
          <p:cNvPr id="54" name="Shape 52"/>
          <p:cNvSpPr/>
          <p:nvPr/>
        </p:nvSpPr>
        <p:spPr>
          <a:xfrm>
            <a:off x="640080" y="5577840"/>
            <a:ext cx="155448" cy="155448"/>
          </a:xfrm>
          <a:prstGeom prst="diamond">
            <a:avLst/>
          </a:prstGeom>
          <a:solidFill>
            <a:srgbClr val="FF0068"/>
          </a:solidFill>
          <a:ln w="12700">
            <a:solidFill>
              <a:srgbClr val="FF0068"/>
            </a:solidFill>
            <a:prstDash val="solid"/>
          </a:ln>
        </p:spPr>
      </p:sp>
      <p:sp>
        <p:nvSpPr>
          <p:cNvPr id="55" name="Text 53"/>
          <p:cNvSpPr txBox="1"/>
          <p:nvPr/>
        </p:nvSpPr>
        <p:spPr>
          <a:xfrm>
            <a:off x="886968" y="5513832"/>
            <a:ext cx="1631838" cy="384048"/>
          </a:xfrm>
          <a:prstGeom prst="rect">
            <a:avLst/>
          </a:prstGeom>
          <a:noFill/>
          <a:ln/>
        </p:spPr>
        <p:txBody>
          <a:bodyPr wrap="square" lIns="0" tIns="0" rIns="0" bIns="0" rtlCol="0" anchor="t"/>
          <a:lstStyle/>
          <a:p>
            <a:pPr indent="0" marL="0">
              <a:buNone/>
            </a:pPr>
            <a:r>
              <a:rPr lang="en-US" sz="1050" b="1" dirty="0">
                <a:solidFill>
                  <a:srgbClr val="FFFFFF"/>
                </a:solidFill>
              </a:rPr>
              <a:t>Phase 1 live, Certain retired</a:t>
            </a:r>
            <a:endParaRPr lang="en-US" sz="1050" dirty="0"/>
          </a:p>
        </p:txBody>
      </p:sp>
      <p:sp>
        <p:nvSpPr>
          <p:cNvPr id="56" name="sprint-7"/>
          <p:cNvSpPr/>
          <p:nvPr/>
        </p:nvSpPr>
        <p:spPr>
          <a:xfrm>
            <a:off x="2765694" y="4251960"/>
            <a:ext cx="2134758" cy="1691640"/>
          </a:xfrm>
          <a:prstGeom prst="roundRect">
            <a:avLst>
              <a:gd name="adj" fmla="val 5405"/>
            </a:avLst>
          </a:prstGeom>
          <a:solidFill>
            <a:srgbClr val="F2F2F2"/>
          </a:solidFill>
          <a:ln w="22225">
            <a:solidFill>
              <a:srgbClr val="D9B200"/>
            </a:solidFill>
            <a:prstDash val="solid"/>
          </a:ln>
        </p:spPr>
      </p:sp>
      <p:sp>
        <p:nvSpPr>
          <p:cNvPr id="57" name="Text 55"/>
          <p:cNvSpPr txBox="1"/>
          <p:nvPr/>
        </p:nvSpPr>
        <p:spPr>
          <a:xfrm>
            <a:off x="2902854" y="4370832"/>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7</a:t>
            </a:r>
            <a:endParaRPr lang="en-US" sz="1100" dirty="0"/>
          </a:p>
        </p:txBody>
      </p:sp>
      <p:sp>
        <p:nvSpPr>
          <p:cNvPr id="58" name="Text 56"/>
          <p:cNvSpPr txBox="1"/>
          <p:nvPr/>
        </p:nvSpPr>
        <p:spPr>
          <a:xfrm>
            <a:off x="2902854" y="459943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13-14</a:t>
            </a:r>
            <a:endParaRPr lang="en-US" sz="1000" dirty="0"/>
          </a:p>
        </p:txBody>
      </p:sp>
      <p:sp>
        <p:nvSpPr>
          <p:cNvPr id="59" name="Text 57"/>
          <p:cNvSpPr txBox="1"/>
          <p:nvPr/>
        </p:nvSpPr>
        <p:spPr>
          <a:xfrm>
            <a:off x="2902854" y="4855464"/>
            <a:ext cx="1860438" cy="603504"/>
          </a:xfrm>
          <a:prstGeom prst="rect">
            <a:avLst/>
          </a:prstGeom>
          <a:noFill/>
          <a:ln/>
        </p:spPr>
        <p:txBody>
          <a:bodyPr wrap="square" lIns="0" tIns="0" rIns="0" bIns="0" rtlCol="0" anchor="t"/>
          <a:lstStyle/>
          <a:p>
            <a:pPr indent="0" marL="0">
              <a:buNone/>
            </a:pPr>
            <a:r>
              <a:rPr lang="en-US" sz="1100" dirty="0">
                <a:solidFill>
                  <a:srgbClr val="000000"/>
                </a:solidFill>
              </a:rPr>
              <a:t>Classes onto the shared model by extending today’s objects</a:t>
            </a:r>
            <a:endParaRPr lang="en-US" sz="1100" dirty="0"/>
          </a:p>
        </p:txBody>
      </p:sp>
      <p:sp>
        <p:nvSpPr>
          <p:cNvPr id="60" name="Shape 58"/>
          <p:cNvSpPr/>
          <p:nvPr/>
        </p:nvSpPr>
        <p:spPr>
          <a:xfrm>
            <a:off x="2902854" y="5440680"/>
            <a:ext cx="1860438" cy="0"/>
          </a:xfrm>
          <a:prstGeom prst="line">
            <a:avLst/>
          </a:prstGeom>
          <a:noFill/>
          <a:ln w="9525">
            <a:solidFill>
              <a:srgbClr val="D0D0D6"/>
            </a:solidFill>
            <a:prstDash val="solid"/>
          </a:ln>
        </p:spPr>
      </p:sp>
      <p:sp>
        <p:nvSpPr>
          <p:cNvPr id="61" name="Shape 59"/>
          <p:cNvSpPr/>
          <p:nvPr/>
        </p:nvSpPr>
        <p:spPr>
          <a:xfrm>
            <a:off x="2902854" y="5577840"/>
            <a:ext cx="155448" cy="155448"/>
          </a:xfrm>
          <a:prstGeom prst="diamond">
            <a:avLst/>
          </a:prstGeom>
          <a:solidFill>
            <a:srgbClr val="000000"/>
          </a:solidFill>
          <a:ln w="12700">
            <a:solidFill>
              <a:srgbClr val="000000"/>
            </a:solidFill>
            <a:prstDash val="solid"/>
          </a:ln>
        </p:spPr>
      </p:sp>
      <p:sp>
        <p:nvSpPr>
          <p:cNvPr id="62" name="Text 60"/>
          <p:cNvSpPr txBox="1"/>
          <p:nvPr/>
        </p:nvSpPr>
        <p:spPr>
          <a:xfrm>
            <a:off x="3149742" y="5513832"/>
            <a:ext cx="1631838" cy="384048"/>
          </a:xfrm>
          <a:prstGeom prst="rect">
            <a:avLst/>
          </a:prstGeom>
          <a:noFill/>
          <a:ln/>
        </p:spPr>
        <p:txBody>
          <a:bodyPr wrap="square" lIns="0" tIns="0" rIns="0" bIns="0" rtlCol="0" anchor="t"/>
          <a:lstStyle/>
          <a:p>
            <a:pPr indent="0" marL="0">
              <a:buNone/>
            </a:pPr>
            <a:r>
              <a:rPr lang="en-US" sz="1050" b="1" dirty="0">
                <a:solidFill>
                  <a:srgbClr val="000000"/>
                </a:solidFill>
              </a:rPr>
              <a:t>Classes on shared model</a:t>
            </a:r>
            <a:endParaRPr lang="en-US" sz="1050" dirty="0"/>
          </a:p>
        </p:txBody>
      </p:sp>
      <p:sp>
        <p:nvSpPr>
          <p:cNvPr id="63" name="sprint-8"/>
          <p:cNvSpPr/>
          <p:nvPr/>
        </p:nvSpPr>
        <p:spPr>
          <a:xfrm>
            <a:off x="5028468" y="4251960"/>
            <a:ext cx="2134758" cy="1691640"/>
          </a:xfrm>
          <a:prstGeom prst="roundRect">
            <a:avLst>
              <a:gd name="adj" fmla="val 5405"/>
            </a:avLst>
          </a:prstGeom>
          <a:solidFill>
            <a:srgbClr val="F2F2F2"/>
          </a:solidFill>
          <a:ln w="22225">
            <a:solidFill>
              <a:srgbClr val="D9B200"/>
            </a:solidFill>
            <a:prstDash val="solid"/>
          </a:ln>
        </p:spPr>
      </p:sp>
      <p:sp>
        <p:nvSpPr>
          <p:cNvPr id="64" name="Text 62"/>
          <p:cNvSpPr txBox="1"/>
          <p:nvPr/>
        </p:nvSpPr>
        <p:spPr>
          <a:xfrm>
            <a:off x="5165628" y="4370832"/>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8</a:t>
            </a:r>
            <a:endParaRPr lang="en-US" sz="1100" dirty="0"/>
          </a:p>
        </p:txBody>
      </p:sp>
      <p:sp>
        <p:nvSpPr>
          <p:cNvPr id="65" name="Text 63"/>
          <p:cNvSpPr txBox="1"/>
          <p:nvPr/>
        </p:nvSpPr>
        <p:spPr>
          <a:xfrm>
            <a:off x="5165628" y="459943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15-16</a:t>
            </a:r>
            <a:endParaRPr lang="en-US" sz="1000" dirty="0"/>
          </a:p>
        </p:txBody>
      </p:sp>
      <p:sp>
        <p:nvSpPr>
          <p:cNvPr id="66" name="Text 64"/>
          <p:cNvSpPr txBox="1"/>
          <p:nvPr/>
        </p:nvSpPr>
        <p:spPr>
          <a:xfrm>
            <a:off x="5165628" y="4855464"/>
            <a:ext cx="1860438" cy="603504"/>
          </a:xfrm>
          <a:prstGeom prst="rect">
            <a:avLst/>
          </a:prstGeom>
          <a:noFill/>
          <a:ln/>
        </p:spPr>
        <p:txBody>
          <a:bodyPr wrap="square" lIns="0" tIns="0" rIns="0" bIns="0" rtlCol="0" anchor="t"/>
          <a:lstStyle/>
          <a:p>
            <a:pPr indent="0" marL="0">
              <a:buNone/>
            </a:pPr>
            <a:r>
              <a:rPr lang="en-US" sz="1100" dirty="0">
                <a:solidFill>
                  <a:srgbClr val="000000"/>
                </a:solidFill>
              </a:rPr>
              <a:t>Instant confirmation, safe payment retries, waitlists</a:t>
            </a:r>
            <a:endParaRPr lang="en-US" sz="1100" dirty="0"/>
          </a:p>
        </p:txBody>
      </p:sp>
      <p:sp>
        <p:nvSpPr>
          <p:cNvPr id="67" name="Shape 65"/>
          <p:cNvSpPr/>
          <p:nvPr/>
        </p:nvSpPr>
        <p:spPr>
          <a:xfrm>
            <a:off x="5165628" y="5440680"/>
            <a:ext cx="1860438" cy="0"/>
          </a:xfrm>
          <a:prstGeom prst="line">
            <a:avLst/>
          </a:prstGeom>
          <a:noFill/>
          <a:ln w="9525">
            <a:solidFill>
              <a:srgbClr val="D0D0D6"/>
            </a:solidFill>
            <a:prstDash val="solid"/>
          </a:ln>
        </p:spPr>
      </p:sp>
      <p:sp>
        <p:nvSpPr>
          <p:cNvPr id="68" name="Shape 66"/>
          <p:cNvSpPr/>
          <p:nvPr/>
        </p:nvSpPr>
        <p:spPr>
          <a:xfrm>
            <a:off x="5165628" y="5577840"/>
            <a:ext cx="155448" cy="155448"/>
          </a:xfrm>
          <a:prstGeom prst="diamond">
            <a:avLst/>
          </a:prstGeom>
          <a:solidFill>
            <a:srgbClr val="000000"/>
          </a:solidFill>
          <a:ln w="12700">
            <a:solidFill>
              <a:srgbClr val="000000"/>
            </a:solidFill>
            <a:prstDash val="solid"/>
          </a:ln>
        </p:spPr>
      </p:sp>
      <p:sp>
        <p:nvSpPr>
          <p:cNvPr id="69" name="Text 67"/>
          <p:cNvSpPr txBox="1"/>
          <p:nvPr/>
        </p:nvSpPr>
        <p:spPr>
          <a:xfrm>
            <a:off x="5412516" y="5513832"/>
            <a:ext cx="1631838" cy="384048"/>
          </a:xfrm>
          <a:prstGeom prst="rect">
            <a:avLst/>
          </a:prstGeom>
          <a:noFill/>
          <a:ln/>
        </p:spPr>
        <p:txBody>
          <a:bodyPr wrap="square" lIns="0" tIns="0" rIns="0" bIns="0" rtlCol="0" anchor="t"/>
          <a:lstStyle/>
          <a:p>
            <a:pPr indent="0" marL="0">
              <a:buNone/>
            </a:pPr>
            <a:r>
              <a:rPr lang="en-US" sz="1050" b="1" dirty="0">
                <a:solidFill>
                  <a:srgbClr val="000000"/>
                </a:solidFill>
              </a:rPr>
              <a:t>Registration improvements demo</a:t>
            </a:r>
            <a:endParaRPr lang="en-US" sz="1050" dirty="0"/>
          </a:p>
        </p:txBody>
      </p:sp>
      <p:sp>
        <p:nvSpPr>
          <p:cNvPr id="70" name="sprint-9"/>
          <p:cNvSpPr/>
          <p:nvPr/>
        </p:nvSpPr>
        <p:spPr>
          <a:xfrm>
            <a:off x="7291243" y="4251960"/>
            <a:ext cx="2134758" cy="1691640"/>
          </a:xfrm>
          <a:prstGeom prst="roundRect">
            <a:avLst>
              <a:gd name="adj" fmla="val 5405"/>
            </a:avLst>
          </a:prstGeom>
          <a:solidFill>
            <a:srgbClr val="F2F2F2"/>
          </a:solidFill>
          <a:ln w="22225">
            <a:solidFill>
              <a:srgbClr val="D9B200"/>
            </a:solidFill>
            <a:prstDash val="solid"/>
          </a:ln>
        </p:spPr>
      </p:sp>
      <p:sp>
        <p:nvSpPr>
          <p:cNvPr id="71" name="Text 69"/>
          <p:cNvSpPr txBox="1"/>
          <p:nvPr/>
        </p:nvSpPr>
        <p:spPr>
          <a:xfrm>
            <a:off x="7428403" y="4370832"/>
            <a:ext cx="1860438" cy="219456"/>
          </a:xfrm>
          <a:prstGeom prst="rect">
            <a:avLst/>
          </a:prstGeom>
          <a:noFill/>
          <a:ln/>
        </p:spPr>
        <p:txBody>
          <a:bodyPr wrap="square" lIns="0" tIns="0" rIns="0" bIns="0" rtlCol="0" anchor="t"/>
          <a:lstStyle/>
          <a:p>
            <a:pPr indent="0" marL="0">
              <a:buNone/>
            </a:pPr>
            <a:r>
              <a:rPr lang="en-US" sz="1100" b="1" spc="200" kern="0" dirty="0">
                <a:solidFill>
                  <a:srgbClr val="7A6100"/>
                </a:solidFill>
              </a:rPr>
              <a:t>SPRINT 9</a:t>
            </a:r>
            <a:endParaRPr lang="en-US" sz="1100" dirty="0"/>
          </a:p>
        </p:txBody>
      </p:sp>
      <p:sp>
        <p:nvSpPr>
          <p:cNvPr id="72" name="Text 70"/>
          <p:cNvSpPr txBox="1"/>
          <p:nvPr/>
        </p:nvSpPr>
        <p:spPr>
          <a:xfrm>
            <a:off x="7428403" y="4599432"/>
            <a:ext cx="1860438" cy="201168"/>
          </a:xfrm>
          <a:prstGeom prst="rect">
            <a:avLst/>
          </a:prstGeom>
          <a:noFill/>
          <a:ln/>
        </p:spPr>
        <p:txBody>
          <a:bodyPr wrap="square" lIns="0" tIns="0" rIns="0" bIns="0" rtlCol="0" anchor="t"/>
          <a:lstStyle/>
          <a:p>
            <a:pPr indent="0" marL="0">
              <a:buNone/>
            </a:pPr>
            <a:r>
              <a:rPr lang="en-US" sz="1000" dirty="0">
                <a:solidFill>
                  <a:srgbClr val="4D4D4D"/>
                </a:solidFill>
              </a:rPr>
              <a:t>Weeks 17-18</a:t>
            </a:r>
            <a:endParaRPr lang="en-US" sz="1000" dirty="0"/>
          </a:p>
        </p:txBody>
      </p:sp>
      <p:sp>
        <p:nvSpPr>
          <p:cNvPr id="73" name="Text 71"/>
          <p:cNvSpPr txBox="1"/>
          <p:nvPr/>
        </p:nvSpPr>
        <p:spPr>
          <a:xfrm>
            <a:off x="7428403" y="4855464"/>
            <a:ext cx="1860438" cy="603504"/>
          </a:xfrm>
          <a:prstGeom prst="rect">
            <a:avLst/>
          </a:prstGeom>
          <a:noFill/>
          <a:ln/>
        </p:spPr>
        <p:txBody>
          <a:bodyPr wrap="square" lIns="0" tIns="0" rIns="0" bIns="0" rtlCol="0" anchor="t"/>
          <a:lstStyle/>
          <a:p>
            <a:pPr indent="0" marL="0">
              <a:buNone/>
            </a:pPr>
            <a:r>
              <a:rPr lang="en-US" sz="1100" dirty="0">
                <a:solidFill>
                  <a:srgbClr val="000000"/>
                </a:solidFill>
              </a:rPr>
              <a:t>QR check-in, reporting, app connected, PEI journeys</a:t>
            </a:r>
            <a:endParaRPr lang="en-US" sz="1100" dirty="0"/>
          </a:p>
        </p:txBody>
      </p:sp>
      <p:sp>
        <p:nvSpPr>
          <p:cNvPr id="74" name="Shape 72"/>
          <p:cNvSpPr/>
          <p:nvPr/>
        </p:nvSpPr>
        <p:spPr>
          <a:xfrm>
            <a:off x="7428403" y="5440680"/>
            <a:ext cx="1860438" cy="0"/>
          </a:xfrm>
          <a:prstGeom prst="line">
            <a:avLst/>
          </a:prstGeom>
          <a:noFill/>
          <a:ln w="9525">
            <a:solidFill>
              <a:srgbClr val="D0D0D6"/>
            </a:solidFill>
            <a:prstDash val="solid"/>
          </a:ln>
        </p:spPr>
      </p:sp>
      <p:sp>
        <p:nvSpPr>
          <p:cNvPr id="75" name="Shape 73"/>
          <p:cNvSpPr/>
          <p:nvPr/>
        </p:nvSpPr>
        <p:spPr>
          <a:xfrm>
            <a:off x="7428403" y="5577840"/>
            <a:ext cx="155448" cy="155448"/>
          </a:xfrm>
          <a:prstGeom prst="diamond">
            <a:avLst/>
          </a:prstGeom>
          <a:solidFill>
            <a:srgbClr val="000000"/>
          </a:solidFill>
          <a:ln w="12700">
            <a:solidFill>
              <a:srgbClr val="000000"/>
            </a:solidFill>
            <a:prstDash val="solid"/>
          </a:ln>
        </p:spPr>
      </p:sp>
      <p:sp>
        <p:nvSpPr>
          <p:cNvPr id="76" name="Text 74"/>
          <p:cNvSpPr txBox="1"/>
          <p:nvPr/>
        </p:nvSpPr>
        <p:spPr>
          <a:xfrm>
            <a:off x="7675291" y="5513832"/>
            <a:ext cx="1631838" cy="384048"/>
          </a:xfrm>
          <a:prstGeom prst="rect">
            <a:avLst/>
          </a:prstGeom>
          <a:noFill/>
          <a:ln/>
        </p:spPr>
        <p:txBody>
          <a:bodyPr wrap="square" lIns="0" tIns="0" rIns="0" bIns="0" rtlCol="0" anchor="t"/>
          <a:lstStyle/>
          <a:p>
            <a:pPr indent="0" marL="0">
              <a:buNone/>
            </a:pPr>
            <a:r>
              <a:rPr lang="en-US" sz="1050" b="1" dirty="0">
                <a:solidFill>
                  <a:srgbClr val="000000"/>
                </a:solidFill>
              </a:rPr>
              <a:t>User testing starts</a:t>
            </a:r>
            <a:endParaRPr lang="en-US" sz="1050" dirty="0"/>
          </a:p>
        </p:txBody>
      </p:sp>
      <p:sp>
        <p:nvSpPr>
          <p:cNvPr id="77" name="sprint-10"/>
          <p:cNvSpPr/>
          <p:nvPr/>
        </p:nvSpPr>
        <p:spPr>
          <a:xfrm>
            <a:off x="9554017" y="4251960"/>
            <a:ext cx="2134758" cy="1691640"/>
          </a:xfrm>
          <a:prstGeom prst="roundRect">
            <a:avLst>
              <a:gd name="adj" fmla="val 5405"/>
            </a:avLst>
          </a:prstGeom>
          <a:solidFill>
            <a:srgbClr val="000000"/>
          </a:solidFill>
          <a:ln w="22225">
            <a:solidFill>
              <a:srgbClr val="D9B200"/>
            </a:solidFill>
            <a:prstDash val="solid"/>
          </a:ln>
        </p:spPr>
      </p:sp>
      <p:sp>
        <p:nvSpPr>
          <p:cNvPr id="78" name="Text 76"/>
          <p:cNvSpPr txBox="1"/>
          <p:nvPr/>
        </p:nvSpPr>
        <p:spPr>
          <a:xfrm>
            <a:off x="9691177" y="4370832"/>
            <a:ext cx="1860438" cy="219456"/>
          </a:xfrm>
          <a:prstGeom prst="rect">
            <a:avLst/>
          </a:prstGeom>
          <a:noFill/>
          <a:ln/>
        </p:spPr>
        <p:txBody>
          <a:bodyPr wrap="square" lIns="0" tIns="0" rIns="0" bIns="0" rtlCol="0" anchor="t"/>
          <a:lstStyle/>
          <a:p>
            <a:pPr indent="0" marL="0">
              <a:buNone/>
            </a:pPr>
            <a:r>
              <a:rPr lang="en-US" sz="1100" b="1" spc="200" kern="0" dirty="0">
                <a:solidFill>
                  <a:srgbClr val="D9B200"/>
                </a:solidFill>
              </a:rPr>
              <a:t>SPRINT 10</a:t>
            </a:r>
            <a:endParaRPr lang="en-US" sz="1100" dirty="0"/>
          </a:p>
        </p:txBody>
      </p:sp>
      <p:sp>
        <p:nvSpPr>
          <p:cNvPr id="79" name="Text 77"/>
          <p:cNvSpPr txBox="1"/>
          <p:nvPr/>
        </p:nvSpPr>
        <p:spPr>
          <a:xfrm>
            <a:off x="9691177" y="4599432"/>
            <a:ext cx="1860438" cy="201168"/>
          </a:xfrm>
          <a:prstGeom prst="rect">
            <a:avLst/>
          </a:prstGeom>
          <a:noFill/>
          <a:ln/>
        </p:spPr>
        <p:txBody>
          <a:bodyPr wrap="square" lIns="0" tIns="0" rIns="0" bIns="0" rtlCol="0" anchor="t"/>
          <a:lstStyle/>
          <a:p>
            <a:pPr indent="0" marL="0">
              <a:buNone/>
            </a:pPr>
            <a:r>
              <a:rPr lang="en-US" sz="1000" dirty="0">
                <a:solidFill>
                  <a:srgbClr val="D9D9D9"/>
                </a:solidFill>
              </a:rPr>
              <a:t>Weeks 19-20</a:t>
            </a:r>
            <a:endParaRPr lang="en-US" sz="1000" dirty="0"/>
          </a:p>
        </p:txBody>
      </p:sp>
      <p:sp>
        <p:nvSpPr>
          <p:cNvPr id="80" name="Text 78"/>
          <p:cNvSpPr txBox="1"/>
          <p:nvPr/>
        </p:nvSpPr>
        <p:spPr>
          <a:xfrm>
            <a:off x="9691177" y="4855464"/>
            <a:ext cx="1860438" cy="603504"/>
          </a:xfrm>
          <a:prstGeom prst="rect">
            <a:avLst/>
          </a:prstGeom>
          <a:noFill/>
          <a:ln/>
        </p:spPr>
        <p:txBody>
          <a:bodyPr wrap="square" lIns="0" tIns="0" rIns="0" bIns="0" rtlCol="0" anchor="t"/>
          <a:lstStyle/>
          <a:p>
            <a:pPr indent="0" marL="0">
              <a:buNone/>
            </a:pPr>
            <a:r>
              <a:rPr lang="en-US" sz="1100" dirty="0">
                <a:solidFill>
                  <a:srgbClr val="FFFFFF"/>
                </a:solidFill>
              </a:rPr>
              <a:t>User testing, go-live, knowledge transfer</a:t>
            </a:r>
            <a:endParaRPr lang="en-US" sz="1100" dirty="0"/>
          </a:p>
        </p:txBody>
      </p:sp>
      <p:sp>
        <p:nvSpPr>
          <p:cNvPr id="81" name="Shape 79"/>
          <p:cNvSpPr/>
          <p:nvPr/>
        </p:nvSpPr>
        <p:spPr>
          <a:xfrm>
            <a:off x="9691177" y="5440680"/>
            <a:ext cx="1860438" cy="0"/>
          </a:xfrm>
          <a:prstGeom prst="line">
            <a:avLst/>
          </a:prstGeom>
          <a:noFill/>
          <a:ln w="9525">
            <a:solidFill>
              <a:srgbClr val="555555"/>
            </a:solidFill>
            <a:prstDash val="solid"/>
          </a:ln>
        </p:spPr>
      </p:sp>
      <p:sp>
        <p:nvSpPr>
          <p:cNvPr id="82" name="Shape 80"/>
          <p:cNvSpPr/>
          <p:nvPr/>
        </p:nvSpPr>
        <p:spPr>
          <a:xfrm>
            <a:off x="9691177" y="5577840"/>
            <a:ext cx="155448" cy="155448"/>
          </a:xfrm>
          <a:prstGeom prst="diamond">
            <a:avLst/>
          </a:prstGeom>
          <a:solidFill>
            <a:srgbClr val="D9B200"/>
          </a:solidFill>
          <a:ln w="12700">
            <a:solidFill>
              <a:srgbClr val="D9B200"/>
            </a:solidFill>
            <a:prstDash val="solid"/>
          </a:ln>
        </p:spPr>
      </p:sp>
      <p:sp>
        <p:nvSpPr>
          <p:cNvPr id="83" name="Text 81"/>
          <p:cNvSpPr txBox="1"/>
          <p:nvPr/>
        </p:nvSpPr>
        <p:spPr>
          <a:xfrm>
            <a:off x="9938065" y="5513832"/>
            <a:ext cx="1631838" cy="384048"/>
          </a:xfrm>
          <a:prstGeom prst="rect">
            <a:avLst/>
          </a:prstGeom>
          <a:noFill/>
          <a:ln/>
        </p:spPr>
        <p:txBody>
          <a:bodyPr wrap="square" lIns="0" tIns="0" rIns="0" bIns="0" rtlCol="0" anchor="t"/>
          <a:lstStyle/>
          <a:p>
            <a:pPr indent="0" marL="0">
              <a:buNone/>
            </a:pPr>
            <a:r>
              <a:rPr lang="en-US" sz="1050" b="1" dirty="0">
                <a:solidFill>
                  <a:srgbClr val="FFFFFF"/>
                </a:solidFill>
              </a:rPr>
              <a:t>Phase 2 live</a:t>
            </a:r>
            <a:endParaRPr lang="en-US" sz="1050" dirty="0"/>
          </a:p>
        </p:txBody>
      </p:sp>
      <p:sp>
        <p:nvSpPr>
          <p:cNvPr id="84" name="transition-band-4"/>
          <p:cNvSpPr/>
          <p:nvPr/>
        </p:nvSpPr>
        <p:spPr>
          <a:xfrm>
            <a:off x="7291243" y="3867912"/>
            <a:ext cx="4397532" cy="274320"/>
          </a:xfrm>
          <a:prstGeom prst="roundRect">
            <a:avLst>
              <a:gd name="adj" fmla="val 20000"/>
            </a:avLst>
          </a:prstGeom>
          <a:solidFill>
            <a:srgbClr val="45289F"/>
          </a:solidFill>
          <a:ln w="12700">
            <a:solidFill>
              <a:srgbClr val="45289F"/>
            </a:solidFill>
            <a:prstDash val="solid"/>
          </a:ln>
        </p:spPr>
      </p:sp>
      <p:sp>
        <p:nvSpPr>
          <p:cNvPr id="85" name="Text 83"/>
          <p:cNvSpPr txBox="1"/>
          <p:nvPr/>
        </p:nvSpPr>
        <p:spPr>
          <a:xfrm>
            <a:off x="7400971" y="3867912"/>
            <a:ext cx="4178076" cy="274320"/>
          </a:xfrm>
          <a:prstGeom prst="rect">
            <a:avLst/>
          </a:prstGeom>
          <a:noFill/>
          <a:ln/>
        </p:spPr>
        <p:txBody>
          <a:bodyPr wrap="square" lIns="0" tIns="0" rIns="0" bIns="0" rtlCol="0" anchor="ctr"/>
          <a:lstStyle/>
          <a:p>
            <a:pPr indent="0" marL="0">
              <a:buNone/>
            </a:pPr>
            <a:r>
              <a:rPr lang="en-US" sz="1000" b="1" dirty="0">
                <a:solidFill>
                  <a:srgbClr val="FFFFFF"/>
                </a:solidFill>
              </a:rPr>
              <a:t>CERTAIN TRANSITION  ·  Weeks 7-10: export, map, trial loads</a:t>
            </a:r>
            <a:endParaRPr lang="en-US" sz="1000" dirty="0"/>
          </a:p>
        </p:txBody>
      </p:sp>
      <p:sp>
        <p:nvSpPr>
          <p:cNvPr id="86" name="transition-band-6"/>
          <p:cNvSpPr/>
          <p:nvPr/>
        </p:nvSpPr>
        <p:spPr>
          <a:xfrm>
            <a:off x="502920" y="6016752"/>
            <a:ext cx="2134758" cy="274320"/>
          </a:xfrm>
          <a:prstGeom prst="roundRect">
            <a:avLst>
              <a:gd name="adj" fmla="val 20000"/>
            </a:avLst>
          </a:prstGeom>
          <a:solidFill>
            <a:srgbClr val="45289F"/>
          </a:solidFill>
          <a:ln w="12700">
            <a:solidFill>
              <a:srgbClr val="45289F"/>
            </a:solidFill>
            <a:prstDash val="solid"/>
          </a:ln>
        </p:spPr>
      </p:sp>
      <p:sp>
        <p:nvSpPr>
          <p:cNvPr id="87" name="Text 85"/>
          <p:cNvSpPr txBox="1"/>
          <p:nvPr/>
        </p:nvSpPr>
        <p:spPr>
          <a:xfrm>
            <a:off x="612648" y="6016752"/>
            <a:ext cx="1915302" cy="274320"/>
          </a:xfrm>
          <a:prstGeom prst="rect">
            <a:avLst/>
          </a:prstGeom>
          <a:noFill/>
          <a:ln/>
        </p:spPr>
        <p:txBody>
          <a:bodyPr wrap="square" lIns="0" tIns="0" rIns="0" bIns="0" rtlCol="0" anchor="ctr"/>
          <a:lstStyle/>
          <a:p>
            <a:pPr indent="0" marL="0">
              <a:buNone/>
            </a:pPr>
            <a:r>
              <a:rPr lang="en-US" sz="1000" b="1" dirty="0">
                <a:solidFill>
                  <a:srgbClr val="FFFFFF"/>
                </a:solidFill>
              </a:rPr>
              <a:t>Weeks 11-12: cutover</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 dedicated five-person delivery pod</a:t>
            </a:r>
            <a:endParaRPr lang="en-US" sz="3200" dirty="0"/>
          </a:p>
        </p:txBody>
      </p:sp>
      <p:sp>
        <p:nvSpPr>
          <p:cNvPr id="3" name="Shape 1"/>
          <p:cNvSpPr/>
          <p:nvPr/>
        </p:nvSpPr>
        <p:spPr>
          <a:xfrm>
            <a:off x="502920" y="1691640"/>
            <a:ext cx="4023360" cy="4069080"/>
          </a:xfrm>
          <a:prstGeom prst="triangle">
            <a:avLst/>
          </a:prstGeom>
          <a:solidFill>
            <a:srgbClr val="FF0068"/>
          </a:solidFill>
          <a:ln w="12700">
            <a:solidFill>
              <a:srgbClr val="FF0068"/>
            </a:solidFill>
            <a:prstDash val="solid"/>
          </a:ln>
        </p:spPr>
      </p:sp>
      <p:sp>
        <p:nvSpPr>
          <p:cNvPr id="4" name="Shape 2"/>
          <p:cNvSpPr/>
          <p:nvPr/>
        </p:nvSpPr>
        <p:spPr>
          <a:xfrm>
            <a:off x="1173480" y="1691640"/>
            <a:ext cx="2682240" cy="2712720"/>
          </a:xfrm>
          <a:prstGeom prst="triangle">
            <a:avLst/>
          </a:prstGeom>
          <a:solidFill>
            <a:srgbClr val="D9B200"/>
          </a:solidFill>
          <a:ln w="12700">
            <a:solidFill>
              <a:srgbClr val="D9B200"/>
            </a:solidFill>
            <a:prstDash val="solid"/>
          </a:ln>
        </p:spPr>
      </p:sp>
      <p:sp>
        <p:nvSpPr>
          <p:cNvPr id="5" name="Shape 3"/>
          <p:cNvSpPr/>
          <p:nvPr/>
        </p:nvSpPr>
        <p:spPr>
          <a:xfrm>
            <a:off x="1844040" y="1691640"/>
            <a:ext cx="1341120" cy="1356360"/>
          </a:xfrm>
          <a:prstGeom prst="triangle">
            <a:avLst/>
          </a:prstGeom>
          <a:solidFill>
            <a:srgbClr val="00A9C0"/>
          </a:solidFill>
          <a:ln w="12700">
            <a:solidFill>
              <a:srgbClr val="00A9C0"/>
            </a:solidFill>
            <a:prstDash val="solid"/>
          </a:ln>
        </p:spPr>
      </p:sp>
      <p:sp>
        <p:nvSpPr>
          <p:cNvPr id="6" name="Shape 4"/>
          <p:cNvSpPr/>
          <p:nvPr/>
        </p:nvSpPr>
        <p:spPr>
          <a:xfrm>
            <a:off x="1798320" y="3048000"/>
            <a:ext cx="1432560" cy="0"/>
          </a:xfrm>
          <a:prstGeom prst="line">
            <a:avLst/>
          </a:prstGeom>
          <a:noFill/>
          <a:ln w="63500">
            <a:solidFill>
              <a:srgbClr val="FFFFFF"/>
            </a:solidFill>
            <a:prstDash val="solid"/>
          </a:ln>
        </p:spPr>
      </p:sp>
      <p:sp>
        <p:nvSpPr>
          <p:cNvPr id="7" name="Shape 5"/>
          <p:cNvSpPr/>
          <p:nvPr/>
        </p:nvSpPr>
        <p:spPr>
          <a:xfrm>
            <a:off x="1127760" y="4404360"/>
            <a:ext cx="2773680" cy="0"/>
          </a:xfrm>
          <a:prstGeom prst="line">
            <a:avLst/>
          </a:prstGeom>
          <a:noFill/>
          <a:ln w="63500">
            <a:solidFill>
              <a:srgbClr val="FFFFFF"/>
            </a:solidFill>
            <a:prstDash val="solid"/>
          </a:ln>
        </p:spPr>
      </p:sp>
      <p:sp>
        <p:nvSpPr>
          <p:cNvPr id="8" name="Text 6"/>
          <p:cNvSpPr txBox="1"/>
          <p:nvPr/>
        </p:nvSpPr>
        <p:spPr>
          <a:xfrm>
            <a:off x="1965960" y="248107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9" name="Text 7"/>
          <p:cNvSpPr txBox="1"/>
          <p:nvPr/>
        </p:nvSpPr>
        <p:spPr>
          <a:xfrm>
            <a:off x="1965960" y="374599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10" name="Text 8"/>
          <p:cNvSpPr txBox="1"/>
          <p:nvPr/>
        </p:nvSpPr>
        <p:spPr>
          <a:xfrm>
            <a:off x="1965960" y="5010912"/>
            <a:ext cx="1097280" cy="548640"/>
          </a:xfrm>
          <a:prstGeom prst="rect">
            <a:avLst/>
          </a:prstGeom>
          <a:noFill/>
          <a:ln/>
        </p:spPr>
        <p:txBody>
          <a:bodyPr wrap="square" lIns="0" tIns="0" rIns="0" bIns="0" rtlCol="0" anchor="ctr"/>
          <a:lstStyle/>
          <a:p>
            <a:pPr algn="ctr" indent="0" marL="0">
              <a:buNone/>
            </a:pPr>
            <a:r>
              <a:rPr lang="en-US" sz="3200" dirty="0">
                <a:solidFill>
                  <a:srgbClr val="FFFFFF"/>
                </a:solidFill>
                <a:latin typeface="Trenda IG Text Light" pitchFamily="34" charset="0"/>
                <a:ea typeface="Trenda IG Text Light" pitchFamily="34" charset="-122"/>
                <a:cs typeface="Trenda IG Text Light" pitchFamily="34" charset="-120"/>
              </a:rPr>
              <a:t>3</a:t>
            </a:r>
            <a:endParaRPr lang="en-US" sz="3200" dirty="0"/>
          </a:p>
        </p:txBody>
      </p:sp>
      <p:sp>
        <p:nvSpPr>
          <p:cNvPr id="11" name="Shape 9"/>
          <p:cNvSpPr/>
          <p:nvPr/>
        </p:nvSpPr>
        <p:spPr>
          <a:xfrm>
            <a:off x="2977280" y="2479548"/>
            <a:ext cx="1869040" cy="0"/>
          </a:xfrm>
          <a:prstGeom prst="line">
            <a:avLst/>
          </a:prstGeom>
          <a:noFill/>
          <a:ln w="12700">
            <a:solidFill>
              <a:srgbClr val="A0A0A8"/>
            </a:solidFill>
            <a:prstDash val="sysDot"/>
          </a:ln>
        </p:spPr>
      </p:sp>
      <p:sp>
        <p:nvSpPr>
          <p:cNvPr id="12" name="Shape 10"/>
          <p:cNvSpPr/>
          <p:nvPr/>
        </p:nvSpPr>
        <p:spPr>
          <a:xfrm>
            <a:off x="4846320" y="2433828"/>
            <a:ext cx="91440" cy="91440"/>
          </a:xfrm>
          <a:prstGeom prst="ellipse">
            <a:avLst/>
          </a:prstGeom>
          <a:solidFill>
            <a:srgbClr val="007C8C"/>
          </a:solidFill>
          <a:ln w="12700">
            <a:solidFill>
              <a:srgbClr val="007C8C"/>
            </a:solidFill>
            <a:prstDash val="solid"/>
          </a:ln>
        </p:spPr>
      </p:sp>
      <p:sp>
        <p:nvSpPr>
          <p:cNvPr id="13" name="Text 11"/>
          <p:cNvSpPr txBox="1"/>
          <p:nvPr/>
        </p:nvSpPr>
        <p:spPr>
          <a:xfrm>
            <a:off x="5029200" y="2095500"/>
            <a:ext cx="2926080" cy="201168"/>
          </a:xfrm>
          <a:prstGeom prst="rect">
            <a:avLst/>
          </a:prstGeom>
          <a:noFill/>
          <a:ln/>
        </p:spPr>
        <p:txBody>
          <a:bodyPr wrap="square" lIns="0" tIns="0" rIns="0" bIns="0" rtlCol="0" anchor="t"/>
          <a:lstStyle/>
          <a:p>
            <a:pPr indent="0" marL="0">
              <a:buNone/>
            </a:pPr>
            <a:r>
              <a:rPr lang="en-US" sz="950" b="1" spc="200" kern="0" dirty="0">
                <a:solidFill>
                  <a:srgbClr val="007C8C"/>
                </a:solidFill>
              </a:rPr>
              <a:t>LEAD</a:t>
            </a:r>
            <a:endParaRPr lang="en-US" sz="950" dirty="0"/>
          </a:p>
        </p:txBody>
      </p:sp>
      <p:sp>
        <p:nvSpPr>
          <p:cNvPr id="14" name="Text 12"/>
          <p:cNvSpPr txBox="1"/>
          <p:nvPr/>
        </p:nvSpPr>
        <p:spPr>
          <a:xfrm>
            <a:off x="5029200" y="2296668"/>
            <a:ext cx="2926080" cy="457200"/>
          </a:xfrm>
          <a:prstGeom prst="rect">
            <a:avLst/>
          </a:prstGeom>
          <a:noFill/>
          <a:ln/>
        </p:spPr>
        <p:txBody>
          <a:bodyPr wrap="square" lIns="0" tIns="0" rIns="0" bIns="0" rtlCol="0" anchor="t"/>
          <a:lstStyle/>
          <a:p>
            <a:pPr indent="0" marL="0">
              <a:buNone/>
            </a:pPr>
            <a:r>
              <a:rPr lang="en-US" sz="1300" b="1" dirty="0">
                <a:solidFill>
                  <a:srgbClr val="000000"/>
                </a:solidFill>
              </a:rPr>
              <a:t>Scrum Master or Project Manager</a:t>
            </a:r>
            <a:endParaRPr lang="en-US" sz="1300" dirty="0"/>
          </a:p>
        </p:txBody>
      </p:sp>
      <p:sp>
        <p:nvSpPr>
          <p:cNvPr id="15" name="Text 13"/>
          <p:cNvSpPr txBox="1"/>
          <p:nvPr/>
        </p:nvSpPr>
        <p:spPr>
          <a:xfrm>
            <a:off x="5029200" y="2570988"/>
            <a:ext cx="2926080" cy="411480"/>
          </a:xfrm>
          <a:prstGeom prst="rect">
            <a:avLst/>
          </a:prstGeom>
          <a:noFill/>
          <a:ln/>
        </p:spPr>
        <p:txBody>
          <a:bodyPr wrap="square" lIns="0" tIns="0" rIns="0" bIns="0" rtlCol="0" anchor="t"/>
          <a:lstStyle/>
          <a:p>
            <a:pPr indent="0" marL="0">
              <a:buNone/>
            </a:pPr>
            <a:r>
              <a:rPr lang="en-US" sz="1050" dirty="0">
                <a:solidFill>
                  <a:srgbClr val="4D4D4D"/>
                </a:solidFill>
              </a:rPr>
              <a:t>Runs sprints, milestones, risks and status</a:t>
            </a:r>
            <a:endParaRPr lang="en-US" sz="1050" dirty="0"/>
          </a:p>
        </p:txBody>
      </p:sp>
      <p:sp>
        <p:nvSpPr>
          <p:cNvPr id="16" name="Shape 14"/>
          <p:cNvSpPr/>
          <p:nvPr/>
        </p:nvSpPr>
        <p:spPr>
          <a:xfrm>
            <a:off x="3593592" y="3726180"/>
            <a:ext cx="1252728" cy="0"/>
          </a:xfrm>
          <a:prstGeom prst="line">
            <a:avLst/>
          </a:prstGeom>
          <a:noFill/>
          <a:ln w="12700">
            <a:solidFill>
              <a:srgbClr val="A0A0A8"/>
            </a:solidFill>
            <a:prstDash val="sysDot"/>
          </a:ln>
        </p:spPr>
      </p:sp>
      <p:sp>
        <p:nvSpPr>
          <p:cNvPr id="17" name="Shape 15"/>
          <p:cNvSpPr/>
          <p:nvPr/>
        </p:nvSpPr>
        <p:spPr>
          <a:xfrm>
            <a:off x="4846320" y="3680460"/>
            <a:ext cx="91440" cy="91440"/>
          </a:xfrm>
          <a:prstGeom prst="ellipse">
            <a:avLst/>
          </a:prstGeom>
          <a:solidFill>
            <a:srgbClr val="7A6100"/>
          </a:solidFill>
          <a:ln w="12700">
            <a:solidFill>
              <a:srgbClr val="7A6100"/>
            </a:solidFill>
            <a:prstDash val="solid"/>
          </a:ln>
        </p:spPr>
      </p:sp>
      <p:sp>
        <p:nvSpPr>
          <p:cNvPr id="18" name="Text 16"/>
          <p:cNvSpPr txBox="1"/>
          <p:nvPr/>
        </p:nvSpPr>
        <p:spPr>
          <a:xfrm>
            <a:off x="5029200" y="3342132"/>
            <a:ext cx="2926080" cy="201168"/>
          </a:xfrm>
          <a:prstGeom prst="rect">
            <a:avLst/>
          </a:prstGeom>
          <a:noFill/>
          <a:ln/>
        </p:spPr>
        <p:txBody>
          <a:bodyPr wrap="square" lIns="0" tIns="0" rIns="0" bIns="0" rtlCol="0" anchor="t"/>
          <a:lstStyle/>
          <a:p>
            <a:pPr indent="0" marL="0">
              <a:buNone/>
            </a:pPr>
            <a:r>
              <a:rPr lang="en-US" sz="950" b="1" spc="200" kern="0" dirty="0">
                <a:solidFill>
                  <a:srgbClr val="7A6100"/>
                </a:solidFill>
              </a:rPr>
              <a:t>QUALITY</a:t>
            </a:r>
            <a:endParaRPr lang="en-US" sz="950" dirty="0"/>
          </a:p>
        </p:txBody>
      </p:sp>
      <p:sp>
        <p:nvSpPr>
          <p:cNvPr id="19" name="Text 17"/>
          <p:cNvSpPr txBox="1"/>
          <p:nvPr/>
        </p:nvSpPr>
        <p:spPr>
          <a:xfrm>
            <a:off x="5029200" y="354330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QA Engineer</a:t>
            </a:r>
            <a:endParaRPr lang="en-US" sz="1300" dirty="0"/>
          </a:p>
        </p:txBody>
      </p:sp>
      <p:sp>
        <p:nvSpPr>
          <p:cNvPr id="20" name="Text 18"/>
          <p:cNvSpPr txBox="1"/>
          <p:nvPr/>
        </p:nvSpPr>
        <p:spPr>
          <a:xfrm>
            <a:off x="5029200" y="3817620"/>
            <a:ext cx="2926080" cy="411480"/>
          </a:xfrm>
          <a:prstGeom prst="rect">
            <a:avLst/>
          </a:prstGeom>
          <a:noFill/>
          <a:ln/>
        </p:spPr>
        <p:txBody>
          <a:bodyPr wrap="square" lIns="0" tIns="0" rIns="0" bIns="0" rtlCol="0" anchor="t"/>
          <a:lstStyle/>
          <a:p>
            <a:pPr indent="0" marL="0">
              <a:buNone/>
            </a:pPr>
            <a:r>
              <a:rPr lang="en-US" sz="1050" dirty="0">
                <a:solidFill>
                  <a:srgbClr val="4D4D4D"/>
                </a:solidFill>
              </a:rPr>
              <a:t>Test plans, automation, load tests, user testing support</a:t>
            </a:r>
            <a:endParaRPr lang="en-US" sz="1050" dirty="0"/>
          </a:p>
        </p:txBody>
      </p:sp>
      <p:sp>
        <p:nvSpPr>
          <p:cNvPr id="21" name="Shape 19"/>
          <p:cNvSpPr/>
          <p:nvPr/>
        </p:nvSpPr>
        <p:spPr>
          <a:xfrm>
            <a:off x="4264152" y="5082540"/>
            <a:ext cx="582168" cy="0"/>
          </a:xfrm>
          <a:prstGeom prst="line">
            <a:avLst/>
          </a:prstGeom>
          <a:noFill/>
          <a:ln w="12700">
            <a:solidFill>
              <a:srgbClr val="A0A0A8"/>
            </a:solidFill>
            <a:prstDash val="sysDot"/>
          </a:ln>
        </p:spPr>
      </p:sp>
      <p:sp>
        <p:nvSpPr>
          <p:cNvPr id="22" name="Shape 20"/>
          <p:cNvSpPr/>
          <p:nvPr/>
        </p:nvSpPr>
        <p:spPr>
          <a:xfrm>
            <a:off x="4846320" y="5036820"/>
            <a:ext cx="91440" cy="91440"/>
          </a:xfrm>
          <a:prstGeom prst="ellipse">
            <a:avLst/>
          </a:prstGeom>
          <a:solidFill>
            <a:srgbClr val="C8005A"/>
          </a:solidFill>
          <a:ln w="12700">
            <a:solidFill>
              <a:srgbClr val="C8005A"/>
            </a:solidFill>
            <a:prstDash val="solid"/>
          </a:ln>
        </p:spPr>
      </p:sp>
      <p:sp>
        <p:nvSpPr>
          <p:cNvPr id="23" name="Text 21"/>
          <p:cNvSpPr txBox="1"/>
          <p:nvPr/>
        </p:nvSpPr>
        <p:spPr>
          <a:xfrm>
            <a:off x="5029200" y="4698492"/>
            <a:ext cx="2926080" cy="201168"/>
          </a:xfrm>
          <a:prstGeom prst="rect">
            <a:avLst/>
          </a:prstGeom>
          <a:noFill/>
          <a:ln/>
        </p:spPr>
        <p:txBody>
          <a:bodyPr wrap="square" lIns="0" tIns="0" rIns="0" bIns="0" rtlCol="0" anchor="t"/>
          <a:lstStyle/>
          <a:p>
            <a:pPr indent="0" marL="0">
              <a:buNone/>
            </a:pPr>
            <a:r>
              <a:rPr lang="en-US" sz="950" b="1" spc="200" kern="0" dirty="0">
                <a:solidFill>
                  <a:srgbClr val="C8005A"/>
                </a:solidFill>
              </a:rPr>
              <a:t>BUILD</a:t>
            </a:r>
            <a:endParaRPr lang="en-US" sz="950" dirty="0"/>
          </a:p>
        </p:txBody>
      </p:sp>
      <p:sp>
        <p:nvSpPr>
          <p:cNvPr id="24" name="Text 22"/>
          <p:cNvSpPr txBox="1"/>
          <p:nvPr/>
        </p:nvSpPr>
        <p:spPr>
          <a:xfrm>
            <a:off x="5029200" y="489966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2 Salesforce Developers + 1 Marketing Cloud Developer</a:t>
            </a:r>
            <a:endParaRPr lang="en-US" sz="1300" dirty="0"/>
          </a:p>
        </p:txBody>
      </p:sp>
      <p:sp>
        <p:nvSpPr>
          <p:cNvPr id="25" name="Text 23"/>
          <p:cNvSpPr txBox="1"/>
          <p:nvPr/>
        </p:nvSpPr>
        <p:spPr>
          <a:xfrm>
            <a:off x="5029200" y="5356860"/>
            <a:ext cx="2926080" cy="411480"/>
          </a:xfrm>
          <a:prstGeom prst="rect">
            <a:avLst/>
          </a:prstGeom>
          <a:noFill/>
          <a:ln/>
        </p:spPr>
        <p:txBody>
          <a:bodyPr wrap="square" lIns="0" tIns="0" rIns="0" bIns="0" rtlCol="0" anchor="t"/>
          <a:lstStyle/>
          <a:p>
            <a:pPr indent="0" marL="0">
              <a:buNone/>
            </a:pPr>
            <a:r>
              <a:rPr lang="en-US" sz="1050" dirty="0">
                <a:solidFill>
                  <a:srgbClr val="4D4D4D"/>
                </a:solidFill>
              </a:rPr>
              <a:t>Event app, registration, payments, integrations, journeys and PEIs</a:t>
            </a:r>
            <a:endParaRPr lang="en-US" sz="1050" dirty="0"/>
          </a:p>
        </p:txBody>
      </p:sp>
      <p:sp>
        <p:nvSpPr>
          <p:cNvPr id="26" name="Shape 24"/>
          <p:cNvSpPr/>
          <p:nvPr/>
        </p:nvSpPr>
        <p:spPr>
          <a:xfrm>
            <a:off x="8183880" y="1691640"/>
            <a:ext cx="3502152" cy="4069080"/>
          </a:xfrm>
          <a:prstGeom prst="roundRect">
            <a:avLst>
              <a:gd name="adj" fmla="val 3133"/>
            </a:avLst>
          </a:prstGeom>
          <a:solidFill>
            <a:srgbClr val="F2F2F2"/>
          </a:solidFill>
          <a:ln w="12700">
            <a:solidFill>
              <a:srgbClr val="D0D0D6"/>
            </a:solidFill>
            <a:prstDash val="solid"/>
          </a:ln>
        </p:spPr>
      </p:sp>
      <p:sp>
        <p:nvSpPr>
          <p:cNvPr id="27" name="Text 25"/>
          <p:cNvSpPr txBox="1"/>
          <p:nvPr/>
        </p:nvSpPr>
        <p:spPr>
          <a:xfrm>
            <a:off x="8366760" y="1828800"/>
            <a:ext cx="3136392" cy="292608"/>
          </a:xfrm>
          <a:prstGeom prst="rect">
            <a:avLst/>
          </a:prstGeom>
          <a:noFill/>
          <a:ln/>
        </p:spPr>
        <p:txBody>
          <a:bodyPr wrap="square" lIns="0" tIns="0" rIns="0" bIns="0" rtlCol="0" anchor="t"/>
          <a:lstStyle/>
          <a:p>
            <a:pPr indent="0" marL="0">
              <a:buNone/>
            </a:pPr>
            <a:r>
              <a:rPr lang="en-US" sz="1500" b="1" dirty="0">
                <a:solidFill>
                  <a:srgbClr val="000000"/>
                </a:solidFill>
              </a:rPr>
              <a:t>Every two-week sprint</a:t>
            </a:r>
            <a:endParaRPr lang="en-US" sz="1500" dirty="0"/>
          </a:p>
        </p:txBody>
      </p:sp>
      <p:sp>
        <p:nvSpPr>
          <p:cNvPr id="28" name="Shape 26"/>
          <p:cNvSpPr/>
          <p:nvPr/>
        </p:nvSpPr>
        <p:spPr>
          <a:xfrm>
            <a:off x="8366760" y="2286000"/>
            <a:ext cx="384048" cy="384048"/>
          </a:xfrm>
          <a:prstGeom prst="ellipse">
            <a:avLst/>
          </a:prstGeom>
          <a:solidFill>
            <a:srgbClr val="FFFFFF"/>
          </a:solidFill>
          <a:ln w="12700">
            <a:solidFill>
              <a:srgbClr val="C8C8CE"/>
            </a:solidFill>
            <a:prstDash val="solid"/>
          </a:ln>
        </p:spPr>
      </p:sp>
      <p:pic>
        <p:nvPicPr>
          <p:cNvPr id="29" name="Image 0" descr="preencoded.png">    </p:cNvPr>
          <p:cNvPicPr>
            <a:picLocks noChangeAspect="1"/>
          </p:cNvPicPr>
          <p:nvPr/>
        </p:nvPicPr>
        <p:blipFill>
          <a:blip r:embed="rId1"/>
          <a:stretch>
            <a:fillRect/>
          </a:stretch>
        </p:blipFill>
        <p:spPr>
          <a:xfrm>
            <a:off x="8467344" y="2386584"/>
            <a:ext cx="182880" cy="182880"/>
          </a:xfrm>
          <a:prstGeom prst="rect">
            <a:avLst/>
          </a:prstGeom>
        </p:spPr>
      </p:pic>
      <p:sp>
        <p:nvSpPr>
          <p:cNvPr id="30" name="Text 27"/>
          <p:cNvSpPr txBox="1"/>
          <p:nvPr/>
        </p:nvSpPr>
        <p:spPr>
          <a:xfrm>
            <a:off x="8869680" y="2267712"/>
            <a:ext cx="2633472" cy="219456"/>
          </a:xfrm>
          <a:prstGeom prst="rect">
            <a:avLst/>
          </a:prstGeom>
          <a:noFill/>
          <a:ln/>
        </p:spPr>
        <p:txBody>
          <a:bodyPr wrap="square" lIns="0" tIns="0" rIns="0" bIns="0" rtlCol="0" anchor="t"/>
          <a:lstStyle/>
          <a:p>
            <a:pPr indent="0" marL="0">
              <a:buNone/>
            </a:pPr>
            <a:r>
              <a:rPr lang="en-US" sz="1200" b="1" dirty="0">
                <a:solidFill>
                  <a:srgbClr val="000000"/>
                </a:solidFill>
              </a:rPr>
              <a:t>Plan</a:t>
            </a:r>
            <a:endParaRPr lang="en-US" sz="1200" dirty="0"/>
          </a:p>
        </p:txBody>
      </p:sp>
      <p:sp>
        <p:nvSpPr>
          <p:cNvPr id="31" name="Text 28"/>
          <p:cNvSpPr txBox="1"/>
          <p:nvPr/>
        </p:nvSpPr>
        <p:spPr>
          <a:xfrm>
            <a:off x="8869680" y="2487168"/>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planning with your product owner</a:t>
            </a:r>
            <a:endParaRPr lang="en-US" sz="1050" dirty="0"/>
          </a:p>
        </p:txBody>
      </p:sp>
      <p:sp>
        <p:nvSpPr>
          <p:cNvPr id="32" name="Shape 29"/>
          <p:cNvSpPr/>
          <p:nvPr/>
        </p:nvSpPr>
        <p:spPr>
          <a:xfrm>
            <a:off x="8366760" y="2944368"/>
            <a:ext cx="384048" cy="384048"/>
          </a:xfrm>
          <a:prstGeom prst="ellipse">
            <a:avLst/>
          </a:prstGeom>
          <a:solidFill>
            <a:srgbClr val="FFFFFF"/>
          </a:solidFill>
          <a:ln w="12700">
            <a:solidFill>
              <a:srgbClr val="C8C8CE"/>
            </a:solidFill>
            <a:prstDash val="solid"/>
          </a:ln>
        </p:spPr>
      </p:sp>
      <p:pic>
        <p:nvPicPr>
          <p:cNvPr id="33" name="Image 1" descr="preencoded.png">    </p:cNvPr>
          <p:cNvPicPr>
            <a:picLocks noChangeAspect="1"/>
          </p:cNvPicPr>
          <p:nvPr/>
        </p:nvPicPr>
        <p:blipFill>
          <a:blip r:embed="rId2"/>
          <a:stretch>
            <a:fillRect/>
          </a:stretch>
        </p:blipFill>
        <p:spPr>
          <a:xfrm>
            <a:off x="8467344" y="3044952"/>
            <a:ext cx="182880" cy="182880"/>
          </a:xfrm>
          <a:prstGeom prst="rect">
            <a:avLst/>
          </a:prstGeom>
        </p:spPr>
      </p:pic>
      <p:sp>
        <p:nvSpPr>
          <p:cNvPr id="34" name="Text 30"/>
          <p:cNvSpPr txBox="1"/>
          <p:nvPr/>
        </p:nvSpPr>
        <p:spPr>
          <a:xfrm>
            <a:off x="8869680" y="2926080"/>
            <a:ext cx="2633472" cy="219456"/>
          </a:xfrm>
          <a:prstGeom prst="rect">
            <a:avLst/>
          </a:prstGeom>
          <a:noFill/>
          <a:ln/>
        </p:spPr>
        <p:txBody>
          <a:bodyPr wrap="square" lIns="0" tIns="0" rIns="0" bIns="0" rtlCol="0" anchor="t"/>
          <a:lstStyle/>
          <a:p>
            <a:pPr indent="0" marL="0">
              <a:buNone/>
            </a:pPr>
            <a:r>
              <a:rPr lang="en-US" sz="1200" b="1" dirty="0">
                <a:solidFill>
                  <a:srgbClr val="000000"/>
                </a:solidFill>
              </a:rPr>
              <a:t>Build and test</a:t>
            </a:r>
            <a:endParaRPr lang="en-US" sz="1200" dirty="0"/>
          </a:p>
        </p:txBody>
      </p:sp>
      <p:sp>
        <p:nvSpPr>
          <p:cNvPr id="35" name="Text 31"/>
          <p:cNvSpPr txBox="1"/>
          <p:nvPr/>
        </p:nvSpPr>
        <p:spPr>
          <a:xfrm>
            <a:off x="8869680" y="3145536"/>
            <a:ext cx="2633472" cy="329184"/>
          </a:xfrm>
          <a:prstGeom prst="rect">
            <a:avLst/>
          </a:prstGeom>
          <a:noFill/>
          <a:ln/>
        </p:spPr>
        <p:txBody>
          <a:bodyPr wrap="square" lIns="0" tIns="0" rIns="0" bIns="0" rtlCol="0" anchor="t"/>
          <a:lstStyle/>
          <a:p>
            <a:pPr indent="0" marL="0">
              <a:buNone/>
            </a:pPr>
            <a:r>
              <a:rPr lang="en-US" sz="1050" dirty="0">
                <a:solidFill>
                  <a:srgbClr val="4D4D4D"/>
                </a:solidFill>
              </a:rPr>
              <a:t>Daily stand-ups; QA inside the sprint</a:t>
            </a:r>
            <a:endParaRPr lang="en-US" sz="1050" dirty="0"/>
          </a:p>
        </p:txBody>
      </p:sp>
      <p:sp>
        <p:nvSpPr>
          <p:cNvPr id="36" name="Shape 32"/>
          <p:cNvSpPr/>
          <p:nvPr/>
        </p:nvSpPr>
        <p:spPr>
          <a:xfrm>
            <a:off x="8366760" y="3602736"/>
            <a:ext cx="384048" cy="384048"/>
          </a:xfrm>
          <a:prstGeom prst="ellipse">
            <a:avLst/>
          </a:prstGeom>
          <a:solidFill>
            <a:srgbClr val="FFFFFF"/>
          </a:solidFill>
          <a:ln w="12700">
            <a:solidFill>
              <a:srgbClr val="C8C8CE"/>
            </a:solidFill>
            <a:prstDash val="solid"/>
          </a:ln>
        </p:spPr>
      </p:sp>
      <p:pic>
        <p:nvPicPr>
          <p:cNvPr id="37" name="Image 2" descr="preencoded.png">    </p:cNvPr>
          <p:cNvPicPr>
            <a:picLocks noChangeAspect="1"/>
          </p:cNvPicPr>
          <p:nvPr/>
        </p:nvPicPr>
        <p:blipFill>
          <a:blip r:embed="rId3"/>
          <a:stretch>
            <a:fillRect/>
          </a:stretch>
        </p:blipFill>
        <p:spPr>
          <a:xfrm>
            <a:off x="8467344" y="3703320"/>
            <a:ext cx="182880" cy="182880"/>
          </a:xfrm>
          <a:prstGeom prst="rect">
            <a:avLst/>
          </a:prstGeom>
        </p:spPr>
      </p:pic>
      <p:sp>
        <p:nvSpPr>
          <p:cNvPr id="38" name="Text 33"/>
          <p:cNvSpPr txBox="1"/>
          <p:nvPr/>
        </p:nvSpPr>
        <p:spPr>
          <a:xfrm>
            <a:off x="8869680" y="3584448"/>
            <a:ext cx="2633472" cy="219456"/>
          </a:xfrm>
          <a:prstGeom prst="rect">
            <a:avLst/>
          </a:prstGeom>
          <a:noFill/>
          <a:ln/>
        </p:spPr>
        <p:txBody>
          <a:bodyPr wrap="square" lIns="0" tIns="0" rIns="0" bIns="0" rtlCol="0" anchor="t"/>
          <a:lstStyle/>
          <a:p>
            <a:pPr indent="0" marL="0">
              <a:buNone/>
            </a:pPr>
            <a:r>
              <a:rPr lang="en-US" sz="1200" b="1" dirty="0">
                <a:solidFill>
                  <a:srgbClr val="000000"/>
                </a:solidFill>
              </a:rPr>
              <a:t>Demo</a:t>
            </a:r>
            <a:endParaRPr lang="en-US" sz="1200" dirty="0"/>
          </a:p>
        </p:txBody>
      </p:sp>
      <p:sp>
        <p:nvSpPr>
          <p:cNvPr id="39" name="Text 34"/>
          <p:cNvSpPr txBox="1"/>
          <p:nvPr/>
        </p:nvSpPr>
        <p:spPr>
          <a:xfrm>
            <a:off x="8869680" y="3803904"/>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review and milestone sign-off</a:t>
            </a:r>
            <a:endParaRPr lang="en-US" sz="1050" dirty="0"/>
          </a:p>
        </p:txBody>
      </p:sp>
      <p:sp>
        <p:nvSpPr>
          <p:cNvPr id="40" name="Shape 35"/>
          <p:cNvSpPr/>
          <p:nvPr/>
        </p:nvSpPr>
        <p:spPr>
          <a:xfrm>
            <a:off x="8366760" y="4261104"/>
            <a:ext cx="384048" cy="384048"/>
          </a:xfrm>
          <a:prstGeom prst="ellipse">
            <a:avLst/>
          </a:prstGeom>
          <a:solidFill>
            <a:srgbClr val="FFFFFF"/>
          </a:solidFill>
          <a:ln w="12700">
            <a:solidFill>
              <a:srgbClr val="C8C8CE"/>
            </a:solidFill>
            <a:prstDash val="solid"/>
          </a:ln>
        </p:spPr>
      </p:sp>
      <p:pic>
        <p:nvPicPr>
          <p:cNvPr id="41" name="Image 3" descr="preencoded.png">    </p:cNvPr>
          <p:cNvPicPr>
            <a:picLocks noChangeAspect="1"/>
          </p:cNvPicPr>
          <p:nvPr/>
        </p:nvPicPr>
        <p:blipFill>
          <a:blip r:embed="rId4"/>
          <a:stretch>
            <a:fillRect/>
          </a:stretch>
        </p:blipFill>
        <p:spPr>
          <a:xfrm>
            <a:off x="8467344" y="4361688"/>
            <a:ext cx="182880" cy="182880"/>
          </a:xfrm>
          <a:prstGeom prst="rect">
            <a:avLst/>
          </a:prstGeom>
        </p:spPr>
      </p:pic>
      <p:sp>
        <p:nvSpPr>
          <p:cNvPr id="42" name="Text 36"/>
          <p:cNvSpPr txBox="1"/>
          <p:nvPr/>
        </p:nvSpPr>
        <p:spPr>
          <a:xfrm>
            <a:off x="8869680" y="4242816"/>
            <a:ext cx="2633472" cy="219456"/>
          </a:xfrm>
          <a:prstGeom prst="rect">
            <a:avLst/>
          </a:prstGeom>
          <a:noFill/>
          <a:ln/>
        </p:spPr>
        <p:txBody>
          <a:bodyPr wrap="square" lIns="0" tIns="0" rIns="0" bIns="0" rtlCol="0" anchor="t"/>
          <a:lstStyle/>
          <a:p>
            <a:pPr indent="0" marL="0">
              <a:buNone/>
            </a:pPr>
            <a:r>
              <a:rPr lang="en-US" sz="1200" b="1" dirty="0">
                <a:solidFill>
                  <a:srgbClr val="000000"/>
                </a:solidFill>
              </a:rPr>
              <a:t>Improve</a:t>
            </a:r>
            <a:endParaRPr lang="en-US" sz="1200" dirty="0"/>
          </a:p>
        </p:txBody>
      </p:sp>
      <p:sp>
        <p:nvSpPr>
          <p:cNvPr id="43" name="Text 37"/>
          <p:cNvSpPr txBox="1"/>
          <p:nvPr/>
        </p:nvSpPr>
        <p:spPr>
          <a:xfrm>
            <a:off x="8869680" y="4462272"/>
            <a:ext cx="2633472" cy="329184"/>
          </a:xfrm>
          <a:prstGeom prst="rect">
            <a:avLst/>
          </a:prstGeom>
          <a:noFill/>
          <a:ln/>
        </p:spPr>
        <p:txBody>
          <a:bodyPr wrap="square" lIns="0" tIns="0" rIns="0" bIns="0" rtlCol="0" anchor="t"/>
          <a:lstStyle/>
          <a:p>
            <a:pPr indent="0" marL="0">
              <a:buNone/>
            </a:pPr>
            <a:r>
              <a:rPr lang="en-US" sz="1050" dirty="0">
                <a:solidFill>
                  <a:srgbClr val="4D4D4D"/>
                </a:solidFill>
              </a:rPr>
              <a:t>Retrospective; adjust the next sprint</a:t>
            </a:r>
            <a:endParaRPr lang="en-US" sz="1050" dirty="0"/>
          </a:p>
        </p:txBody>
      </p:sp>
      <p:sp>
        <p:nvSpPr>
          <p:cNvPr id="44" name="Text 38"/>
          <p:cNvSpPr txBox="1"/>
          <p:nvPr/>
        </p:nvSpPr>
        <p:spPr>
          <a:xfrm>
            <a:off x="8366760" y="4956048"/>
            <a:ext cx="3136392" cy="201168"/>
          </a:xfrm>
          <a:prstGeom prst="rect">
            <a:avLst/>
          </a:prstGeom>
          <a:noFill/>
          <a:ln/>
        </p:spPr>
        <p:txBody>
          <a:bodyPr wrap="square" lIns="0" tIns="0" rIns="0" bIns="0" rtlCol="0" anchor="t"/>
          <a:lstStyle/>
          <a:p>
            <a:pPr indent="0" marL="0">
              <a:buNone/>
            </a:pPr>
            <a:r>
              <a:rPr lang="en-US" sz="900" b="1" spc="200" kern="0" dirty="0">
                <a:solidFill>
                  <a:srgbClr val="007C8C"/>
                </a:solidFill>
              </a:rPr>
              <a:t>FROM MEMORIAL HERMANN</a:t>
            </a:r>
            <a:endParaRPr lang="en-US" sz="900" dirty="0"/>
          </a:p>
        </p:txBody>
      </p:sp>
      <p:sp>
        <p:nvSpPr>
          <p:cNvPr id="45" name="Text 39"/>
          <p:cNvSpPr txBox="1"/>
          <p:nvPr/>
        </p:nvSpPr>
        <p:spPr>
          <a:xfrm>
            <a:off x="8366760" y="5175504"/>
            <a:ext cx="3090672" cy="457200"/>
          </a:xfrm>
          <a:prstGeom prst="rect">
            <a:avLst/>
          </a:prstGeom>
          <a:noFill/>
          <a:ln/>
        </p:spPr>
        <p:txBody>
          <a:bodyPr wrap="square" lIns="0" tIns="0" rIns="0" bIns="0" rtlCol="0" anchor="t"/>
          <a:lstStyle/>
          <a:p>
            <a:pPr indent="0" marL="0">
              <a:buNone/>
            </a:pPr>
            <a:r>
              <a:rPr lang="en-US" sz="1050" dirty="0">
                <a:solidFill>
                  <a:srgbClr val="000000"/>
                </a:solidFill>
              </a:rPr>
              <a:t>A product owner, plus an Epic and app contact from Lucky Rai’s team</a:t>
            </a:r>
            <a:endParaRPr lang="en-US" sz="1050" dirty="0"/>
          </a:p>
        </p:txBody>
      </p:sp>
      <p:sp>
        <p:nvSpPr>
          <p:cNvPr id="46" name="Text 40"/>
          <p:cNvSpPr txBox="1"/>
          <p:nvPr/>
        </p:nvSpPr>
        <p:spPr>
          <a:xfrm>
            <a:off x="502920" y="5897880"/>
            <a:ext cx="4023360" cy="274320"/>
          </a:xfrm>
          <a:prstGeom prst="rect">
            <a:avLst/>
          </a:prstGeom>
          <a:noFill/>
          <a:ln/>
        </p:spPr>
        <p:txBody>
          <a:bodyPr wrap="square" lIns="0" tIns="0" rIns="0" bIns="0" rtlCol="0" anchor="t"/>
          <a:lstStyle/>
          <a:p>
            <a:pPr algn="ctr" indent="0" marL="0">
              <a:buNone/>
            </a:pPr>
            <a:r>
              <a:rPr lang="en-US" sz="1300" b="1" dirty="0">
                <a:solidFill>
                  <a:srgbClr val="000000"/>
                </a:solidFill>
              </a:rPr>
              <a:t>5 people  ·  10 sprints  ·  20 weeks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02920" y="228600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3-12</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and badges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Classes improved</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Weeks 13-20</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Shared event model</a:t>
            </a:r>
            <a:endParaRPr lang="en-US" sz="1400" dirty="0"/>
          </a:p>
          <a:p>
            <a:pPr marL="342900" indent="-342900">
              <a:spcAft>
                <a:spcPts val="600"/>
              </a:spcAft>
              <a:buSzPct val="100000"/>
              <a:buChar char="•"/>
            </a:pPr>
            <a:r>
              <a:rPr lang="en-US" sz="1400" dirty="0">
                <a:solidFill>
                  <a:srgbClr val="4D4D4D"/>
                </a:solidFill>
              </a:rPr>
              <a:t>Instant confirmation, waitlists</a:t>
            </a:r>
            <a:endParaRPr lang="en-US" sz="1400" dirty="0"/>
          </a:p>
          <a:p>
            <a:pPr marL="342900" indent="-342900">
              <a:spcAft>
                <a:spcPts val="600"/>
              </a:spcAft>
              <a:buSzPct val="100000"/>
              <a:buChar char="•"/>
            </a:pPr>
            <a:r>
              <a:rPr lang="en-US" sz="1400" dirty="0">
                <a:solidFill>
                  <a:srgbClr val="4D4D4D"/>
                </a:solidFill>
              </a:rPr>
              <a:t>Check-in and reporting</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From Phase 2 go-live</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adoption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Week 21+</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app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Phases 1 and 2 solve today’s problem. Phases 3 and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app,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Investment</a:t>
            </a:r>
            <a:endParaRPr lang="en-US" sz="3200" dirty="0"/>
          </a:p>
        </p:txBody>
      </p:sp>
      <p:sp>
        <p:nvSpPr>
          <p:cNvPr id="3" name="Text 1"/>
          <p:cNvSpPr txBox="1"/>
          <p:nvPr/>
        </p:nvSpPr>
        <p:spPr>
          <a:xfrm>
            <a:off x="502920" y="1298448"/>
            <a:ext cx="8229600" cy="292608"/>
          </a:xfrm>
          <a:prstGeom prst="rect">
            <a:avLst/>
          </a:prstGeom>
          <a:noFill/>
          <a:ln/>
        </p:spPr>
        <p:txBody>
          <a:bodyPr wrap="square" lIns="0" tIns="0" rIns="0" bIns="0" rtlCol="0" anchor="t"/>
          <a:lstStyle/>
          <a:p>
            <a:pPr indent="0" marL="0">
              <a:buNone/>
            </a:pPr>
            <a:r>
              <a:rPr lang="en-US" sz="1400" dirty="0">
                <a:solidFill>
                  <a:srgbClr val="4D4D4D"/>
                </a:solidFill>
              </a:rPr>
              <a:t>Offshore delivery model: fixed scope, five-person pod, 10 sprints</a:t>
            </a:r>
            <a:endParaRPr lang="en-US" sz="1400" dirty="0"/>
          </a:p>
        </p:txBody>
      </p:sp>
      <p:sp>
        <p:nvSpPr>
          <p:cNvPr id="4" name="price-card"/>
          <p:cNvSpPr/>
          <p:nvPr/>
        </p:nvSpPr>
        <p:spPr>
          <a:xfrm>
            <a:off x="502920" y="1783080"/>
            <a:ext cx="4206240" cy="4069080"/>
          </a:xfrm>
          <a:prstGeom prst="roundRect">
            <a:avLst>
              <a:gd name="adj" fmla="val 3146"/>
            </a:avLst>
          </a:prstGeom>
          <a:solidFill>
            <a:srgbClr val="000000"/>
          </a:solidFill>
          <a:ln w="12700">
            <a:solidFill>
              <a:srgbClr val="000000"/>
            </a:solidFill>
            <a:prstDash val="solid"/>
          </a:ln>
        </p:spPr>
      </p:sp>
      <p:sp>
        <p:nvSpPr>
          <p:cNvPr id="5" name="Shape 3"/>
          <p:cNvSpPr/>
          <p:nvPr/>
        </p:nvSpPr>
        <p:spPr>
          <a:xfrm>
            <a:off x="3291840" y="2057400"/>
            <a:ext cx="1097280" cy="292608"/>
          </a:xfrm>
          <a:prstGeom prst="roundRect">
            <a:avLst>
              <a:gd name="adj" fmla="val 50000"/>
            </a:avLst>
          </a:prstGeom>
          <a:ln w="15875">
            <a:solidFill>
              <a:srgbClr val="00D6F2"/>
            </a:solidFill>
            <a:prstDash val="solid"/>
          </a:ln>
        </p:spPr>
      </p:sp>
      <p:sp>
        <p:nvSpPr>
          <p:cNvPr id="6" name="Text 4"/>
          <p:cNvSpPr txBox="1"/>
          <p:nvPr/>
        </p:nvSpPr>
        <p:spPr>
          <a:xfrm>
            <a:off x="3291840" y="2057400"/>
            <a:ext cx="1097280" cy="292608"/>
          </a:xfrm>
          <a:prstGeom prst="rect">
            <a:avLst/>
          </a:prstGeom>
          <a:noFill/>
          <a:ln/>
        </p:spPr>
        <p:txBody>
          <a:bodyPr wrap="square" lIns="0" tIns="0" rIns="0" bIns="0" rtlCol="0" anchor="ctr"/>
          <a:lstStyle/>
          <a:p>
            <a:pPr algn="ctr" indent="0" marL="0">
              <a:buNone/>
            </a:pPr>
            <a:r>
              <a:rPr lang="en-US" sz="950" b="1" spc="200" kern="0" dirty="0">
                <a:solidFill>
                  <a:srgbClr val="00D6F2"/>
                </a:solidFill>
              </a:rPr>
              <a:t>OFFSHORE</a:t>
            </a:r>
            <a:endParaRPr lang="en-US" sz="950" dirty="0"/>
          </a:p>
        </p:txBody>
      </p:sp>
      <p:sp>
        <p:nvSpPr>
          <p:cNvPr id="7" name="Text 5"/>
          <p:cNvSpPr txBox="1"/>
          <p:nvPr/>
        </p:nvSpPr>
        <p:spPr>
          <a:xfrm>
            <a:off x="822960" y="2103120"/>
            <a:ext cx="2377440" cy="219456"/>
          </a:xfrm>
          <a:prstGeom prst="rect">
            <a:avLst/>
          </a:prstGeom>
          <a:noFill/>
          <a:ln/>
        </p:spPr>
        <p:txBody>
          <a:bodyPr wrap="square" lIns="0" tIns="0" rIns="0" bIns="0" rtlCol="0" anchor="t"/>
          <a:lstStyle/>
          <a:p>
            <a:pPr indent="0" marL="0">
              <a:buNone/>
            </a:pPr>
            <a:r>
              <a:rPr lang="en-US" sz="1000" b="1" spc="200" kern="0" dirty="0">
                <a:solidFill>
                  <a:srgbClr val="BFBFBF"/>
                </a:solidFill>
              </a:rPr>
              <a:t>STANDARD PROGRAM VALUE</a:t>
            </a:r>
            <a:endParaRPr lang="en-US" sz="1000" dirty="0"/>
          </a:p>
        </p:txBody>
      </p:sp>
      <p:sp>
        <p:nvSpPr>
          <p:cNvPr id="8" name="Text 6"/>
          <p:cNvSpPr txBox="1"/>
          <p:nvPr/>
        </p:nvSpPr>
        <p:spPr>
          <a:xfrm>
            <a:off x="822960" y="2350008"/>
            <a:ext cx="3566160" cy="548640"/>
          </a:xfrm>
          <a:prstGeom prst="rect">
            <a:avLst/>
          </a:prstGeom>
          <a:noFill/>
          <a:ln/>
        </p:spPr>
        <p:txBody>
          <a:bodyPr wrap="square" lIns="0" tIns="0" rIns="0" bIns="0" rtlCol="0" anchor="t"/>
          <a:lstStyle/>
          <a:p>
            <a:pPr indent="0" marL="0">
              <a:buNone/>
            </a:pPr>
            <a:r>
              <a:rPr lang="en-US" sz="3000" strike="sngStrike" dirty="0">
                <a:solidFill>
                  <a:srgbClr val="8C8C8C"/>
                </a:solidFill>
                <a:latin typeface="Trenda IG Text Light" pitchFamily="34" charset="0"/>
                <a:ea typeface="Trenda IG Text Light" pitchFamily="34" charset="-122"/>
                <a:cs typeface="Trenda IG Text Light" pitchFamily="34" charset="-120"/>
              </a:rPr>
              <a:t>$580,000</a:t>
            </a:r>
            <a:endParaRPr lang="en-US" sz="3000" dirty="0"/>
          </a:p>
        </p:txBody>
      </p:sp>
      <p:sp>
        <p:nvSpPr>
          <p:cNvPr id="9" name="Shape 7"/>
          <p:cNvSpPr/>
          <p:nvPr/>
        </p:nvSpPr>
        <p:spPr>
          <a:xfrm>
            <a:off x="822960" y="3108960"/>
            <a:ext cx="3566160" cy="0"/>
          </a:xfrm>
          <a:prstGeom prst="line">
            <a:avLst/>
          </a:prstGeom>
          <a:noFill/>
          <a:ln w="9525">
            <a:solidFill>
              <a:srgbClr val="444444"/>
            </a:solidFill>
            <a:prstDash val="solid"/>
          </a:ln>
        </p:spPr>
      </p:sp>
      <p:sp>
        <p:nvSpPr>
          <p:cNvPr id="10" name="Text 8"/>
          <p:cNvSpPr txBox="1"/>
          <p:nvPr/>
        </p:nvSpPr>
        <p:spPr>
          <a:xfrm>
            <a:off x="822960" y="3291840"/>
            <a:ext cx="3566160" cy="219456"/>
          </a:xfrm>
          <a:prstGeom prst="rect">
            <a:avLst/>
          </a:prstGeom>
          <a:noFill/>
          <a:ln/>
        </p:spPr>
        <p:txBody>
          <a:bodyPr wrap="square" lIns="0" tIns="0" rIns="0" bIns="0" rtlCol="0" anchor="t"/>
          <a:lstStyle/>
          <a:p>
            <a:pPr indent="0" marL="0">
              <a:buNone/>
            </a:pPr>
            <a:r>
              <a:rPr lang="en-US" sz="1000" b="1" spc="200" kern="0" dirty="0">
                <a:solidFill>
                  <a:srgbClr val="00D6F2"/>
                </a:solidFill>
              </a:rPr>
              <a:t>STRATEGIC PARTNER INVESTMENT</a:t>
            </a:r>
            <a:endParaRPr lang="en-US" sz="1000" dirty="0"/>
          </a:p>
        </p:txBody>
      </p:sp>
      <p:sp>
        <p:nvSpPr>
          <p:cNvPr id="11" name="Text 9"/>
          <p:cNvSpPr txBox="1"/>
          <p:nvPr/>
        </p:nvSpPr>
        <p:spPr>
          <a:xfrm>
            <a:off x="822960" y="3566160"/>
            <a:ext cx="3566160" cy="914400"/>
          </a:xfrm>
          <a:prstGeom prst="rect">
            <a:avLst/>
          </a:prstGeom>
          <a:noFill/>
          <a:ln/>
        </p:spPr>
        <p:txBody>
          <a:bodyPr wrap="square" lIns="0" tIns="0" rIns="0" bIns="0" rtlCol="0" anchor="t"/>
          <a:lstStyle/>
          <a:p>
            <a:pPr indent="0" marL="0">
              <a:buNone/>
            </a:pPr>
            <a:r>
              <a:rPr lang="en-US" sz="5400" dirty="0">
                <a:solidFill>
                  <a:srgbClr val="FFFFFF"/>
                </a:solidFill>
                <a:latin typeface="Trenda IG Text Light" pitchFamily="34" charset="0"/>
                <a:ea typeface="Trenda IG Text Light" pitchFamily="34" charset="-122"/>
                <a:cs typeface="Trenda IG Text Light" pitchFamily="34" charset="-120"/>
              </a:rPr>
              <a:t>$290,000</a:t>
            </a:r>
            <a:endParaRPr lang="en-US" sz="5400" dirty="0"/>
          </a:p>
        </p:txBody>
      </p:sp>
      <p:sp>
        <p:nvSpPr>
          <p:cNvPr id="12" name="Shape 10"/>
          <p:cNvSpPr/>
          <p:nvPr/>
        </p:nvSpPr>
        <p:spPr>
          <a:xfrm>
            <a:off x="822960" y="4617720"/>
            <a:ext cx="3108960" cy="384048"/>
          </a:xfrm>
          <a:prstGeom prst="roundRect">
            <a:avLst>
              <a:gd name="adj" fmla="val 50000"/>
            </a:avLst>
          </a:prstGeom>
          <a:solidFill>
            <a:srgbClr val="FF0068"/>
          </a:solidFill>
          <a:ln w="12700">
            <a:solidFill>
              <a:srgbClr val="FF0068"/>
            </a:solidFill>
            <a:prstDash val="solid"/>
          </a:ln>
        </p:spPr>
      </p:sp>
      <p:sp>
        <p:nvSpPr>
          <p:cNvPr id="13" name="Text 11"/>
          <p:cNvSpPr txBox="1"/>
          <p:nvPr/>
        </p:nvSpPr>
        <p:spPr>
          <a:xfrm>
            <a:off x="822960" y="4617720"/>
            <a:ext cx="3108960" cy="384048"/>
          </a:xfrm>
          <a:prstGeom prst="rect">
            <a:avLst/>
          </a:prstGeom>
          <a:noFill/>
          <a:ln/>
        </p:spPr>
        <p:txBody>
          <a:bodyPr wrap="square" lIns="0" tIns="0" rIns="0" bIns="0" rtlCol="0" anchor="ctr"/>
          <a:lstStyle/>
          <a:p>
            <a:pPr algn="ctr" indent="0" marL="0">
              <a:buNone/>
            </a:pPr>
            <a:r>
              <a:rPr lang="en-US" sz="1200" b="1" dirty="0">
                <a:solidFill>
                  <a:srgbClr val="FFFFFF"/>
                </a:solidFill>
              </a:rPr>
              <a:t>50% partnership credit, applied upfront</a:t>
            </a:r>
            <a:endParaRPr lang="en-US" sz="1200" dirty="0"/>
          </a:p>
        </p:txBody>
      </p:sp>
      <p:sp>
        <p:nvSpPr>
          <p:cNvPr id="14" name="Text 12"/>
          <p:cNvSpPr txBox="1"/>
          <p:nvPr/>
        </p:nvSpPr>
        <p:spPr>
          <a:xfrm>
            <a:off x="822960" y="5184648"/>
            <a:ext cx="3566160" cy="274320"/>
          </a:xfrm>
          <a:prstGeom prst="rect">
            <a:avLst/>
          </a:prstGeom>
          <a:noFill/>
          <a:ln/>
        </p:spPr>
        <p:txBody>
          <a:bodyPr wrap="square" lIns="0" tIns="0" rIns="0" bIns="0" rtlCol="0" anchor="t"/>
          <a:lstStyle/>
          <a:p>
            <a:pPr indent="0" marL="0">
              <a:buNone/>
            </a:pPr>
            <a:r>
              <a:rPr lang="en-US" sz="1200" dirty="0">
                <a:solidFill>
                  <a:srgbClr val="D9D9D9"/>
                </a:solidFill>
              </a:rPr>
              <a:t>You save $290,000 on the full program</a:t>
            </a:r>
            <a:endParaRPr lang="en-US" sz="1200" dirty="0"/>
          </a:p>
        </p:txBody>
      </p:sp>
      <p:sp>
        <p:nvSpPr>
          <p:cNvPr id="15" name="Text 13"/>
          <p:cNvSpPr txBox="1"/>
          <p:nvPr/>
        </p:nvSpPr>
        <p:spPr>
          <a:xfrm>
            <a:off x="5129784" y="1783080"/>
            <a:ext cx="3182112" cy="329184"/>
          </a:xfrm>
          <a:prstGeom prst="rect">
            <a:avLst/>
          </a:prstGeom>
          <a:noFill/>
          <a:ln/>
        </p:spPr>
        <p:txBody>
          <a:bodyPr wrap="square" lIns="0" tIns="0" rIns="0" bIns="0" rtlCol="0" anchor="ctr"/>
          <a:lstStyle/>
          <a:p>
            <a:pPr algn="l" indent="0" marL="0">
              <a:buNone/>
            </a:pPr>
            <a:r>
              <a:rPr lang="en-US" sz="1200" b="1" dirty="0">
                <a:solidFill>
                  <a:srgbClr val="000000"/>
                </a:solidFill>
              </a:rPr>
              <a:t>Phase</a:t>
            </a:r>
            <a:endParaRPr lang="en-US" sz="1200" dirty="0"/>
          </a:p>
        </p:txBody>
      </p:sp>
      <p:sp>
        <p:nvSpPr>
          <p:cNvPr id="16" name="Text 14"/>
          <p:cNvSpPr txBox="1"/>
          <p:nvPr/>
        </p:nvSpPr>
        <p:spPr>
          <a:xfrm>
            <a:off x="8421624" y="1783080"/>
            <a:ext cx="896112" cy="329184"/>
          </a:xfrm>
          <a:prstGeom prst="rect">
            <a:avLst/>
          </a:prstGeom>
          <a:noFill/>
          <a:ln/>
        </p:spPr>
        <p:txBody>
          <a:bodyPr wrap="square" lIns="0" tIns="0" rIns="0" bIns="0" rtlCol="0" anchor="ctr"/>
          <a:lstStyle/>
          <a:p>
            <a:pPr algn="l" indent="0" marL="0">
              <a:buNone/>
            </a:pPr>
            <a:r>
              <a:rPr lang="en-US" sz="1200" b="1" dirty="0">
                <a:solidFill>
                  <a:srgbClr val="000000"/>
                </a:solidFill>
              </a:rPr>
              <a:t>Sprints</a:t>
            </a:r>
            <a:endParaRPr lang="en-US" sz="1200" dirty="0"/>
          </a:p>
        </p:txBody>
      </p:sp>
      <p:sp>
        <p:nvSpPr>
          <p:cNvPr id="17" name="Text 15"/>
          <p:cNvSpPr txBox="1"/>
          <p:nvPr/>
        </p:nvSpPr>
        <p:spPr>
          <a:xfrm>
            <a:off x="9427464" y="1783080"/>
            <a:ext cx="1078992" cy="329184"/>
          </a:xfrm>
          <a:prstGeom prst="rect">
            <a:avLst/>
          </a:prstGeom>
          <a:noFill/>
          <a:ln/>
        </p:spPr>
        <p:txBody>
          <a:bodyPr wrap="square" lIns="0" tIns="0" rIns="0" bIns="0" rtlCol="0" anchor="ctr"/>
          <a:lstStyle/>
          <a:p>
            <a:pPr algn="r" indent="0" marL="0">
              <a:buNone/>
            </a:pPr>
            <a:r>
              <a:rPr lang="en-US" sz="1200" b="1" dirty="0">
                <a:solidFill>
                  <a:srgbClr val="000000"/>
                </a:solidFill>
              </a:rPr>
              <a:t>Standard</a:t>
            </a:r>
            <a:endParaRPr lang="en-US" sz="1200" dirty="0"/>
          </a:p>
        </p:txBody>
      </p:sp>
      <p:sp>
        <p:nvSpPr>
          <p:cNvPr id="18" name="Text 16"/>
          <p:cNvSpPr txBox="1"/>
          <p:nvPr/>
        </p:nvSpPr>
        <p:spPr>
          <a:xfrm>
            <a:off x="10616184" y="1783080"/>
            <a:ext cx="1014984" cy="329184"/>
          </a:xfrm>
          <a:prstGeom prst="rect">
            <a:avLst/>
          </a:prstGeom>
          <a:noFill/>
          <a:ln/>
        </p:spPr>
        <p:txBody>
          <a:bodyPr wrap="square" lIns="0" tIns="0" rIns="0" bIns="0" rtlCol="0" anchor="ctr"/>
          <a:lstStyle/>
          <a:p>
            <a:pPr algn="r" indent="0" marL="0">
              <a:buNone/>
            </a:pPr>
            <a:r>
              <a:rPr lang="en-US" sz="1200" b="1" dirty="0">
                <a:solidFill>
                  <a:srgbClr val="000000"/>
                </a:solidFill>
              </a:rPr>
              <a:t>Partner</a:t>
            </a:r>
            <a:endParaRPr lang="en-US" sz="1200" dirty="0"/>
          </a:p>
        </p:txBody>
      </p:sp>
      <p:sp>
        <p:nvSpPr>
          <p:cNvPr id="19" name="Shape 17"/>
          <p:cNvSpPr/>
          <p:nvPr/>
        </p:nvSpPr>
        <p:spPr>
          <a:xfrm>
            <a:off x="5074920" y="2112264"/>
            <a:ext cx="6611112" cy="0"/>
          </a:xfrm>
          <a:prstGeom prst="line">
            <a:avLst/>
          </a:prstGeom>
          <a:noFill/>
          <a:ln w="15875">
            <a:solidFill>
              <a:srgbClr val="000000"/>
            </a:solidFill>
            <a:prstDash val="solid"/>
          </a:ln>
        </p:spPr>
      </p:sp>
      <p:sp>
        <p:nvSpPr>
          <p:cNvPr id="20" name="Text 18"/>
          <p:cNvSpPr txBox="1"/>
          <p:nvPr/>
        </p:nvSpPr>
        <p:spPr>
          <a:xfrm>
            <a:off x="5129784" y="21122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1 · Conferences, replaces Certain</a:t>
            </a:r>
            <a:endParaRPr lang="en-US" sz="1200" dirty="0"/>
          </a:p>
        </p:txBody>
      </p:sp>
      <p:sp>
        <p:nvSpPr>
          <p:cNvPr id="21" name="Text 19"/>
          <p:cNvSpPr txBox="1"/>
          <p:nvPr/>
        </p:nvSpPr>
        <p:spPr>
          <a:xfrm>
            <a:off x="8421624" y="21122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1-6</a:t>
            </a:r>
            <a:endParaRPr lang="en-US" sz="1200" dirty="0"/>
          </a:p>
        </p:txBody>
      </p:sp>
      <p:sp>
        <p:nvSpPr>
          <p:cNvPr id="22" name="Text 20"/>
          <p:cNvSpPr txBox="1"/>
          <p:nvPr/>
        </p:nvSpPr>
        <p:spPr>
          <a:xfrm>
            <a:off x="9427464" y="21122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$350,000</a:t>
            </a:r>
            <a:endParaRPr lang="en-US" sz="1200" dirty="0"/>
          </a:p>
        </p:txBody>
      </p:sp>
      <p:sp>
        <p:nvSpPr>
          <p:cNvPr id="23" name="Text 21"/>
          <p:cNvSpPr txBox="1"/>
          <p:nvPr/>
        </p:nvSpPr>
        <p:spPr>
          <a:xfrm>
            <a:off x="10616184" y="21122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$175,000</a:t>
            </a:r>
            <a:endParaRPr lang="en-US" sz="1200" dirty="0"/>
          </a:p>
        </p:txBody>
      </p:sp>
      <p:sp>
        <p:nvSpPr>
          <p:cNvPr id="24" name="Shape 22"/>
          <p:cNvSpPr/>
          <p:nvPr/>
        </p:nvSpPr>
        <p:spPr>
          <a:xfrm>
            <a:off x="5074920" y="2569464"/>
            <a:ext cx="6611112" cy="0"/>
          </a:xfrm>
          <a:prstGeom prst="line">
            <a:avLst/>
          </a:prstGeom>
          <a:noFill/>
          <a:ln w="9525">
            <a:solidFill>
              <a:srgbClr val="A0A0A8"/>
            </a:solidFill>
            <a:prstDash val="sysDot"/>
          </a:ln>
        </p:spPr>
      </p:sp>
      <p:sp>
        <p:nvSpPr>
          <p:cNvPr id="25" name="Text 23"/>
          <p:cNvSpPr txBox="1"/>
          <p:nvPr/>
        </p:nvSpPr>
        <p:spPr>
          <a:xfrm>
            <a:off x="5129784" y="25694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Phase 2 · Classes on the shared platform</a:t>
            </a:r>
            <a:endParaRPr lang="en-US" sz="1200" dirty="0"/>
          </a:p>
        </p:txBody>
      </p:sp>
      <p:sp>
        <p:nvSpPr>
          <p:cNvPr id="26" name="Text 24"/>
          <p:cNvSpPr txBox="1"/>
          <p:nvPr/>
        </p:nvSpPr>
        <p:spPr>
          <a:xfrm>
            <a:off x="8421624" y="25694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7-10</a:t>
            </a:r>
            <a:endParaRPr lang="en-US" sz="1200" dirty="0"/>
          </a:p>
        </p:txBody>
      </p:sp>
      <p:sp>
        <p:nvSpPr>
          <p:cNvPr id="27" name="Text 25"/>
          <p:cNvSpPr txBox="1"/>
          <p:nvPr/>
        </p:nvSpPr>
        <p:spPr>
          <a:xfrm>
            <a:off x="9427464" y="25694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$230,000</a:t>
            </a:r>
            <a:endParaRPr lang="en-US" sz="1200" dirty="0"/>
          </a:p>
        </p:txBody>
      </p:sp>
      <p:sp>
        <p:nvSpPr>
          <p:cNvPr id="28" name="Text 26"/>
          <p:cNvSpPr txBox="1"/>
          <p:nvPr/>
        </p:nvSpPr>
        <p:spPr>
          <a:xfrm>
            <a:off x="10616184" y="25694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$115,000</a:t>
            </a:r>
            <a:endParaRPr lang="en-US" sz="1200" dirty="0"/>
          </a:p>
        </p:txBody>
      </p:sp>
      <p:sp>
        <p:nvSpPr>
          <p:cNvPr id="29" name="Shape 27"/>
          <p:cNvSpPr/>
          <p:nvPr/>
        </p:nvSpPr>
        <p:spPr>
          <a:xfrm>
            <a:off x="5074920" y="3026664"/>
            <a:ext cx="6611112" cy="0"/>
          </a:xfrm>
          <a:prstGeom prst="line">
            <a:avLst/>
          </a:prstGeom>
          <a:noFill/>
          <a:ln w="15875">
            <a:solidFill>
              <a:srgbClr val="000000"/>
            </a:solidFill>
            <a:prstDash val="solid"/>
          </a:ln>
        </p:spPr>
      </p:sp>
      <p:sp>
        <p:nvSpPr>
          <p:cNvPr id="30" name="Text 28"/>
          <p:cNvSpPr txBox="1"/>
          <p:nvPr/>
        </p:nvSpPr>
        <p:spPr>
          <a:xfrm>
            <a:off x="5129784" y="3026664"/>
            <a:ext cx="3182112" cy="457200"/>
          </a:xfrm>
          <a:prstGeom prst="rect">
            <a:avLst/>
          </a:prstGeom>
          <a:noFill/>
          <a:ln/>
        </p:spPr>
        <p:txBody>
          <a:bodyPr wrap="square" lIns="0" tIns="0" rIns="0" bIns="0" rtlCol="0" anchor="ctr"/>
          <a:lstStyle/>
          <a:p>
            <a:pPr algn="l" indent="0" marL="0">
              <a:buNone/>
            </a:pPr>
            <a:r>
              <a:rPr lang="en-US" sz="1200" b="1" dirty="0">
                <a:solidFill>
                  <a:srgbClr val="000000"/>
                </a:solidFill>
              </a:rPr>
              <a:t>Total program</a:t>
            </a:r>
            <a:endParaRPr lang="en-US" sz="1200" dirty="0"/>
          </a:p>
        </p:txBody>
      </p:sp>
      <p:sp>
        <p:nvSpPr>
          <p:cNvPr id="31" name="Text 29"/>
          <p:cNvSpPr txBox="1"/>
          <p:nvPr/>
        </p:nvSpPr>
        <p:spPr>
          <a:xfrm>
            <a:off x="8421624" y="3026664"/>
            <a:ext cx="896112" cy="457200"/>
          </a:xfrm>
          <a:prstGeom prst="rect">
            <a:avLst/>
          </a:prstGeom>
          <a:noFill/>
          <a:ln/>
        </p:spPr>
        <p:txBody>
          <a:bodyPr wrap="square" lIns="0" tIns="0" rIns="0" bIns="0" rtlCol="0" anchor="ctr"/>
          <a:lstStyle/>
          <a:p>
            <a:pPr algn="l" indent="0" marL="0">
              <a:buNone/>
            </a:pPr>
            <a:r>
              <a:rPr lang="en-US" sz="1200" b="1" dirty="0">
                <a:solidFill>
                  <a:srgbClr val="000000"/>
                </a:solidFill>
              </a:rPr>
              <a:t>10 sprints</a:t>
            </a:r>
            <a:endParaRPr lang="en-US" sz="1200" dirty="0"/>
          </a:p>
        </p:txBody>
      </p:sp>
      <p:sp>
        <p:nvSpPr>
          <p:cNvPr id="32" name="Text 30"/>
          <p:cNvSpPr txBox="1"/>
          <p:nvPr/>
        </p:nvSpPr>
        <p:spPr>
          <a:xfrm>
            <a:off x="9427464" y="3026664"/>
            <a:ext cx="1078992" cy="457200"/>
          </a:xfrm>
          <a:prstGeom prst="rect">
            <a:avLst/>
          </a:prstGeom>
          <a:noFill/>
          <a:ln/>
        </p:spPr>
        <p:txBody>
          <a:bodyPr wrap="square" lIns="0" tIns="0" rIns="0" bIns="0" rtlCol="0" anchor="ctr"/>
          <a:lstStyle/>
          <a:p>
            <a:pPr algn="r" indent="0" marL="0">
              <a:buNone/>
            </a:pPr>
            <a:r>
              <a:rPr lang="en-US" sz="1200" b="1" strike="sngStrike" dirty="0">
                <a:solidFill>
                  <a:srgbClr val="8C8C8C"/>
                </a:solidFill>
              </a:rPr>
              <a:t>$580,000</a:t>
            </a:r>
            <a:endParaRPr lang="en-US" sz="1200" dirty="0"/>
          </a:p>
        </p:txBody>
      </p:sp>
      <p:sp>
        <p:nvSpPr>
          <p:cNvPr id="33" name="Text 31"/>
          <p:cNvSpPr txBox="1"/>
          <p:nvPr/>
        </p:nvSpPr>
        <p:spPr>
          <a:xfrm>
            <a:off x="10616184" y="30266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$290,000</a:t>
            </a:r>
            <a:endParaRPr lang="en-US" sz="1200" dirty="0"/>
          </a:p>
        </p:txBody>
      </p:sp>
      <p:sp>
        <p:nvSpPr>
          <p:cNvPr id="34" name="Shape 32"/>
          <p:cNvSpPr/>
          <p:nvPr/>
        </p:nvSpPr>
        <p:spPr>
          <a:xfrm>
            <a:off x="5074920" y="3483864"/>
            <a:ext cx="6611112" cy="0"/>
          </a:xfrm>
          <a:prstGeom prst="line">
            <a:avLst/>
          </a:prstGeom>
          <a:noFill/>
          <a:ln w="9525">
            <a:solidFill>
              <a:srgbClr val="A0A0A8"/>
            </a:solidFill>
            <a:prstDash val="sysDot"/>
          </a:ln>
        </p:spPr>
      </p:sp>
      <p:sp>
        <p:nvSpPr>
          <p:cNvPr id="35" name="Text 33"/>
          <p:cNvSpPr txBox="1"/>
          <p:nvPr/>
        </p:nvSpPr>
        <p:spPr>
          <a:xfrm>
            <a:off x="5074920" y="3703320"/>
            <a:ext cx="3200400" cy="274320"/>
          </a:xfrm>
          <a:prstGeom prst="rect">
            <a:avLst/>
          </a:prstGeom>
          <a:noFill/>
          <a:ln/>
        </p:spPr>
        <p:txBody>
          <a:bodyPr wrap="square" lIns="0" tIns="0" rIns="0" bIns="0" rtlCol="0" anchor="t"/>
          <a:lstStyle/>
          <a:p>
            <a:pPr indent="0" marL="0">
              <a:buNone/>
            </a:pPr>
            <a:r>
              <a:rPr lang="en-US" sz="1400" b="1" dirty="0">
                <a:solidFill>
                  <a:srgbClr val="000000"/>
                </a:solidFill>
              </a:rPr>
              <a:t>Included</a:t>
            </a:r>
            <a:endParaRPr lang="en-US" sz="1400" dirty="0"/>
          </a:p>
        </p:txBody>
      </p:sp>
      <p:sp>
        <p:nvSpPr>
          <p:cNvPr id="36" name="Text 34"/>
          <p:cNvSpPr txBox="1"/>
          <p:nvPr/>
        </p:nvSpPr>
        <p:spPr>
          <a:xfrm>
            <a:off x="5074920" y="4032504"/>
            <a:ext cx="329184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Dedicated five-person offshore pod for 20 weeks</a:t>
            </a:r>
            <a:endParaRPr lang="en-US" sz="1100" dirty="0"/>
          </a:p>
          <a:p>
            <a:pPr marL="342900" indent="-342900">
              <a:spcAft>
                <a:spcPts val="400"/>
              </a:spcAft>
              <a:buSzPct val="100000"/>
              <a:buChar char="•"/>
            </a:pPr>
            <a:r>
              <a:rPr lang="en-US" sz="1100" dirty="0">
                <a:solidFill>
                  <a:srgbClr val="4D4D4D"/>
                </a:solidFill>
              </a:rPr>
              <a:t>Sprint demos and milestone sign-offs</a:t>
            </a:r>
            <a:endParaRPr lang="en-US" sz="1100" dirty="0"/>
          </a:p>
          <a:p>
            <a:pPr marL="342900" indent="-342900">
              <a:spcAft>
                <a:spcPts val="400"/>
              </a:spcAft>
              <a:buSzPct val="100000"/>
              <a:buChar char="•"/>
            </a:pPr>
            <a:r>
              <a:rPr lang="en-US" sz="1100" dirty="0">
                <a:solidFill>
                  <a:srgbClr val="4D4D4D"/>
                </a:solidFill>
              </a:rPr>
              <a:t>Testing, load testing, go-live and hypercare</a:t>
            </a:r>
            <a:endParaRPr lang="en-US" sz="1100" dirty="0"/>
          </a:p>
          <a:p>
            <a:pPr marL="342900" indent="-342900">
              <a:spcAft>
                <a:spcPts val="400"/>
              </a:spcAft>
              <a:buSzPct val="100000"/>
              <a:buChar char="•"/>
            </a:pPr>
            <a:r>
              <a:rPr lang="en-US" sz="1100" dirty="0">
                <a:solidFill>
                  <a:srgbClr val="4D4D4D"/>
                </a:solidFill>
              </a:rPr>
              <a:t>Documentation and handover to your admins</a:t>
            </a:r>
            <a:endParaRPr lang="en-US" sz="1100" dirty="0"/>
          </a:p>
        </p:txBody>
      </p:sp>
      <p:sp>
        <p:nvSpPr>
          <p:cNvPr id="37" name="Text 35"/>
          <p:cNvSpPr txBox="1"/>
          <p:nvPr/>
        </p:nvSpPr>
        <p:spPr>
          <a:xfrm>
            <a:off x="8595360" y="3703320"/>
            <a:ext cx="3108960" cy="274320"/>
          </a:xfrm>
          <a:prstGeom prst="rect">
            <a:avLst/>
          </a:prstGeom>
          <a:noFill/>
          <a:ln/>
        </p:spPr>
        <p:txBody>
          <a:bodyPr wrap="square" lIns="0" tIns="0" rIns="0" bIns="0" rtlCol="0" anchor="t"/>
          <a:lstStyle/>
          <a:p>
            <a:pPr indent="0" marL="0">
              <a:buNone/>
            </a:pPr>
            <a:r>
              <a:rPr lang="en-US" sz="1400" b="1" dirty="0">
                <a:solidFill>
                  <a:srgbClr val="000000"/>
                </a:solidFill>
              </a:rPr>
              <a:t>Not included</a:t>
            </a:r>
            <a:endParaRPr lang="en-US" sz="1400" dirty="0"/>
          </a:p>
        </p:txBody>
      </p:sp>
      <p:sp>
        <p:nvSpPr>
          <p:cNvPr id="38" name="Text 36"/>
          <p:cNvSpPr txBox="1"/>
          <p:nvPr/>
        </p:nvSpPr>
        <p:spPr>
          <a:xfrm>
            <a:off x="8595360" y="4032504"/>
            <a:ext cx="3090672"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Salesforce licenses</a:t>
            </a:r>
            <a:endParaRPr lang="en-US" sz="1100" dirty="0"/>
          </a:p>
          <a:p>
            <a:pPr marL="342900" indent="-342900">
              <a:spcAft>
                <a:spcPts val="400"/>
              </a:spcAft>
              <a:buSzPct val="100000"/>
              <a:buChar char="•"/>
            </a:pPr>
            <a:r>
              <a:rPr lang="en-US" sz="1100" dirty="0">
                <a:solidFill>
                  <a:srgbClr val="4D4D4D"/>
                </a:solidFill>
              </a:rPr>
              <a:t>Payment gateway transaction fees</a:t>
            </a:r>
            <a:endParaRPr lang="en-US" sz="1100" dirty="0"/>
          </a:p>
          <a:p>
            <a:pPr marL="342900" indent="-342900">
              <a:spcAft>
                <a:spcPts val="400"/>
              </a:spcAft>
              <a:buSzPct val="100000"/>
              <a:buChar char="•"/>
            </a:pPr>
            <a:r>
              <a:rPr lang="en-US" sz="1100" dirty="0">
                <a:solidFill>
                  <a:srgbClr val="4D4D4D"/>
                </a:solidFill>
              </a:rPr>
              <a:t>Waiting room subscription</a:t>
            </a:r>
            <a:endParaRPr lang="en-US" sz="1100" dirty="0"/>
          </a:p>
        </p:txBody>
      </p:sp>
      <p:sp>
        <p:nvSpPr>
          <p:cNvPr id="39" name="Text 37"/>
          <p:cNvSpPr txBox="1"/>
          <p:nvPr/>
        </p:nvSpPr>
        <p:spPr>
          <a:xfrm>
            <a:off x="5074920" y="5577840"/>
            <a:ext cx="6611112" cy="274320"/>
          </a:xfrm>
          <a:prstGeom prst="rect">
            <a:avLst/>
          </a:prstGeom>
          <a:noFill/>
          <a:ln/>
        </p:spPr>
        <p:txBody>
          <a:bodyPr wrap="square" lIns="0" tIns="0" rIns="0" bIns="0" rtlCol="0" anchor="t"/>
          <a:lstStyle/>
          <a:p>
            <a:pPr indent="0" marL="0">
              <a:buNone/>
            </a:pPr>
            <a:r>
              <a:rPr lang="en-US" sz="1050" i="1" dirty="0">
                <a:solidFill>
                  <a:srgbClr val="4D4D4D"/>
                </a:solidFill>
              </a:rPr>
              <a:t>Pricing is for an offshore delivery model. Indicative, billed at sprint milestones; final commercials in the statement of work.</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today’s Experience Cloud site, the app and Certain</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what is not working today and why Certain is being replaced</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yearly volumes: classes, conferences, registrants</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Chase for conference payments with finance</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and conference calendar to set the cutover</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return with a scoped plan, team and estimate.</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31</Slides>
  <Notes>31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31</vt:i4>
      </vt:variant>
    </vt:vector>
  </HeadingPairs>
  <TitlesOfParts>
    <vt:vector size="3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2026-10-20T11:03:21Z</dcterms:created>
  <dcterms:modified xsi:type="dcterms:W3CDTF">2026-10-20T11:03:21Z</dcterms:modified>
</cp:coreProperties>
</file>