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aa2811a-dfca-7215-910b-9376256d7218}">
          <p14:sldIdLst>
            <p14:sldId id="256"/>
            <p14:sldId id="257"/>
            <p14:sldId id="258"/>
            <p14:sldId id="259"/>
          </p14:sldIdLst>
        </p14:section>
        <p14:section name="The solution" id="{d58e77f7-3148-c394-fe5f-d35b84a11c44}">
          <p14:sldIdLst>
            <p14:sldId id="260"/>
            <p14:sldId id="261"/>
            <p14:sldId id="262"/>
            <p14:sldId id="263"/>
            <p14:sldId id="264"/>
            <p14:sldId id="265"/>
            <p14:sldId id="266"/>
            <p14:sldId id="267"/>
            <p14:sldId id="268"/>
            <p14:sldId id="269"/>
          </p14:sldIdLst>
        </p14:section>
        <p14:section name="Delivery plan" id="{9c0accac-2edf-aab0-704d-09f185e1f4f1}">
          <p14:sldIdLst>
            <p14:sldId id="270"/>
            <p14:sldId id="271"/>
            <p14:sldId id="272"/>
            <p14:sldId id="273"/>
            <p14:sldId id="274"/>
          </p14:sldIdLst>
        </p14:section>
        <p14:section name="Beyond the event" id="{541e3454-c7be-8aff-aad2-eee3cbc4b33d}">
          <p14:sldIdLst>
            <p14:sldId id="275"/>
            <p14:sldId id="276"/>
            <p14:sldId id="277"/>
            <p14:sldId id="278"/>
            <p14:sldId id="279"/>
            <p14:sldId id="280"/>
          </p14:sldIdLst>
        </p14:section>
        <p14:section name="Roadmap and next steps" id="{2d463393-d2d3-d701-f874-5367967b190c}">
          <p14:sldIdLst>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as agreed with Kevin. We keep the Sitecore listings, the Experience Cloud registration site, Chase and today’s cancellation and refund workflows. We add conference and session setup, waitlists and Zoom or Teams links. We replace only Certain, with no data migration. Engagement, class improvements and AI come later if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on the website, with a seat held while they pay. Pay: the gateway hosts the card page; we receive only a token. Confirm: Salesforce records the registration and sends the confirmation, QR code, calendar invite and reminders from Salesforce email, so confirmation is instant.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listing for conferences, classes and events, on the Sitecore page people already use. Book on a conference opens the registration site: pick sessions by day (seats are held while paying), pay on Chase’s hosted page, then get an instant confirmation with a QR code for check-in, add-to-calendar links and, for online attendees, a personal Zoom or Teams join link. Cancellations and refunds use today’s Chase workflows. Classes and events use the same flow without the session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Organizers create a class, event or conference from one form, add ticket types, then build the agenda session by session: day, time, room, track, speaker and seat limit. Payment (Chase) and the Marketing Cloud journey are set per event. Publishing puts the agenda on the website and app. This replaces the conference setup done in Certain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class, event or session is full, people register interest with their preferred location and time, and consent to be contacted. Organizers see demand beyond capacity by event, location and time, which tells them where to add dates. When a new date opens, the interest list is invited first with a head start before seats go public. The length of the head start is Memorial Hermann’s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Chase already takes class payments in Salesforce, so conferences reuse that integration: one gateway, one reconciliation. Authorize.net stays open only until refunds on payments taken before cutover are done, because its card tokens cannot move to Chase. Merchant setup for conference fees to confirm with Memorial Hermann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Conferences go live in eight weeks and Certain is retired; time go-live before the Certain renewal and between conferences. No data migration is needed. Engagement work can start from week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lands in eight weeks with the same three-person team. Classes and events stay as they are; conferences are added alongside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two-week sprints, each closing with a demo and a milestone Memorial Hermann signs off. Sprint 1 walks through today’s Experience Cloud site and Certain and designs the conference extension. Sprints 2 and 3 build conference and session setup, My Agenda, seat limits and waitlists, Chase checkout and Zoom or Teams links. Sprint 4 tests and goes live, and Certain is retired. No data migration is needed. Cancellations and refunds reuse today’s Chase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offshore team: one Project Manager leading delivery and running the sprints, one QA Engineer embedded in every sprint, and one Salesforce Developer.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$60,000 fixed for 8 weeks with a three-person team (one Project Manager, one Salesforce Developer, one QA Engineer). Billing follows sprint milestones. Licenses (Salesforce, Zoom or Teams) and gateway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8.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8.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image" Target="../media/image-27-12.png"/><Relationship Id="rId13" Type="http://schemas.openxmlformats.org/officeDocument/2006/relationships/image" Target="../media/image-27-13.png"/><Relationship Id="rId14" Type="http://schemas.openxmlformats.org/officeDocument/2006/relationships/slideLayout" Target="../slideLayouts/slideLayout7.xml"/><Relationship Id="rId1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CONFERENCES  ·  SESSIONS  ·  ONLINE ACCESS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Business opportunity</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opportunity</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 moving to Chase.</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Classes and events stay as they are. Conferences are added to the same solution in eight weeks.</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Conference and session setup in today’s event solution, paid through Chase</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and refunds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as they are; conferences use the same site, payments and refunds</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Online sessions</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video link, limited by IP restrictions</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Personal Zoom or Teams links that work from anywhere</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and no data migration. Add conferences to today’s event solution and retire Certain.</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Chase payments, now for conferences too</a:t>
            </a:r>
            <a:endParaRPr lang="en-US" sz="1300" dirty="0"/>
          </a:p>
          <a:p>
            <a:pPr marL="342900" indent="-342900">
              <a:spcAft>
                <a:spcPts val="600"/>
              </a:spcAft>
              <a:buSzPct val="100000"/>
              <a:buChar char="•"/>
            </a:pPr>
            <a:r>
              <a:rPr lang="en-US" sz="1300" dirty="0">
                <a:solidFill>
                  <a:schemeClr val="tx1"/>
                </a:solidFill>
              </a:rPr>
              <a:t>Cancellation and refund workflows</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ADD"/>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ADD</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Conference and session setup</a:t>
            </a:r>
            <a:endParaRPr lang="en-US" sz="1300" dirty="0"/>
          </a:p>
          <a:p>
            <a:pPr marL="342900" indent="-342900">
              <a:spcAft>
                <a:spcPts val="600"/>
              </a:spcAft>
              <a:buSzPct val="100000"/>
              <a:buChar char="•"/>
            </a:pPr>
            <a:r>
              <a:rPr lang="en-US" sz="1300" dirty="0">
                <a:solidFill>
                  <a:schemeClr val="tx1"/>
                </a:solidFill>
              </a:rPr>
              <a:t>My Agenda for attendees</a:t>
            </a:r>
            <a:endParaRPr lang="en-US" sz="1300" dirty="0"/>
          </a:p>
          <a:p>
            <a:pPr marL="342900" indent="-342900">
              <a:spcAft>
                <a:spcPts val="600"/>
              </a:spcAft>
              <a:buSzPct val="100000"/>
              <a:buChar char="•"/>
            </a:pPr>
            <a:r>
              <a:rPr lang="en-US" sz="1300" dirty="0">
                <a:solidFill>
                  <a:schemeClr val="tx1"/>
                </a:solidFill>
              </a:rPr>
              <a:t>Session seat limits and waitlists</a:t>
            </a:r>
            <a:endParaRPr lang="en-US" sz="1300" dirty="0"/>
          </a:p>
          <a:p>
            <a:pPr marL="342900" indent="-342900">
              <a:spcAft>
                <a:spcPts val="600"/>
              </a:spcAft>
              <a:buSzPct val="100000"/>
              <a:buChar char="•"/>
            </a:pPr>
            <a:r>
              <a:rPr lang="en-US" sz="1300" dirty="0">
                <a:solidFill>
                  <a:schemeClr val="tx1"/>
                </a:solidFill>
              </a:rPr>
              <a:t>Zoom or Teams join links</a:t>
            </a:r>
            <a:endParaRPr lang="en-US" sz="1300" dirty="0"/>
          </a:p>
          <a:p>
            <a:pPr marL="342900" indent="-342900">
              <a:spcAft>
                <a:spcPts val="600"/>
              </a:spcAft>
              <a:buSzPct val="100000"/>
              <a:buChar char="•"/>
            </a:pPr>
            <a:r>
              <a:rPr lang="en-US" sz="1300" dirty="0">
                <a:solidFill>
                  <a:schemeClr val="tx1"/>
                </a:solidFill>
              </a:rPr>
              <a:t>Badges, check-in and reporting</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conference and session management in Salesforce</a:t>
            </a:r>
            <a:endParaRPr lang="en-US" sz="1300" dirty="0"/>
          </a:p>
          <a:p>
            <a:pPr marL="342900" indent="-342900">
              <a:spcAft>
                <a:spcPts val="600"/>
              </a:spcAft>
              <a:buSzPct val="100000"/>
              <a:buChar char="•"/>
            </a:pPr>
            <a:r>
              <a:rPr lang="en-US" sz="1300" dirty="0">
                <a:solidFill>
                  <a:srgbClr val="FFFFFF"/>
                </a:solidFill>
              </a:rPr>
              <a:t>Authorize.net, by reusing today’s Chase checkout</a:t>
            </a:r>
            <a:endParaRPr lang="en-US" sz="1300" dirty="0"/>
          </a:p>
          <a:p>
            <a:pPr marL="342900" indent="-342900">
              <a:spcAft>
                <a:spcPts val="600"/>
              </a:spcAft>
              <a:buSzPct val="100000"/>
              <a:buChar char="•"/>
            </a:pPr>
            <a:r>
              <a:rPr lang="en-US" sz="1300" dirty="0">
                <a:solidFill>
                  <a:srgbClr val="FFFFFF"/>
                </a:solidFill>
              </a:rPr>
              <a:t>Certain’s IP-restricted video link</a:t>
            </a:r>
            <a:endParaRPr lang="en-US" sz="1300" dirty="0"/>
          </a:p>
          <a:p>
            <a:pPr marL="342900" indent="-342900">
              <a:spcAft>
                <a:spcPts val="600"/>
              </a:spcAft>
              <a:buSzPct val="100000"/>
              <a:buChar char="•"/>
            </a:pPr>
            <a:r>
              <a:rPr lang="en-US" sz="1300" dirty="0">
                <a:solidFill>
                  <a:srgbClr val="FFFFFF"/>
                </a:solidFill>
              </a:rPr>
              <a:t>No data migration needed</a:t>
            </a:r>
            <a:endParaRPr lang="en-US" sz="1300" dirty="0"/>
          </a:p>
        </p:txBody>
      </p:sp>
      <p:sp>
        <p:nvSpPr>
          <p:cNvPr id="13" name="kir-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Class improvements, if wanted</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conferences join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added to the event solution you already run on Salesforce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Conferences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website</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Session picks and “My Agenda”</a:t>
            </a:r>
            <a:endParaRPr lang="en-US" sz="1400" dirty="0"/>
          </a:p>
          <a:p>
            <a:pPr marL="342900" indent="-342900">
              <a:spcAft>
                <a:spcPts val="600"/>
              </a:spcAft>
              <a:buSzPct val="100000"/>
              <a:buChar char="•"/>
            </a:pPr>
            <a:r>
              <a:rPr lang="en-US" sz="1400" dirty="0">
                <a:solidFill>
                  <a:srgbClr val="BFBFBF"/>
                </a:solidFill>
              </a:rPr>
              <a:t>Chase checkout and refunds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solution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Conferences, sessions, speakers, rooms</a:t>
            </a:r>
            <a:endParaRPr lang="en-US" sz="1400" dirty="0"/>
          </a:p>
          <a:p>
            <a:pPr marL="342900" indent="-342900">
              <a:spcAft>
                <a:spcPts val="600"/>
              </a:spcAft>
              <a:buSzPct val="100000"/>
              <a:buChar char="•"/>
            </a:pPr>
            <a:r>
              <a:rPr lang="en-US" sz="1400" dirty="0">
                <a:solidFill>
                  <a:srgbClr val="BFBFBF"/>
                </a:solidFill>
              </a:rPr>
              <a:t>Seat limits and waitlists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Email and online sessions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Zoom or Teams links</a:t>
            </a:r>
            <a:endParaRPr lang="en-US" sz="1400" dirty="0"/>
          </a:p>
          <a:p>
            <a:pPr marL="342900" indent="-342900">
              <a:spcAft>
                <a:spcPts val="600"/>
              </a:spcAft>
              <a:buSzPct val="100000"/>
              <a:buChar char="•"/>
            </a:pPr>
            <a:r>
              <a:rPr lang="en-US" sz="1400" dirty="0">
                <a:solidFill>
                  <a:srgbClr val="BFBFBF"/>
                </a:solidFill>
              </a:rPr>
              <a:t>PEIs on Marketing Cloud, later</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Experience Cloud</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Conferences added to your existing Experience Cloud site;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 (Chase)</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email</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3674516" y="3413019"/>
            <a:ext cx="2732227"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(payment confirmation)</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3205886"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duplicate-safe)</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Zoom or Teams link</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Registrant view: find it, book it, pay, add to calendar</a:t>
            </a:r>
            <a:endParaRPr lang="en-US" sz="3200" dirty="0"/>
          </a:p>
        </p:txBody>
      </p:sp>
      <p:pic>
        <p:nvPicPr>
          <p:cNvPr id="3" name="11-web-booking-flow.png" descr="/home/user/presales_memorial-hermann/deck/mockups/png/11-web-booking-flow.png">    </p:cNvPr>
          <p:cNvPicPr>
            <a:picLocks noChangeAspect="1"/>
          </p:cNvPicPr>
          <p:nvPr/>
        </p:nvPicPr>
        <p:blipFill>
          <a:blip r:embed="rId1"/>
          <a:stretch>
            <a:fillRect/>
          </a:stretch>
        </p:blipFill>
        <p:spPr>
          <a:xfrm>
            <a:off x="792328" y="1444752"/>
            <a:ext cx="10607040" cy="446379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502920" y="5989320"/>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Web only: listings stay on Sitecore, booking runs on the existing Experience Cloud site, payment on Chase’s hosted page.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view: set up a conference and its sessions</a:t>
            </a:r>
            <a:endParaRPr lang="en-US" sz="3200" dirty="0"/>
          </a:p>
        </p:txBody>
      </p:sp>
      <p:pic>
        <p:nvPicPr>
          <p:cNvPr id="3" name="09-staff-conference-setup.png" descr="/home/user/presales_memorial-hermann/deck/mockups/png/09-staff-conference-setup.png">    </p:cNvPr>
          <p:cNvPicPr>
            <a:picLocks noChangeAspect="1"/>
          </p:cNvPicPr>
          <p:nvPr/>
        </p:nvPicPr>
        <p:blipFill>
          <a:blip r:embed="rId1"/>
          <a:stretch>
            <a:fillRect/>
          </a:stretch>
        </p:blipFill>
        <p:spPr>
          <a:xfrm>
            <a:off x="502920" y="1600200"/>
            <a:ext cx="8138160" cy="4069080"/>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961120" y="1600200"/>
            <a:ext cx="2724912" cy="365760"/>
          </a:xfrm>
          <a:prstGeom prst="rect">
            <a:avLst/>
          </a:prstGeom>
          <a:noFill/>
          <a:ln/>
        </p:spPr>
        <p:txBody>
          <a:bodyPr wrap="square" lIns="0" tIns="0" rIns="0" bIns="0" rtlCol="0" anchor="t"/>
          <a:lstStyle/>
          <a:p>
            <a:pPr indent="0" marL="0">
              <a:buNone/>
            </a:pPr>
            <a:r>
              <a:rPr lang="en-US" sz="1800" b="1" dirty="0">
                <a:solidFill>
                  <a:srgbClr val="000000"/>
                </a:solidFill>
              </a:rPr>
              <a:t>How organizers work</a:t>
            </a:r>
            <a:endParaRPr lang="en-US" sz="1800" dirty="0"/>
          </a:p>
        </p:txBody>
      </p:sp>
      <p:sp>
        <p:nvSpPr>
          <p:cNvPr id="5" name="Shape 2"/>
          <p:cNvSpPr/>
          <p:nvPr/>
        </p:nvSpPr>
        <p:spPr>
          <a:xfrm>
            <a:off x="8961120" y="2139696"/>
            <a:ext cx="54864" cy="548640"/>
          </a:xfrm>
          <a:prstGeom prst="rect">
            <a:avLst/>
          </a:prstGeom>
          <a:solidFill>
            <a:srgbClr val="C8005A"/>
          </a:solidFill>
          <a:ln w="12700">
            <a:solidFill>
              <a:srgbClr val="C8005A"/>
            </a:solidFill>
            <a:prstDash val="solid"/>
          </a:ln>
        </p:spPr>
      </p:sp>
      <p:sp>
        <p:nvSpPr>
          <p:cNvPr id="6" name="Text 3"/>
          <p:cNvSpPr txBox="1"/>
          <p:nvPr/>
        </p:nvSpPr>
        <p:spPr>
          <a:xfrm>
            <a:off x="9144000" y="2103120"/>
            <a:ext cx="2542032" cy="256032"/>
          </a:xfrm>
          <a:prstGeom prst="rect">
            <a:avLst/>
          </a:prstGeom>
          <a:noFill/>
          <a:ln/>
        </p:spPr>
        <p:txBody>
          <a:bodyPr wrap="square" lIns="0" tIns="0" rIns="0" bIns="0" rtlCol="0" anchor="t"/>
          <a:lstStyle/>
          <a:p>
            <a:pPr indent="0" marL="0">
              <a:buNone/>
            </a:pPr>
            <a:r>
              <a:rPr lang="en-US" sz="1300" b="1" dirty="0">
                <a:solidFill>
                  <a:srgbClr val="000000"/>
                </a:solidFill>
              </a:rPr>
              <a:t>One form for every event</a:t>
            </a:r>
            <a:endParaRPr lang="en-US" sz="1300" dirty="0"/>
          </a:p>
        </p:txBody>
      </p:sp>
      <p:sp>
        <p:nvSpPr>
          <p:cNvPr id="7" name="Text 4"/>
          <p:cNvSpPr txBox="1"/>
          <p:nvPr/>
        </p:nvSpPr>
        <p:spPr>
          <a:xfrm>
            <a:off x="9144000" y="2368296"/>
            <a:ext cx="2542032" cy="384048"/>
          </a:xfrm>
          <a:prstGeom prst="rect">
            <a:avLst/>
          </a:prstGeom>
          <a:noFill/>
          <a:ln/>
        </p:spPr>
        <p:txBody>
          <a:bodyPr wrap="square" lIns="0" tIns="0" rIns="0" bIns="0" rtlCol="0" anchor="t"/>
          <a:lstStyle/>
          <a:p>
            <a:pPr indent="0" marL="0">
              <a:buNone/>
            </a:pPr>
            <a:r>
              <a:rPr lang="en-US" sz="1100" dirty="0">
                <a:solidFill>
                  <a:srgbClr val="4D4D4D"/>
                </a:solidFill>
              </a:rPr>
              <a:t>Pick class, event or conference; dates, venue, capacity</a:t>
            </a:r>
            <a:endParaRPr lang="en-US" sz="1100" dirty="0"/>
          </a:p>
        </p:txBody>
      </p:sp>
      <p:sp>
        <p:nvSpPr>
          <p:cNvPr id="8" name="Shape 5"/>
          <p:cNvSpPr/>
          <p:nvPr/>
        </p:nvSpPr>
        <p:spPr>
          <a:xfrm>
            <a:off x="8961120" y="2852928"/>
            <a:ext cx="54864" cy="548640"/>
          </a:xfrm>
          <a:prstGeom prst="rect">
            <a:avLst/>
          </a:prstGeom>
          <a:solidFill>
            <a:srgbClr val="C8005A"/>
          </a:solidFill>
          <a:ln w="12700">
            <a:solidFill>
              <a:srgbClr val="C8005A"/>
            </a:solidFill>
            <a:prstDash val="solid"/>
          </a:ln>
        </p:spPr>
      </p:sp>
      <p:sp>
        <p:nvSpPr>
          <p:cNvPr id="9" name="Text 6"/>
          <p:cNvSpPr txBox="1"/>
          <p:nvPr/>
        </p:nvSpPr>
        <p:spPr>
          <a:xfrm>
            <a:off x="9144000" y="2816352"/>
            <a:ext cx="2542032" cy="256032"/>
          </a:xfrm>
          <a:prstGeom prst="rect">
            <a:avLst/>
          </a:prstGeom>
          <a:noFill/>
          <a:ln/>
        </p:spPr>
        <p:txBody>
          <a:bodyPr wrap="square" lIns="0" tIns="0" rIns="0" bIns="0" rtlCol="0" anchor="t"/>
          <a:lstStyle/>
          <a:p>
            <a:pPr indent="0" marL="0">
              <a:buNone/>
            </a:pPr>
            <a:r>
              <a:rPr lang="en-US" sz="1300" b="1" dirty="0">
                <a:solidFill>
                  <a:srgbClr val="000000"/>
                </a:solidFill>
              </a:rPr>
              <a:t>Ticket types per audience</a:t>
            </a:r>
            <a:endParaRPr lang="en-US" sz="1300" dirty="0"/>
          </a:p>
        </p:txBody>
      </p:sp>
      <p:sp>
        <p:nvSpPr>
          <p:cNvPr id="10" name="Text 7"/>
          <p:cNvSpPr txBox="1"/>
          <p:nvPr/>
        </p:nvSpPr>
        <p:spPr>
          <a:xfrm>
            <a:off x="9144000" y="3081528"/>
            <a:ext cx="2542032" cy="384048"/>
          </a:xfrm>
          <a:prstGeom prst="rect">
            <a:avLst/>
          </a:prstGeom>
          <a:noFill/>
          <a:ln/>
        </p:spPr>
        <p:txBody>
          <a:bodyPr wrap="square" lIns="0" tIns="0" rIns="0" bIns="0" rtlCol="0" anchor="t"/>
          <a:lstStyle/>
          <a:p>
            <a:pPr indent="0" marL="0">
              <a:buNone/>
            </a:pPr>
            <a:r>
              <a:rPr lang="en-US" sz="1100" dirty="0">
                <a:solidFill>
                  <a:srgbClr val="4D4D4D"/>
                </a:solidFill>
              </a:rPr>
              <a:t>Provider, nurse, caregiver and community prices</a:t>
            </a:r>
            <a:endParaRPr lang="en-US" sz="1100" dirty="0"/>
          </a:p>
        </p:txBody>
      </p:sp>
      <p:sp>
        <p:nvSpPr>
          <p:cNvPr id="11" name="Shape 8"/>
          <p:cNvSpPr/>
          <p:nvPr/>
        </p:nvSpPr>
        <p:spPr>
          <a:xfrm>
            <a:off x="8961120" y="3566160"/>
            <a:ext cx="54864" cy="548640"/>
          </a:xfrm>
          <a:prstGeom prst="rect">
            <a:avLst/>
          </a:prstGeom>
          <a:solidFill>
            <a:srgbClr val="C8005A"/>
          </a:solidFill>
          <a:ln w="12700">
            <a:solidFill>
              <a:srgbClr val="C8005A"/>
            </a:solidFill>
            <a:prstDash val="solid"/>
          </a:ln>
        </p:spPr>
      </p:sp>
      <p:sp>
        <p:nvSpPr>
          <p:cNvPr id="12" name="Text 9"/>
          <p:cNvSpPr txBox="1"/>
          <p:nvPr/>
        </p:nvSpPr>
        <p:spPr>
          <a:xfrm>
            <a:off x="9144000" y="3529584"/>
            <a:ext cx="2542032" cy="256032"/>
          </a:xfrm>
          <a:prstGeom prst="rect">
            <a:avLst/>
          </a:prstGeom>
          <a:noFill/>
          <a:ln/>
        </p:spPr>
        <p:txBody>
          <a:bodyPr wrap="square" lIns="0" tIns="0" rIns="0" bIns="0" rtlCol="0" anchor="t"/>
          <a:lstStyle/>
          <a:p>
            <a:pPr indent="0" marL="0">
              <a:buNone/>
            </a:pPr>
            <a:r>
              <a:rPr lang="en-US" sz="1300" b="1" dirty="0">
                <a:solidFill>
                  <a:srgbClr val="000000"/>
                </a:solidFill>
              </a:rPr>
              <a:t>Sessions in minutes</a:t>
            </a:r>
            <a:endParaRPr lang="en-US" sz="1300" dirty="0"/>
          </a:p>
        </p:txBody>
      </p:sp>
      <p:sp>
        <p:nvSpPr>
          <p:cNvPr id="13" name="Text 10"/>
          <p:cNvSpPr txBox="1"/>
          <p:nvPr/>
        </p:nvSpPr>
        <p:spPr>
          <a:xfrm>
            <a:off x="9144000" y="3794760"/>
            <a:ext cx="2542032" cy="384048"/>
          </a:xfrm>
          <a:prstGeom prst="rect">
            <a:avLst/>
          </a:prstGeom>
          <a:noFill/>
          <a:ln/>
        </p:spPr>
        <p:txBody>
          <a:bodyPr wrap="square" lIns="0" tIns="0" rIns="0" bIns="0" rtlCol="0" anchor="t"/>
          <a:lstStyle/>
          <a:p>
            <a:pPr indent="0" marL="0">
              <a:buNone/>
            </a:pPr>
            <a:r>
              <a:rPr lang="en-US" sz="1100" dirty="0">
                <a:solidFill>
                  <a:srgbClr val="4D4D4D"/>
                </a:solidFill>
              </a:rPr>
              <a:t>Day, time, room, track, speaker, seat limit, CME [to confirm]</a:t>
            </a:r>
            <a:endParaRPr lang="en-US" sz="1100" dirty="0"/>
          </a:p>
        </p:txBody>
      </p:sp>
      <p:sp>
        <p:nvSpPr>
          <p:cNvPr id="14" name="Shape 11"/>
          <p:cNvSpPr/>
          <p:nvPr/>
        </p:nvSpPr>
        <p:spPr>
          <a:xfrm>
            <a:off x="8961120" y="4279392"/>
            <a:ext cx="54864" cy="548640"/>
          </a:xfrm>
          <a:prstGeom prst="rect">
            <a:avLst/>
          </a:prstGeom>
          <a:solidFill>
            <a:srgbClr val="C8005A"/>
          </a:solidFill>
          <a:ln w="12700">
            <a:solidFill>
              <a:srgbClr val="C8005A"/>
            </a:solidFill>
            <a:prstDash val="solid"/>
          </a:ln>
        </p:spPr>
      </p:sp>
      <p:sp>
        <p:nvSpPr>
          <p:cNvPr id="15" name="Text 12"/>
          <p:cNvSpPr txBox="1"/>
          <p:nvPr/>
        </p:nvSpPr>
        <p:spPr>
          <a:xfrm>
            <a:off x="9144000" y="4242816"/>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Payment and journey</a:t>
            </a:r>
            <a:endParaRPr lang="en-US" sz="1300" dirty="0"/>
          </a:p>
        </p:txBody>
      </p:sp>
      <p:sp>
        <p:nvSpPr>
          <p:cNvPr id="16" name="Text 13"/>
          <p:cNvSpPr txBox="1"/>
          <p:nvPr/>
        </p:nvSpPr>
        <p:spPr>
          <a:xfrm>
            <a:off x="9144000" y="4507992"/>
            <a:ext cx="2542032" cy="384048"/>
          </a:xfrm>
          <a:prstGeom prst="rect">
            <a:avLst/>
          </a:prstGeom>
          <a:noFill/>
          <a:ln/>
        </p:spPr>
        <p:txBody>
          <a:bodyPr wrap="square" lIns="0" tIns="0" rIns="0" bIns="0" rtlCol="0" anchor="t"/>
          <a:lstStyle/>
          <a:p>
            <a:pPr indent="0" marL="0">
              <a:buNone/>
            </a:pPr>
            <a:r>
              <a:rPr lang="en-US" sz="1100" dirty="0">
                <a:solidFill>
                  <a:srgbClr val="4D4D4D"/>
                </a:solidFill>
              </a:rPr>
              <a:t>Chase checkout and a Marketing Cloud journey set per event</a:t>
            </a:r>
            <a:endParaRPr lang="en-US" sz="1100" dirty="0"/>
          </a:p>
        </p:txBody>
      </p:sp>
      <p:sp>
        <p:nvSpPr>
          <p:cNvPr id="17" name="Shape 14"/>
          <p:cNvSpPr/>
          <p:nvPr/>
        </p:nvSpPr>
        <p:spPr>
          <a:xfrm>
            <a:off x="8961120" y="4992624"/>
            <a:ext cx="54864" cy="548640"/>
          </a:xfrm>
          <a:prstGeom prst="rect">
            <a:avLst/>
          </a:prstGeom>
          <a:solidFill>
            <a:srgbClr val="C8005A"/>
          </a:solidFill>
          <a:ln w="12700">
            <a:solidFill>
              <a:srgbClr val="C8005A"/>
            </a:solidFill>
            <a:prstDash val="solid"/>
          </a:ln>
        </p:spPr>
      </p:sp>
      <p:sp>
        <p:nvSpPr>
          <p:cNvPr id="18" name="Text 15"/>
          <p:cNvSpPr txBox="1"/>
          <p:nvPr/>
        </p:nvSpPr>
        <p:spPr>
          <a:xfrm>
            <a:off x="9144000" y="4956048"/>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Publish</a:t>
            </a:r>
            <a:endParaRPr lang="en-US" sz="1300" dirty="0"/>
          </a:p>
        </p:txBody>
      </p:sp>
      <p:sp>
        <p:nvSpPr>
          <p:cNvPr id="19" name="Text 16"/>
          <p:cNvSpPr txBox="1"/>
          <p:nvPr/>
        </p:nvSpPr>
        <p:spPr>
          <a:xfrm>
            <a:off x="9144000" y="5221224"/>
            <a:ext cx="2542032" cy="384048"/>
          </a:xfrm>
          <a:prstGeom prst="rect">
            <a:avLst/>
          </a:prstGeom>
          <a:noFill/>
          <a:ln/>
        </p:spPr>
        <p:txBody>
          <a:bodyPr wrap="square" lIns="0" tIns="0" rIns="0" bIns="0" rtlCol="0" anchor="t"/>
          <a:lstStyle/>
          <a:p>
            <a:pPr indent="0" marL="0">
              <a:buNone/>
            </a:pPr>
            <a:r>
              <a:rPr lang="en-US" sz="1100" dirty="0">
                <a:solidFill>
                  <a:srgbClr val="4D4D4D"/>
                </a:solidFill>
              </a:rPr>
              <a:t>The agenda appears on the website</a:t>
            </a:r>
            <a:endParaRPr lang="en-US" sz="1100" dirty="0"/>
          </a:p>
        </p:txBody>
      </p:sp>
      <p:sp>
        <p:nvSpPr>
          <p:cNvPr id="20" name="Text 17"/>
          <p:cNvSpPr txBox="1"/>
          <p:nvPr/>
        </p:nvSpPr>
        <p:spPr>
          <a:xfrm>
            <a:off x="502920" y="5852160"/>
            <a:ext cx="8138160" cy="274320"/>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A standard Salesforce Lightning app, so Memorial Hermann’s admins can own it after launch.</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Fully booked? Capture interest and invite them first</a:t>
            </a:r>
            <a:endParaRPr lang="en-US" sz="3200" dirty="0"/>
          </a:p>
        </p:txBody>
      </p:sp>
      <p:pic>
        <p:nvPicPr>
          <p:cNvPr id="3" name="10-interest-list.png" descr="/home/user/presales_memorial-hermann/deck/mockups/png/10-interest-list.png">    </p:cNvPr>
          <p:cNvPicPr>
            <a:picLocks noChangeAspect="1"/>
          </p:cNvPicPr>
          <p:nvPr/>
        </p:nvPicPr>
        <p:blipFill>
          <a:blip r:embed="rId1"/>
          <a:stretch>
            <a:fillRect/>
          </a:stretch>
        </p:blipFill>
        <p:spPr>
          <a:xfrm>
            <a:off x="502920" y="1481328"/>
            <a:ext cx="11185855" cy="4474342"/>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502920" y="6035040"/>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Works for classes, events and conference sessions. Head-start window [to confirm].</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or Experience Cloud site</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Chase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as for classes today)</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Chase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One gateway: Chase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RECOMMENDED</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Chase for every event</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Reuse today’s class integration; Authorize.net kept only for past refunds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TO CONFIRM</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Finance sign-off</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merchant setup for conference fees [to confirm]</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Cancellations and refunds through today’s Chase workflows</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Four sprints: conferences live in eight weeks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Walk through today’s Experience Cloud site and Certain; design the conference extension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3-6  ·  Build</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Sessions, speakers, My Agenda, seat limits and waitlists, Chase checkout, Zoom or Teams links</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7-8  ·  Test and go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Load and user testing, go-live and hypercare. Certain retired</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9+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the eight weeks deliver</a:t>
            </a:r>
            <a:endParaRPr lang="en-US" sz="3200" dirty="0"/>
          </a:p>
        </p:txBody>
      </p:sp>
      <p:sp>
        <p:nvSpPr>
          <p:cNvPr id="3" name="Text 1"/>
          <p:cNvSpPr txBox="1"/>
          <p:nvPr/>
        </p:nvSpPr>
        <p:spPr>
          <a:xfrm>
            <a:off x="576072" y="1554480"/>
            <a:ext cx="204825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770632" y="1554480"/>
            <a:ext cx="8842248" cy="384048"/>
          </a:xfrm>
          <a:prstGeom prst="rect">
            <a:avLst/>
          </a:prstGeom>
          <a:noFill/>
          <a:ln/>
        </p:spPr>
        <p:txBody>
          <a:bodyPr wrap="square" lIns="0" tIns="0" rIns="0" bIns="0" rtlCol="0" anchor="b"/>
          <a:lstStyle/>
          <a:p>
            <a:pPr indent="0" marL="0">
              <a:buNone/>
            </a:pPr>
            <a:r>
              <a:rPr lang="en-US" sz="1500" b="1" dirty="0">
                <a:solidFill>
                  <a:schemeClr val="tx1"/>
                </a:solidFill>
              </a:rPr>
              <a:t>Conferences on Salesforce, replacing Certain</a:t>
            </a:r>
            <a:endParaRPr lang="en-US" sz="1500" dirty="0"/>
          </a:p>
        </p:txBody>
      </p:sp>
      <p:sp>
        <p:nvSpPr>
          <p:cNvPr id="5" name="Shape 3"/>
          <p:cNvSpPr/>
          <p:nvPr/>
        </p:nvSpPr>
        <p:spPr>
          <a:xfrm>
            <a:off x="502920" y="2011680"/>
            <a:ext cx="11183112" cy="0"/>
          </a:xfrm>
          <a:prstGeom prst="line">
            <a:avLst/>
          </a:prstGeom>
          <a:noFill/>
          <a:ln w="19050">
            <a:solidFill>
              <a:schemeClr val="tx1"/>
            </a:solidFill>
            <a:prstDash val="solid"/>
          </a:ln>
        </p:spPr>
      </p:sp>
      <p:sp>
        <p:nvSpPr>
          <p:cNvPr id="6" name="Text 4"/>
          <p:cNvSpPr txBox="1"/>
          <p:nvPr/>
        </p:nvSpPr>
        <p:spPr>
          <a:xfrm>
            <a:off x="576072" y="208483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7" name="Text 5"/>
          <p:cNvSpPr txBox="1"/>
          <p:nvPr/>
        </p:nvSpPr>
        <p:spPr>
          <a:xfrm>
            <a:off x="2770632" y="2084832"/>
            <a:ext cx="8842248"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speakers and session capacity inside today’s event solution</a:t>
            </a:r>
            <a:endParaRPr lang="en-US" sz="1300" dirty="0"/>
          </a:p>
        </p:txBody>
      </p:sp>
      <p:sp>
        <p:nvSpPr>
          <p:cNvPr id="8" name="Shape 6"/>
          <p:cNvSpPr/>
          <p:nvPr/>
        </p:nvSpPr>
        <p:spPr>
          <a:xfrm>
            <a:off x="502920" y="2560320"/>
            <a:ext cx="11183112" cy="0"/>
          </a:xfrm>
          <a:prstGeom prst="line">
            <a:avLst/>
          </a:prstGeom>
          <a:noFill/>
          <a:ln w="9525">
            <a:solidFill>
              <a:srgbClr val="8C8C8C"/>
            </a:solidFill>
            <a:prstDash val="sysDot"/>
          </a:ln>
        </p:spPr>
      </p:sp>
      <p:sp>
        <p:nvSpPr>
          <p:cNvPr id="9" name="Text 7"/>
          <p:cNvSpPr txBox="1"/>
          <p:nvPr/>
        </p:nvSpPr>
        <p:spPr>
          <a:xfrm>
            <a:off x="576072" y="263347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0" name="Text 8"/>
          <p:cNvSpPr txBox="1"/>
          <p:nvPr/>
        </p:nvSpPr>
        <p:spPr>
          <a:xfrm>
            <a:off x="2770632" y="2633472"/>
            <a:ext cx="8842248"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 on today’s Experience Cloud site</a:t>
            </a:r>
            <a:endParaRPr lang="en-US" sz="1300" dirty="0"/>
          </a:p>
        </p:txBody>
      </p:sp>
      <p:sp>
        <p:nvSpPr>
          <p:cNvPr id="11" name="Shape 9"/>
          <p:cNvSpPr/>
          <p:nvPr/>
        </p:nvSpPr>
        <p:spPr>
          <a:xfrm>
            <a:off x="502920" y="3108960"/>
            <a:ext cx="11183112" cy="0"/>
          </a:xfrm>
          <a:prstGeom prst="line">
            <a:avLst/>
          </a:prstGeom>
          <a:noFill/>
          <a:ln w="9525">
            <a:solidFill>
              <a:srgbClr val="8C8C8C"/>
            </a:solidFill>
            <a:prstDash val="sysDot"/>
          </a:ln>
        </p:spPr>
      </p:sp>
      <p:sp>
        <p:nvSpPr>
          <p:cNvPr id="12" name="Text 10"/>
          <p:cNvSpPr txBox="1"/>
          <p:nvPr/>
        </p:nvSpPr>
        <p:spPr>
          <a:xfrm>
            <a:off x="576072" y="318211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3" name="Text 11"/>
          <p:cNvSpPr txBox="1"/>
          <p:nvPr/>
        </p:nvSpPr>
        <p:spPr>
          <a:xfrm>
            <a:off x="2770632" y="3182112"/>
            <a:ext cx="8842248" cy="438912"/>
          </a:xfrm>
          <a:prstGeom prst="rect">
            <a:avLst/>
          </a:prstGeom>
          <a:noFill/>
          <a:ln/>
        </p:spPr>
        <p:txBody>
          <a:bodyPr wrap="square" lIns="0" tIns="0" rIns="0" bIns="0" rtlCol="0" anchor="ctr"/>
          <a:lstStyle/>
          <a:p>
            <a:pPr indent="0" marL="0">
              <a:buNone/>
            </a:pPr>
            <a:r>
              <a:rPr lang="en-US" sz="1300" dirty="0">
                <a:solidFill>
                  <a:srgbClr val="4D4D4D"/>
                </a:solidFill>
              </a:rPr>
              <a:t>Chase checkout; cancellations and refunds through today’s workflows</a:t>
            </a:r>
            <a:endParaRPr lang="en-US" sz="1300" dirty="0"/>
          </a:p>
        </p:txBody>
      </p:sp>
      <p:sp>
        <p:nvSpPr>
          <p:cNvPr id="14" name="Shape 12"/>
          <p:cNvSpPr/>
          <p:nvPr/>
        </p:nvSpPr>
        <p:spPr>
          <a:xfrm>
            <a:off x="502920" y="3657600"/>
            <a:ext cx="11183112" cy="0"/>
          </a:xfrm>
          <a:prstGeom prst="line">
            <a:avLst/>
          </a:prstGeom>
          <a:noFill/>
          <a:ln w="9525">
            <a:solidFill>
              <a:srgbClr val="8C8C8C"/>
            </a:solidFill>
            <a:prstDash val="sysDot"/>
          </a:ln>
        </p:spPr>
      </p:sp>
      <p:sp>
        <p:nvSpPr>
          <p:cNvPr id="15" name="Text 13"/>
          <p:cNvSpPr txBox="1"/>
          <p:nvPr/>
        </p:nvSpPr>
        <p:spPr>
          <a:xfrm>
            <a:off x="576072" y="373075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Online sessions</a:t>
            </a:r>
            <a:endParaRPr lang="en-US" sz="1300" dirty="0"/>
          </a:p>
        </p:txBody>
      </p:sp>
      <p:sp>
        <p:nvSpPr>
          <p:cNvPr id="16" name="Text 14"/>
          <p:cNvSpPr txBox="1"/>
          <p:nvPr/>
        </p:nvSpPr>
        <p:spPr>
          <a:xfrm>
            <a:off x="2770632" y="3730752"/>
            <a:ext cx="8842248" cy="438912"/>
          </a:xfrm>
          <a:prstGeom prst="rect">
            <a:avLst/>
          </a:prstGeom>
          <a:noFill/>
          <a:ln/>
        </p:spPr>
        <p:txBody>
          <a:bodyPr wrap="square" lIns="0" tIns="0" rIns="0" bIns="0" rtlCol="0" anchor="ctr"/>
          <a:lstStyle/>
          <a:p>
            <a:pPr indent="0" marL="0">
              <a:buNone/>
            </a:pPr>
            <a:r>
              <a:rPr lang="en-US" sz="1300" dirty="0">
                <a:solidFill>
                  <a:srgbClr val="4D4D4D"/>
                </a:solidFill>
              </a:rPr>
              <a:t>Personal Zoom or Teams join links that work from anywhere</a:t>
            </a:r>
            <a:endParaRPr lang="en-US" sz="1300" dirty="0"/>
          </a:p>
        </p:txBody>
      </p:sp>
      <p:sp>
        <p:nvSpPr>
          <p:cNvPr id="17" name="Shape 15"/>
          <p:cNvSpPr/>
          <p:nvPr/>
        </p:nvSpPr>
        <p:spPr>
          <a:xfrm>
            <a:off x="502920" y="4206240"/>
            <a:ext cx="11183112" cy="0"/>
          </a:xfrm>
          <a:prstGeom prst="line">
            <a:avLst/>
          </a:prstGeom>
          <a:noFill/>
          <a:ln w="9525">
            <a:solidFill>
              <a:srgbClr val="8C8C8C"/>
            </a:solidFill>
            <a:prstDash val="sysDot"/>
          </a:ln>
        </p:spPr>
      </p:sp>
      <p:sp>
        <p:nvSpPr>
          <p:cNvPr id="18" name="Text 16"/>
          <p:cNvSpPr txBox="1"/>
          <p:nvPr/>
        </p:nvSpPr>
        <p:spPr>
          <a:xfrm>
            <a:off x="576072" y="427939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19" name="Text 17"/>
          <p:cNvSpPr txBox="1"/>
          <p:nvPr/>
        </p:nvSpPr>
        <p:spPr>
          <a:xfrm>
            <a:off x="2770632" y="4279392"/>
            <a:ext cx="8842248" cy="438912"/>
          </a:xfrm>
          <a:prstGeom prst="rect">
            <a:avLst/>
          </a:prstGeom>
          <a:noFill/>
          <a:ln/>
        </p:spPr>
        <p:txBody>
          <a:bodyPr wrap="square" lIns="0" tIns="0" rIns="0" bIns="0" rtlCol="0" anchor="ctr"/>
          <a:lstStyle/>
          <a:p>
            <a:pPr indent="0" marL="0">
              <a:buNone/>
            </a:pPr>
            <a:r>
              <a:rPr lang="en-US" sz="1300" dirty="0">
                <a:solidFill>
                  <a:srgbClr val="4D4D4D"/>
                </a:solidFill>
              </a:rPr>
              <a:t>Confirmations, reminders, waitlists, badges and check-in, CME [to confirm]</a:t>
            </a:r>
            <a:endParaRPr lang="en-US" sz="1300" dirty="0"/>
          </a:p>
        </p:txBody>
      </p:sp>
      <p:sp>
        <p:nvSpPr>
          <p:cNvPr id="20" name="Shape 18"/>
          <p:cNvSpPr/>
          <p:nvPr/>
        </p:nvSpPr>
        <p:spPr>
          <a:xfrm>
            <a:off x="502920" y="4754880"/>
            <a:ext cx="11183112" cy="0"/>
          </a:xfrm>
          <a:prstGeom prst="line">
            <a:avLst/>
          </a:prstGeom>
          <a:noFill/>
          <a:ln w="9525">
            <a:solidFill>
              <a:srgbClr val="8C8C8C"/>
            </a:solidFill>
            <a:prstDash val="sysDot"/>
          </a:ln>
        </p:spPr>
      </p:sp>
      <p:sp>
        <p:nvSpPr>
          <p:cNvPr id="21" name="Text 19"/>
          <p:cNvSpPr txBox="1"/>
          <p:nvPr/>
        </p:nvSpPr>
        <p:spPr>
          <a:xfrm>
            <a:off x="576072" y="482803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2" name="Text 20"/>
          <p:cNvSpPr txBox="1"/>
          <p:nvPr/>
        </p:nvSpPr>
        <p:spPr>
          <a:xfrm>
            <a:off x="2770632" y="4828032"/>
            <a:ext cx="8842248" cy="438912"/>
          </a:xfrm>
          <a:prstGeom prst="rect">
            <a:avLst/>
          </a:prstGeom>
          <a:noFill/>
          <a:ln/>
        </p:spPr>
        <p:txBody>
          <a:bodyPr wrap="square" lIns="0" tIns="0" rIns="0" bIns="0" rtlCol="0" anchor="ctr"/>
          <a:lstStyle/>
          <a:p>
            <a:pPr indent="0" marL="0">
              <a:buNone/>
            </a:pPr>
            <a:r>
              <a:rPr lang="en-US" sz="1300" dirty="0">
                <a:solidFill>
                  <a:srgbClr val="4D4D4D"/>
                </a:solidFill>
              </a:rPr>
              <a:t>No migration: conferences start fresh in Salesforce</a:t>
            </a:r>
            <a:endParaRPr lang="en-US" sz="1300" dirty="0"/>
          </a:p>
        </p:txBody>
      </p:sp>
      <p:sp>
        <p:nvSpPr>
          <p:cNvPr id="23" name="Shape 21"/>
          <p:cNvSpPr/>
          <p:nvPr/>
        </p:nvSpPr>
        <p:spPr>
          <a:xfrm>
            <a:off x="502920" y="5303520"/>
            <a:ext cx="11183112" cy="0"/>
          </a:xfrm>
          <a:prstGeom prst="line">
            <a:avLst/>
          </a:prstGeom>
          <a:noFill/>
          <a:ln w="9525">
            <a:solidFill>
              <a:srgbClr val="8C8C8C"/>
            </a:solidFill>
            <a:prstDash val="sysDot"/>
          </a:ln>
        </p:spPr>
      </p:sp>
      <p:sp>
        <p:nvSpPr>
          <p:cNvPr id="24" name="Text 22"/>
          <p:cNvSpPr txBox="1"/>
          <p:nvPr/>
        </p:nvSpPr>
        <p:spPr>
          <a:xfrm>
            <a:off x="576072" y="537667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25" name="Text 23"/>
          <p:cNvSpPr txBox="1"/>
          <p:nvPr/>
        </p:nvSpPr>
        <p:spPr>
          <a:xfrm>
            <a:off x="2770632" y="5376672"/>
            <a:ext cx="8842248" cy="438912"/>
          </a:xfrm>
          <a:prstGeom prst="rect">
            <a:avLst/>
          </a:prstGeom>
          <a:noFill/>
          <a:ln/>
        </p:spPr>
        <p:txBody>
          <a:bodyPr wrap="square" lIns="0" tIns="0" rIns="0" bIns="0" rtlCol="0" anchor="ctr"/>
          <a:lstStyle/>
          <a:p>
            <a:pPr indent="0" marL="0">
              <a:buNone/>
            </a:pPr>
            <a:r>
              <a:rPr lang="en-US" sz="1300" dirty="0">
                <a:solidFill>
                  <a:srgbClr val="4D4D4D"/>
                </a:solidFill>
              </a:rPr>
              <a:t>Certain and its IP-restricted video link</a:t>
            </a:r>
            <a:endParaRPr lang="en-US" sz="1300" dirty="0"/>
          </a:p>
        </p:txBody>
      </p:sp>
      <p:sp>
        <p:nvSpPr>
          <p:cNvPr id="26" name="Shape 24"/>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4 two-week sprints, live in 8 weeks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970532" cy="256032"/>
          </a:xfrm>
          <a:prstGeom prst="rect">
            <a:avLst/>
          </a:prstGeom>
          <a:noFill/>
          <a:ln/>
        </p:spPr>
        <p:txBody>
          <a:bodyPr wrap="square" lIns="0" tIns="0" rIns="0" bIns="0" rtlCol="0" anchor="ctr"/>
          <a:lstStyle/>
          <a:p>
            <a:pPr indent="0" marL="0">
              <a:buNone/>
            </a:pPr>
            <a:r>
              <a:rPr lang="en-US" sz="1100" b="1" dirty="0">
                <a:solidFill>
                  <a:srgbClr val="C8005A"/>
                </a:solidFill>
              </a:rPr>
              <a:t>Build, test and go live</a:t>
            </a:r>
            <a:endParaRPr lang="en-US" sz="1100" dirty="0"/>
          </a:p>
        </p:txBody>
      </p:sp>
      <p:sp>
        <p:nvSpPr>
          <p:cNvPr id="8" name="Shape 6"/>
          <p:cNvSpPr/>
          <p:nvPr/>
        </p:nvSpPr>
        <p:spPr>
          <a:xfrm>
            <a:off x="9905695" y="1728216"/>
            <a:ext cx="164592" cy="164592"/>
          </a:xfrm>
          <a:prstGeom prst="diamond">
            <a:avLst/>
          </a:prstGeom>
          <a:solidFill>
            <a:srgbClr val="000000"/>
          </a:solidFill>
          <a:ln w="12700">
            <a:solidFill>
              <a:srgbClr val="000000"/>
            </a:solidFill>
            <a:prstDash val="solid"/>
          </a:ln>
        </p:spPr>
      </p:sp>
      <p:sp>
        <p:nvSpPr>
          <p:cNvPr id="9" name="Text 7"/>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0" name="sprint-1"/>
          <p:cNvSpPr/>
          <p:nvPr/>
        </p:nvSpPr>
        <p:spPr>
          <a:xfrm>
            <a:off x="502920" y="2148840"/>
            <a:ext cx="2659304" cy="3017520"/>
          </a:xfrm>
          <a:prstGeom prst="roundRect">
            <a:avLst>
              <a:gd name="adj" fmla="val 4126"/>
            </a:avLst>
          </a:prstGeom>
          <a:solidFill>
            <a:srgbClr val="F2F2F2"/>
          </a:solidFill>
          <a:ln w="22225">
            <a:solidFill>
              <a:srgbClr val="00A9C0"/>
            </a:solidFill>
            <a:prstDash val="solid"/>
          </a:ln>
        </p:spPr>
      </p:sp>
      <p:sp>
        <p:nvSpPr>
          <p:cNvPr id="11" name="Text 9"/>
          <p:cNvSpPr txBox="1"/>
          <p:nvPr/>
        </p:nvSpPr>
        <p:spPr>
          <a:xfrm>
            <a:off x="704088" y="2331720"/>
            <a:ext cx="2256968" cy="256032"/>
          </a:xfrm>
          <a:prstGeom prst="rect">
            <a:avLst/>
          </a:prstGeom>
          <a:noFill/>
          <a:ln/>
        </p:spPr>
        <p:txBody>
          <a:bodyPr wrap="square" lIns="0" tIns="0" rIns="0" bIns="0" rtlCol="0" anchor="t"/>
          <a:lstStyle/>
          <a:p>
            <a:pPr indent="0" marL="0">
              <a:buNone/>
            </a:pPr>
            <a:r>
              <a:rPr lang="en-US" sz="1300" b="1" spc="200" kern="0" dirty="0">
                <a:solidFill>
                  <a:srgbClr val="007C8C"/>
                </a:solidFill>
              </a:rPr>
              <a:t>SPRINT 1</a:t>
            </a:r>
            <a:endParaRPr lang="en-US" sz="1300" dirty="0"/>
          </a:p>
        </p:txBody>
      </p:sp>
      <p:sp>
        <p:nvSpPr>
          <p:cNvPr id="12" name="Text 10"/>
          <p:cNvSpPr txBox="1"/>
          <p:nvPr/>
        </p:nvSpPr>
        <p:spPr>
          <a:xfrm>
            <a:off x="704088" y="2624328"/>
            <a:ext cx="2256968" cy="237744"/>
          </a:xfrm>
          <a:prstGeom prst="rect">
            <a:avLst/>
          </a:prstGeom>
          <a:noFill/>
          <a:ln/>
        </p:spPr>
        <p:txBody>
          <a:bodyPr wrap="square" lIns="0" tIns="0" rIns="0" bIns="0" rtlCol="0" anchor="t"/>
          <a:lstStyle/>
          <a:p>
            <a:pPr indent="0" marL="0">
              <a:buNone/>
            </a:pPr>
            <a:r>
              <a:rPr lang="en-US" sz="1200" dirty="0">
                <a:solidFill>
                  <a:srgbClr val="4D4D4D"/>
                </a:solidFill>
              </a:rPr>
              <a:t>Weeks 1-2</a:t>
            </a:r>
            <a:endParaRPr lang="en-US" sz="1200" dirty="0"/>
          </a:p>
        </p:txBody>
      </p:sp>
      <p:sp>
        <p:nvSpPr>
          <p:cNvPr id="13" name="Text 11"/>
          <p:cNvSpPr txBox="1"/>
          <p:nvPr/>
        </p:nvSpPr>
        <p:spPr>
          <a:xfrm>
            <a:off x="704088" y="3017520"/>
            <a:ext cx="2256968" cy="1417320"/>
          </a:xfrm>
          <a:prstGeom prst="rect">
            <a:avLst/>
          </a:prstGeom>
          <a:noFill/>
          <a:ln/>
        </p:spPr>
        <p:txBody>
          <a:bodyPr wrap="square" lIns="0" tIns="0" rIns="0" bIns="0" rtlCol="0" anchor="t"/>
          <a:lstStyle/>
          <a:p>
            <a:pPr indent="0" marL="0">
              <a:buNone/>
            </a:pPr>
            <a:r>
              <a:rPr lang="en-US" sz="1300" dirty="0">
                <a:solidFill>
                  <a:srgbClr val="000000"/>
                </a:solidFill>
              </a:rPr>
              <a:t>Walk through today’s Experience Cloud site, event objects and Certain setup. Design the conference extension; confirm Zoom or Teams.</a:t>
            </a:r>
            <a:endParaRPr lang="en-US" sz="1300" dirty="0"/>
          </a:p>
        </p:txBody>
      </p:sp>
      <p:sp>
        <p:nvSpPr>
          <p:cNvPr id="14" name="Shape 12"/>
          <p:cNvSpPr/>
          <p:nvPr/>
        </p:nvSpPr>
        <p:spPr>
          <a:xfrm>
            <a:off x="704088" y="4526280"/>
            <a:ext cx="2256968" cy="0"/>
          </a:xfrm>
          <a:prstGeom prst="line">
            <a:avLst/>
          </a:prstGeom>
          <a:noFill/>
          <a:ln w="9525">
            <a:solidFill>
              <a:srgbClr val="D0D0D6"/>
            </a:solidFill>
            <a:prstDash val="solid"/>
          </a:ln>
        </p:spPr>
      </p:sp>
      <p:sp>
        <p:nvSpPr>
          <p:cNvPr id="15" name="Shape 13"/>
          <p:cNvSpPr/>
          <p:nvPr/>
        </p:nvSpPr>
        <p:spPr>
          <a:xfrm>
            <a:off x="704088" y="4736592"/>
            <a:ext cx="164592" cy="164592"/>
          </a:xfrm>
          <a:prstGeom prst="diamond">
            <a:avLst/>
          </a:prstGeom>
          <a:solidFill>
            <a:srgbClr val="000000"/>
          </a:solidFill>
          <a:ln w="12700">
            <a:solidFill>
              <a:srgbClr val="000000"/>
            </a:solidFill>
            <a:prstDash val="solid"/>
          </a:ln>
        </p:spPr>
      </p:sp>
      <p:sp>
        <p:nvSpPr>
          <p:cNvPr id="16" name="Text 14"/>
          <p:cNvSpPr txBox="1"/>
          <p:nvPr/>
        </p:nvSpPr>
        <p:spPr>
          <a:xfrm>
            <a:off x="978408" y="4663440"/>
            <a:ext cx="1982648" cy="310896"/>
          </a:xfrm>
          <a:prstGeom prst="rect">
            <a:avLst/>
          </a:prstGeom>
          <a:noFill/>
          <a:ln/>
        </p:spPr>
        <p:txBody>
          <a:bodyPr wrap="square" lIns="0" tIns="0" rIns="0" bIns="0" rtlCol="0" anchor="ctr"/>
          <a:lstStyle/>
          <a:p>
            <a:pPr indent="0" marL="0">
              <a:buNone/>
            </a:pPr>
            <a:r>
              <a:rPr lang="en-US" sz="1250" b="1" dirty="0">
                <a:solidFill>
                  <a:srgbClr val="000000"/>
                </a:solidFill>
              </a:rPr>
              <a:t>Design sign-off</a:t>
            </a:r>
            <a:endParaRPr lang="en-US" sz="1250" dirty="0"/>
          </a:p>
        </p:txBody>
      </p:sp>
      <p:sp>
        <p:nvSpPr>
          <p:cNvPr id="17" name="sprint-2"/>
          <p:cNvSpPr/>
          <p:nvPr/>
        </p:nvSpPr>
        <p:spPr>
          <a:xfrm>
            <a:off x="3345104" y="2148840"/>
            <a:ext cx="2659304" cy="3017520"/>
          </a:xfrm>
          <a:prstGeom prst="roundRect">
            <a:avLst>
              <a:gd name="adj" fmla="val 4126"/>
            </a:avLst>
          </a:prstGeom>
          <a:solidFill>
            <a:srgbClr val="F2F2F2"/>
          </a:solidFill>
          <a:ln w="22225">
            <a:solidFill>
              <a:srgbClr val="FF0068"/>
            </a:solidFill>
            <a:prstDash val="solid"/>
          </a:ln>
        </p:spPr>
      </p:sp>
      <p:sp>
        <p:nvSpPr>
          <p:cNvPr id="18" name="Text 16"/>
          <p:cNvSpPr txBox="1"/>
          <p:nvPr/>
        </p:nvSpPr>
        <p:spPr>
          <a:xfrm>
            <a:off x="3546272" y="2331720"/>
            <a:ext cx="2256968" cy="256032"/>
          </a:xfrm>
          <a:prstGeom prst="rect">
            <a:avLst/>
          </a:prstGeom>
          <a:noFill/>
          <a:ln/>
        </p:spPr>
        <p:txBody>
          <a:bodyPr wrap="square" lIns="0" tIns="0" rIns="0" bIns="0" rtlCol="0" anchor="t"/>
          <a:lstStyle/>
          <a:p>
            <a:pPr indent="0" marL="0">
              <a:buNone/>
            </a:pPr>
            <a:r>
              <a:rPr lang="en-US" sz="1300" b="1" spc="200" kern="0" dirty="0">
                <a:solidFill>
                  <a:srgbClr val="C8005A"/>
                </a:solidFill>
              </a:rPr>
              <a:t>SPRINT 2</a:t>
            </a:r>
            <a:endParaRPr lang="en-US" sz="1300" dirty="0"/>
          </a:p>
        </p:txBody>
      </p:sp>
      <p:sp>
        <p:nvSpPr>
          <p:cNvPr id="19" name="Text 17"/>
          <p:cNvSpPr txBox="1"/>
          <p:nvPr/>
        </p:nvSpPr>
        <p:spPr>
          <a:xfrm>
            <a:off x="3546272" y="2624328"/>
            <a:ext cx="2256968" cy="237744"/>
          </a:xfrm>
          <a:prstGeom prst="rect">
            <a:avLst/>
          </a:prstGeom>
          <a:noFill/>
          <a:ln/>
        </p:spPr>
        <p:txBody>
          <a:bodyPr wrap="square" lIns="0" tIns="0" rIns="0" bIns="0" rtlCol="0" anchor="t"/>
          <a:lstStyle/>
          <a:p>
            <a:pPr indent="0" marL="0">
              <a:buNone/>
            </a:pPr>
            <a:r>
              <a:rPr lang="en-US" sz="1200" dirty="0">
                <a:solidFill>
                  <a:srgbClr val="4D4D4D"/>
                </a:solidFill>
              </a:rPr>
              <a:t>Weeks 3-4</a:t>
            </a:r>
            <a:endParaRPr lang="en-US" sz="1200" dirty="0"/>
          </a:p>
        </p:txBody>
      </p:sp>
      <p:sp>
        <p:nvSpPr>
          <p:cNvPr id="20" name="Text 18"/>
          <p:cNvSpPr txBox="1"/>
          <p:nvPr/>
        </p:nvSpPr>
        <p:spPr>
          <a:xfrm>
            <a:off x="3546272" y="3017520"/>
            <a:ext cx="2256968" cy="1417320"/>
          </a:xfrm>
          <a:prstGeom prst="rect">
            <a:avLst/>
          </a:prstGeom>
          <a:noFill/>
          <a:ln/>
        </p:spPr>
        <p:txBody>
          <a:bodyPr wrap="square" lIns="0" tIns="0" rIns="0" bIns="0" rtlCol="0" anchor="t"/>
          <a:lstStyle/>
          <a:p>
            <a:pPr indent="0" marL="0">
              <a:buNone/>
            </a:pPr>
            <a:r>
              <a:rPr lang="en-US" sz="1300" dirty="0">
                <a:solidFill>
                  <a:srgbClr val="000000"/>
                </a:solidFill>
              </a:rPr>
              <a:t>Conferences, sessions, tracks, rooms and speakers in Salesforce. Ticket types and pricing.</a:t>
            </a:r>
            <a:endParaRPr lang="en-US" sz="1300" dirty="0"/>
          </a:p>
        </p:txBody>
      </p:sp>
      <p:sp>
        <p:nvSpPr>
          <p:cNvPr id="21" name="Shape 19"/>
          <p:cNvSpPr/>
          <p:nvPr/>
        </p:nvSpPr>
        <p:spPr>
          <a:xfrm>
            <a:off x="3546272" y="4526280"/>
            <a:ext cx="2256968" cy="0"/>
          </a:xfrm>
          <a:prstGeom prst="line">
            <a:avLst/>
          </a:prstGeom>
          <a:noFill/>
          <a:ln w="9525">
            <a:solidFill>
              <a:srgbClr val="D0D0D6"/>
            </a:solidFill>
            <a:prstDash val="solid"/>
          </a:ln>
        </p:spPr>
      </p:sp>
      <p:sp>
        <p:nvSpPr>
          <p:cNvPr id="22" name="Shape 20"/>
          <p:cNvSpPr/>
          <p:nvPr/>
        </p:nvSpPr>
        <p:spPr>
          <a:xfrm>
            <a:off x="3546272" y="4736592"/>
            <a:ext cx="164592" cy="164592"/>
          </a:xfrm>
          <a:prstGeom prst="diamond">
            <a:avLst/>
          </a:prstGeom>
          <a:solidFill>
            <a:srgbClr val="000000"/>
          </a:solidFill>
          <a:ln w="12700">
            <a:solidFill>
              <a:srgbClr val="000000"/>
            </a:solidFill>
            <a:prstDash val="solid"/>
          </a:ln>
        </p:spPr>
      </p:sp>
      <p:sp>
        <p:nvSpPr>
          <p:cNvPr id="23" name="Text 21"/>
          <p:cNvSpPr txBox="1"/>
          <p:nvPr/>
        </p:nvSpPr>
        <p:spPr>
          <a:xfrm>
            <a:off x="3820592" y="4663440"/>
            <a:ext cx="1982648" cy="310896"/>
          </a:xfrm>
          <a:prstGeom prst="rect">
            <a:avLst/>
          </a:prstGeom>
          <a:noFill/>
          <a:ln/>
        </p:spPr>
        <p:txBody>
          <a:bodyPr wrap="square" lIns="0" tIns="0" rIns="0" bIns="0" rtlCol="0" anchor="ctr"/>
          <a:lstStyle/>
          <a:p>
            <a:pPr indent="0" marL="0">
              <a:buNone/>
            </a:pPr>
            <a:r>
              <a:rPr lang="en-US" sz="1250" b="1" dirty="0">
                <a:solidFill>
                  <a:srgbClr val="000000"/>
                </a:solidFill>
              </a:rPr>
              <a:t>Conference setup demo</a:t>
            </a:r>
            <a:endParaRPr lang="en-US" sz="1250" dirty="0"/>
          </a:p>
        </p:txBody>
      </p:sp>
      <p:sp>
        <p:nvSpPr>
          <p:cNvPr id="24" name="sprint-3"/>
          <p:cNvSpPr/>
          <p:nvPr/>
        </p:nvSpPr>
        <p:spPr>
          <a:xfrm>
            <a:off x="6187288" y="2148840"/>
            <a:ext cx="2659304" cy="3017520"/>
          </a:xfrm>
          <a:prstGeom prst="roundRect">
            <a:avLst>
              <a:gd name="adj" fmla="val 4126"/>
            </a:avLst>
          </a:prstGeom>
          <a:solidFill>
            <a:srgbClr val="F2F2F2"/>
          </a:solidFill>
          <a:ln w="22225">
            <a:solidFill>
              <a:srgbClr val="FF0068"/>
            </a:solidFill>
            <a:prstDash val="solid"/>
          </a:ln>
        </p:spPr>
      </p:sp>
      <p:sp>
        <p:nvSpPr>
          <p:cNvPr id="25" name="Text 23"/>
          <p:cNvSpPr txBox="1"/>
          <p:nvPr/>
        </p:nvSpPr>
        <p:spPr>
          <a:xfrm>
            <a:off x="6388456" y="2331720"/>
            <a:ext cx="2256968" cy="256032"/>
          </a:xfrm>
          <a:prstGeom prst="rect">
            <a:avLst/>
          </a:prstGeom>
          <a:noFill/>
          <a:ln/>
        </p:spPr>
        <p:txBody>
          <a:bodyPr wrap="square" lIns="0" tIns="0" rIns="0" bIns="0" rtlCol="0" anchor="t"/>
          <a:lstStyle/>
          <a:p>
            <a:pPr indent="0" marL="0">
              <a:buNone/>
            </a:pPr>
            <a:r>
              <a:rPr lang="en-US" sz="1300" b="1" spc="200" kern="0" dirty="0">
                <a:solidFill>
                  <a:srgbClr val="C8005A"/>
                </a:solidFill>
              </a:rPr>
              <a:t>SPRINT 3</a:t>
            </a:r>
            <a:endParaRPr lang="en-US" sz="1300" dirty="0"/>
          </a:p>
        </p:txBody>
      </p:sp>
      <p:sp>
        <p:nvSpPr>
          <p:cNvPr id="26" name="Text 24"/>
          <p:cNvSpPr txBox="1"/>
          <p:nvPr/>
        </p:nvSpPr>
        <p:spPr>
          <a:xfrm>
            <a:off x="6388456" y="2624328"/>
            <a:ext cx="2256968" cy="237744"/>
          </a:xfrm>
          <a:prstGeom prst="rect">
            <a:avLst/>
          </a:prstGeom>
          <a:noFill/>
          <a:ln/>
        </p:spPr>
        <p:txBody>
          <a:bodyPr wrap="square" lIns="0" tIns="0" rIns="0" bIns="0" rtlCol="0" anchor="t"/>
          <a:lstStyle/>
          <a:p>
            <a:pPr indent="0" marL="0">
              <a:buNone/>
            </a:pPr>
            <a:r>
              <a:rPr lang="en-US" sz="1200" dirty="0">
                <a:solidFill>
                  <a:srgbClr val="4D4D4D"/>
                </a:solidFill>
              </a:rPr>
              <a:t>Weeks 5-6</a:t>
            </a:r>
            <a:endParaRPr lang="en-US" sz="1200" dirty="0"/>
          </a:p>
        </p:txBody>
      </p:sp>
      <p:sp>
        <p:nvSpPr>
          <p:cNvPr id="27" name="Text 25"/>
          <p:cNvSpPr txBox="1"/>
          <p:nvPr/>
        </p:nvSpPr>
        <p:spPr>
          <a:xfrm>
            <a:off x="6388456" y="3017520"/>
            <a:ext cx="2256968" cy="1417320"/>
          </a:xfrm>
          <a:prstGeom prst="rect">
            <a:avLst/>
          </a:prstGeom>
          <a:noFill/>
          <a:ln/>
        </p:spPr>
        <p:txBody>
          <a:bodyPr wrap="square" lIns="0" tIns="0" rIns="0" bIns="0" rtlCol="0" anchor="t"/>
          <a:lstStyle/>
          <a:p>
            <a:pPr indent="0" marL="0">
              <a:buNone/>
            </a:pPr>
            <a:r>
              <a:rPr lang="en-US" sz="1300" dirty="0">
                <a:solidFill>
                  <a:srgbClr val="000000"/>
                </a:solidFill>
              </a:rPr>
              <a:t>My Agenda on the Experience Cloud site. Session seat limits and waitlists. Chase checkout and Zoom or Teams join links.</a:t>
            </a:r>
            <a:endParaRPr lang="en-US" sz="1300" dirty="0"/>
          </a:p>
        </p:txBody>
      </p:sp>
      <p:sp>
        <p:nvSpPr>
          <p:cNvPr id="28" name="Shape 26"/>
          <p:cNvSpPr/>
          <p:nvPr/>
        </p:nvSpPr>
        <p:spPr>
          <a:xfrm>
            <a:off x="6388456" y="4526280"/>
            <a:ext cx="2256968" cy="0"/>
          </a:xfrm>
          <a:prstGeom prst="line">
            <a:avLst/>
          </a:prstGeom>
          <a:noFill/>
          <a:ln w="9525">
            <a:solidFill>
              <a:srgbClr val="D0D0D6"/>
            </a:solidFill>
            <a:prstDash val="solid"/>
          </a:ln>
        </p:spPr>
      </p:sp>
      <p:sp>
        <p:nvSpPr>
          <p:cNvPr id="29" name="Shape 27"/>
          <p:cNvSpPr/>
          <p:nvPr/>
        </p:nvSpPr>
        <p:spPr>
          <a:xfrm>
            <a:off x="6388456" y="4736592"/>
            <a:ext cx="164592" cy="164592"/>
          </a:xfrm>
          <a:prstGeom prst="diamond">
            <a:avLst/>
          </a:prstGeom>
          <a:solidFill>
            <a:srgbClr val="000000"/>
          </a:solidFill>
          <a:ln w="12700">
            <a:solidFill>
              <a:srgbClr val="000000"/>
            </a:solidFill>
            <a:prstDash val="solid"/>
          </a:ln>
        </p:spPr>
      </p:sp>
      <p:sp>
        <p:nvSpPr>
          <p:cNvPr id="30" name="Text 28"/>
          <p:cNvSpPr txBox="1"/>
          <p:nvPr/>
        </p:nvSpPr>
        <p:spPr>
          <a:xfrm>
            <a:off x="6662776" y="4663440"/>
            <a:ext cx="1982648" cy="310896"/>
          </a:xfrm>
          <a:prstGeom prst="rect">
            <a:avLst/>
          </a:prstGeom>
          <a:noFill/>
          <a:ln/>
        </p:spPr>
        <p:txBody>
          <a:bodyPr wrap="square" lIns="0" tIns="0" rIns="0" bIns="0" rtlCol="0" anchor="ctr"/>
          <a:lstStyle/>
          <a:p>
            <a:pPr indent="0" marL="0">
              <a:buNone/>
            </a:pPr>
            <a:r>
              <a:rPr lang="en-US" sz="1250" b="1" dirty="0">
                <a:solidFill>
                  <a:srgbClr val="000000"/>
                </a:solidFill>
              </a:rPr>
              <a:t>Book and pay end to end</a:t>
            </a:r>
            <a:endParaRPr lang="en-US" sz="1250" dirty="0"/>
          </a:p>
        </p:txBody>
      </p:sp>
      <p:sp>
        <p:nvSpPr>
          <p:cNvPr id="31" name="sprint-4"/>
          <p:cNvSpPr/>
          <p:nvPr/>
        </p:nvSpPr>
        <p:spPr>
          <a:xfrm>
            <a:off x="9029471" y="2148840"/>
            <a:ext cx="2659304" cy="3017520"/>
          </a:xfrm>
          <a:prstGeom prst="roundRect">
            <a:avLst>
              <a:gd name="adj" fmla="val 4126"/>
            </a:avLst>
          </a:prstGeom>
          <a:solidFill>
            <a:srgbClr val="000000"/>
          </a:solidFill>
          <a:ln w="22225">
            <a:solidFill>
              <a:srgbClr val="FF0068"/>
            </a:solidFill>
            <a:prstDash val="solid"/>
          </a:ln>
        </p:spPr>
      </p:sp>
      <p:sp>
        <p:nvSpPr>
          <p:cNvPr id="32" name="Text 30"/>
          <p:cNvSpPr txBox="1"/>
          <p:nvPr/>
        </p:nvSpPr>
        <p:spPr>
          <a:xfrm>
            <a:off x="9230639" y="2331720"/>
            <a:ext cx="2256968" cy="256032"/>
          </a:xfrm>
          <a:prstGeom prst="rect">
            <a:avLst/>
          </a:prstGeom>
          <a:noFill/>
          <a:ln/>
        </p:spPr>
        <p:txBody>
          <a:bodyPr wrap="square" lIns="0" tIns="0" rIns="0" bIns="0" rtlCol="0" anchor="t"/>
          <a:lstStyle/>
          <a:p>
            <a:pPr indent="0" marL="0">
              <a:buNone/>
            </a:pPr>
            <a:r>
              <a:rPr lang="en-US" sz="1300" b="1" spc="200" kern="0" dirty="0">
                <a:solidFill>
                  <a:srgbClr val="FF0068"/>
                </a:solidFill>
              </a:rPr>
              <a:t>SPRINT 4</a:t>
            </a:r>
            <a:endParaRPr lang="en-US" sz="1300" dirty="0"/>
          </a:p>
        </p:txBody>
      </p:sp>
      <p:sp>
        <p:nvSpPr>
          <p:cNvPr id="33" name="Text 31"/>
          <p:cNvSpPr txBox="1"/>
          <p:nvPr/>
        </p:nvSpPr>
        <p:spPr>
          <a:xfrm>
            <a:off x="9230639" y="2624328"/>
            <a:ext cx="2256968" cy="237744"/>
          </a:xfrm>
          <a:prstGeom prst="rect">
            <a:avLst/>
          </a:prstGeom>
          <a:noFill/>
          <a:ln/>
        </p:spPr>
        <p:txBody>
          <a:bodyPr wrap="square" lIns="0" tIns="0" rIns="0" bIns="0" rtlCol="0" anchor="t"/>
          <a:lstStyle/>
          <a:p>
            <a:pPr indent="0" marL="0">
              <a:buNone/>
            </a:pPr>
            <a:r>
              <a:rPr lang="en-US" sz="1200" dirty="0">
                <a:solidFill>
                  <a:srgbClr val="D9D9D9"/>
                </a:solidFill>
              </a:rPr>
              <a:t>Weeks 7-8</a:t>
            </a:r>
            <a:endParaRPr lang="en-US" sz="1200" dirty="0"/>
          </a:p>
        </p:txBody>
      </p:sp>
      <p:sp>
        <p:nvSpPr>
          <p:cNvPr id="34" name="Text 32"/>
          <p:cNvSpPr txBox="1"/>
          <p:nvPr/>
        </p:nvSpPr>
        <p:spPr>
          <a:xfrm>
            <a:off x="9230639" y="3017520"/>
            <a:ext cx="2256968" cy="1417320"/>
          </a:xfrm>
          <a:prstGeom prst="rect">
            <a:avLst/>
          </a:prstGeom>
          <a:noFill/>
          <a:ln/>
        </p:spPr>
        <p:txBody>
          <a:bodyPr wrap="square" lIns="0" tIns="0" rIns="0" bIns="0" rtlCol="0" anchor="t"/>
          <a:lstStyle/>
          <a:p>
            <a:pPr indent="0" marL="0">
              <a:buNone/>
            </a:pPr>
            <a:r>
              <a:rPr lang="en-US" sz="1300" dirty="0">
                <a:solidFill>
                  <a:srgbClr val="FFFFFF"/>
                </a:solidFill>
              </a:rPr>
              <a:t>Badges, check-in and confirmations. Load and user testing. Go-live and hypercare.</a:t>
            </a:r>
            <a:endParaRPr lang="en-US" sz="1300" dirty="0"/>
          </a:p>
        </p:txBody>
      </p:sp>
      <p:sp>
        <p:nvSpPr>
          <p:cNvPr id="35" name="Shape 33"/>
          <p:cNvSpPr/>
          <p:nvPr/>
        </p:nvSpPr>
        <p:spPr>
          <a:xfrm>
            <a:off x="9230639" y="4526280"/>
            <a:ext cx="2256968" cy="0"/>
          </a:xfrm>
          <a:prstGeom prst="line">
            <a:avLst/>
          </a:prstGeom>
          <a:noFill/>
          <a:ln w="9525">
            <a:solidFill>
              <a:srgbClr val="555555"/>
            </a:solidFill>
            <a:prstDash val="solid"/>
          </a:ln>
        </p:spPr>
      </p:sp>
      <p:sp>
        <p:nvSpPr>
          <p:cNvPr id="36" name="Shape 34"/>
          <p:cNvSpPr/>
          <p:nvPr/>
        </p:nvSpPr>
        <p:spPr>
          <a:xfrm>
            <a:off x="9230639" y="4736592"/>
            <a:ext cx="164592" cy="164592"/>
          </a:xfrm>
          <a:prstGeom prst="diamond">
            <a:avLst/>
          </a:prstGeom>
          <a:solidFill>
            <a:srgbClr val="FF0068"/>
          </a:solidFill>
          <a:ln w="12700">
            <a:solidFill>
              <a:srgbClr val="FF0068"/>
            </a:solidFill>
            <a:prstDash val="solid"/>
          </a:ln>
        </p:spPr>
      </p:sp>
      <p:sp>
        <p:nvSpPr>
          <p:cNvPr id="37" name="Text 35"/>
          <p:cNvSpPr txBox="1"/>
          <p:nvPr/>
        </p:nvSpPr>
        <p:spPr>
          <a:xfrm>
            <a:off x="9504959" y="4663440"/>
            <a:ext cx="1982648" cy="310896"/>
          </a:xfrm>
          <a:prstGeom prst="rect">
            <a:avLst/>
          </a:prstGeom>
          <a:noFill/>
          <a:ln/>
        </p:spPr>
        <p:txBody>
          <a:bodyPr wrap="square" lIns="0" tIns="0" rIns="0" bIns="0" rtlCol="0" anchor="ctr"/>
          <a:lstStyle/>
          <a:p>
            <a:pPr indent="0" marL="0">
              <a:buNone/>
            </a:pPr>
            <a:r>
              <a:rPr lang="en-US" sz="1250" b="1" dirty="0">
                <a:solidFill>
                  <a:srgbClr val="FFFFFF"/>
                </a:solidFill>
              </a:rPr>
              <a:t>Live, Certain retired</a:t>
            </a:r>
            <a:endParaRPr lang="en-US" sz="1250" dirty="0"/>
          </a:p>
        </p:txBody>
      </p:sp>
      <p:sp>
        <p:nvSpPr>
          <p:cNvPr id="38" name="Text 36"/>
          <p:cNvSpPr txBox="1"/>
          <p:nvPr/>
        </p:nvSpPr>
        <p:spPr>
          <a:xfrm>
            <a:off x="502920" y="5440680"/>
            <a:ext cx="11185855" cy="292608"/>
          </a:xfrm>
          <a:prstGeom prst="rect">
            <a:avLst/>
          </a:prstGeom>
          <a:noFill/>
          <a:ln/>
        </p:spPr>
        <p:txBody>
          <a:bodyPr wrap="square" lIns="0" tIns="0" rIns="0" bIns="0" rtlCol="0" anchor="t"/>
          <a:lstStyle/>
          <a:p>
            <a:pPr indent="0" marL="0">
              <a:buNone/>
            </a:pPr>
            <a:r>
              <a:rPr lang="en-US" sz="1200" i="1" dirty="0">
                <a:solidFill>
                  <a:srgbClr val="4D4D4D"/>
                </a:solidFill>
              </a:rPr>
              <a:t>After go-live (week 9+): patient engagement initiatives, app adoption campaigns and AI agents, scoped separately.</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three-person delivery team</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1</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Salesforce Developer</a:t>
            </a:r>
            <a:endParaRPr lang="en-US" sz="1300" dirty="0"/>
          </a:p>
        </p:txBody>
      </p:sp>
      <p:sp>
        <p:nvSpPr>
          <p:cNvPr id="25" name="Text 23"/>
          <p:cNvSpPr txBox="1"/>
          <p:nvPr/>
        </p:nvSpPr>
        <p:spPr>
          <a:xfrm>
            <a:off x="5029200" y="5173980"/>
            <a:ext cx="2926080" cy="411480"/>
          </a:xfrm>
          <a:prstGeom prst="rect">
            <a:avLst/>
          </a:prstGeom>
          <a:noFill/>
          <a:ln/>
        </p:spPr>
        <p:txBody>
          <a:bodyPr wrap="square" lIns="0" tIns="0" rIns="0" bIns="0" rtlCol="0" anchor="t"/>
          <a:lstStyle/>
          <a:p>
            <a:pPr indent="0" marL="0">
              <a:buNone/>
            </a:pPr>
            <a:r>
              <a:rPr lang="en-US" sz="1050" dirty="0">
                <a:solidFill>
                  <a:srgbClr val="4D4D4D"/>
                </a:solidFill>
              </a:rPr>
              <a:t>Conference setup, registration, Chase, Zoom or Teams, emails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3 people  ·  4 sprints  ·  8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1-8</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Zoom or Teams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From week 9</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 uplift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Optional</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Instant confirmation</a:t>
            </a:r>
            <a:endParaRPr lang="en-US" sz="1400" dirty="0"/>
          </a:p>
          <a:p>
            <a:pPr marL="342900" indent="-342900">
              <a:spcAft>
                <a:spcPts val="600"/>
              </a:spcAft>
              <a:buSzPct val="100000"/>
              <a:buChar char="•"/>
            </a:pPr>
            <a:r>
              <a:rPr lang="en-US" sz="1400" dirty="0">
                <a:solidFill>
                  <a:srgbClr val="4D4D4D"/>
                </a:solidFill>
              </a:rPr>
              <a:t>Live seats and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Later</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Step 1 solves today’s problem in eight weeks. Steps 2 to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and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Commercials</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three-person team, 8 weeks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00D6F2"/>
                </a:solidFill>
              </a:rPr>
              <a:t>PROGRAM INVESTMENT</a:t>
            </a:r>
            <a:endParaRPr lang="en-US" sz="1000" dirty="0"/>
          </a:p>
        </p:txBody>
      </p:sp>
      <p:sp>
        <p:nvSpPr>
          <p:cNvPr id="8" name="Text 6"/>
          <p:cNvSpPr txBox="1"/>
          <p:nvPr/>
        </p:nvSpPr>
        <p:spPr>
          <a:xfrm>
            <a:off x="822960" y="2880360"/>
            <a:ext cx="3566160" cy="1005840"/>
          </a:xfrm>
          <a:prstGeom prst="rect">
            <a:avLst/>
          </a:prstGeom>
          <a:noFill/>
          <a:ln/>
        </p:spPr>
        <p:txBody>
          <a:bodyPr wrap="square" lIns="0" tIns="0" rIns="0" bIns="0" rtlCol="0" anchor="t"/>
          <a:lstStyle/>
          <a:p>
            <a:pPr indent="0" marL="0">
              <a:buNone/>
            </a:pPr>
            <a:r>
              <a:rPr lang="en-US" sz="6000" dirty="0">
                <a:solidFill>
                  <a:srgbClr val="FFFFFF"/>
                </a:solidFill>
                <a:latin typeface="Trenda IG Text Light" pitchFamily="34" charset="0"/>
                <a:ea typeface="Trenda IG Text Light" pitchFamily="34" charset="-122"/>
                <a:cs typeface="Trenda IG Text Light" pitchFamily="34" charset="-120"/>
              </a:rPr>
              <a:t>$60,000</a:t>
            </a:r>
            <a:endParaRPr lang="en-US" sz="6000" dirty="0"/>
          </a:p>
        </p:txBody>
      </p:sp>
      <p:sp>
        <p:nvSpPr>
          <p:cNvPr id="9" name="Shape 7"/>
          <p:cNvSpPr/>
          <p:nvPr/>
        </p:nvSpPr>
        <p:spPr>
          <a:xfrm>
            <a:off x="822960" y="4206240"/>
            <a:ext cx="3566160" cy="0"/>
          </a:xfrm>
          <a:prstGeom prst="line">
            <a:avLst/>
          </a:prstGeom>
          <a:noFill/>
          <a:ln w="9525">
            <a:solidFill>
              <a:srgbClr val="444444"/>
            </a:solidFill>
            <a:prstDash val="solid"/>
          </a:ln>
        </p:spPr>
      </p:sp>
      <p:sp>
        <p:nvSpPr>
          <p:cNvPr id="10" name="Text 8"/>
          <p:cNvSpPr txBox="1"/>
          <p:nvPr/>
        </p:nvSpPr>
        <p:spPr>
          <a:xfrm>
            <a:off x="822960" y="4389120"/>
            <a:ext cx="1097280" cy="274320"/>
          </a:xfrm>
          <a:prstGeom prst="rect">
            <a:avLst/>
          </a:prstGeom>
          <a:noFill/>
          <a:ln/>
        </p:spPr>
        <p:txBody>
          <a:bodyPr wrap="square" lIns="0" tIns="0" rIns="0" bIns="0" rtlCol="0" anchor="t"/>
          <a:lstStyle/>
          <a:p>
            <a:pPr indent="0" marL="0">
              <a:buNone/>
            </a:pPr>
            <a:r>
              <a:rPr lang="en-US" sz="1100" b="1" dirty="0">
                <a:solidFill>
                  <a:srgbClr val="BFBFBF"/>
                </a:solidFill>
              </a:rPr>
              <a:t>Scope</a:t>
            </a:r>
            <a:endParaRPr lang="en-US" sz="1100" dirty="0"/>
          </a:p>
        </p:txBody>
      </p:sp>
      <p:sp>
        <p:nvSpPr>
          <p:cNvPr id="11" name="Text 9"/>
          <p:cNvSpPr txBox="1"/>
          <p:nvPr/>
        </p:nvSpPr>
        <p:spPr>
          <a:xfrm>
            <a:off x="1874520" y="4389120"/>
            <a:ext cx="2514600" cy="274320"/>
          </a:xfrm>
          <a:prstGeom prst="rect">
            <a:avLst/>
          </a:prstGeom>
          <a:noFill/>
          <a:ln/>
        </p:spPr>
        <p:txBody>
          <a:bodyPr wrap="square" lIns="0" tIns="0" rIns="0" bIns="0" rtlCol="0" anchor="t"/>
          <a:lstStyle/>
          <a:p>
            <a:pPr indent="0" marL="0">
              <a:buNone/>
            </a:pPr>
            <a:r>
              <a:rPr lang="en-US" sz="1150" dirty="0">
                <a:solidFill>
                  <a:srgbClr val="FFFFFF"/>
                </a:solidFill>
              </a:rPr>
              <a:t>Conference and session setup; Certain retired</a:t>
            </a:r>
            <a:endParaRPr lang="en-US" sz="1150" dirty="0"/>
          </a:p>
        </p:txBody>
      </p:sp>
      <p:sp>
        <p:nvSpPr>
          <p:cNvPr id="12" name="Text 10"/>
          <p:cNvSpPr txBox="1"/>
          <p:nvPr/>
        </p:nvSpPr>
        <p:spPr>
          <a:xfrm>
            <a:off x="822960" y="4828032"/>
            <a:ext cx="1097280" cy="274320"/>
          </a:xfrm>
          <a:prstGeom prst="rect">
            <a:avLst/>
          </a:prstGeom>
          <a:noFill/>
          <a:ln/>
        </p:spPr>
        <p:txBody>
          <a:bodyPr wrap="square" lIns="0" tIns="0" rIns="0" bIns="0" rtlCol="0" anchor="t"/>
          <a:lstStyle/>
          <a:p>
            <a:pPr indent="0" marL="0">
              <a:buNone/>
            </a:pPr>
            <a:r>
              <a:rPr lang="en-US" sz="1100" b="1" dirty="0">
                <a:solidFill>
                  <a:srgbClr val="BFBFBF"/>
                </a:solidFill>
              </a:rPr>
              <a:t>Duration</a:t>
            </a:r>
            <a:endParaRPr lang="en-US" sz="1100" dirty="0"/>
          </a:p>
        </p:txBody>
      </p:sp>
      <p:sp>
        <p:nvSpPr>
          <p:cNvPr id="13" name="Text 11"/>
          <p:cNvSpPr txBox="1"/>
          <p:nvPr/>
        </p:nvSpPr>
        <p:spPr>
          <a:xfrm>
            <a:off x="1874520" y="4828032"/>
            <a:ext cx="2514600" cy="274320"/>
          </a:xfrm>
          <a:prstGeom prst="rect">
            <a:avLst/>
          </a:prstGeom>
          <a:noFill/>
          <a:ln/>
        </p:spPr>
        <p:txBody>
          <a:bodyPr wrap="square" lIns="0" tIns="0" rIns="0" bIns="0" rtlCol="0" anchor="t"/>
          <a:lstStyle/>
          <a:p>
            <a:pPr indent="0" marL="0">
              <a:buNone/>
            </a:pPr>
            <a:r>
              <a:rPr lang="en-US" sz="1150" dirty="0">
                <a:solidFill>
                  <a:srgbClr val="FFFFFF"/>
                </a:solidFill>
              </a:rPr>
              <a:t>8 weeks, 4 two-week sprints</a:t>
            </a:r>
            <a:endParaRPr lang="en-US" sz="1150" dirty="0"/>
          </a:p>
        </p:txBody>
      </p:sp>
      <p:sp>
        <p:nvSpPr>
          <p:cNvPr id="14" name="Text 12"/>
          <p:cNvSpPr txBox="1"/>
          <p:nvPr/>
        </p:nvSpPr>
        <p:spPr>
          <a:xfrm>
            <a:off x="822960" y="5266944"/>
            <a:ext cx="1097280" cy="274320"/>
          </a:xfrm>
          <a:prstGeom prst="rect">
            <a:avLst/>
          </a:prstGeom>
          <a:noFill/>
          <a:ln/>
        </p:spPr>
        <p:txBody>
          <a:bodyPr wrap="square" lIns="0" tIns="0" rIns="0" bIns="0" rtlCol="0" anchor="t"/>
          <a:lstStyle/>
          <a:p>
            <a:pPr indent="0" marL="0">
              <a:buNone/>
            </a:pPr>
            <a:r>
              <a:rPr lang="en-US" sz="1100" b="1" dirty="0">
                <a:solidFill>
                  <a:srgbClr val="BFBFBF"/>
                </a:solidFill>
              </a:rPr>
              <a:t>Billing</a:t>
            </a:r>
            <a:endParaRPr lang="en-US" sz="1100" dirty="0"/>
          </a:p>
        </p:txBody>
      </p:sp>
      <p:sp>
        <p:nvSpPr>
          <p:cNvPr id="15" name="Text 13"/>
          <p:cNvSpPr txBox="1"/>
          <p:nvPr/>
        </p:nvSpPr>
        <p:spPr>
          <a:xfrm>
            <a:off x="1874520" y="5266944"/>
            <a:ext cx="2514600" cy="274320"/>
          </a:xfrm>
          <a:prstGeom prst="rect">
            <a:avLst/>
          </a:prstGeom>
          <a:noFill/>
          <a:ln/>
        </p:spPr>
        <p:txBody>
          <a:bodyPr wrap="square" lIns="0" tIns="0" rIns="0" bIns="0" rtlCol="0" anchor="t"/>
          <a:lstStyle/>
          <a:p>
            <a:pPr indent="0" marL="0">
              <a:buNone/>
            </a:pPr>
            <a:r>
              <a:rPr lang="en-US" sz="1150" dirty="0">
                <a:solidFill>
                  <a:srgbClr val="FFFFFF"/>
                </a:solidFill>
              </a:rPr>
              <a:t>At sprint milestones</a:t>
            </a:r>
            <a:endParaRPr lang="en-US" sz="1150" dirty="0"/>
          </a:p>
        </p:txBody>
      </p:sp>
      <p:sp>
        <p:nvSpPr>
          <p:cNvPr id="16" name="Text 14"/>
          <p:cNvSpPr txBox="1"/>
          <p:nvPr/>
        </p:nvSpPr>
        <p:spPr>
          <a:xfrm>
            <a:off x="5129784" y="1783080"/>
            <a:ext cx="4855464" cy="329184"/>
          </a:xfrm>
          <a:prstGeom prst="rect">
            <a:avLst/>
          </a:prstGeom>
          <a:noFill/>
          <a:ln/>
        </p:spPr>
        <p:txBody>
          <a:bodyPr wrap="square" lIns="0" tIns="0" rIns="0" bIns="0" rtlCol="0" anchor="ctr"/>
          <a:lstStyle/>
          <a:p>
            <a:pPr algn="l" indent="0" marL="0">
              <a:buNone/>
            </a:pPr>
            <a:r>
              <a:rPr lang="en-US" sz="1250" b="1" dirty="0">
                <a:solidFill>
                  <a:srgbClr val="000000"/>
                </a:solidFill>
              </a:rPr>
              <a:t>Team</a:t>
            </a:r>
            <a:endParaRPr lang="en-US" sz="1250" dirty="0"/>
          </a:p>
        </p:txBody>
      </p:sp>
      <p:sp>
        <p:nvSpPr>
          <p:cNvPr id="17" name="Text 15"/>
          <p:cNvSpPr txBox="1"/>
          <p:nvPr/>
        </p:nvSpPr>
        <p:spPr>
          <a:xfrm>
            <a:off x="10094976" y="1783080"/>
            <a:ext cx="1536192" cy="329184"/>
          </a:xfrm>
          <a:prstGeom prst="rect">
            <a:avLst/>
          </a:prstGeom>
          <a:noFill/>
          <a:ln/>
        </p:spPr>
        <p:txBody>
          <a:bodyPr wrap="square" lIns="0" tIns="0" rIns="0" bIns="0" rtlCol="0" anchor="ctr"/>
          <a:lstStyle/>
          <a:p>
            <a:pPr algn="r" indent="0" marL="0">
              <a:buNone/>
            </a:pPr>
            <a:r>
              <a:rPr lang="en-US" sz="1250" b="1" dirty="0">
                <a:solidFill>
                  <a:srgbClr val="000000"/>
                </a:solidFill>
              </a:rPr>
              <a:t>Resources</a:t>
            </a:r>
            <a:endParaRPr lang="en-US" sz="1250" dirty="0"/>
          </a:p>
        </p:txBody>
      </p:sp>
      <p:sp>
        <p:nvSpPr>
          <p:cNvPr id="18" name="Shape 16"/>
          <p:cNvSpPr/>
          <p:nvPr/>
        </p:nvSpPr>
        <p:spPr>
          <a:xfrm>
            <a:off x="5074920" y="2112264"/>
            <a:ext cx="6611112" cy="0"/>
          </a:xfrm>
          <a:prstGeom prst="line">
            <a:avLst/>
          </a:prstGeom>
          <a:noFill/>
          <a:ln w="15875">
            <a:solidFill>
              <a:srgbClr val="000000"/>
            </a:solidFill>
            <a:prstDash val="solid"/>
          </a:ln>
        </p:spPr>
      </p:sp>
      <p:sp>
        <p:nvSpPr>
          <p:cNvPr id="19" name="Text 17"/>
          <p:cNvSpPr txBox="1"/>
          <p:nvPr/>
        </p:nvSpPr>
        <p:spPr>
          <a:xfrm>
            <a:off x="5129784" y="2112264"/>
            <a:ext cx="4855464" cy="420624"/>
          </a:xfrm>
          <a:prstGeom prst="rect">
            <a:avLst/>
          </a:prstGeom>
          <a:noFill/>
          <a:ln/>
        </p:spPr>
        <p:txBody>
          <a:bodyPr wrap="square" lIns="0" tIns="0" rIns="0" bIns="0" rtlCol="0" anchor="ctr"/>
          <a:lstStyle/>
          <a:p>
            <a:pPr algn="l" indent="0" marL="0">
              <a:buNone/>
            </a:pPr>
            <a:r>
              <a:rPr lang="en-US" sz="1250" dirty="0">
                <a:solidFill>
                  <a:srgbClr val="000000"/>
                </a:solidFill>
              </a:rPr>
              <a:t>Project Manager</a:t>
            </a:r>
            <a:endParaRPr lang="en-US" sz="1250" dirty="0"/>
          </a:p>
        </p:txBody>
      </p:sp>
      <p:sp>
        <p:nvSpPr>
          <p:cNvPr id="20" name="Text 18"/>
          <p:cNvSpPr txBox="1"/>
          <p:nvPr/>
        </p:nvSpPr>
        <p:spPr>
          <a:xfrm>
            <a:off x="10094976" y="2112264"/>
            <a:ext cx="1536192" cy="420624"/>
          </a:xfrm>
          <a:prstGeom prst="rect">
            <a:avLst/>
          </a:prstGeom>
          <a:noFill/>
          <a:ln/>
        </p:spPr>
        <p:txBody>
          <a:bodyPr wrap="square" lIns="0" tIns="0" rIns="0" bIns="0" rtlCol="0" anchor="ctr"/>
          <a:lstStyle/>
          <a:p>
            <a:pPr algn="r" indent="0" marL="0">
              <a:buNone/>
            </a:pPr>
            <a:r>
              <a:rPr lang="en-US" sz="1250" dirty="0">
                <a:solidFill>
                  <a:srgbClr val="000000"/>
                </a:solidFill>
              </a:rPr>
              <a:t>1</a:t>
            </a:r>
            <a:endParaRPr lang="en-US" sz="1250" dirty="0"/>
          </a:p>
        </p:txBody>
      </p:sp>
      <p:sp>
        <p:nvSpPr>
          <p:cNvPr id="21" name="Shape 19"/>
          <p:cNvSpPr/>
          <p:nvPr/>
        </p:nvSpPr>
        <p:spPr>
          <a:xfrm>
            <a:off x="5074920" y="2532888"/>
            <a:ext cx="6611112" cy="0"/>
          </a:xfrm>
          <a:prstGeom prst="line">
            <a:avLst/>
          </a:prstGeom>
          <a:noFill/>
          <a:ln w="9525">
            <a:solidFill>
              <a:srgbClr val="A0A0A8"/>
            </a:solidFill>
            <a:prstDash val="sysDot"/>
          </a:ln>
        </p:spPr>
      </p:sp>
      <p:sp>
        <p:nvSpPr>
          <p:cNvPr id="22" name="Text 20"/>
          <p:cNvSpPr txBox="1"/>
          <p:nvPr/>
        </p:nvSpPr>
        <p:spPr>
          <a:xfrm>
            <a:off x="5129784" y="2532888"/>
            <a:ext cx="4855464" cy="420624"/>
          </a:xfrm>
          <a:prstGeom prst="rect">
            <a:avLst/>
          </a:prstGeom>
          <a:noFill/>
          <a:ln/>
        </p:spPr>
        <p:txBody>
          <a:bodyPr wrap="square" lIns="0" tIns="0" rIns="0" bIns="0" rtlCol="0" anchor="ctr"/>
          <a:lstStyle/>
          <a:p>
            <a:pPr algn="l" indent="0" marL="0">
              <a:buNone/>
            </a:pPr>
            <a:r>
              <a:rPr lang="en-US" sz="1250" dirty="0">
                <a:solidFill>
                  <a:srgbClr val="000000"/>
                </a:solidFill>
              </a:rPr>
              <a:t>Salesforce Developer</a:t>
            </a:r>
            <a:endParaRPr lang="en-US" sz="1250" dirty="0"/>
          </a:p>
        </p:txBody>
      </p:sp>
      <p:sp>
        <p:nvSpPr>
          <p:cNvPr id="23" name="Text 21"/>
          <p:cNvSpPr txBox="1"/>
          <p:nvPr/>
        </p:nvSpPr>
        <p:spPr>
          <a:xfrm>
            <a:off x="10094976" y="2532888"/>
            <a:ext cx="1536192" cy="420624"/>
          </a:xfrm>
          <a:prstGeom prst="rect">
            <a:avLst/>
          </a:prstGeom>
          <a:noFill/>
          <a:ln/>
        </p:spPr>
        <p:txBody>
          <a:bodyPr wrap="square" lIns="0" tIns="0" rIns="0" bIns="0" rtlCol="0" anchor="ctr"/>
          <a:lstStyle/>
          <a:p>
            <a:pPr algn="r" indent="0" marL="0">
              <a:buNone/>
            </a:pPr>
            <a:r>
              <a:rPr lang="en-US" sz="1250" dirty="0">
                <a:solidFill>
                  <a:srgbClr val="000000"/>
                </a:solidFill>
              </a:rPr>
              <a:t>1</a:t>
            </a:r>
            <a:endParaRPr lang="en-US" sz="1250" dirty="0"/>
          </a:p>
        </p:txBody>
      </p:sp>
      <p:sp>
        <p:nvSpPr>
          <p:cNvPr id="24" name="Shape 22"/>
          <p:cNvSpPr/>
          <p:nvPr/>
        </p:nvSpPr>
        <p:spPr>
          <a:xfrm>
            <a:off x="5074920" y="2953512"/>
            <a:ext cx="6611112" cy="0"/>
          </a:xfrm>
          <a:prstGeom prst="line">
            <a:avLst/>
          </a:prstGeom>
          <a:noFill/>
          <a:ln w="9525">
            <a:solidFill>
              <a:srgbClr val="A0A0A8"/>
            </a:solidFill>
            <a:prstDash val="sysDot"/>
          </a:ln>
        </p:spPr>
      </p:sp>
      <p:sp>
        <p:nvSpPr>
          <p:cNvPr id="25" name="Text 23"/>
          <p:cNvSpPr txBox="1"/>
          <p:nvPr/>
        </p:nvSpPr>
        <p:spPr>
          <a:xfrm>
            <a:off x="5129784" y="2953512"/>
            <a:ext cx="4855464" cy="420624"/>
          </a:xfrm>
          <a:prstGeom prst="rect">
            <a:avLst/>
          </a:prstGeom>
          <a:noFill/>
          <a:ln/>
        </p:spPr>
        <p:txBody>
          <a:bodyPr wrap="square" lIns="0" tIns="0" rIns="0" bIns="0" rtlCol="0" anchor="ctr"/>
          <a:lstStyle/>
          <a:p>
            <a:pPr algn="l" indent="0" marL="0">
              <a:buNone/>
            </a:pPr>
            <a:r>
              <a:rPr lang="en-US" sz="1250" dirty="0">
                <a:solidFill>
                  <a:srgbClr val="000000"/>
                </a:solidFill>
              </a:rPr>
              <a:t>QA Engineer</a:t>
            </a:r>
            <a:endParaRPr lang="en-US" sz="1250" dirty="0"/>
          </a:p>
        </p:txBody>
      </p:sp>
      <p:sp>
        <p:nvSpPr>
          <p:cNvPr id="26" name="Text 24"/>
          <p:cNvSpPr txBox="1"/>
          <p:nvPr/>
        </p:nvSpPr>
        <p:spPr>
          <a:xfrm>
            <a:off x="10094976" y="2953512"/>
            <a:ext cx="1536192" cy="420624"/>
          </a:xfrm>
          <a:prstGeom prst="rect">
            <a:avLst/>
          </a:prstGeom>
          <a:noFill/>
          <a:ln/>
        </p:spPr>
        <p:txBody>
          <a:bodyPr wrap="square" lIns="0" tIns="0" rIns="0" bIns="0" rtlCol="0" anchor="ctr"/>
          <a:lstStyle/>
          <a:p>
            <a:pPr algn="r" indent="0" marL="0">
              <a:buNone/>
            </a:pPr>
            <a:r>
              <a:rPr lang="en-US" sz="1250" dirty="0">
                <a:solidFill>
                  <a:srgbClr val="000000"/>
                </a:solidFill>
              </a:rPr>
              <a:t>1</a:t>
            </a:r>
            <a:endParaRPr lang="en-US" sz="1250" dirty="0"/>
          </a:p>
        </p:txBody>
      </p:sp>
      <p:sp>
        <p:nvSpPr>
          <p:cNvPr id="27" name="Shape 25"/>
          <p:cNvSpPr/>
          <p:nvPr/>
        </p:nvSpPr>
        <p:spPr>
          <a:xfrm>
            <a:off x="5074920" y="3374136"/>
            <a:ext cx="6611112" cy="0"/>
          </a:xfrm>
          <a:prstGeom prst="line">
            <a:avLst/>
          </a:prstGeom>
          <a:noFill/>
          <a:ln w="15875">
            <a:solidFill>
              <a:srgbClr val="000000"/>
            </a:solidFill>
            <a:prstDash val="solid"/>
          </a:ln>
        </p:spPr>
      </p:sp>
      <p:sp>
        <p:nvSpPr>
          <p:cNvPr id="28" name="Text 26"/>
          <p:cNvSpPr txBox="1"/>
          <p:nvPr/>
        </p:nvSpPr>
        <p:spPr>
          <a:xfrm>
            <a:off x="5129784" y="3374136"/>
            <a:ext cx="4855464" cy="420624"/>
          </a:xfrm>
          <a:prstGeom prst="rect">
            <a:avLst/>
          </a:prstGeom>
          <a:noFill/>
          <a:ln/>
        </p:spPr>
        <p:txBody>
          <a:bodyPr wrap="square" lIns="0" tIns="0" rIns="0" bIns="0" rtlCol="0" anchor="ctr"/>
          <a:lstStyle/>
          <a:p>
            <a:pPr algn="l" indent="0" marL="0">
              <a:buNone/>
            </a:pPr>
            <a:r>
              <a:rPr lang="en-US" sz="1250" b="1" dirty="0">
                <a:solidFill>
                  <a:srgbClr val="000000"/>
                </a:solidFill>
              </a:rPr>
              <a:t>Total</a:t>
            </a:r>
            <a:endParaRPr lang="en-US" sz="1250" dirty="0"/>
          </a:p>
        </p:txBody>
      </p:sp>
      <p:sp>
        <p:nvSpPr>
          <p:cNvPr id="29" name="Text 27"/>
          <p:cNvSpPr txBox="1"/>
          <p:nvPr/>
        </p:nvSpPr>
        <p:spPr>
          <a:xfrm>
            <a:off x="10094976" y="3374136"/>
            <a:ext cx="1536192" cy="420624"/>
          </a:xfrm>
          <a:prstGeom prst="rect">
            <a:avLst/>
          </a:prstGeom>
          <a:noFill/>
          <a:ln/>
        </p:spPr>
        <p:txBody>
          <a:bodyPr wrap="square" lIns="0" tIns="0" rIns="0" bIns="0" rtlCol="0" anchor="ctr"/>
          <a:lstStyle/>
          <a:p>
            <a:pPr algn="r" indent="0" marL="0">
              <a:buNone/>
            </a:pPr>
            <a:r>
              <a:rPr lang="en-US" sz="1250" b="1" dirty="0">
                <a:solidFill>
                  <a:srgbClr val="000000"/>
                </a:solidFill>
              </a:rPr>
              <a:t>3</a:t>
            </a:r>
            <a:endParaRPr lang="en-US" sz="1250" dirty="0"/>
          </a:p>
        </p:txBody>
      </p:sp>
      <p:sp>
        <p:nvSpPr>
          <p:cNvPr id="30" name="Shape 28"/>
          <p:cNvSpPr/>
          <p:nvPr/>
        </p:nvSpPr>
        <p:spPr>
          <a:xfrm>
            <a:off x="5074920" y="3794760"/>
            <a:ext cx="6611112" cy="0"/>
          </a:xfrm>
          <a:prstGeom prst="line">
            <a:avLst/>
          </a:prstGeom>
          <a:noFill/>
          <a:ln w="9525">
            <a:solidFill>
              <a:srgbClr val="A0A0A8"/>
            </a:solidFill>
            <a:prstDash val="sysDot"/>
          </a:ln>
        </p:spPr>
      </p:sp>
      <p:sp>
        <p:nvSpPr>
          <p:cNvPr id="31" name="Text 29"/>
          <p:cNvSpPr txBox="1"/>
          <p:nvPr/>
        </p:nvSpPr>
        <p:spPr>
          <a:xfrm>
            <a:off x="5074920" y="402336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2" name="Text 30"/>
          <p:cNvSpPr txBox="1"/>
          <p:nvPr/>
        </p:nvSpPr>
        <p:spPr>
          <a:xfrm>
            <a:off x="5074920" y="4352544"/>
            <a:ext cx="3291840"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offshore team for 8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3" name="Text 31"/>
          <p:cNvSpPr txBox="1"/>
          <p:nvPr/>
        </p:nvSpPr>
        <p:spPr>
          <a:xfrm>
            <a:off x="8595360" y="402336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4" name="Text 32"/>
          <p:cNvSpPr txBox="1"/>
          <p:nvPr/>
        </p:nvSpPr>
        <p:spPr>
          <a:xfrm>
            <a:off x="8595360" y="4352544"/>
            <a:ext cx="3090672"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a:t>
            </a:r>
            <a:endParaRPr lang="en-US" sz="1100" dirty="0"/>
          </a:p>
          <a:p>
            <a:pPr marL="342900" indent="-342900">
              <a:spcAft>
                <a:spcPts val="400"/>
              </a:spcAft>
              <a:buSzPct val="100000"/>
              <a:buChar char="•"/>
            </a:pPr>
            <a:r>
              <a:rPr lang="en-US" sz="1100" dirty="0">
                <a:solidFill>
                  <a:srgbClr val="4D4D4D"/>
                </a:solidFill>
              </a:rPr>
              <a:t>Zoom or Teams licenses</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p:txBody>
      </p:sp>
      <p:sp>
        <p:nvSpPr>
          <p:cNvPr id="35" name="Text 33"/>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event objects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volumes: sessions, attendees, online audience</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Chase for conference payments with finance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Zoom or Teams, and MH’s rules for external attendees</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and next conference date to set go-live</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confirm scope and start Sprint 1.</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2026-10-22T13:15:53Z</dcterms:created>
  <dcterms:modified xsi:type="dcterms:W3CDTF">2026-10-22T13:15:53Z</dcterms:modified>
</cp:coreProperties>
</file>