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15e093c-7043-2a2f-11bf-a59eee0b1279}">
          <p14:sldIdLst>
            <p14:sldId id="256"/>
            <p14:sldId id="257"/>
            <p14:sldId id="258"/>
            <p14:sldId id="259"/>
          </p14:sldIdLst>
        </p14:section>
        <p14:section name="The solution" id="{0484e59e-844c-b001-6910-f13519f8623b}">
          <p14:sldIdLst>
            <p14:sldId id="260"/>
            <p14:sldId id="261"/>
            <p14:sldId id="262"/>
            <p14:sldId id="263"/>
            <p14:sldId id="264"/>
            <p14:sldId id="265"/>
            <p14:sldId id="266"/>
            <p14:sldId id="267"/>
            <p14:sldId id="268"/>
            <p14:sldId id="269"/>
          </p14:sldIdLst>
        </p14:section>
        <p14:section name="Delivery plan" id="{7a80dea8-34de-49c3-1419-7aa0d7396058}">
          <p14:sldIdLst>
            <p14:sldId id="270"/>
            <p14:sldId id="271"/>
            <p14:sldId id="272"/>
            <p14:sldId id="273"/>
            <p14:sldId id="274"/>
          </p14:sldIdLst>
        </p14:section>
        <p14:section name="Beyond the event" id="{c9fe2cc7-291f-3154-f854-83035a51c62d}">
          <p14:sldIdLst>
            <p14:sldId id="275"/>
            <p14:sldId id="276"/>
            <p14:sldId id="277"/>
            <p14:sldId id="278"/>
            <p14:sldId id="279"/>
            <p14:sldId id="280"/>
          </p14:sldIdLst>
        </p14:section>
        <p14:section name="Roadmap and next steps" id="{679fb597-e2b9-1921-cde8-72d2cb43e506}">
          <p14:sldIdLst>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our position. We keep the Sitecore listings, the Experience Cloud registration site and the app. We improve classes where today’s experience is weak, such as confirmations that can take up to 24 hours. We replace only Certain. Engagement and AI come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website or the existing My Memorial Hermann app, with a seat held while they pay. Pay: the gateway hosts the card page; we receive only a token. Confirm: Salesforce records the registration and Marketing Cloud sends confirmation and reminders. Attend: QR check-in. Engage: patient engagement initiatives. Grow: staff see demand and add sessions. It replaces Certain and builds on today’s Experience Cloud site and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ask: replace Certain. Conferences run on the same Salesforce platform as classes, with the attendee portal on their existing Experience Cloud site. CME requirements to be confirmed with Kevin.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screens, sample data. We keep today’s registration site and app and improve them: instant confirmation instead of up to 24 hours, safe payment retries, live seats and waitlists. How the app connects is confirmed with Lucky Rai’s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standard Salesforce Lightning app, so their in-house Salesforce admins can own it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Chase already takes class payments in Salesforce, so conferences reuse that integration and Authorize.net retires with Certain: one gateway, one reconciliation. Merchant setup for conference fees to confirm with Memorial Hermann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replaces Certain around week 12; time it to land before the Certain renewal. Phase 2 brings classes onto the same platform and improves them by week 20, without rebuilding the registration site. Engagement work can start once classes are on the shared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team and same platform across both phases, so Phase 2 builds on Phase 1 rather than starting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Two-week sprints, each closing with a demo and a milestone Memorial Hermann signs off. Sprint 1 assesses today’s Experience Cloud site, app and Certain. Sprints 2 to 6 deliver conference and session management (live at week 12, Certain retired). Sprints 7 to 10 move classes onto the same platform and improve them (live at week 20). Sprint scope is refined after the current-state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dedicated pod: one Scrum Master or Project Manager leading delivery, one QA engineer embedded in every sprint, and a build team of two Salesforce developers and one Marketing Cloud developer. Memorial Hermann provides a product owner and an Epic and app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is for an offshore delivery model. Standard program value is $580,000. As a strategic partner, Memorial Hermann receives a 50% partnership credit applied upfront, for an investment of $290,000. Billing follows sprint milestones. Licenses and third-party fees are outside this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8.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7.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8.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8.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8.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7.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image" Target="../media/image-27-11.png"/><Relationship Id="rId12" Type="http://schemas.openxmlformats.org/officeDocument/2006/relationships/image" Target="../media/image-27-12.png"/><Relationship Id="rId13" Type="http://schemas.openxmlformats.org/officeDocument/2006/relationships/image" Target="../media/image-27-13.png"/><Relationship Id="rId14" Type="http://schemas.openxmlformats.org/officeDocument/2006/relationships/slideLayout" Target="../slideLayouts/slideLayout7.xml"/><Relationship Id="rId1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CLASSES  ·  EVENTS  ·  CONFERENCES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Business opportunity</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Business opportunity</a:t>
            </a:r>
            <a:endParaRPr lang="en-US" sz="3200" dirty="0"/>
          </a:p>
        </p:txBody>
      </p:sp>
      <p:sp>
        <p:nvSpPr>
          <p:cNvPr id="3" name="primary-ask"/>
          <p:cNvSpPr/>
          <p:nvPr/>
        </p:nvSpPr>
        <p:spPr>
          <a:xfrm>
            <a:off x="502920" y="1463040"/>
            <a:ext cx="11185855" cy="1115568"/>
          </a:xfrm>
          <a:prstGeom prst="roundRect">
            <a:avLst>
              <a:gd name="adj" fmla="val 9836"/>
            </a:avLst>
          </a:prstGeom>
          <a:solidFill>
            <a:srgbClr val="000000"/>
          </a:solidFill>
          <a:ln w="25400">
            <a:solidFill>
              <a:srgbClr val="FF0068"/>
            </a:solidFill>
            <a:prstDash val="solid"/>
          </a:ln>
        </p:spPr>
      </p:sp>
      <p:sp>
        <p:nvSpPr>
          <p:cNvPr id="4" name="Text 2"/>
          <p:cNvSpPr txBox="1"/>
          <p:nvPr/>
        </p:nvSpPr>
        <p:spPr>
          <a:xfrm>
            <a:off x="777240" y="1591056"/>
            <a:ext cx="3657600" cy="219456"/>
          </a:xfrm>
          <a:prstGeom prst="rect">
            <a:avLst/>
          </a:prstGeom>
          <a:noFill/>
          <a:ln/>
        </p:spPr>
        <p:txBody>
          <a:bodyPr wrap="square" lIns="0" tIns="0" rIns="0" bIns="0" rtlCol="0" anchor="t"/>
          <a:lstStyle/>
          <a:p>
            <a:pPr indent="0" marL="0">
              <a:buNone/>
            </a:pPr>
            <a:r>
              <a:rPr lang="en-US" sz="1000" b="1" spc="300" kern="0" dirty="0">
                <a:solidFill>
                  <a:srgbClr val="FF0068"/>
                </a:solidFill>
              </a:rPr>
              <a:t>PRIMARY ASK</a:t>
            </a:r>
            <a:endParaRPr lang="en-US" sz="1000" dirty="0"/>
          </a:p>
        </p:txBody>
      </p:sp>
      <p:sp>
        <p:nvSpPr>
          <p:cNvPr id="5" name="Text 3"/>
          <p:cNvSpPr txBox="1"/>
          <p:nvPr/>
        </p:nvSpPr>
        <p:spPr>
          <a:xfrm>
            <a:off x="777240" y="1828800"/>
            <a:ext cx="7498080" cy="640080"/>
          </a:xfrm>
          <a:prstGeom prst="rect">
            <a:avLst/>
          </a:prstGeom>
          <a:noFill/>
          <a:ln/>
        </p:spPr>
        <p:txBody>
          <a:bodyPr wrap="square" lIns="0" tIns="0" rIns="0" bIns="0" rtlCol="0" anchor="ctr"/>
          <a:lstStyle/>
          <a:p>
            <a:pPr indent="0" marL="0">
              <a:buNone/>
            </a:pPr>
            <a:r>
              <a:rPr lang="en-US" sz="2100" b="1" dirty="0">
                <a:solidFill>
                  <a:srgbClr val="FFFFFF"/>
                </a:solidFill>
              </a:rPr>
              <a:t>Replace Certain with conference and session management on Salesforce</a:t>
            </a:r>
            <a:endParaRPr lang="en-US" sz="2100" dirty="0"/>
          </a:p>
        </p:txBody>
      </p:sp>
      <p:sp>
        <p:nvSpPr>
          <p:cNvPr id="6" name="Text 4"/>
          <p:cNvSpPr txBox="1"/>
          <p:nvPr/>
        </p:nvSpPr>
        <p:spPr>
          <a:xfrm>
            <a:off x="8321040" y="1627632"/>
            <a:ext cx="3154680" cy="868680"/>
          </a:xfrm>
          <a:prstGeom prst="rect">
            <a:avLst/>
          </a:prstGeom>
          <a:noFill/>
          <a:ln/>
        </p:spPr>
        <p:txBody>
          <a:bodyPr wrap="square" lIns="0" tIns="0" rIns="0" bIns="0" rtlCol="0" anchor="ctr"/>
          <a:lstStyle/>
          <a:p>
            <a:pPr indent="0" marL="0">
              <a:buNone/>
            </a:pPr>
            <a:r>
              <a:rPr lang="en-US" sz="1150" dirty="0">
                <a:solidFill>
                  <a:srgbClr val="D9D9D9"/>
                </a:solidFill>
              </a:rPr>
              <a:t>1 to 2 multi-day conferences a year, with session management, for providers, caregivers and consumers. Authorize.net today, moving to Chase.</a:t>
            </a:r>
            <a:endParaRPr lang="en-US" sz="1150" dirty="0"/>
          </a:p>
        </p:txBody>
      </p:sp>
      <p:sp>
        <p:nvSpPr>
          <p:cNvPr id="7" name="Text 5"/>
          <p:cNvSpPr txBox="1"/>
          <p:nvPr/>
        </p:nvSpPr>
        <p:spPr>
          <a:xfrm>
            <a:off x="502920" y="2816352"/>
            <a:ext cx="11185855" cy="292608"/>
          </a:xfrm>
          <a:prstGeom prst="rect">
            <a:avLst/>
          </a:prstGeom>
          <a:noFill/>
          <a:ln/>
        </p:spPr>
        <p:txBody>
          <a:bodyPr wrap="square" lIns="0" tIns="0" rIns="0" bIns="0" rtlCol="0" anchor="t"/>
          <a:lstStyle/>
          <a:p>
            <a:pPr indent="0" marL="0">
              <a:buNone/>
            </a:pPr>
            <a:r>
              <a:rPr lang="en-US" sz="1400" b="1" dirty="0">
                <a:solidFill>
                  <a:schemeClr val="tx1"/>
                </a:solidFill>
              </a:rPr>
              <a:t>Also: run classes on the same platform, building on today’s registration instead of rebuilding it.</a:t>
            </a:r>
            <a:endParaRPr lang="en-US" sz="1400" dirty="0"/>
          </a:p>
        </p:txBody>
      </p:sp>
      <p:sp>
        <p:nvSpPr>
          <p:cNvPr id="8" name="Text 6"/>
          <p:cNvSpPr txBox="1"/>
          <p:nvPr/>
        </p:nvSpPr>
        <p:spPr>
          <a:xfrm>
            <a:off x="576072" y="3200400"/>
            <a:ext cx="2093976" cy="384048"/>
          </a:xfrm>
          <a:prstGeom prst="rect">
            <a:avLst/>
          </a:prstGeom>
          <a:noFill/>
          <a:ln/>
        </p:spPr>
        <p:txBody>
          <a:bodyPr wrap="square" lIns="0" tIns="0" rIns="0" bIns="0" rtlCol="0" anchor="b"/>
          <a:lstStyle/>
          <a:p>
            <a:pPr indent="0" marL="0">
              <a:buNone/>
            </a:pPr>
            <a:r>
              <a:rPr lang="en-US" sz="1400" b="1" dirty="0">
                <a:solidFill>
                  <a:schemeClr val="tx1"/>
                </a:solidFill>
              </a:rPr>
              <a:t>Area</a:t>
            </a:r>
            <a:endParaRPr lang="en-US" sz="1400" dirty="0"/>
          </a:p>
        </p:txBody>
      </p:sp>
      <p:sp>
        <p:nvSpPr>
          <p:cNvPr id="9" name="Text 7"/>
          <p:cNvSpPr txBox="1"/>
          <p:nvPr/>
        </p:nvSpPr>
        <p:spPr>
          <a:xfrm>
            <a:off x="2816352" y="3200400"/>
            <a:ext cx="4608576" cy="384048"/>
          </a:xfrm>
          <a:prstGeom prst="rect">
            <a:avLst/>
          </a:prstGeom>
          <a:noFill/>
          <a:ln/>
        </p:spPr>
        <p:txBody>
          <a:bodyPr wrap="square" lIns="0" tIns="0" rIns="0" bIns="0" rtlCol="0" anchor="b"/>
          <a:lstStyle/>
          <a:p>
            <a:pPr indent="0" marL="0">
              <a:buNone/>
            </a:pPr>
            <a:r>
              <a:rPr lang="en-US" sz="1400" b="1" dirty="0">
                <a:solidFill>
                  <a:schemeClr val="tx1"/>
                </a:solidFill>
              </a:rPr>
              <a:t>Today</a:t>
            </a:r>
            <a:endParaRPr lang="en-US" sz="1400" dirty="0"/>
          </a:p>
        </p:txBody>
      </p:sp>
      <p:sp>
        <p:nvSpPr>
          <p:cNvPr id="10" name="Text 8"/>
          <p:cNvSpPr txBox="1"/>
          <p:nvPr/>
        </p:nvSpPr>
        <p:spPr>
          <a:xfrm>
            <a:off x="7571232" y="3200400"/>
            <a:ext cx="4041648" cy="384048"/>
          </a:xfrm>
          <a:prstGeom prst="rect">
            <a:avLst/>
          </a:prstGeom>
          <a:noFill/>
          <a:ln/>
        </p:spPr>
        <p:txBody>
          <a:bodyPr wrap="square" lIns="0" tIns="0" rIns="0" bIns="0" rtlCol="0" anchor="b"/>
          <a:lstStyle/>
          <a:p>
            <a:pPr indent="0" marL="0">
              <a:buNone/>
            </a:pPr>
            <a:r>
              <a:rPr lang="en-US" sz="1400" b="1" dirty="0">
                <a:solidFill>
                  <a:schemeClr val="tx1"/>
                </a:solidFill>
              </a:rPr>
              <a:t>Where we take it</a:t>
            </a:r>
            <a:endParaRPr lang="en-US" sz="1400" dirty="0"/>
          </a:p>
        </p:txBody>
      </p:sp>
      <p:sp>
        <p:nvSpPr>
          <p:cNvPr id="11" name="Shape 9"/>
          <p:cNvSpPr/>
          <p:nvPr/>
        </p:nvSpPr>
        <p:spPr>
          <a:xfrm>
            <a:off x="502920" y="3657600"/>
            <a:ext cx="11183112" cy="0"/>
          </a:xfrm>
          <a:prstGeom prst="line">
            <a:avLst/>
          </a:prstGeom>
          <a:noFill/>
          <a:ln w="19050">
            <a:solidFill>
              <a:schemeClr val="tx1"/>
            </a:solidFill>
            <a:prstDash val="solid"/>
          </a:ln>
        </p:spPr>
      </p:sp>
      <p:sp>
        <p:nvSpPr>
          <p:cNvPr id="12" name="Text 10"/>
          <p:cNvSpPr txBox="1"/>
          <p:nvPr/>
        </p:nvSpPr>
        <p:spPr>
          <a:xfrm>
            <a:off x="576072" y="3730752"/>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Conferences</a:t>
            </a:r>
            <a:endParaRPr lang="en-US" sz="1250" dirty="0"/>
          </a:p>
        </p:txBody>
      </p:sp>
      <p:sp>
        <p:nvSpPr>
          <p:cNvPr id="13" name="Text 11"/>
          <p:cNvSpPr txBox="1"/>
          <p:nvPr/>
        </p:nvSpPr>
        <p:spPr>
          <a:xfrm>
            <a:off x="2816352" y="3730752"/>
            <a:ext cx="4608576" cy="457200"/>
          </a:xfrm>
          <a:prstGeom prst="rect">
            <a:avLst/>
          </a:prstGeom>
          <a:noFill/>
          <a:ln/>
        </p:spPr>
        <p:txBody>
          <a:bodyPr wrap="square" lIns="0" tIns="0" rIns="0" bIns="0" rtlCol="0" anchor="ctr"/>
          <a:lstStyle/>
          <a:p>
            <a:pPr indent="0" marL="0">
              <a:buNone/>
            </a:pPr>
            <a:r>
              <a:rPr lang="en-US" sz="1250" dirty="0">
                <a:solidFill>
                  <a:srgbClr val="4D4D4D"/>
                </a:solidFill>
              </a:rPr>
              <a:t>Certain for multi-day events; Authorize.net payments</a:t>
            </a:r>
            <a:endParaRPr lang="en-US" sz="1250" dirty="0"/>
          </a:p>
        </p:txBody>
      </p:sp>
      <p:sp>
        <p:nvSpPr>
          <p:cNvPr id="14" name="Text 12"/>
          <p:cNvSpPr txBox="1"/>
          <p:nvPr/>
        </p:nvSpPr>
        <p:spPr>
          <a:xfrm>
            <a:off x="7571232" y="3730752"/>
            <a:ext cx="4041648" cy="457200"/>
          </a:xfrm>
          <a:prstGeom prst="rect">
            <a:avLst/>
          </a:prstGeom>
          <a:noFill/>
          <a:ln/>
        </p:spPr>
        <p:txBody>
          <a:bodyPr wrap="square" lIns="0" tIns="0" rIns="0" bIns="0" rtlCol="0" anchor="ctr"/>
          <a:lstStyle/>
          <a:p>
            <a:pPr indent="0" marL="0">
              <a:buNone/>
            </a:pPr>
            <a:r>
              <a:rPr lang="en-US" sz="1250" dirty="0">
                <a:solidFill>
                  <a:srgbClr val="4D4D4D"/>
                </a:solidFill>
              </a:rPr>
              <a:t>Replace with Salesforce conference and session management, paid through Chase</a:t>
            </a:r>
            <a:endParaRPr lang="en-US" sz="1250" dirty="0"/>
          </a:p>
        </p:txBody>
      </p:sp>
      <p:sp>
        <p:nvSpPr>
          <p:cNvPr id="15" name="Shape 13"/>
          <p:cNvSpPr/>
          <p:nvPr/>
        </p:nvSpPr>
        <p:spPr>
          <a:xfrm>
            <a:off x="502920" y="4224528"/>
            <a:ext cx="11183112" cy="0"/>
          </a:xfrm>
          <a:prstGeom prst="line">
            <a:avLst/>
          </a:prstGeom>
          <a:noFill/>
          <a:ln w="9525">
            <a:solidFill>
              <a:srgbClr val="8C8C8C"/>
            </a:solidFill>
            <a:prstDash val="sysDot"/>
          </a:ln>
        </p:spPr>
      </p:sp>
      <p:sp>
        <p:nvSpPr>
          <p:cNvPr id="16" name="Text 14"/>
          <p:cNvSpPr txBox="1"/>
          <p:nvPr/>
        </p:nvSpPr>
        <p:spPr>
          <a:xfrm>
            <a:off x="576072" y="4297680"/>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Classes and events</a:t>
            </a:r>
            <a:endParaRPr lang="en-US" sz="1250" dirty="0"/>
          </a:p>
        </p:txBody>
      </p:sp>
      <p:sp>
        <p:nvSpPr>
          <p:cNvPr id="17" name="Text 15"/>
          <p:cNvSpPr txBox="1"/>
          <p:nvPr/>
        </p:nvSpPr>
        <p:spPr>
          <a:xfrm>
            <a:off x="2816352" y="4297680"/>
            <a:ext cx="4608576" cy="457200"/>
          </a:xfrm>
          <a:prstGeom prst="rect">
            <a:avLst/>
          </a:prstGeom>
          <a:noFill/>
          <a:ln/>
        </p:spPr>
        <p:txBody>
          <a:bodyPr wrap="square" lIns="0" tIns="0" rIns="0" bIns="0" rtlCol="0" anchor="ctr"/>
          <a:lstStyle/>
          <a:p>
            <a:pPr indent="0" marL="0">
              <a:buNone/>
            </a:pPr>
            <a:r>
              <a:rPr lang="en-US" sz="1250" dirty="0">
                <a:solidFill>
                  <a:srgbClr val="4D4D4D"/>
                </a:solidFill>
              </a:rPr>
              <a:t>Sitecore listings open a home-built Experience Cloud site; Chase payments; confirmation up to 24 hours</a:t>
            </a:r>
            <a:endParaRPr lang="en-US" sz="1250" dirty="0"/>
          </a:p>
        </p:txBody>
      </p:sp>
      <p:sp>
        <p:nvSpPr>
          <p:cNvPr id="18" name="Text 16"/>
          <p:cNvSpPr txBox="1"/>
          <p:nvPr/>
        </p:nvSpPr>
        <p:spPr>
          <a:xfrm>
            <a:off x="7571232" y="4297680"/>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the site and improve it on one shared event model</a:t>
            </a:r>
            <a:endParaRPr lang="en-US" sz="1250" dirty="0"/>
          </a:p>
        </p:txBody>
      </p:sp>
      <p:sp>
        <p:nvSpPr>
          <p:cNvPr id="19" name="Shape 17"/>
          <p:cNvSpPr/>
          <p:nvPr/>
        </p:nvSpPr>
        <p:spPr>
          <a:xfrm>
            <a:off x="502920" y="4791456"/>
            <a:ext cx="11183112" cy="0"/>
          </a:xfrm>
          <a:prstGeom prst="line">
            <a:avLst/>
          </a:prstGeom>
          <a:noFill/>
          <a:ln w="9525">
            <a:solidFill>
              <a:srgbClr val="8C8C8C"/>
            </a:solidFill>
            <a:prstDash val="sysDot"/>
          </a:ln>
        </p:spPr>
      </p:sp>
      <p:sp>
        <p:nvSpPr>
          <p:cNvPr id="20" name="Text 18"/>
          <p:cNvSpPr txBox="1"/>
          <p:nvPr/>
        </p:nvSpPr>
        <p:spPr>
          <a:xfrm>
            <a:off x="576072" y="4864608"/>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Mobile app</a:t>
            </a:r>
            <a:endParaRPr lang="en-US" sz="1250" dirty="0"/>
          </a:p>
        </p:txBody>
      </p:sp>
      <p:sp>
        <p:nvSpPr>
          <p:cNvPr id="21" name="Text 19"/>
          <p:cNvSpPr txBox="1"/>
          <p:nvPr/>
        </p:nvSpPr>
        <p:spPr>
          <a:xfrm>
            <a:off x="2816352" y="4864608"/>
            <a:ext cx="4608576" cy="457200"/>
          </a:xfrm>
          <a:prstGeom prst="rect">
            <a:avLst/>
          </a:prstGeom>
          <a:noFill/>
          <a:ln/>
        </p:spPr>
        <p:txBody>
          <a:bodyPr wrap="square" lIns="0" tIns="0" rIns="0" bIns="0" rtlCol="0" anchor="ctr"/>
          <a:lstStyle/>
          <a:p>
            <a:pPr indent="0" marL="0">
              <a:buNone/>
            </a:pPr>
            <a:r>
              <a:rPr lang="en-US" sz="1250" dirty="0">
                <a:solidFill>
                  <a:srgbClr val="4D4D4D"/>
                </a:solidFill>
              </a:rPr>
              <a:t>People can already register for events in the app</a:t>
            </a:r>
            <a:endParaRPr lang="en-US" sz="1250" dirty="0"/>
          </a:p>
        </p:txBody>
      </p:sp>
      <p:sp>
        <p:nvSpPr>
          <p:cNvPr id="22" name="Text 20"/>
          <p:cNvSpPr txBox="1"/>
          <p:nvPr/>
        </p:nvSpPr>
        <p:spPr>
          <a:xfrm>
            <a:off x="7571232" y="4864608"/>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it, connected to the same event model</a:t>
            </a:r>
            <a:endParaRPr lang="en-US" sz="1250" dirty="0"/>
          </a:p>
        </p:txBody>
      </p:sp>
      <p:sp>
        <p:nvSpPr>
          <p:cNvPr id="23" name="Shape 21"/>
          <p:cNvSpPr/>
          <p:nvPr/>
        </p:nvSpPr>
        <p:spPr>
          <a:xfrm>
            <a:off x="502920" y="5358384"/>
            <a:ext cx="11183112" cy="0"/>
          </a:xfrm>
          <a:prstGeom prst="line">
            <a:avLst/>
          </a:prstGeom>
          <a:noFill/>
          <a:ln w="9525">
            <a:solidFill>
              <a:srgbClr val="8C8C8C"/>
            </a:solidFill>
            <a:prstDash val="sysDot"/>
          </a:ln>
        </p:spPr>
      </p:sp>
      <p:sp>
        <p:nvSpPr>
          <p:cNvPr id="24" name="Text 22"/>
          <p:cNvSpPr txBox="1"/>
          <p:nvPr/>
        </p:nvSpPr>
        <p:spPr>
          <a:xfrm>
            <a:off x="576072" y="5431536"/>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Platform</a:t>
            </a:r>
            <a:endParaRPr lang="en-US" sz="1250" dirty="0"/>
          </a:p>
        </p:txBody>
      </p:sp>
      <p:sp>
        <p:nvSpPr>
          <p:cNvPr id="25" name="Text 23"/>
          <p:cNvSpPr txBox="1"/>
          <p:nvPr/>
        </p:nvSpPr>
        <p:spPr>
          <a:xfrm>
            <a:off x="2816352" y="5431536"/>
            <a:ext cx="4608576" cy="457200"/>
          </a:xfrm>
          <a:prstGeom prst="rect">
            <a:avLst/>
          </a:prstGeom>
          <a:noFill/>
          <a:ln/>
        </p:spPr>
        <p:txBody>
          <a:bodyPr wrap="square" lIns="0" tIns="0" rIns="0" bIns="0" rtlCol="0" anchor="ctr"/>
          <a:lstStyle/>
          <a:p>
            <a:pPr indent="0" marL="0">
              <a:buNone/>
            </a:pPr>
            <a:r>
              <a:rPr lang="en-US" sz="1250" dirty="0">
                <a:solidFill>
                  <a:srgbClr val="4D4D4D"/>
                </a:solidFill>
              </a:rPr>
              <a:t>Health Cloud and Marketing Cloud; Epic not needed</a:t>
            </a:r>
            <a:endParaRPr lang="en-US" sz="1250" dirty="0"/>
          </a:p>
        </p:txBody>
      </p:sp>
      <p:sp>
        <p:nvSpPr>
          <p:cNvPr id="26" name="Text 24"/>
          <p:cNvSpPr txBox="1"/>
          <p:nvPr/>
        </p:nvSpPr>
        <p:spPr>
          <a:xfrm>
            <a:off x="7571232" y="5431536"/>
            <a:ext cx="4041648" cy="457200"/>
          </a:xfrm>
          <a:prstGeom prst="rect">
            <a:avLst/>
          </a:prstGeom>
          <a:noFill/>
          <a:ln/>
        </p:spPr>
        <p:txBody>
          <a:bodyPr wrap="square" lIns="0" tIns="0" rIns="0" bIns="0" rtlCol="0" anchor="ctr"/>
          <a:lstStyle/>
          <a:p>
            <a:pPr indent="0" marL="0">
              <a:buNone/>
            </a:pPr>
            <a:r>
              <a:rPr lang="en-US" sz="1250" dirty="0">
                <a:solidFill>
                  <a:srgbClr val="4D4D4D"/>
                </a:solidFill>
              </a:rPr>
              <a:t>Built on what Memorial Hermann already owns</a:t>
            </a:r>
            <a:endParaRPr lang="en-US" sz="1250" dirty="0"/>
          </a:p>
        </p:txBody>
      </p:sp>
      <p:sp>
        <p:nvSpPr>
          <p:cNvPr id="27" name="Shape 25"/>
          <p:cNvSpPr/>
          <p:nvPr/>
        </p:nvSpPr>
        <p:spPr>
          <a:xfrm>
            <a:off x="502920" y="5925312"/>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Build on what already works</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No rebuild of today’s class registration. Replace only Certain, then bring every event onto one platform.</a:t>
            </a:r>
            <a:endParaRPr lang="en-US" sz="1400" dirty="0"/>
          </a:p>
        </p:txBody>
      </p:sp>
      <p:sp>
        <p:nvSpPr>
          <p:cNvPr id="4" name="kir-KEEP"/>
          <p:cNvSpPr/>
          <p:nvPr/>
        </p:nvSpPr>
        <p:spPr>
          <a:xfrm>
            <a:off x="502920" y="1783080"/>
            <a:ext cx="2659304" cy="3794760"/>
          </a:xfrm>
          <a:prstGeom prst="roundRect">
            <a:avLst>
              <a:gd name="adj" fmla="val 4126"/>
            </a:avLst>
          </a:prstGeom>
          <a:solidFill>
            <a:srgbClr val="F2F2F2"/>
          </a:solidFill>
          <a:ln w="22225">
            <a:solidFill>
              <a:srgbClr val="00A9C0"/>
            </a:solidFill>
            <a:prstDash val="solid"/>
          </a:ln>
        </p:spPr>
      </p:sp>
      <p:sp>
        <p:nvSpPr>
          <p:cNvPr id="5" name="Text 3"/>
          <p:cNvSpPr txBox="1"/>
          <p:nvPr/>
        </p:nvSpPr>
        <p:spPr>
          <a:xfrm>
            <a:off x="704088" y="1984248"/>
            <a:ext cx="2256968" cy="292608"/>
          </a:xfrm>
          <a:prstGeom prst="rect">
            <a:avLst/>
          </a:prstGeom>
          <a:noFill/>
          <a:ln/>
        </p:spPr>
        <p:txBody>
          <a:bodyPr wrap="square" lIns="0" tIns="0" rIns="0" bIns="0" rtlCol="0" anchor="t"/>
          <a:lstStyle/>
          <a:p>
            <a:pPr indent="0" marL="0">
              <a:buNone/>
            </a:pPr>
            <a:r>
              <a:rPr lang="en-US" sz="1500" b="1" spc="300" kern="0" dirty="0">
                <a:solidFill>
                  <a:srgbClr val="007C8C"/>
                </a:solidFill>
              </a:rPr>
              <a:t>KEEP</a:t>
            </a:r>
            <a:endParaRPr lang="en-US" sz="1500" dirty="0"/>
          </a:p>
        </p:txBody>
      </p:sp>
      <p:sp>
        <p:nvSpPr>
          <p:cNvPr id="6" name="Text 4"/>
          <p:cNvSpPr txBox="1"/>
          <p:nvPr/>
        </p:nvSpPr>
        <p:spPr>
          <a:xfrm>
            <a:off x="704088"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Sitecore class listings</a:t>
            </a:r>
            <a:endParaRPr lang="en-US" sz="1300" dirty="0"/>
          </a:p>
          <a:p>
            <a:pPr marL="342900" indent="-342900">
              <a:spcAft>
                <a:spcPts val="600"/>
              </a:spcAft>
              <a:buSzPct val="100000"/>
              <a:buChar char="•"/>
            </a:pPr>
            <a:r>
              <a:rPr lang="en-US" sz="1300" dirty="0">
                <a:solidFill>
                  <a:schemeClr val="tx1"/>
                </a:solidFill>
              </a:rPr>
              <a:t>Experience Cloud registration site</a:t>
            </a:r>
            <a:endParaRPr lang="en-US" sz="1300" dirty="0"/>
          </a:p>
          <a:p>
            <a:pPr marL="342900" indent="-342900">
              <a:spcAft>
                <a:spcPts val="600"/>
              </a:spcAft>
              <a:buSzPct val="100000"/>
              <a:buChar char="•"/>
            </a:pPr>
            <a:r>
              <a:rPr lang="en-US" sz="1300" dirty="0">
                <a:solidFill>
                  <a:schemeClr val="tx1"/>
                </a:solidFill>
              </a:rPr>
              <a:t>Mobile app registration</a:t>
            </a:r>
            <a:endParaRPr lang="en-US" sz="1300" dirty="0"/>
          </a:p>
          <a:p>
            <a:pPr marL="342900" indent="-342900">
              <a:spcAft>
                <a:spcPts val="600"/>
              </a:spcAft>
              <a:buSzPct val="100000"/>
              <a:buChar char="•"/>
            </a:pPr>
            <a:r>
              <a:rPr lang="en-US" sz="1300" dirty="0">
                <a:solidFill>
                  <a:schemeClr val="tx1"/>
                </a:solidFill>
              </a:rPr>
              <a:t>Chase payments, now for conferences too</a:t>
            </a:r>
            <a:endParaRPr lang="en-US" sz="1300" dirty="0"/>
          </a:p>
          <a:p>
            <a:pPr marL="342900" indent="-342900">
              <a:spcAft>
                <a:spcPts val="600"/>
              </a:spcAft>
              <a:buSzPct val="100000"/>
              <a:buChar char="•"/>
            </a:pPr>
            <a:r>
              <a:rPr lang="en-US" sz="1300" dirty="0">
                <a:solidFill>
                  <a:schemeClr val="tx1"/>
                </a:solidFill>
              </a:rPr>
              <a:t>Health Cloud and Marketing Cloud</a:t>
            </a:r>
            <a:endParaRPr lang="en-US" sz="1300" dirty="0"/>
          </a:p>
        </p:txBody>
      </p:sp>
      <p:sp>
        <p:nvSpPr>
          <p:cNvPr id="7" name="kir-IMPROVE"/>
          <p:cNvSpPr/>
          <p:nvPr/>
        </p:nvSpPr>
        <p:spPr>
          <a:xfrm>
            <a:off x="3345104" y="1783080"/>
            <a:ext cx="2659304" cy="3794760"/>
          </a:xfrm>
          <a:prstGeom prst="roundRect">
            <a:avLst>
              <a:gd name="adj" fmla="val 4126"/>
            </a:avLst>
          </a:prstGeom>
          <a:solidFill>
            <a:srgbClr val="F2F2F2"/>
          </a:solidFill>
          <a:ln w="22225">
            <a:solidFill>
              <a:srgbClr val="D9B200"/>
            </a:solidFill>
            <a:prstDash val="solid"/>
          </a:ln>
        </p:spPr>
      </p:sp>
      <p:sp>
        <p:nvSpPr>
          <p:cNvPr id="8" name="Text 6"/>
          <p:cNvSpPr txBox="1"/>
          <p:nvPr/>
        </p:nvSpPr>
        <p:spPr>
          <a:xfrm>
            <a:off x="3546272" y="1984248"/>
            <a:ext cx="2256968" cy="292608"/>
          </a:xfrm>
          <a:prstGeom prst="rect">
            <a:avLst/>
          </a:prstGeom>
          <a:noFill/>
          <a:ln/>
        </p:spPr>
        <p:txBody>
          <a:bodyPr wrap="square" lIns="0" tIns="0" rIns="0" bIns="0" rtlCol="0" anchor="t"/>
          <a:lstStyle/>
          <a:p>
            <a:pPr indent="0" marL="0">
              <a:buNone/>
            </a:pPr>
            <a:r>
              <a:rPr lang="en-US" sz="1500" b="1" spc="300" kern="0" dirty="0">
                <a:solidFill>
                  <a:srgbClr val="7A6100"/>
                </a:solidFill>
              </a:rPr>
              <a:t>IMPROVE</a:t>
            </a:r>
            <a:endParaRPr lang="en-US" sz="1500" dirty="0"/>
          </a:p>
        </p:txBody>
      </p:sp>
      <p:sp>
        <p:nvSpPr>
          <p:cNvPr id="9" name="Text 7"/>
          <p:cNvSpPr txBox="1"/>
          <p:nvPr/>
        </p:nvSpPr>
        <p:spPr>
          <a:xfrm>
            <a:off x="3546272"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Instant confirmation (today up to 24 hours)</a:t>
            </a:r>
            <a:endParaRPr lang="en-US" sz="1300" dirty="0"/>
          </a:p>
          <a:p>
            <a:pPr marL="342900" indent="-342900">
              <a:spcAft>
                <a:spcPts val="600"/>
              </a:spcAft>
              <a:buSzPct val="100000"/>
              <a:buChar char="•"/>
            </a:pPr>
            <a:r>
              <a:rPr lang="en-US" sz="1300" dirty="0">
                <a:solidFill>
                  <a:schemeClr val="tx1"/>
                </a:solidFill>
              </a:rPr>
              <a:t>Safe payment retries</a:t>
            </a:r>
            <a:endParaRPr lang="en-US" sz="1300" dirty="0"/>
          </a:p>
          <a:p>
            <a:pPr marL="342900" indent="-342900">
              <a:spcAft>
                <a:spcPts val="600"/>
              </a:spcAft>
              <a:buSzPct val="100000"/>
              <a:buChar char="•"/>
            </a:pPr>
            <a:r>
              <a:rPr lang="en-US" sz="1300" dirty="0">
                <a:solidFill>
                  <a:schemeClr val="tx1"/>
                </a:solidFill>
              </a:rPr>
              <a:t>Live seats and waitlists</a:t>
            </a:r>
            <a:endParaRPr lang="en-US" sz="1300" dirty="0"/>
          </a:p>
          <a:p>
            <a:pPr marL="342900" indent="-342900">
              <a:spcAft>
                <a:spcPts val="600"/>
              </a:spcAft>
              <a:buSzPct val="100000"/>
              <a:buChar char="•"/>
            </a:pPr>
            <a:r>
              <a:rPr lang="en-US" sz="1300" dirty="0">
                <a:solidFill>
                  <a:schemeClr val="tx1"/>
                </a:solidFill>
              </a:rPr>
              <a:t>Check-in and reporting</a:t>
            </a:r>
            <a:endParaRPr lang="en-US" sz="1300" dirty="0"/>
          </a:p>
          <a:p>
            <a:pPr marL="342900" indent="-342900">
              <a:spcAft>
                <a:spcPts val="600"/>
              </a:spcAft>
              <a:buSzPct val="100000"/>
              <a:buChar char="•"/>
            </a:pPr>
            <a:r>
              <a:rPr lang="en-US" sz="1300" dirty="0">
                <a:solidFill>
                  <a:schemeClr val="tx1"/>
                </a:solidFill>
              </a:rPr>
              <a:t>One shared event model</a:t>
            </a:r>
            <a:endParaRPr lang="en-US" sz="1300" dirty="0"/>
          </a:p>
        </p:txBody>
      </p:sp>
      <p:sp>
        <p:nvSpPr>
          <p:cNvPr id="10" name="kir-REPLACE"/>
          <p:cNvSpPr/>
          <p:nvPr/>
        </p:nvSpPr>
        <p:spPr>
          <a:xfrm>
            <a:off x="6187288" y="1783080"/>
            <a:ext cx="2659304" cy="3794760"/>
          </a:xfrm>
          <a:prstGeom prst="roundRect">
            <a:avLst>
              <a:gd name="adj" fmla="val 4126"/>
            </a:avLst>
          </a:prstGeom>
          <a:solidFill>
            <a:srgbClr val="000000"/>
          </a:solidFill>
          <a:ln w="22225">
            <a:solidFill>
              <a:srgbClr val="FF0068"/>
            </a:solidFill>
            <a:prstDash val="solid"/>
          </a:ln>
        </p:spPr>
      </p:sp>
      <p:sp>
        <p:nvSpPr>
          <p:cNvPr id="11" name="Text 9"/>
          <p:cNvSpPr txBox="1"/>
          <p:nvPr/>
        </p:nvSpPr>
        <p:spPr>
          <a:xfrm>
            <a:off x="6388456" y="1984248"/>
            <a:ext cx="2256968" cy="292608"/>
          </a:xfrm>
          <a:prstGeom prst="rect">
            <a:avLst/>
          </a:prstGeom>
          <a:noFill/>
          <a:ln/>
        </p:spPr>
        <p:txBody>
          <a:bodyPr wrap="square" lIns="0" tIns="0" rIns="0" bIns="0" rtlCol="0" anchor="t"/>
          <a:lstStyle/>
          <a:p>
            <a:pPr indent="0" marL="0">
              <a:buNone/>
            </a:pPr>
            <a:r>
              <a:rPr lang="en-US" sz="1500" b="1" spc="300" kern="0" dirty="0">
                <a:solidFill>
                  <a:srgbClr val="FF0068"/>
                </a:solidFill>
              </a:rPr>
              <a:t>REPLACE</a:t>
            </a:r>
            <a:endParaRPr lang="en-US" sz="1500" dirty="0"/>
          </a:p>
        </p:txBody>
      </p:sp>
      <p:sp>
        <p:nvSpPr>
          <p:cNvPr id="12" name="Text 10"/>
          <p:cNvSpPr txBox="1"/>
          <p:nvPr/>
        </p:nvSpPr>
        <p:spPr>
          <a:xfrm>
            <a:off x="6388456"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rPr>
              <a:t>Certain, with Salesforce conference and session management</a:t>
            </a:r>
            <a:endParaRPr lang="en-US" sz="1300" dirty="0"/>
          </a:p>
          <a:p>
            <a:pPr marL="342900" indent="-342900">
              <a:spcAft>
                <a:spcPts val="600"/>
              </a:spcAft>
              <a:buSzPct val="100000"/>
              <a:buChar char="•"/>
            </a:pPr>
            <a:r>
              <a:rPr lang="en-US" sz="1300" dirty="0">
                <a:solidFill>
                  <a:srgbClr val="FFFFFF"/>
                </a:solidFill>
              </a:rPr>
              <a:t>My Agenda portal on Experience Cloud</a:t>
            </a:r>
            <a:endParaRPr lang="en-US" sz="1300" dirty="0"/>
          </a:p>
          <a:p>
            <a:pPr marL="342900" indent="-342900">
              <a:spcAft>
                <a:spcPts val="600"/>
              </a:spcAft>
              <a:buSzPct val="100000"/>
              <a:buChar char="•"/>
            </a:pPr>
            <a:r>
              <a:rPr lang="en-US" sz="1300" dirty="0">
                <a:solidFill>
                  <a:srgbClr val="FFFFFF"/>
                </a:solidFill>
              </a:rPr>
              <a:t>Authorize.net, by reusing today’s Chase checkout</a:t>
            </a:r>
            <a:endParaRPr lang="en-US" sz="1300" dirty="0"/>
          </a:p>
          <a:p>
            <a:pPr marL="342900" indent="-342900">
              <a:spcAft>
                <a:spcPts val="600"/>
              </a:spcAft>
              <a:buSzPct val="100000"/>
              <a:buChar char="•"/>
            </a:pPr>
            <a:r>
              <a:rPr lang="en-US" sz="1300" dirty="0">
                <a:solidFill>
                  <a:srgbClr val="FFFFFF"/>
                </a:solidFill>
              </a:rPr>
              <a:t>Certain data migrated</a:t>
            </a:r>
            <a:endParaRPr lang="en-US" sz="1300" dirty="0"/>
          </a:p>
        </p:txBody>
      </p:sp>
      <p:sp>
        <p:nvSpPr>
          <p:cNvPr id="13" name="kir-ADD LATER"/>
          <p:cNvSpPr/>
          <p:nvPr/>
        </p:nvSpPr>
        <p:spPr>
          <a:xfrm>
            <a:off x="9029471" y="1783080"/>
            <a:ext cx="2659304" cy="3794760"/>
          </a:xfrm>
          <a:prstGeom prst="roundRect">
            <a:avLst>
              <a:gd name="adj" fmla="val 4126"/>
            </a:avLst>
          </a:prstGeom>
          <a:solidFill>
            <a:srgbClr val="F2F2F2"/>
          </a:solidFill>
          <a:ln w="22225">
            <a:solidFill>
              <a:srgbClr val="8C8C96"/>
            </a:solidFill>
            <a:prstDash val="solid"/>
          </a:ln>
        </p:spPr>
      </p:sp>
      <p:sp>
        <p:nvSpPr>
          <p:cNvPr id="14" name="Text 12"/>
          <p:cNvSpPr txBox="1"/>
          <p:nvPr/>
        </p:nvSpPr>
        <p:spPr>
          <a:xfrm>
            <a:off x="9230639" y="1984248"/>
            <a:ext cx="2256968" cy="292608"/>
          </a:xfrm>
          <a:prstGeom prst="rect">
            <a:avLst/>
          </a:prstGeom>
          <a:noFill/>
          <a:ln/>
        </p:spPr>
        <p:txBody>
          <a:bodyPr wrap="square" lIns="0" tIns="0" rIns="0" bIns="0" rtlCol="0" anchor="t"/>
          <a:lstStyle/>
          <a:p>
            <a:pPr indent="0" marL="0">
              <a:buNone/>
            </a:pPr>
            <a:r>
              <a:rPr lang="en-US" sz="1500" b="1" spc="300" kern="0" dirty="0">
                <a:solidFill>
                  <a:srgbClr val="4D4D4D"/>
                </a:solidFill>
              </a:rPr>
              <a:t>ADD LATER</a:t>
            </a:r>
            <a:endParaRPr lang="en-US" sz="1500" dirty="0"/>
          </a:p>
        </p:txBody>
      </p:sp>
      <p:sp>
        <p:nvSpPr>
          <p:cNvPr id="15" name="Text 13"/>
          <p:cNvSpPr txBox="1"/>
          <p:nvPr/>
        </p:nvSpPr>
        <p:spPr>
          <a:xfrm>
            <a:off x="9230639"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Patient engagement initiatives (PEIs)</a:t>
            </a:r>
            <a:endParaRPr lang="en-US" sz="1300" dirty="0"/>
          </a:p>
          <a:p>
            <a:pPr marL="342900" indent="-342900">
              <a:spcAft>
                <a:spcPts val="600"/>
              </a:spcAft>
              <a:buSzPct val="100000"/>
              <a:buChar char="•"/>
            </a:pPr>
            <a:r>
              <a:rPr lang="en-US" sz="1300" dirty="0">
                <a:solidFill>
                  <a:schemeClr val="tx1"/>
                </a:solidFill>
              </a:rPr>
              <a:t>App adoption campaigns</a:t>
            </a:r>
            <a:endParaRPr lang="en-US" sz="1300" dirty="0"/>
          </a:p>
          <a:p>
            <a:pPr marL="342900" indent="-342900">
              <a:spcAft>
                <a:spcPts val="600"/>
              </a:spcAft>
              <a:buSzPct val="100000"/>
              <a:buChar char="•"/>
            </a:pPr>
            <a:r>
              <a:rPr lang="en-US" sz="1300" dirty="0">
                <a:solidFill>
                  <a:schemeClr val="tx1"/>
                </a:solidFill>
              </a:rPr>
              <a:t>AI agents in a controlled harness</a:t>
            </a:r>
            <a:endParaRPr lang="en-US" sz="1300" dirty="0"/>
          </a:p>
        </p:txBody>
      </p:sp>
      <p:sp>
        <p:nvSpPr>
          <p:cNvPr id="16" name="Text 14"/>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300" i="1" dirty="0">
                <a:solidFill>
                  <a:srgbClr val="4D4D4D"/>
                </a:solidFill>
              </a:rPr>
              <a:t>Lowest-risk path: what works stays, the one tool you want gone goes, and every event ends up on the same data, payments and reporting.</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Conferences first, then classes on the same Salesforce platform</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One event platform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Your existing front doors</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Sitecore listings and today’s Experience Cloud site</a:t>
            </a:r>
            <a:endParaRPr lang="en-US" sz="1400" dirty="0"/>
          </a:p>
          <a:p>
            <a:pPr marL="342900" indent="-342900">
              <a:spcAft>
                <a:spcPts val="600"/>
              </a:spcAft>
              <a:buSzPct val="100000"/>
              <a:buChar char="•"/>
            </a:pPr>
            <a:r>
              <a:rPr lang="en-US" sz="1400" dirty="0">
                <a:solidFill>
                  <a:srgbClr val="BFBFBF"/>
                </a:solidFill>
              </a:rPr>
              <a:t>Existing mobile app</a:t>
            </a:r>
            <a:endParaRPr lang="en-US" sz="1400" dirty="0"/>
          </a:p>
          <a:p>
            <a:pPr marL="342900" indent="-342900">
              <a:spcAft>
                <a:spcPts val="600"/>
              </a:spcAft>
              <a:buSzPct val="100000"/>
              <a:buChar char="•"/>
            </a:pPr>
            <a:r>
              <a:rPr lang="en-US" sz="1400" dirty="0">
                <a:solidFill>
                  <a:srgbClr val="BFBFBF"/>
                </a:solidFill>
              </a:rPr>
              <a:t>“My Agenda” portal for conferences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app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Classes, series, sessions, speakers</a:t>
            </a:r>
            <a:endParaRPr lang="en-US" sz="1400" dirty="0"/>
          </a:p>
          <a:p>
            <a:pPr marL="342900" indent="-342900">
              <a:spcAft>
                <a:spcPts val="600"/>
              </a:spcAft>
              <a:buSzPct val="100000"/>
              <a:buChar char="•"/>
            </a:pPr>
            <a:r>
              <a:rPr lang="en-US" sz="1400" dirty="0">
                <a:solidFill>
                  <a:srgbClr val="BFBFBF"/>
                </a:solidFill>
              </a:rPr>
              <a:t>Capacity, waitlists, refunds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Marketing Cloud journeys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virtual links</a:t>
            </a:r>
            <a:endParaRPr lang="en-US" sz="1400" dirty="0"/>
          </a:p>
          <a:p>
            <a:pPr marL="342900" indent="-342900">
              <a:spcAft>
                <a:spcPts val="600"/>
              </a:spcAft>
              <a:buSzPct val="100000"/>
              <a:buChar char="•"/>
            </a:pPr>
            <a:r>
              <a:rPr lang="en-US" sz="1400" dirty="0">
                <a:solidFill>
                  <a:srgbClr val="BFBFBF"/>
                </a:solidFill>
              </a:rPr>
              <a:t>Patient engagement initiatives (PEIs)</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Experience Cloud</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One flow for conferences and classes on your existing Experience Cloud site and app; replaces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F2F2F2"/>
          </a:solidFill>
          <a:ln w="15875">
            <a:solidFill>
              <a:srgbClr val="B8B8C0"/>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B0B0B8"/>
            </a:solidFill>
            <a:prstDash val="dash"/>
          </a:ln>
        </p:spPr>
      </p:sp>
      <p:sp>
        <p:nvSpPr>
          <p:cNvPr id="7" name="participant-ch"/>
          <p:cNvSpPr/>
          <p:nvPr/>
        </p:nvSpPr>
        <p:spPr>
          <a:xfrm>
            <a:off x="2939535" y="1755648"/>
            <a:ext cx="1357623" cy="475488"/>
          </a:xfrm>
          <a:prstGeom prst="roundRect">
            <a:avLst>
              <a:gd name="adj" fmla="val 15385"/>
            </a:avLst>
          </a:prstGeom>
          <a:solidFill>
            <a:srgbClr val="F2F2F2"/>
          </a:solidFill>
          <a:ln w="22225">
            <a:solidFill>
              <a:srgbClr val="00A9C0"/>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Website or app</a:t>
            </a:r>
            <a:endParaRPr lang="en-US" sz="1050" dirty="0"/>
          </a:p>
        </p:txBody>
      </p:sp>
      <p:sp>
        <p:nvSpPr>
          <p:cNvPr id="9" name="Shape 7"/>
          <p:cNvSpPr/>
          <p:nvPr/>
        </p:nvSpPr>
        <p:spPr>
          <a:xfrm>
            <a:off x="3618346" y="2231136"/>
            <a:ext cx="0" cy="3822192"/>
          </a:xfrm>
          <a:prstGeom prst="line">
            <a:avLst/>
          </a:prstGeom>
          <a:noFill/>
          <a:ln w="12700">
            <a:solidFill>
              <a:srgbClr val="B0B0B8"/>
            </a:solidFill>
            <a:prstDash val="dash"/>
          </a:ln>
        </p:spPr>
      </p:sp>
      <p:sp>
        <p:nvSpPr>
          <p:cNvPr id="10" name="participant-reg"/>
          <p:cNvSpPr/>
          <p:nvPr/>
        </p:nvSpPr>
        <p:spPr>
          <a:xfrm>
            <a:off x="4406885" y="1755648"/>
            <a:ext cx="1357623" cy="475488"/>
          </a:xfrm>
          <a:prstGeom prst="roundRect">
            <a:avLst>
              <a:gd name="adj" fmla="val 15385"/>
            </a:avLst>
          </a:prstGeom>
          <a:solidFill>
            <a:srgbClr val="F2F2F2"/>
          </a:solidFill>
          <a:ln w="22225">
            <a:solidFill>
              <a:srgbClr val="D9B2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B0B0B8"/>
            </a:solidFill>
            <a:prstDash val="dash"/>
          </a:ln>
        </p:spPr>
      </p:sp>
      <p:sp>
        <p:nvSpPr>
          <p:cNvPr id="13" name="participant-pay"/>
          <p:cNvSpPr/>
          <p:nvPr/>
        </p:nvSpPr>
        <p:spPr>
          <a:xfrm>
            <a:off x="5874236" y="1755648"/>
            <a:ext cx="1357623" cy="475488"/>
          </a:xfrm>
          <a:prstGeom prst="roundRect">
            <a:avLst>
              <a:gd name="adj" fmla="val 15385"/>
            </a:avLst>
          </a:prstGeom>
          <a:solidFill>
            <a:srgbClr val="F2F2F2"/>
          </a:solidFill>
          <a:ln w="15875">
            <a:solidFill>
              <a:srgbClr val="B8B8C0"/>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Chase payment page</a:t>
            </a:r>
            <a:endParaRPr lang="en-US" sz="1050" dirty="0"/>
          </a:p>
        </p:txBody>
      </p:sp>
      <p:sp>
        <p:nvSpPr>
          <p:cNvPr id="15" name="Shape 13"/>
          <p:cNvSpPr/>
          <p:nvPr/>
        </p:nvSpPr>
        <p:spPr>
          <a:xfrm>
            <a:off x="6553048" y="2231136"/>
            <a:ext cx="0" cy="3822192"/>
          </a:xfrm>
          <a:prstGeom prst="line">
            <a:avLst/>
          </a:prstGeom>
          <a:noFill/>
          <a:ln w="12700">
            <a:solidFill>
              <a:srgbClr val="B0B0B8"/>
            </a:solidFill>
            <a:prstDash val="dash"/>
          </a:ln>
        </p:spPr>
      </p:sp>
      <p:sp>
        <p:nvSpPr>
          <p:cNvPr id="16" name="participant-sf"/>
          <p:cNvSpPr/>
          <p:nvPr/>
        </p:nvSpPr>
        <p:spPr>
          <a:xfrm>
            <a:off x="7341587" y="1755648"/>
            <a:ext cx="1357623" cy="475488"/>
          </a:xfrm>
          <a:prstGeom prst="roundRect">
            <a:avLst>
              <a:gd name="adj" fmla="val 15385"/>
            </a:avLst>
          </a:prstGeom>
          <a:solidFill>
            <a:srgbClr val="F2F2F2"/>
          </a:solidFill>
          <a:ln w="22225">
            <a:solidFill>
              <a:srgbClr val="00A9C0"/>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B0B0B8"/>
            </a:solidFill>
            <a:prstDash val="dash"/>
          </a:ln>
        </p:spPr>
      </p:sp>
      <p:sp>
        <p:nvSpPr>
          <p:cNvPr id="19" name="participant-mc"/>
          <p:cNvSpPr/>
          <p:nvPr/>
        </p:nvSpPr>
        <p:spPr>
          <a:xfrm>
            <a:off x="8808938" y="1755648"/>
            <a:ext cx="1357623" cy="475488"/>
          </a:xfrm>
          <a:prstGeom prst="roundRect">
            <a:avLst>
              <a:gd name="adj" fmla="val 15385"/>
            </a:avLst>
          </a:prstGeom>
          <a:solidFill>
            <a:srgbClr val="F2F2F2"/>
          </a:solidFill>
          <a:ln w="2222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1" name="Shape 19"/>
          <p:cNvSpPr/>
          <p:nvPr/>
        </p:nvSpPr>
        <p:spPr>
          <a:xfrm>
            <a:off x="9487749" y="2231136"/>
            <a:ext cx="0" cy="3822192"/>
          </a:xfrm>
          <a:prstGeom prst="line">
            <a:avLst/>
          </a:prstGeom>
          <a:noFill/>
          <a:ln w="12700">
            <a:solidFill>
              <a:srgbClr val="B0B0B8"/>
            </a:solidFill>
            <a:prstDash val="dash"/>
          </a:ln>
        </p:spPr>
      </p:sp>
      <p:sp>
        <p:nvSpPr>
          <p:cNvPr id="22" name="participant-st"/>
          <p:cNvSpPr/>
          <p:nvPr/>
        </p:nvSpPr>
        <p:spPr>
          <a:xfrm>
            <a:off x="10276288" y="1755648"/>
            <a:ext cx="1357623" cy="475488"/>
          </a:xfrm>
          <a:prstGeom prst="roundRect">
            <a:avLst>
              <a:gd name="adj" fmla="val 15385"/>
            </a:avLst>
          </a:prstGeom>
          <a:solidFill>
            <a:srgbClr val="F2F2F2"/>
          </a:solidFill>
          <a:ln w="15875">
            <a:solidFill>
              <a:srgbClr val="B8B8C0"/>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B0B0B8"/>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1A1A1A"/>
            </a:solidFill>
            <a:prstDash val="solid"/>
            <a:tailEnd type="triangle"/>
          </a:ln>
        </p:spPr>
      </p:sp>
      <p:sp>
        <p:nvSpPr>
          <p:cNvPr id="27" name="Shape 25"/>
          <p:cNvSpPr/>
          <p:nvPr/>
        </p:nvSpPr>
        <p:spPr>
          <a:xfrm>
            <a:off x="2050411" y="2411399"/>
            <a:ext cx="201168" cy="201168"/>
          </a:xfrm>
          <a:prstGeom prst="ellipse">
            <a:avLst/>
          </a:prstGeom>
          <a:solidFill>
            <a:srgbClr val="00A9C0"/>
          </a:solidFill>
          <a:ln w="12700">
            <a:solidFill>
              <a:srgbClr val="00A9C0"/>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000000"/>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1A1A1A"/>
            </a:solidFill>
            <a:prstDash val="solid"/>
            <a:tailEnd type="triangle"/>
          </a:ln>
        </p:spPr>
      </p:sp>
      <p:sp>
        <p:nvSpPr>
          <p:cNvPr id="31" name="Shape 29"/>
          <p:cNvSpPr/>
          <p:nvPr/>
        </p:nvSpPr>
        <p:spPr>
          <a:xfrm>
            <a:off x="3517762" y="2698380"/>
            <a:ext cx="201168" cy="201168"/>
          </a:xfrm>
          <a:prstGeom prst="ellipse">
            <a:avLst/>
          </a:prstGeom>
          <a:solidFill>
            <a:srgbClr val="00A9C0"/>
          </a:solidFill>
          <a:ln w="12700">
            <a:solidFill>
              <a:srgbClr val="00A9C0"/>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6B7280"/>
            </a:solidFill>
            <a:prstDash val="dash"/>
            <a:headEnd type="triangle"/>
          </a:ln>
        </p:spPr>
      </p:sp>
      <p:sp>
        <p:nvSpPr>
          <p:cNvPr id="35" name="Shape 33"/>
          <p:cNvSpPr/>
          <p:nvPr/>
        </p:nvSpPr>
        <p:spPr>
          <a:xfrm>
            <a:off x="4985113" y="2985361"/>
            <a:ext cx="201168" cy="201168"/>
          </a:xfrm>
          <a:prstGeom prst="ellipse">
            <a:avLst/>
          </a:prstGeom>
          <a:solidFill>
            <a:srgbClr val="00A9C0"/>
          </a:solidFill>
          <a:ln w="12700">
            <a:solidFill>
              <a:srgbClr val="00A9C0"/>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4D4D4D"/>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D4D4DA"/>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PAY</a:t>
            </a:r>
            <a:endParaRPr lang="en-US" sz="950" dirty="0"/>
          </a:p>
        </p:txBody>
      </p:sp>
      <p:sp>
        <p:nvSpPr>
          <p:cNvPr id="40" name="Shape 38"/>
          <p:cNvSpPr/>
          <p:nvPr/>
        </p:nvSpPr>
        <p:spPr>
          <a:xfrm>
            <a:off x="2150995" y="3372926"/>
            <a:ext cx="4402052" cy="0"/>
          </a:xfrm>
          <a:prstGeom prst="line">
            <a:avLst/>
          </a:prstGeom>
          <a:noFill/>
          <a:ln w="15875">
            <a:solidFill>
              <a:srgbClr val="1A1A1A"/>
            </a:solidFill>
            <a:prstDash val="solid"/>
            <a:tailEnd type="triangle"/>
          </a:ln>
        </p:spPr>
      </p:sp>
      <p:sp>
        <p:nvSpPr>
          <p:cNvPr id="41" name="Shape 39"/>
          <p:cNvSpPr/>
          <p:nvPr/>
        </p:nvSpPr>
        <p:spPr>
          <a:xfrm>
            <a:off x="2050411" y="3272342"/>
            <a:ext cx="201168" cy="201168"/>
          </a:xfrm>
          <a:prstGeom prst="ellipse">
            <a:avLst/>
          </a:prstGeom>
          <a:solidFill>
            <a:srgbClr val="00A9C0"/>
          </a:solidFill>
          <a:ln w="12700">
            <a:solidFill>
              <a:srgbClr val="00A9C0"/>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6B7280"/>
            </a:solidFill>
            <a:prstDash val="dash"/>
            <a:headEnd type="triangle"/>
          </a:ln>
        </p:spPr>
      </p:sp>
      <p:sp>
        <p:nvSpPr>
          <p:cNvPr id="45" name="Shape 43"/>
          <p:cNvSpPr/>
          <p:nvPr/>
        </p:nvSpPr>
        <p:spPr>
          <a:xfrm>
            <a:off x="6452464" y="3559323"/>
            <a:ext cx="201168" cy="201168"/>
          </a:xfrm>
          <a:prstGeom prst="ellipse">
            <a:avLst/>
          </a:prstGeom>
          <a:solidFill>
            <a:srgbClr val="00A9C0"/>
          </a:solidFill>
          <a:ln w="12700">
            <a:solidFill>
              <a:srgbClr val="00A9C0"/>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4418838" y="3413019"/>
            <a:ext cx="1987906" cy="219456"/>
          </a:xfrm>
          <a:prstGeom prst="rect">
            <a:avLst/>
          </a:prstGeom>
          <a:noFill/>
          <a:ln/>
        </p:spPr>
        <p:txBody>
          <a:bodyPr wrap="square" lIns="0" tIns="0" rIns="0" bIns="0" rtlCol="0" anchor="b"/>
          <a:lstStyle/>
          <a:p>
            <a:pPr algn="ctr" indent="0" marL="0">
              <a:buNone/>
            </a:pPr>
            <a:r>
              <a:rPr lang="en-US" sz="1000" dirty="0">
                <a:solidFill>
                  <a:srgbClr val="4D4D4D"/>
                </a:solidFill>
              </a:rPr>
              <a:t>Signed webhook, token only</a:t>
            </a:r>
            <a:endParaRPr lang="en-US" sz="1000" dirty="0"/>
          </a:p>
        </p:txBody>
      </p:sp>
      <p:sp>
        <p:nvSpPr>
          <p:cNvPr id="48" name="Shape 46"/>
          <p:cNvSpPr/>
          <p:nvPr/>
        </p:nvSpPr>
        <p:spPr>
          <a:xfrm>
            <a:off x="5085697" y="3946888"/>
            <a:ext cx="2934701" cy="0"/>
          </a:xfrm>
          <a:prstGeom prst="line">
            <a:avLst/>
          </a:prstGeom>
          <a:noFill/>
          <a:ln w="15875">
            <a:solidFill>
              <a:srgbClr val="1A1A1A"/>
            </a:solidFill>
            <a:prstDash val="solid"/>
            <a:tailEnd type="triangle"/>
          </a:ln>
        </p:spPr>
      </p:sp>
      <p:sp>
        <p:nvSpPr>
          <p:cNvPr id="49" name="Shape 47"/>
          <p:cNvSpPr/>
          <p:nvPr/>
        </p:nvSpPr>
        <p:spPr>
          <a:xfrm>
            <a:off x="4985113" y="3846304"/>
            <a:ext cx="201168" cy="201168"/>
          </a:xfrm>
          <a:prstGeom prst="ellipse">
            <a:avLst/>
          </a:prstGeom>
          <a:solidFill>
            <a:srgbClr val="00A9C0"/>
          </a:solidFill>
          <a:ln w="12700">
            <a:solidFill>
              <a:srgbClr val="00A9C0"/>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2935224"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(queued, idempotent)</a:t>
            </a:r>
            <a:endParaRPr lang="en-US" sz="1000" dirty="0"/>
          </a:p>
        </p:txBody>
      </p:sp>
      <p:sp>
        <p:nvSpPr>
          <p:cNvPr id="52" name="Shape 50"/>
          <p:cNvSpPr/>
          <p:nvPr/>
        </p:nvSpPr>
        <p:spPr>
          <a:xfrm>
            <a:off x="502920" y="4044462"/>
            <a:ext cx="11141835" cy="0"/>
          </a:xfrm>
          <a:prstGeom prst="line">
            <a:avLst/>
          </a:prstGeom>
          <a:noFill/>
          <a:ln w="9525">
            <a:solidFill>
              <a:srgbClr val="D4D4DA"/>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CONFIRM</a:t>
            </a:r>
            <a:endParaRPr lang="en-US" sz="950" dirty="0"/>
          </a:p>
        </p:txBody>
      </p:sp>
      <p:sp>
        <p:nvSpPr>
          <p:cNvPr id="54" name="Shape 52"/>
          <p:cNvSpPr/>
          <p:nvPr/>
        </p:nvSpPr>
        <p:spPr>
          <a:xfrm>
            <a:off x="8020398" y="4233869"/>
            <a:ext cx="1467351" cy="0"/>
          </a:xfrm>
          <a:prstGeom prst="line">
            <a:avLst/>
          </a:prstGeom>
          <a:noFill/>
          <a:ln w="15875">
            <a:solidFill>
              <a:srgbClr val="1A1A1A"/>
            </a:solidFill>
            <a:prstDash val="solid"/>
            <a:tailEnd type="triangle"/>
          </a:ln>
        </p:spPr>
      </p:sp>
      <p:sp>
        <p:nvSpPr>
          <p:cNvPr id="55" name="Shape 53"/>
          <p:cNvSpPr/>
          <p:nvPr/>
        </p:nvSpPr>
        <p:spPr>
          <a:xfrm>
            <a:off x="7919814" y="4133285"/>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6B7280"/>
            </a:solidFill>
            <a:prstDash val="dash"/>
            <a:headEnd type="triangle"/>
          </a:ln>
        </p:spPr>
      </p:sp>
      <p:sp>
        <p:nvSpPr>
          <p:cNvPr id="59" name="Shape 57"/>
          <p:cNvSpPr/>
          <p:nvPr/>
        </p:nvSpPr>
        <p:spPr>
          <a:xfrm>
            <a:off x="9387165" y="4420266"/>
            <a:ext cx="201168" cy="201168"/>
          </a:xfrm>
          <a:prstGeom prst="ellipse">
            <a:avLst/>
          </a:prstGeom>
          <a:solidFill>
            <a:srgbClr val="00A9C0"/>
          </a:solidFill>
          <a:ln w="12700">
            <a:solidFill>
              <a:srgbClr val="00A9C0"/>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 reminders</a:t>
            </a:r>
            <a:endParaRPr lang="en-US" sz="1000" dirty="0"/>
          </a:p>
        </p:txBody>
      </p:sp>
      <p:sp>
        <p:nvSpPr>
          <p:cNvPr id="62" name="Shape 60"/>
          <p:cNvSpPr/>
          <p:nvPr/>
        </p:nvSpPr>
        <p:spPr>
          <a:xfrm>
            <a:off x="502920" y="4618423"/>
            <a:ext cx="11141835" cy="0"/>
          </a:xfrm>
          <a:prstGeom prst="line">
            <a:avLst/>
          </a:prstGeom>
          <a:noFill/>
          <a:ln w="9525">
            <a:solidFill>
              <a:srgbClr val="D4D4DA"/>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ATTEND</a:t>
            </a:r>
            <a:endParaRPr lang="en-US" sz="950" dirty="0"/>
          </a:p>
        </p:txBody>
      </p:sp>
      <p:sp>
        <p:nvSpPr>
          <p:cNvPr id="64" name="Shape 62"/>
          <p:cNvSpPr/>
          <p:nvPr/>
        </p:nvSpPr>
        <p:spPr>
          <a:xfrm>
            <a:off x="8020398" y="4807831"/>
            <a:ext cx="2934701" cy="0"/>
          </a:xfrm>
          <a:prstGeom prst="line">
            <a:avLst/>
          </a:prstGeom>
          <a:noFill/>
          <a:ln w="15875">
            <a:solidFill>
              <a:srgbClr val="1A1A1A"/>
            </a:solidFill>
            <a:prstDash val="solid"/>
            <a:headEnd type="triangle"/>
          </a:ln>
        </p:spPr>
      </p:sp>
      <p:sp>
        <p:nvSpPr>
          <p:cNvPr id="65" name="Shape 63"/>
          <p:cNvSpPr/>
          <p:nvPr/>
        </p:nvSpPr>
        <p:spPr>
          <a:xfrm>
            <a:off x="10854516" y="4707247"/>
            <a:ext cx="201168" cy="201168"/>
          </a:xfrm>
          <a:prstGeom prst="ellipse">
            <a:avLst/>
          </a:prstGeom>
          <a:solidFill>
            <a:srgbClr val="00A9C0"/>
          </a:solidFill>
          <a:ln w="12700">
            <a:solidFill>
              <a:srgbClr val="00A9C0"/>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D4D4DA"/>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ENGAGE</a:t>
            </a:r>
            <a:endParaRPr lang="en-US" sz="950" dirty="0"/>
          </a:p>
        </p:txBody>
      </p:sp>
      <p:sp>
        <p:nvSpPr>
          <p:cNvPr id="70" name="Shape 68"/>
          <p:cNvSpPr/>
          <p:nvPr/>
        </p:nvSpPr>
        <p:spPr>
          <a:xfrm>
            <a:off x="8020398" y="5094812"/>
            <a:ext cx="1467351" cy="0"/>
          </a:xfrm>
          <a:prstGeom prst="line">
            <a:avLst/>
          </a:prstGeom>
          <a:noFill/>
          <a:ln w="15875">
            <a:solidFill>
              <a:srgbClr val="1A1A1A"/>
            </a:solidFill>
            <a:prstDash val="solid"/>
            <a:tailEnd type="triangle"/>
          </a:ln>
        </p:spPr>
      </p:sp>
      <p:sp>
        <p:nvSpPr>
          <p:cNvPr id="71" name="Shape 69"/>
          <p:cNvSpPr/>
          <p:nvPr/>
        </p:nvSpPr>
        <p:spPr>
          <a:xfrm>
            <a:off x="7919814" y="4994228"/>
            <a:ext cx="201168" cy="201168"/>
          </a:xfrm>
          <a:prstGeom prst="ellipse">
            <a:avLst/>
          </a:prstGeom>
          <a:solidFill>
            <a:srgbClr val="00A9C0"/>
          </a:solidFill>
          <a:ln w="12700">
            <a:solidFill>
              <a:srgbClr val="00A9C0"/>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6B7280"/>
            </a:solidFill>
            <a:prstDash val="dash"/>
            <a:headEnd type="triangle"/>
          </a:ln>
        </p:spPr>
      </p:sp>
      <p:sp>
        <p:nvSpPr>
          <p:cNvPr id="75" name="Shape 73"/>
          <p:cNvSpPr/>
          <p:nvPr/>
        </p:nvSpPr>
        <p:spPr>
          <a:xfrm>
            <a:off x="9387165" y="5281209"/>
            <a:ext cx="201168" cy="201168"/>
          </a:xfrm>
          <a:prstGeom prst="ellipse">
            <a:avLst/>
          </a:prstGeom>
          <a:solidFill>
            <a:srgbClr val="00A9C0"/>
          </a:solidFill>
          <a:ln w="12700">
            <a:solidFill>
              <a:srgbClr val="00A9C0"/>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D4D4DA"/>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GROW</a:t>
            </a:r>
            <a:endParaRPr lang="en-US" sz="950" dirty="0"/>
          </a:p>
        </p:txBody>
      </p:sp>
      <p:sp>
        <p:nvSpPr>
          <p:cNvPr id="80" name="Shape 78"/>
          <p:cNvSpPr/>
          <p:nvPr/>
        </p:nvSpPr>
        <p:spPr>
          <a:xfrm>
            <a:off x="8020398" y="5668774"/>
            <a:ext cx="2934701" cy="0"/>
          </a:xfrm>
          <a:prstGeom prst="line">
            <a:avLst/>
          </a:prstGeom>
          <a:noFill/>
          <a:ln w="15875">
            <a:solidFill>
              <a:srgbClr val="6B7280"/>
            </a:solidFill>
            <a:prstDash val="dash"/>
            <a:tailEnd type="triangle"/>
          </a:ln>
        </p:spPr>
      </p:sp>
      <p:sp>
        <p:nvSpPr>
          <p:cNvPr id="81" name="Shape 79"/>
          <p:cNvSpPr/>
          <p:nvPr/>
        </p:nvSpPr>
        <p:spPr>
          <a:xfrm>
            <a:off x="7919814" y="5568190"/>
            <a:ext cx="201168" cy="201168"/>
          </a:xfrm>
          <a:prstGeom prst="ellipse">
            <a:avLst/>
          </a:prstGeom>
          <a:solidFill>
            <a:srgbClr val="00A9C0"/>
          </a:solidFill>
          <a:ln w="12700">
            <a:solidFill>
              <a:srgbClr val="00A9C0"/>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4D4D4D"/>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1A1A1A"/>
            </a:solidFill>
            <a:prstDash val="solid"/>
            <a:headEnd type="triangle"/>
          </a:ln>
        </p:spPr>
      </p:sp>
      <p:sp>
        <p:nvSpPr>
          <p:cNvPr id="85" name="Shape 83"/>
          <p:cNvSpPr/>
          <p:nvPr/>
        </p:nvSpPr>
        <p:spPr>
          <a:xfrm>
            <a:off x="10854516" y="5855170"/>
            <a:ext cx="201168" cy="201168"/>
          </a:xfrm>
          <a:prstGeom prst="ellipse">
            <a:avLst/>
          </a:prstGeom>
          <a:solidFill>
            <a:srgbClr val="00A9C0"/>
          </a:solidFill>
          <a:ln w="12700">
            <a:solidFill>
              <a:srgbClr val="00A9C0"/>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4D4D4D"/>
                </a:solidFill>
              </a:rPr>
              <a:t>Classes and conferences share this flow; conferences add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Phase 1: conferences with full session management</a:t>
            </a:r>
            <a:endParaRPr lang="en-US" sz="3200" dirty="0"/>
          </a:p>
        </p:txBody>
      </p:sp>
      <p:pic>
        <p:nvPicPr>
          <p:cNvPr id="3" name="04-conference-agenda.png" descr="/home/user/presales_memorial-hermann/deck/mockups/png/04-conference-agenda.png">    </p:cNvPr>
          <p:cNvPicPr>
            <a:picLocks noChangeAspect="1"/>
          </p:cNvPicPr>
          <p:nvPr/>
        </p:nvPicPr>
        <p:blipFill>
          <a:blip r:embed="rId1"/>
          <a:stretch>
            <a:fillRect/>
          </a:stretch>
        </p:blipFill>
        <p:spPr>
          <a:xfrm>
            <a:off x="502920" y="1691640"/>
            <a:ext cx="6858000" cy="4288536"/>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7772400" y="1691640"/>
            <a:ext cx="3931920" cy="365760"/>
          </a:xfrm>
          <a:prstGeom prst="rect">
            <a:avLst/>
          </a:prstGeom>
          <a:noFill/>
          <a:ln/>
        </p:spPr>
        <p:txBody>
          <a:bodyPr wrap="square" lIns="0" tIns="0" rIns="0" bIns="0" rtlCol="0" anchor="t"/>
          <a:lstStyle/>
          <a:p>
            <a:pPr indent="0" marL="0">
              <a:buNone/>
            </a:pPr>
            <a:r>
              <a:rPr lang="en-US" sz="1800" b="1" dirty="0">
                <a:solidFill>
                  <a:schemeClr val="tx1"/>
                </a:solidFill>
              </a:rPr>
              <a:t>Replaces Certain</a:t>
            </a:r>
            <a:endParaRPr lang="en-US" sz="1800" dirty="0"/>
          </a:p>
        </p:txBody>
      </p:sp>
      <p:sp>
        <p:nvSpPr>
          <p:cNvPr id="5" name="Text 2"/>
          <p:cNvSpPr txBox="1"/>
          <p:nvPr/>
        </p:nvSpPr>
        <p:spPr>
          <a:xfrm>
            <a:off x="7772400" y="2194560"/>
            <a:ext cx="393192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Multi-day agenda with tracks and rooms</a:t>
            </a:r>
            <a:endParaRPr lang="en-US" sz="1400" dirty="0"/>
          </a:p>
          <a:p>
            <a:pPr marL="342900" indent="-342900">
              <a:spcAft>
                <a:spcPts val="600"/>
              </a:spcAft>
              <a:buSzPct val="100000"/>
              <a:buChar char="•"/>
            </a:pPr>
            <a:r>
              <a:rPr lang="en-US" sz="1400" dirty="0">
                <a:solidFill>
                  <a:srgbClr val="4D4D4D"/>
                </a:solidFill>
              </a:rPr>
              <a:t>Attendees build their own “My Agenda”</a:t>
            </a:r>
            <a:endParaRPr lang="en-US" sz="1400" dirty="0"/>
          </a:p>
          <a:p>
            <a:pPr marL="342900" indent="-342900">
              <a:spcAft>
                <a:spcPts val="600"/>
              </a:spcAft>
              <a:buSzPct val="100000"/>
              <a:buChar char="•"/>
            </a:pPr>
            <a:r>
              <a:rPr lang="en-US" sz="1400" dirty="0">
                <a:solidFill>
                  <a:srgbClr val="4D4D4D"/>
                </a:solidFill>
              </a:rPr>
              <a:t>Session capacity and waitlists</a:t>
            </a:r>
            <a:endParaRPr lang="en-US" sz="1400" dirty="0"/>
          </a:p>
          <a:p>
            <a:pPr marL="342900" indent="-342900">
              <a:spcAft>
                <a:spcPts val="600"/>
              </a:spcAft>
              <a:buSzPct val="100000"/>
              <a:buChar char="•"/>
            </a:pPr>
            <a:r>
              <a:rPr lang="en-US" sz="1400" dirty="0">
                <a:solidFill>
                  <a:srgbClr val="4D4D4D"/>
                </a:solidFill>
              </a:rPr>
              <a:t>Speaker profiles and assignments</a:t>
            </a:r>
            <a:endParaRPr lang="en-US" sz="1400" dirty="0"/>
          </a:p>
          <a:p>
            <a:pPr marL="342900" indent="-342900">
              <a:spcAft>
                <a:spcPts val="600"/>
              </a:spcAft>
              <a:buSzPct val="100000"/>
              <a:buChar char="•"/>
            </a:pPr>
            <a:r>
              <a:rPr lang="en-US" sz="1400" dirty="0">
                <a:solidFill>
                  <a:srgbClr val="4D4D4D"/>
                </a:solidFill>
              </a:rPr>
              <a:t>Ticket types for providers and guests</a:t>
            </a:r>
            <a:endParaRPr lang="en-US" sz="1400" dirty="0"/>
          </a:p>
          <a:p>
            <a:pPr marL="342900" indent="-342900">
              <a:spcAft>
                <a:spcPts val="600"/>
              </a:spcAft>
              <a:buSzPct val="100000"/>
              <a:buChar char="•"/>
            </a:pPr>
            <a:r>
              <a:rPr lang="en-US" sz="1400" dirty="0">
                <a:solidFill>
                  <a:srgbClr val="4D4D4D"/>
                </a:solidFill>
              </a:rPr>
              <a:t>Badges and CME credit tracking [to confirm]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Phase 2: today’s class registration, improved</a:t>
            </a:r>
            <a:endParaRPr lang="en-US" sz="3200" dirty="0"/>
          </a:p>
        </p:txBody>
      </p:sp>
      <p:pic>
        <p:nvPicPr>
          <p:cNvPr id="3" name="01-web-registration.png" descr="/home/user/presales_memorial-hermann/deck/mockups/png/01-web-registration.png">    </p:cNvPr>
          <p:cNvPicPr>
            <a:picLocks noChangeAspect="1"/>
          </p:cNvPicPr>
          <p:nvPr/>
        </p:nvPicPr>
        <p:blipFill>
          <a:blip r:embed="rId1"/>
          <a:stretch>
            <a:fillRect/>
          </a:stretch>
        </p:blipFill>
        <p:spPr>
          <a:xfrm>
            <a:off x="502920" y="1691640"/>
            <a:ext cx="5440680" cy="3401568"/>
          </a:xfrm>
          <a:prstGeom prst="rect">
            <a:avLst/>
          </a:prstGeom>
          <a:effectLst>
            <a:outerShdw sx="100000" sy="100000" kx="0" ky="0" algn="bl" rotWithShape="0" blurRad="101600" dist="25400" dir="5400000">
              <a:srgbClr val="000000">
                <a:alpha val="25000"/>
              </a:srgbClr>
            </a:outerShdw>
          </a:effectLst>
        </p:spPr>
      </p:pic>
      <p:pic>
        <p:nvPicPr>
          <p:cNvPr id="4" name="02-mobile-flow.png" descr="/home/user/presales_memorial-hermann/deck/mockups/png/02-mobile-flow.png">    </p:cNvPr>
          <p:cNvPicPr>
            <a:picLocks noChangeAspect="1"/>
          </p:cNvPicPr>
          <p:nvPr/>
        </p:nvPicPr>
        <p:blipFill>
          <a:blip r:embed="rId2"/>
          <a:stretch>
            <a:fillRect/>
          </a:stretch>
        </p:blipFill>
        <p:spPr>
          <a:xfrm>
            <a:off x="6245352" y="1691640"/>
            <a:ext cx="5440680" cy="3401568"/>
          </a:xfrm>
          <a:prstGeom prst="rect">
            <a:avLst/>
          </a:prstGeom>
          <a:effectLst>
            <a:outerShdw sx="100000" sy="100000" kx="0" ky="0" algn="bl" rotWithShape="0" blurRad="101600" dist="25400" dir="5400000">
              <a:srgbClr val="000000">
                <a:alpha val="25000"/>
              </a:srgbClr>
            </a:outerShdw>
          </a:effectLst>
        </p:spPr>
      </p:pic>
      <p:sp>
        <p:nvSpPr>
          <p:cNvPr id="5" name="Text 1"/>
          <p:cNvSpPr txBox="1"/>
          <p:nvPr/>
        </p:nvSpPr>
        <p:spPr>
          <a:xfrm>
            <a:off x="502920"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Website and Experience Cloud site</a:t>
            </a:r>
            <a:endParaRPr lang="en-US" sz="1500" dirty="0"/>
          </a:p>
        </p:txBody>
      </p:sp>
      <p:sp>
        <p:nvSpPr>
          <p:cNvPr id="6" name="Text 2"/>
          <p:cNvSpPr txBox="1"/>
          <p:nvPr/>
        </p:nvSpPr>
        <p:spPr>
          <a:xfrm>
            <a:off x="502920"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Same listings and registration site, now with live seats, waitlists and instant confirmation.</a:t>
            </a:r>
            <a:endParaRPr lang="en-US" sz="1300" dirty="0"/>
          </a:p>
        </p:txBody>
      </p:sp>
      <p:sp>
        <p:nvSpPr>
          <p:cNvPr id="7" name="Text 3"/>
          <p:cNvSpPr txBox="1"/>
          <p:nvPr/>
        </p:nvSpPr>
        <p:spPr>
          <a:xfrm>
            <a:off x="6245352"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Existing mobile app</a:t>
            </a:r>
            <a:endParaRPr lang="en-US" sz="1500" dirty="0"/>
          </a:p>
        </p:txBody>
      </p:sp>
      <p:sp>
        <p:nvSpPr>
          <p:cNvPr id="8" name="Text 4"/>
          <p:cNvSpPr txBox="1"/>
          <p:nvPr/>
        </p:nvSpPr>
        <p:spPr>
          <a:xfrm>
            <a:off x="6245352"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The app people already register in, connected to the same event model. No new app.</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run classes and conferences from one console</a:t>
            </a:r>
            <a:endParaRPr lang="en-US" sz="3200" dirty="0"/>
          </a:p>
        </p:txBody>
      </p:sp>
      <p:pic>
        <p:nvPicPr>
          <p:cNvPr id="3" name="03-salesforce-console.png" descr="/home/user/presales_memorial-hermann/deck/mockups/png/03-salesforce-console.png">    </p:cNvPr>
          <p:cNvPicPr>
            <a:picLocks noChangeAspect="1"/>
          </p:cNvPicPr>
          <p:nvPr/>
        </p:nvPicPr>
        <p:blipFill>
          <a:blip r:embed="rId1"/>
          <a:stretch>
            <a:fillRect/>
          </a:stretch>
        </p:blipFill>
        <p:spPr>
          <a:xfrm>
            <a:off x="502920" y="1783080"/>
            <a:ext cx="7863840" cy="3538728"/>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732520" y="1783080"/>
            <a:ext cx="2971800" cy="365760"/>
          </a:xfrm>
          <a:prstGeom prst="rect">
            <a:avLst/>
          </a:prstGeom>
          <a:noFill/>
          <a:ln/>
        </p:spPr>
        <p:txBody>
          <a:bodyPr wrap="square" lIns="0" tIns="0" rIns="0" bIns="0" rtlCol="0" anchor="t"/>
          <a:lstStyle/>
          <a:p>
            <a:pPr indent="0" marL="0">
              <a:buNone/>
            </a:pPr>
            <a:r>
              <a:rPr lang="en-US" sz="1800" b="1" dirty="0">
                <a:solidFill>
                  <a:schemeClr val="tx1"/>
                </a:solidFill>
              </a:rPr>
              <a:t>What staff can do</a:t>
            </a:r>
            <a:endParaRPr lang="en-US" sz="1800" dirty="0"/>
          </a:p>
        </p:txBody>
      </p:sp>
      <p:sp>
        <p:nvSpPr>
          <p:cNvPr id="5" name="Text 2"/>
          <p:cNvSpPr txBox="1"/>
          <p:nvPr/>
        </p:nvSpPr>
        <p:spPr>
          <a:xfrm>
            <a:off x="8732520" y="2286000"/>
            <a:ext cx="2971800" cy="3108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Set up a class once and repeat it as a series</a:t>
            </a:r>
            <a:endParaRPr lang="en-US" sz="1400" dirty="0"/>
          </a:p>
          <a:p>
            <a:pPr marL="342900" indent="-342900">
              <a:spcAft>
                <a:spcPts val="600"/>
              </a:spcAft>
              <a:buSzPct val="100000"/>
              <a:buChar char="•"/>
            </a:pPr>
            <a:r>
              <a:rPr lang="en-US" sz="1400" dirty="0">
                <a:solidFill>
                  <a:srgbClr val="4D4D4D"/>
                </a:solidFill>
              </a:rPr>
              <a:t>Watch capacity and waitlists fill in real time</a:t>
            </a:r>
            <a:endParaRPr lang="en-US" sz="1400" dirty="0"/>
          </a:p>
          <a:p>
            <a:pPr marL="342900" indent="-342900">
              <a:spcAft>
                <a:spcPts val="600"/>
              </a:spcAft>
              <a:buSzPct val="100000"/>
              <a:buChar char="•"/>
            </a:pPr>
            <a:r>
              <a:rPr lang="en-US" sz="1400" dirty="0">
                <a:solidFill>
                  <a:srgbClr val="4D4D4D"/>
                </a:solidFill>
              </a:rPr>
              <a:t>Match registrants to existing Health Cloud records</a:t>
            </a:r>
            <a:endParaRPr lang="en-US" sz="1400" dirty="0"/>
          </a:p>
          <a:p>
            <a:pPr marL="342900" indent="-342900">
              <a:spcAft>
                <a:spcPts val="600"/>
              </a:spcAft>
              <a:buSzPct val="100000"/>
              <a:buChar char="•"/>
            </a:pPr>
            <a:r>
              <a:rPr lang="en-US" sz="1400" dirty="0">
                <a:solidFill>
                  <a:srgbClr val="4D4D4D"/>
                </a:solidFill>
              </a:rPr>
              <a:t>Check people in with a QR scan</a:t>
            </a:r>
            <a:endParaRPr lang="en-US" sz="1400" dirty="0"/>
          </a:p>
          <a:p>
            <a:pPr marL="342900" indent="-342900">
              <a:spcAft>
                <a:spcPts val="600"/>
              </a:spcAft>
              <a:buSzPct val="100000"/>
              <a:buChar char="•"/>
            </a:pPr>
            <a:r>
              <a:rPr lang="en-US" sz="1400" dirty="0">
                <a:solidFill>
                  <a:srgbClr val="4D4D4D"/>
                </a:solidFill>
              </a:rPr>
              <a:t>Email attendees and track revenue</a:t>
            </a:r>
            <a:endParaRPr lang="en-US" sz="1400" dirty="0"/>
          </a:p>
        </p:txBody>
      </p:sp>
      <p:sp>
        <p:nvSpPr>
          <p:cNvPr id="6" name="Text 3"/>
          <p:cNvSpPr txBox="1"/>
          <p:nvPr/>
        </p:nvSpPr>
        <p:spPr>
          <a:xfrm>
            <a:off x="502920" y="5486400"/>
            <a:ext cx="4572000" cy="274320"/>
          </a:xfrm>
          <a:prstGeom prst="rect">
            <a:avLst/>
          </a:prstGeom>
          <a:noFill/>
          <a:ln/>
        </p:spPr>
        <p:txBody>
          <a:bodyPr wrap="square" lIns="0" tIns="0" rIns="0" bIns="0" rtlCol="0" anchor="t"/>
          <a:lstStyle/>
          <a:p>
            <a:pPr indent="0" marL="0">
              <a:buNone/>
            </a:pPr>
            <a:r>
              <a:rPr lang="en-US" sz="1100" i="1" dirty="0">
                <a:solidFill>
                  <a:srgbClr val="4D4D4D"/>
                </a:solidFill>
              </a:rPr>
              <a:t>Concept mockup, sample data</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When interest outruns seats: a popular class or a conference opening</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B0B0B8"/>
            </a:solidFill>
            <a:prstDash val="dash"/>
          </a:ln>
        </p:spPr>
      </p:sp>
      <p:sp>
        <p:nvSpPr>
          <p:cNvPr id="6" name="participant-edge"/>
          <p:cNvSpPr/>
          <p:nvPr/>
        </p:nvSpPr>
        <p:spPr>
          <a:xfrm>
            <a:off x="2155763" y="1463040"/>
            <a:ext cx="1488251" cy="475488"/>
          </a:xfrm>
          <a:prstGeom prst="roundRect">
            <a:avLst>
              <a:gd name="adj" fmla="val 15385"/>
            </a:avLst>
          </a:prstGeom>
          <a:solidFill>
            <a:srgbClr val="F2F2F2"/>
          </a:solidFill>
          <a:ln w="22225">
            <a:solidFill>
              <a:srgbClr val="00A9C0"/>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B0B0B8"/>
            </a:solidFill>
            <a:prstDash val="dash"/>
          </a:ln>
        </p:spPr>
      </p:sp>
      <p:sp>
        <p:nvSpPr>
          <p:cNvPr id="9" name="participant-reg"/>
          <p:cNvSpPr/>
          <p:nvPr/>
        </p:nvSpPr>
        <p:spPr>
          <a:xfrm>
            <a:off x="3753743" y="1463040"/>
            <a:ext cx="1488251" cy="475488"/>
          </a:xfrm>
          <a:prstGeom prst="roundRect">
            <a:avLst>
              <a:gd name="adj" fmla="val 15385"/>
            </a:avLst>
          </a:prstGeom>
          <a:solidFill>
            <a:srgbClr val="F2F2F2"/>
          </a:solidFill>
          <a:ln w="22225">
            <a:solidFill>
              <a:srgbClr val="D9B2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B0B0B8"/>
            </a:solidFill>
            <a:prstDash val="dash"/>
          </a:ln>
        </p:spPr>
      </p:sp>
      <p:sp>
        <p:nvSpPr>
          <p:cNvPr id="12" name="participant-inv"/>
          <p:cNvSpPr/>
          <p:nvPr/>
        </p:nvSpPr>
        <p:spPr>
          <a:xfrm>
            <a:off x="5351722" y="1463040"/>
            <a:ext cx="1488251" cy="475488"/>
          </a:xfrm>
          <a:prstGeom prst="roundRect">
            <a:avLst>
              <a:gd name="adj" fmla="val 15385"/>
            </a:avLst>
          </a:prstGeom>
          <a:solidFill>
            <a:srgbClr val="F2F2F2"/>
          </a:solidFill>
          <a:ln w="22225">
            <a:solidFill>
              <a:srgbClr val="D9B2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B0B0B8"/>
            </a:solidFill>
            <a:prstDash val="dash"/>
          </a:ln>
        </p:spPr>
      </p:sp>
      <p:sp>
        <p:nvSpPr>
          <p:cNvPr id="15" name="participant-pay"/>
          <p:cNvSpPr/>
          <p:nvPr/>
        </p:nvSpPr>
        <p:spPr>
          <a:xfrm>
            <a:off x="6949701" y="1463040"/>
            <a:ext cx="1488251" cy="475488"/>
          </a:xfrm>
          <a:prstGeom prst="roundRect">
            <a:avLst>
              <a:gd name="adj" fmla="val 15385"/>
            </a:avLst>
          </a:prstGeom>
          <a:solidFill>
            <a:srgbClr val="F2F2F2"/>
          </a:solidFill>
          <a:ln w="15875">
            <a:solidFill>
              <a:srgbClr val="B8B8C0"/>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B0B0B8"/>
            </a:solidFill>
            <a:prstDash val="dash"/>
          </a:ln>
        </p:spPr>
      </p:sp>
      <p:sp>
        <p:nvSpPr>
          <p:cNvPr id="18" name="participant-sf"/>
          <p:cNvSpPr/>
          <p:nvPr/>
        </p:nvSpPr>
        <p:spPr>
          <a:xfrm>
            <a:off x="8547681" y="1463040"/>
            <a:ext cx="1488251" cy="475488"/>
          </a:xfrm>
          <a:prstGeom prst="roundRect">
            <a:avLst>
              <a:gd name="adj" fmla="val 15385"/>
            </a:avLst>
          </a:prstGeom>
          <a:solidFill>
            <a:srgbClr val="F2F2F2"/>
          </a:solidFill>
          <a:ln w="22225">
            <a:solidFill>
              <a:srgbClr val="00A9C0"/>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B0B0B8"/>
            </a:solidFill>
            <a:prstDash val="dash"/>
          </a:ln>
        </p:spPr>
      </p:sp>
      <p:sp>
        <p:nvSpPr>
          <p:cNvPr id="21" name="participant-mc"/>
          <p:cNvSpPr/>
          <p:nvPr/>
        </p:nvSpPr>
        <p:spPr>
          <a:xfrm>
            <a:off x="10145660" y="1463040"/>
            <a:ext cx="1488251" cy="475488"/>
          </a:xfrm>
          <a:prstGeom prst="roundRect">
            <a:avLst>
              <a:gd name="adj" fmla="val 15385"/>
            </a:avLst>
          </a:prstGeom>
          <a:solidFill>
            <a:srgbClr val="F2F2F2"/>
          </a:solidFill>
          <a:ln w="2222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B0B0B8"/>
            </a:solidFill>
            <a:prstDash val="dash"/>
          </a:ln>
        </p:spPr>
      </p:sp>
      <p:sp>
        <p:nvSpPr>
          <p:cNvPr id="24" name="Shape 22"/>
          <p:cNvSpPr/>
          <p:nvPr/>
        </p:nvSpPr>
        <p:spPr>
          <a:xfrm>
            <a:off x="1301910" y="2192216"/>
            <a:ext cx="1597979" cy="0"/>
          </a:xfrm>
          <a:prstGeom prst="line">
            <a:avLst/>
          </a:prstGeom>
          <a:noFill/>
          <a:ln w="15875">
            <a:solidFill>
              <a:srgbClr val="1A1A1A"/>
            </a:solidFill>
            <a:prstDash val="solid"/>
            <a:tailEnd type="triangle"/>
          </a:ln>
        </p:spPr>
      </p:sp>
      <p:sp>
        <p:nvSpPr>
          <p:cNvPr id="25" name="Shape 23"/>
          <p:cNvSpPr/>
          <p:nvPr/>
        </p:nvSpPr>
        <p:spPr>
          <a:xfrm>
            <a:off x="1201326" y="2091632"/>
            <a:ext cx="201168" cy="201168"/>
          </a:xfrm>
          <a:prstGeom prst="ellipse">
            <a:avLst/>
          </a:prstGeom>
          <a:solidFill>
            <a:srgbClr val="00A9C0"/>
          </a:solidFill>
          <a:ln w="12700">
            <a:solidFill>
              <a:srgbClr val="00A9C0"/>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000000"/>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6B7280"/>
            </a:solidFill>
            <a:prstDash val="dash"/>
            <a:headEnd type="triangle"/>
          </a:ln>
        </p:spPr>
      </p:sp>
      <p:sp>
        <p:nvSpPr>
          <p:cNvPr id="29" name="Shape 27"/>
          <p:cNvSpPr/>
          <p:nvPr/>
        </p:nvSpPr>
        <p:spPr>
          <a:xfrm>
            <a:off x="2799305" y="2337461"/>
            <a:ext cx="201168" cy="201168"/>
          </a:xfrm>
          <a:prstGeom prst="ellipse">
            <a:avLst/>
          </a:prstGeom>
          <a:solidFill>
            <a:srgbClr val="00A9C0"/>
          </a:solidFill>
          <a:ln w="12700">
            <a:solidFill>
              <a:srgbClr val="00A9C0"/>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4D4D4D"/>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1A1A1A"/>
            </a:solidFill>
            <a:prstDash val="solid"/>
            <a:tailEnd type="triangle"/>
          </a:ln>
        </p:spPr>
      </p:sp>
      <p:sp>
        <p:nvSpPr>
          <p:cNvPr id="33" name="Shape 31"/>
          <p:cNvSpPr/>
          <p:nvPr/>
        </p:nvSpPr>
        <p:spPr>
          <a:xfrm>
            <a:off x="2799305" y="2583291"/>
            <a:ext cx="201168" cy="201168"/>
          </a:xfrm>
          <a:prstGeom prst="ellipse">
            <a:avLst/>
          </a:prstGeom>
          <a:solidFill>
            <a:srgbClr val="00A9C0"/>
          </a:solidFill>
          <a:ln w="12700">
            <a:solidFill>
              <a:srgbClr val="00A9C0"/>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000000"/>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1A1A1A"/>
            </a:solidFill>
            <a:prstDash val="solid"/>
            <a:tailEnd type="triangle"/>
          </a:ln>
        </p:spPr>
      </p:sp>
      <p:sp>
        <p:nvSpPr>
          <p:cNvPr id="37" name="Shape 35"/>
          <p:cNvSpPr/>
          <p:nvPr/>
        </p:nvSpPr>
        <p:spPr>
          <a:xfrm>
            <a:off x="4397284" y="2829121"/>
            <a:ext cx="201168" cy="201168"/>
          </a:xfrm>
          <a:prstGeom prst="ellipse">
            <a:avLst/>
          </a:prstGeom>
          <a:solidFill>
            <a:srgbClr val="00A9C0"/>
          </a:solidFill>
          <a:ln w="12700">
            <a:solidFill>
              <a:srgbClr val="00A9C0"/>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000000"/>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FFF6CC"/>
          </a:solidFill>
          <a:ln w="12700">
            <a:solidFill>
              <a:srgbClr val="D9B2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6B56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6B7280"/>
            </a:solidFill>
            <a:prstDash val="dash"/>
            <a:headEnd type="triangle"/>
          </a:ln>
        </p:spPr>
      </p:sp>
      <p:sp>
        <p:nvSpPr>
          <p:cNvPr id="43" name="Shape 41"/>
          <p:cNvSpPr/>
          <p:nvPr/>
        </p:nvSpPr>
        <p:spPr>
          <a:xfrm>
            <a:off x="5995264" y="3259323"/>
            <a:ext cx="201168" cy="201168"/>
          </a:xfrm>
          <a:prstGeom prst="ellipse">
            <a:avLst/>
          </a:prstGeom>
          <a:solidFill>
            <a:srgbClr val="00A9C0"/>
          </a:solidFill>
          <a:ln w="12700">
            <a:solidFill>
              <a:srgbClr val="00A9C0"/>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6B7280"/>
            </a:solidFill>
            <a:prstDash val="dash"/>
            <a:headEnd type="triangle"/>
          </a:ln>
        </p:spPr>
      </p:sp>
      <p:sp>
        <p:nvSpPr>
          <p:cNvPr id="47" name="Shape 45"/>
          <p:cNvSpPr/>
          <p:nvPr/>
        </p:nvSpPr>
        <p:spPr>
          <a:xfrm>
            <a:off x="4397284" y="3505153"/>
            <a:ext cx="201168" cy="201168"/>
          </a:xfrm>
          <a:prstGeom prst="ellipse">
            <a:avLst/>
          </a:prstGeom>
          <a:solidFill>
            <a:srgbClr val="00A9C0"/>
          </a:solidFill>
          <a:ln w="12700">
            <a:solidFill>
              <a:srgbClr val="00A9C0"/>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1A1A1A"/>
            </a:solidFill>
            <a:prstDash val="solid"/>
            <a:tailEnd type="triangle"/>
          </a:ln>
        </p:spPr>
      </p:sp>
      <p:sp>
        <p:nvSpPr>
          <p:cNvPr id="51" name="Shape 49"/>
          <p:cNvSpPr/>
          <p:nvPr/>
        </p:nvSpPr>
        <p:spPr>
          <a:xfrm>
            <a:off x="1201326" y="3750983"/>
            <a:ext cx="201168" cy="201168"/>
          </a:xfrm>
          <a:prstGeom prst="ellipse">
            <a:avLst/>
          </a:prstGeom>
          <a:solidFill>
            <a:srgbClr val="00A9C0"/>
          </a:solidFill>
          <a:ln w="12700">
            <a:solidFill>
              <a:srgbClr val="00A9C0"/>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6B7280"/>
            </a:solidFill>
            <a:prstDash val="dash"/>
            <a:headEnd type="triangle"/>
          </a:ln>
        </p:spPr>
      </p:sp>
      <p:sp>
        <p:nvSpPr>
          <p:cNvPr id="55" name="Shape 53"/>
          <p:cNvSpPr/>
          <p:nvPr/>
        </p:nvSpPr>
        <p:spPr>
          <a:xfrm>
            <a:off x="7593243" y="3996813"/>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1A1A1A"/>
            </a:solidFill>
            <a:prstDash val="solid"/>
            <a:tailEnd type="triangle"/>
          </a:ln>
        </p:spPr>
      </p:sp>
      <p:sp>
        <p:nvSpPr>
          <p:cNvPr id="59" name="Shape 57"/>
          <p:cNvSpPr/>
          <p:nvPr/>
        </p:nvSpPr>
        <p:spPr>
          <a:xfrm>
            <a:off x="4397284" y="4242642"/>
            <a:ext cx="201168" cy="201168"/>
          </a:xfrm>
          <a:prstGeom prst="ellipse">
            <a:avLst/>
          </a:prstGeom>
          <a:solidFill>
            <a:srgbClr val="00A9C0"/>
          </a:solidFill>
          <a:ln w="12700">
            <a:solidFill>
              <a:srgbClr val="00A9C0"/>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1A1A1A"/>
            </a:solidFill>
            <a:prstDash val="solid"/>
            <a:tailEnd type="triangle"/>
          </a:ln>
        </p:spPr>
      </p:sp>
      <p:sp>
        <p:nvSpPr>
          <p:cNvPr id="63" name="Shape 61"/>
          <p:cNvSpPr/>
          <p:nvPr/>
        </p:nvSpPr>
        <p:spPr>
          <a:xfrm>
            <a:off x="9191222" y="4488472"/>
            <a:ext cx="201168" cy="201168"/>
          </a:xfrm>
          <a:prstGeom prst="ellipse">
            <a:avLst/>
          </a:prstGeom>
          <a:solidFill>
            <a:srgbClr val="00A9C0"/>
          </a:solidFill>
          <a:ln w="12700">
            <a:solidFill>
              <a:srgbClr val="00A9C0"/>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6B7280"/>
            </a:solidFill>
            <a:prstDash val="dash"/>
            <a:headEnd type="triangle"/>
          </a:ln>
        </p:spPr>
      </p:sp>
      <p:sp>
        <p:nvSpPr>
          <p:cNvPr id="67" name="Shape 65"/>
          <p:cNvSpPr/>
          <p:nvPr/>
        </p:nvSpPr>
        <p:spPr>
          <a:xfrm>
            <a:off x="10789202" y="4734302"/>
            <a:ext cx="201168" cy="201168"/>
          </a:xfrm>
          <a:prstGeom prst="ellipse">
            <a:avLst/>
          </a:prstGeom>
          <a:solidFill>
            <a:srgbClr val="00A9C0"/>
          </a:solidFill>
          <a:ln w="12700">
            <a:solidFill>
              <a:srgbClr val="00A9C0"/>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9A9AA2"/>
            </a:solidFill>
            <a:prstDash val="dash"/>
          </a:ln>
        </p:spPr>
      </p:sp>
      <p:sp>
        <p:nvSpPr>
          <p:cNvPr id="71" name="Shape 69"/>
          <p:cNvSpPr/>
          <p:nvPr/>
        </p:nvSpPr>
        <p:spPr>
          <a:xfrm>
            <a:off x="605723" y="4919214"/>
            <a:ext cx="1280160" cy="219456"/>
          </a:xfrm>
          <a:prstGeom prst="roundRect">
            <a:avLst>
              <a:gd name="adj" fmla="val 20833"/>
            </a:avLst>
          </a:prstGeom>
          <a:solidFill>
            <a:srgbClr val="FFF6CC"/>
          </a:solidFill>
          <a:ln w="12700">
            <a:solidFill>
              <a:srgbClr val="D9B2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6B56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6B7280"/>
            </a:solidFill>
            <a:prstDash val="dash"/>
            <a:headEnd type="triangle"/>
          </a:ln>
        </p:spPr>
      </p:sp>
      <p:sp>
        <p:nvSpPr>
          <p:cNvPr id="74" name="Shape 72"/>
          <p:cNvSpPr/>
          <p:nvPr/>
        </p:nvSpPr>
        <p:spPr>
          <a:xfrm>
            <a:off x="5995264" y="5164504"/>
            <a:ext cx="201168" cy="201168"/>
          </a:xfrm>
          <a:prstGeom prst="ellipse">
            <a:avLst/>
          </a:prstGeom>
          <a:solidFill>
            <a:srgbClr val="00A9C0"/>
          </a:solidFill>
          <a:ln w="12700">
            <a:solidFill>
              <a:srgbClr val="00A9C0"/>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4D4D4D"/>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6B7280"/>
            </a:solidFill>
            <a:prstDash val="dash"/>
            <a:headEnd type="triangle"/>
          </a:ln>
        </p:spPr>
      </p:sp>
      <p:sp>
        <p:nvSpPr>
          <p:cNvPr id="78" name="Shape 76"/>
          <p:cNvSpPr/>
          <p:nvPr/>
        </p:nvSpPr>
        <p:spPr>
          <a:xfrm>
            <a:off x="4397284" y="5410334"/>
            <a:ext cx="201168" cy="201168"/>
          </a:xfrm>
          <a:prstGeom prst="ellipse">
            <a:avLst/>
          </a:prstGeom>
          <a:solidFill>
            <a:srgbClr val="00A9C0"/>
          </a:solidFill>
          <a:ln w="12700">
            <a:solidFill>
              <a:srgbClr val="00A9C0"/>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4D4D4D"/>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1A1A1A"/>
            </a:solidFill>
            <a:prstDash val="solid"/>
            <a:tailEnd type="triangle"/>
          </a:ln>
        </p:spPr>
      </p:sp>
      <p:sp>
        <p:nvSpPr>
          <p:cNvPr id="82" name="Shape 80"/>
          <p:cNvSpPr/>
          <p:nvPr/>
        </p:nvSpPr>
        <p:spPr>
          <a:xfrm>
            <a:off x="4397284" y="5656164"/>
            <a:ext cx="201168" cy="201168"/>
          </a:xfrm>
          <a:prstGeom prst="ellipse">
            <a:avLst/>
          </a:prstGeom>
          <a:solidFill>
            <a:srgbClr val="00A9C0"/>
          </a:solidFill>
          <a:ln w="12700">
            <a:solidFill>
              <a:srgbClr val="00A9C0"/>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9A9AA2"/>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Experience Cloud or app</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Chase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as for classes today)</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 (web or app)</a:t>
            </a:r>
            <a:endParaRPr lang="en-US" sz="1050" dirty="0"/>
          </a:p>
        </p:txBody>
      </p:sp>
      <p:sp>
        <p:nvSpPr>
          <p:cNvPr id="5" name="Shape 3"/>
          <p:cNvSpPr/>
          <p:nvPr/>
        </p:nvSpPr>
        <p:spPr>
          <a:xfrm>
            <a:off x="1440180" y="1984248"/>
            <a:ext cx="0" cy="4050792"/>
          </a:xfrm>
          <a:prstGeom prst="line">
            <a:avLst/>
          </a:prstGeom>
          <a:noFill/>
          <a:ln w="12700">
            <a:solidFill>
              <a:srgbClr val="B0B0B8"/>
            </a:solidFill>
            <a:prstDash val="dash"/>
          </a:ln>
        </p:spPr>
      </p:sp>
      <p:sp>
        <p:nvSpPr>
          <p:cNvPr id="6" name="participant-reg"/>
          <p:cNvSpPr/>
          <p:nvPr/>
        </p:nvSpPr>
        <p:spPr>
          <a:xfrm>
            <a:off x="2432304" y="1508760"/>
            <a:ext cx="1764792" cy="475488"/>
          </a:xfrm>
          <a:prstGeom prst="roundRect">
            <a:avLst>
              <a:gd name="adj" fmla="val 15385"/>
            </a:avLst>
          </a:prstGeom>
          <a:solidFill>
            <a:srgbClr val="F2F2F2"/>
          </a:solidFill>
          <a:ln w="22225">
            <a:solidFill>
              <a:srgbClr val="D9B2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B0B0B8"/>
            </a:solidFill>
            <a:prstDash val="dash"/>
          </a:ln>
        </p:spPr>
      </p:sp>
      <p:sp>
        <p:nvSpPr>
          <p:cNvPr id="9" name="participant-gw"/>
          <p:cNvSpPr/>
          <p:nvPr/>
        </p:nvSpPr>
        <p:spPr>
          <a:xfrm>
            <a:off x="4306824" y="1508760"/>
            <a:ext cx="1764792" cy="475488"/>
          </a:xfrm>
          <a:prstGeom prst="roundRect">
            <a:avLst>
              <a:gd name="adj" fmla="val 15385"/>
            </a:avLst>
          </a:prstGeom>
          <a:solidFill>
            <a:srgbClr val="F2F2F2"/>
          </a:solidFill>
          <a:ln w="2222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Chase hosted page</a:t>
            </a:r>
            <a:endParaRPr lang="en-US" sz="1050" dirty="0"/>
          </a:p>
        </p:txBody>
      </p:sp>
      <p:sp>
        <p:nvSpPr>
          <p:cNvPr id="11" name="Shape 9"/>
          <p:cNvSpPr/>
          <p:nvPr/>
        </p:nvSpPr>
        <p:spPr>
          <a:xfrm>
            <a:off x="5189220" y="1984248"/>
            <a:ext cx="0" cy="4050792"/>
          </a:xfrm>
          <a:prstGeom prst="line">
            <a:avLst/>
          </a:prstGeom>
          <a:noFill/>
          <a:ln w="12700">
            <a:solidFill>
              <a:srgbClr val="B0B0B8"/>
            </a:solidFill>
            <a:prstDash val="dash"/>
          </a:ln>
        </p:spPr>
      </p:sp>
      <p:sp>
        <p:nvSpPr>
          <p:cNvPr id="12" name="participant-sf"/>
          <p:cNvSpPr/>
          <p:nvPr/>
        </p:nvSpPr>
        <p:spPr>
          <a:xfrm>
            <a:off x="6181344" y="1508760"/>
            <a:ext cx="1764792" cy="475488"/>
          </a:xfrm>
          <a:prstGeom prst="roundRect">
            <a:avLst>
              <a:gd name="adj" fmla="val 15385"/>
            </a:avLst>
          </a:prstGeom>
          <a:solidFill>
            <a:srgbClr val="F2F2F2"/>
          </a:solidFill>
          <a:ln w="22225">
            <a:solidFill>
              <a:srgbClr val="00A9C0"/>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B0B0B8"/>
            </a:solidFill>
            <a:prstDash val="dash"/>
          </a:ln>
        </p:spPr>
      </p:sp>
      <p:sp>
        <p:nvSpPr>
          <p:cNvPr id="15" name="Shape 13"/>
          <p:cNvSpPr/>
          <p:nvPr/>
        </p:nvSpPr>
        <p:spPr>
          <a:xfrm>
            <a:off x="3314700" y="2358193"/>
            <a:ext cx="1874520" cy="0"/>
          </a:xfrm>
          <a:prstGeom prst="line">
            <a:avLst/>
          </a:prstGeom>
          <a:noFill/>
          <a:ln w="15875">
            <a:solidFill>
              <a:srgbClr val="1A1A1A"/>
            </a:solidFill>
            <a:prstDash val="solid"/>
            <a:tailEnd type="triangle"/>
          </a:ln>
        </p:spPr>
      </p:sp>
      <p:sp>
        <p:nvSpPr>
          <p:cNvPr id="16" name="Shape 14"/>
          <p:cNvSpPr/>
          <p:nvPr/>
        </p:nvSpPr>
        <p:spPr>
          <a:xfrm>
            <a:off x="3214116" y="2257609"/>
            <a:ext cx="201168" cy="201168"/>
          </a:xfrm>
          <a:prstGeom prst="ellipse">
            <a:avLst/>
          </a:prstGeom>
          <a:solidFill>
            <a:srgbClr val="00A9C0"/>
          </a:solidFill>
          <a:ln w="12700">
            <a:solidFill>
              <a:srgbClr val="00A9C0"/>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000000"/>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6B7280"/>
            </a:solidFill>
            <a:prstDash val="dash"/>
            <a:headEnd type="triangle"/>
          </a:ln>
        </p:spPr>
      </p:sp>
      <p:sp>
        <p:nvSpPr>
          <p:cNvPr id="20" name="Shape 18"/>
          <p:cNvSpPr/>
          <p:nvPr/>
        </p:nvSpPr>
        <p:spPr>
          <a:xfrm>
            <a:off x="5088636" y="2685647"/>
            <a:ext cx="201168" cy="201168"/>
          </a:xfrm>
          <a:prstGeom prst="ellipse">
            <a:avLst/>
          </a:prstGeom>
          <a:solidFill>
            <a:srgbClr val="00A9C0"/>
          </a:solidFill>
          <a:ln w="12700">
            <a:solidFill>
              <a:srgbClr val="00A9C0"/>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4D4D4D"/>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6B7280"/>
            </a:solidFill>
            <a:prstDash val="dash"/>
            <a:headEnd type="triangle"/>
          </a:ln>
        </p:spPr>
      </p:sp>
      <p:sp>
        <p:nvSpPr>
          <p:cNvPr id="24" name="Shape 22"/>
          <p:cNvSpPr/>
          <p:nvPr/>
        </p:nvSpPr>
        <p:spPr>
          <a:xfrm>
            <a:off x="3214116" y="3113685"/>
            <a:ext cx="201168" cy="201168"/>
          </a:xfrm>
          <a:prstGeom prst="ellipse">
            <a:avLst/>
          </a:prstGeom>
          <a:solidFill>
            <a:srgbClr val="00A9C0"/>
          </a:solidFill>
          <a:ln w="12700">
            <a:solidFill>
              <a:srgbClr val="00A9C0"/>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1A1A1A"/>
            </a:solidFill>
            <a:prstDash val="solid"/>
            <a:tailEnd type="triangle"/>
          </a:ln>
        </p:spPr>
      </p:sp>
      <p:sp>
        <p:nvSpPr>
          <p:cNvPr id="28" name="Shape 26"/>
          <p:cNvSpPr/>
          <p:nvPr/>
        </p:nvSpPr>
        <p:spPr>
          <a:xfrm>
            <a:off x="1339596" y="3541723"/>
            <a:ext cx="201168" cy="201168"/>
          </a:xfrm>
          <a:prstGeom prst="ellipse">
            <a:avLst/>
          </a:prstGeom>
          <a:solidFill>
            <a:srgbClr val="00A9C0"/>
          </a:solidFill>
          <a:ln w="12700">
            <a:solidFill>
              <a:srgbClr val="00A9C0"/>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Card details typed into the Chase page</a:t>
            </a:r>
            <a:endParaRPr lang="en-US" sz="1000" dirty="0"/>
          </a:p>
        </p:txBody>
      </p:sp>
      <p:sp>
        <p:nvSpPr>
          <p:cNvPr id="31" name="Shape 29"/>
          <p:cNvSpPr/>
          <p:nvPr/>
        </p:nvSpPr>
        <p:spPr>
          <a:xfrm>
            <a:off x="1440180" y="4070345"/>
            <a:ext cx="3749040" cy="0"/>
          </a:xfrm>
          <a:prstGeom prst="line">
            <a:avLst/>
          </a:prstGeom>
          <a:noFill/>
          <a:ln w="15875">
            <a:solidFill>
              <a:srgbClr val="6B7280"/>
            </a:solidFill>
            <a:prstDash val="dash"/>
            <a:headEnd type="triangle"/>
          </a:ln>
        </p:spPr>
      </p:sp>
      <p:sp>
        <p:nvSpPr>
          <p:cNvPr id="32" name="Shape 30"/>
          <p:cNvSpPr/>
          <p:nvPr/>
        </p:nvSpPr>
        <p:spPr>
          <a:xfrm>
            <a:off x="5088636" y="3969761"/>
            <a:ext cx="201168" cy="201168"/>
          </a:xfrm>
          <a:prstGeom prst="ellipse">
            <a:avLst/>
          </a:prstGeom>
          <a:solidFill>
            <a:srgbClr val="00A9C0"/>
          </a:solidFill>
          <a:ln w="12700">
            <a:solidFill>
              <a:srgbClr val="00A9C0"/>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4D4D4D"/>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1A1A1A"/>
            </a:solidFill>
            <a:prstDash val="solid"/>
            <a:headEnd type="triangle"/>
          </a:ln>
        </p:spPr>
      </p:sp>
      <p:sp>
        <p:nvSpPr>
          <p:cNvPr id="36" name="Shape 34"/>
          <p:cNvSpPr/>
          <p:nvPr/>
        </p:nvSpPr>
        <p:spPr>
          <a:xfrm>
            <a:off x="5088636" y="4397799"/>
            <a:ext cx="201168" cy="201168"/>
          </a:xfrm>
          <a:prstGeom prst="ellipse">
            <a:avLst/>
          </a:prstGeom>
          <a:solidFill>
            <a:srgbClr val="00A9C0"/>
          </a:solidFill>
          <a:ln w="12700">
            <a:solidFill>
              <a:srgbClr val="00A9C0"/>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000000"/>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1A1A1A"/>
            </a:solidFill>
            <a:prstDash val="solid"/>
          </a:ln>
        </p:spPr>
      </p:sp>
      <p:sp>
        <p:nvSpPr>
          <p:cNvPr id="40" name="Shape 38"/>
          <p:cNvSpPr/>
          <p:nvPr/>
        </p:nvSpPr>
        <p:spPr>
          <a:xfrm>
            <a:off x="3634740" y="4831183"/>
            <a:ext cx="0" cy="240771"/>
          </a:xfrm>
          <a:prstGeom prst="line">
            <a:avLst/>
          </a:prstGeom>
          <a:noFill/>
          <a:ln w="15875">
            <a:solidFill>
              <a:srgbClr val="1A1A1A"/>
            </a:solidFill>
            <a:prstDash val="solid"/>
          </a:ln>
        </p:spPr>
      </p:sp>
      <p:sp>
        <p:nvSpPr>
          <p:cNvPr id="41" name="Shape 39"/>
          <p:cNvSpPr/>
          <p:nvPr/>
        </p:nvSpPr>
        <p:spPr>
          <a:xfrm>
            <a:off x="3314700" y="5071954"/>
            <a:ext cx="320040" cy="0"/>
          </a:xfrm>
          <a:prstGeom prst="line">
            <a:avLst/>
          </a:prstGeom>
          <a:noFill/>
          <a:ln w="15875">
            <a:solidFill>
              <a:srgbClr val="1A1A1A"/>
            </a:solidFill>
            <a:prstDash val="solid"/>
            <a:headEnd type="triangle"/>
          </a:ln>
        </p:spPr>
      </p:sp>
      <p:sp>
        <p:nvSpPr>
          <p:cNvPr id="42" name="Shape 40"/>
          <p:cNvSpPr/>
          <p:nvPr/>
        </p:nvSpPr>
        <p:spPr>
          <a:xfrm>
            <a:off x="3214116" y="4730599"/>
            <a:ext cx="201168" cy="201168"/>
          </a:xfrm>
          <a:prstGeom prst="ellipse">
            <a:avLst/>
          </a:prstGeom>
          <a:solidFill>
            <a:srgbClr val="00A9C0"/>
          </a:solidFill>
          <a:ln w="12700">
            <a:solidFill>
              <a:srgbClr val="00A9C0"/>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000000"/>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1A1A1A"/>
            </a:solidFill>
            <a:prstDash val="solid"/>
            <a:tailEnd type="triangle"/>
          </a:ln>
        </p:spPr>
      </p:sp>
      <p:sp>
        <p:nvSpPr>
          <p:cNvPr id="46" name="Shape 44"/>
          <p:cNvSpPr/>
          <p:nvPr/>
        </p:nvSpPr>
        <p:spPr>
          <a:xfrm>
            <a:off x="3214116" y="5360885"/>
            <a:ext cx="201168" cy="201168"/>
          </a:xfrm>
          <a:prstGeom prst="ellipse">
            <a:avLst/>
          </a:prstGeom>
          <a:solidFill>
            <a:srgbClr val="00A9C0"/>
          </a:solidFill>
          <a:ln w="12700">
            <a:solidFill>
              <a:srgbClr val="00A9C0"/>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One gateway: Chase</a:t>
            </a:r>
            <a:endParaRPr lang="en-US" sz="1600" dirty="0"/>
          </a:p>
        </p:txBody>
      </p:sp>
      <p:sp>
        <p:nvSpPr>
          <p:cNvPr id="52" name="Shape 50"/>
          <p:cNvSpPr/>
          <p:nvPr/>
        </p:nvSpPr>
        <p:spPr>
          <a:xfrm>
            <a:off x="8412480" y="1965960"/>
            <a:ext cx="3273552" cy="1078992"/>
          </a:xfrm>
          <a:prstGeom prst="roundRect">
            <a:avLst>
              <a:gd name="adj" fmla="val 8475"/>
            </a:avLst>
          </a:prstGeom>
          <a:solidFill>
            <a:srgbClr val="F2F2F2"/>
          </a:solidFill>
          <a:ln w="12700">
            <a:solidFill>
              <a:srgbClr val="D0D0D6"/>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7C8C"/>
                </a:solidFill>
              </a:rPr>
              <a:t>RECOMMENDED</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tx1"/>
                </a:solidFill>
              </a:rPr>
              <a:t>Chase for every event</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4D4D4D"/>
                </a:solidFill>
              </a:rPr>
              <a:t>Reuse today’s class integration; Authorize.net retires with Certain</a:t>
            </a:r>
            <a:endParaRPr lang="en-US" sz="1100" dirty="0"/>
          </a:p>
        </p:txBody>
      </p:sp>
      <p:sp>
        <p:nvSpPr>
          <p:cNvPr id="56" name="Shape 54"/>
          <p:cNvSpPr/>
          <p:nvPr/>
        </p:nvSpPr>
        <p:spPr>
          <a:xfrm>
            <a:off x="8412480" y="3172968"/>
            <a:ext cx="3273552" cy="1078992"/>
          </a:xfrm>
          <a:prstGeom prst="roundRect">
            <a:avLst>
              <a:gd name="adj" fmla="val 8475"/>
            </a:avLst>
          </a:prstGeom>
          <a:solidFill>
            <a:srgbClr val="F2F2F2"/>
          </a:solidFill>
          <a:ln w="12700">
            <a:solidFill>
              <a:srgbClr val="D0D0D6"/>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C8005A"/>
                </a:solidFill>
              </a:rPr>
              <a:t>TO CONFIRM</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tx1"/>
                </a:solidFill>
              </a:rPr>
              <a:t>Finance sign-off</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4D4D4D"/>
                </a:solidFill>
              </a:rPr>
              <a:t>Chase merchant setup for conference fees [to confirm]</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D4D4D"/>
                </a:solidFill>
              </a:rPr>
              <a:t>Full and partial refunds by token from Salesforce</a:t>
            </a:r>
            <a:endParaRPr lang="en-US" sz="1200" dirty="0"/>
          </a:p>
          <a:p>
            <a:pPr marL="342900" indent="-342900">
              <a:spcAft>
                <a:spcPts val="400"/>
              </a:spcAft>
              <a:buSzPct val="100000"/>
              <a:buChar char="•"/>
            </a:pPr>
            <a:r>
              <a:rPr lang="en-US" sz="1200" dirty="0">
                <a:solidFill>
                  <a:srgbClr val="4D4D4D"/>
                </a:solidFill>
              </a:rPr>
              <a:t>Automatic receipts</a:t>
            </a:r>
            <a:endParaRPr lang="en-US" sz="1200" dirty="0"/>
          </a:p>
          <a:p>
            <a:pPr marL="342900" indent="-342900">
              <a:spcAft>
                <a:spcPts val="400"/>
              </a:spcAft>
              <a:buSzPct val="100000"/>
              <a:buChar char="•"/>
            </a:pPr>
            <a:r>
              <a:rPr lang="en-US" sz="1200" dirty="0">
                <a:solidFill>
                  <a:srgbClr val="4D4D4D"/>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Ten sprints: conferences live at week 12, classes improved by week 20</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1-2  ·  Assess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Review today’s Experience Cloud site, the app and Certain; shared event model; payment decision</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3-12  ·  Phase 1 live</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Conferences: sessions, speakers, My Agenda, badges. Certain retired</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13-20  ·  Phase 2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Classes on the shared model: instant confirmation, waitlists, check-in, reporting</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21+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each phase delivers</a:t>
            </a:r>
            <a:endParaRPr lang="en-US" sz="3200" dirty="0"/>
          </a:p>
        </p:txBody>
      </p:sp>
      <p:sp>
        <p:nvSpPr>
          <p:cNvPr id="3" name="Text 1"/>
          <p:cNvSpPr txBox="1"/>
          <p:nvPr/>
        </p:nvSpPr>
        <p:spPr>
          <a:xfrm>
            <a:off x="576072" y="1554480"/>
            <a:ext cx="1865376" cy="384048"/>
          </a:xfrm>
          <a:prstGeom prst="rect">
            <a:avLst/>
          </a:prstGeom>
          <a:noFill/>
          <a:ln/>
        </p:spPr>
        <p:txBody>
          <a:bodyPr wrap="square" lIns="0" tIns="0" rIns="0" bIns="0" rtlCol="0" anchor="b"/>
          <a:lstStyle/>
          <a:p>
            <a:pPr indent="0" marL="0">
              <a:buNone/>
            </a:pPr>
            <a:endParaRPr lang="en-US" sz="1500" dirty="0"/>
          </a:p>
        </p:txBody>
      </p:sp>
      <p:sp>
        <p:nvSpPr>
          <p:cNvPr id="4" name="Text 2"/>
          <p:cNvSpPr txBox="1"/>
          <p:nvPr/>
        </p:nvSpPr>
        <p:spPr>
          <a:xfrm>
            <a:off x="2587752" y="1554480"/>
            <a:ext cx="4425696" cy="384048"/>
          </a:xfrm>
          <a:prstGeom prst="rect">
            <a:avLst/>
          </a:prstGeom>
          <a:noFill/>
          <a:ln/>
        </p:spPr>
        <p:txBody>
          <a:bodyPr wrap="square" lIns="0" tIns="0" rIns="0" bIns="0" rtlCol="0" anchor="b"/>
          <a:lstStyle/>
          <a:p>
            <a:pPr indent="0" marL="0">
              <a:buNone/>
            </a:pPr>
            <a:r>
              <a:rPr lang="en-US" sz="1500" b="1" dirty="0">
                <a:solidFill>
                  <a:schemeClr val="tx1"/>
                </a:solidFill>
              </a:rPr>
              <a:t>Phase 1  ·  Conferences (replaces Certain)</a:t>
            </a:r>
            <a:endParaRPr lang="en-US" sz="1500" dirty="0"/>
          </a:p>
        </p:txBody>
      </p:sp>
      <p:sp>
        <p:nvSpPr>
          <p:cNvPr id="5" name="Text 3"/>
          <p:cNvSpPr txBox="1"/>
          <p:nvPr/>
        </p:nvSpPr>
        <p:spPr>
          <a:xfrm>
            <a:off x="7159752" y="1554480"/>
            <a:ext cx="4453128" cy="384048"/>
          </a:xfrm>
          <a:prstGeom prst="rect">
            <a:avLst/>
          </a:prstGeom>
          <a:noFill/>
          <a:ln/>
        </p:spPr>
        <p:txBody>
          <a:bodyPr wrap="square" lIns="0" tIns="0" rIns="0" bIns="0" rtlCol="0" anchor="b"/>
          <a:lstStyle/>
          <a:p>
            <a:pPr indent="0" marL="0">
              <a:buNone/>
            </a:pPr>
            <a:r>
              <a:rPr lang="en-US" sz="1500" b="1" dirty="0">
                <a:solidFill>
                  <a:schemeClr val="tx1"/>
                </a:solidFill>
              </a:rPr>
              <a:t>Phase 2  ·  Classes on the shared platform</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Scope</a:t>
            </a:r>
            <a:endParaRPr lang="en-US" sz="1300" dirty="0"/>
          </a:p>
        </p:txBody>
      </p:sp>
      <p:sp>
        <p:nvSpPr>
          <p:cNvPr id="8" name="Text 6"/>
          <p:cNvSpPr txBox="1"/>
          <p:nvPr/>
        </p:nvSpPr>
        <p:spPr>
          <a:xfrm>
            <a:off x="2587752" y="20848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Multi-day agenda, tracks, rooms and session capacity</a:t>
            </a:r>
            <a:endParaRPr lang="en-US" sz="1300" dirty="0"/>
          </a:p>
        </p:txBody>
      </p:sp>
      <p:sp>
        <p:nvSpPr>
          <p:cNvPr id="9" name="Text 7"/>
          <p:cNvSpPr txBox="1"/>
          <p:nvPr/>
        </p:nvSpPr>
        <p:spPr>
          <a:xfrm>
            <a:off x="7159752" y="20848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Today’s classes moved onto the shared event model</a:t>
            </a:r>
            <a:endParaRPr lang="en-US" sz="1300" dirty="0"/>
          </a:p>
        </p:txBody>
      </p:sp>
      <p:sp>
        <p:nvSpPr>
          <p:cNvPr id="10" name="Shape 8"/>
          <p:cNvSpPr/>
          <p:nvPr/>
        </p:nvSpPr>
        <p:spPr>
          <a:xfrm>
            <a:off x="502920" y="2560320"/>
            <a:ext cx="11183112" cy="0"/>
          </a:xfrm>
          <a:prstGeom prst="line">
            <a:avLst/>
          </a:prstGeom>
          <a:noFill/>
          <a:ln w="9525">
            <a:solidFill>
              <a:srgbClr val="8C8C8C"/>
            </a:solidFill>
            <a:prstDash val="sysDot"/>
          </a:ln>
        </p:spPr>
      </p:sp>
      <p:sp>
        <p:nvSpPr>
          <p:cNvPr id="11" name="Text 9"/>
          <p:cNvSpPr txBox="1"/>
          <p:nvPr/>
        </p:nvSpPr>
        <p:spPr>
          <a:xfrm>
            <a:off x="576072" y="26334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Registration</a:t>
            </a:r>
            <a:endParaRPr lang="en-US" sz="1300" dirty="0"/>
          </a:p>
        </p:txBody>
      </p:sp>
      <p:sp>
        <p:nvSpPr>
          <p:cNvPr id="12" name="Text 10"/>
          <p:cNvSpPr txBox="1"/>
          <p:nvPr/>
        </p:nvSpPr>
        <p:spPr>
          <a:xfrm>
            <a:off x="2587752" y="26334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Providers and guests, ticket types, My Agenda on Experience Cloud</a:t>
            </a:r>
            <a:endParaRPr lang="en-US" sz="1300" dirty="0"/>
          </a:p>
        </p:txBody>
      </p:sp>
      <p:sp>
        <p:nvSpPr>
          <p:cNvPr id="13" name="Text 11"/>
          <p:cNvSpPr txBox="1"/>
          <p:nvPr/>
        </p:nvSpPr>
        <p:spPr>
          <a:xfrm>
            <a:off x="7159752" y="26334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Existing Experience Cloud site and app, now with instant confirmation</a:t>
            </a:r>
            <a:endParaRPr lang="en-US" sz="1300" dirty="0"/>
          </a:p>
        </p:txBody>
      </p:sp>
      <p:sp>
        <p:nvSpPr>
          <p:cNvPr id="14" name="Shape 12"/>
          <p:cNvSpPr/>
          <p:nvPr/>
        </p:nvSpPr>
        <p:spPr>
          <a:xfrm>
            <a:off x="502920" y="3108960"/>
            <a:ext cx="11183112" cy="0"/>
          </a:xfrm>
          <a:prstGeom prst="line">
            <a:avLst/>
          </a:prstGeom>
          <a:noFill/>
          <a:ln w="9525">
            <a:solidFill>
              <a:srgbClr val="8C8C8C"/>
            </a:solidFill>
            <a:prstDash val="sysDot"/>
          </a:ln>
        </p:spPr>
      </p:sp>
      <p:sp>
        <p:nvSpPr>
          <p:cNvPr id="15" name="Text 13"/>
          <p:cNvSpPr txBox="1"/>
          <p:nvPr/>
        </p:nvSpPr>
        <p:spPr>
          <a:xfrm>
            <a:off x="576072" y="318211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Payments</a:t>
            </a:r>
            <a:endParaRPr lang="en-US" sz="1300" dirty="0"/>
          </a:p>
        </p:txBody>
      </p:sp>
      <p:sp>
        <p:nvSpPr>
          <p:cNvPr id="16" name="Text 14"/>
          <p:cNvSpPr txBox="1"/>
          <p:nvPr/>
        </p:nvSpPr>
        <p:spPr>
          <a:xfrm>
            <a:off x="2587752" y="318211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Chase checkout, reusing today’s class integration</a:t>
            </a:r>
            <a:endParaRPr lang="en-US" sz="1300" dirty="0"/>
          </a:p>
        </p:txBody>
      </p:sp>
      <p:sp>
        <p:nvSpPr>
          <p:cNvPr id="17" name="Text 15"/>
          <p:cNvSpPr txBox="1"/>
          <p:nvPr/>
        </p:nvSpPr>
        <p:spPr>
          <a:xfrm>
            <a:off x="7159752" y="318211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Chase checkout with safe payment retries and refunds</a:t>
            </a:r>
            <a:endParaRPr lang="en-US" sz="1300" dirty="0"/>
          </a:p>
        </p:txBody>
      </p:sp>
      <p:sp>
        <p:nvSpPr>
          <p:cNvPr id="18" name="Shape 16"/>
          <p:cNvSpPr/>
          <p:nvPr/>
        </p:nvSpPr>
        <p:spPr>
          <a:xfrm>
            <a:off x="502920" y="3657600"/>
            <a:ext cx="11183112" cy="0"/>
          </a:xfrm>
          <a:prstGeom prst="line">
            <a:avLst/>
          </a:prstGeom>
          <a:noFill/>
          <a:ln w="9525">
            <a:solidFill>
              <a:srgbClr val="8C8C8C"/>
            </a:solidFill>
            <a:prstDash val="sysDot"/>
          </a:ln>
        </p:spPr>
      </p:sp>
      <p:sp>
        <p:nvSpPr>
          <p:cNvPr id="19" name="Text 17"/>
          <p:cNvSpPr txBox="1"/>
          <p:nvPr/>
        </p:nvSpPr>
        <p:spPr>
          <a:xfrm>
            <a:off x="576072" y="373075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Engagement</a:t>
            </a:r>
            <a:endParaRPr lang="en-US" sz="1300" dirty="0"/>
          </a:p>
        </p:txBody>
      </p:sp>
      <p:sp>
        <p:nvSpPr>
          <p:cNvPr id="20" name="Text 18"/>
          <p:cNvSpPr txBox="1"/>
          <p:nvPr/>
        </p:nvSpPr>
        <p:spPr>
          <a:xfrm>
            <a:off x="2587752" y="3730752"/>
            <a:ext cx="4425696" cy="438912"/>
          </a:xfrm>
          <a:prstGeom prst="rect">
            <a:avLst/>
          </a:prstGeom>
          <a:noFill/>
          <a:ln/>
        </p:spPr>
        <p:txBody>
          <a:bodyPr wrap="square" lIns="0" tIns="0" rIns="0" bIns="0" rtlCol="0" anchor="ctr"/>
          <a:lstStyle/>
          <a:p>
            <a:pPr indent="0" marL="0">
              <a:buNone/>
            </a:pPr>
            <a:r>
              <a:rPr lang="en-US" sz="1300" dirty="0">
                <a:solidFill>
                  <a:srgbClr val="4D4D4D"/>
                </a:solidFill>
              </a:rPr>
              <a:t>Speaker and attendee communications, badges, CME [to confirm]</a:t>
            </a:r>
            <a:endParaRPr lang="en-US" sz="1300" dirty="0"/>
          </a:p>
        </p:txBody>
      </p:sp>
      <p:sp>
        <p:nvSpPr>
          <p:cNvPr id="21" name="Text 19"/>
          <p:cNvSpPr txBox="1"/>
          <p:nvPr/>
        </p:nvSpPr>
        <p:spPr>
          <a:xfrm>
            <a:off x="7159752" y="3730752"/>
            <a:ext cx="4453128" cy="438912"/>
          </a:xfrm>
          <a:prstGeom prst="rect">
            <a:avLst/>
          </a:prstGeom>
          <a:noFill/>
          <a:ln/>
        </p:spPr>
        <p:txBody>
          <a:bodyPr wrap="square" lIns="0" tIns="0" rIns="0" bIns="0" rtlCol="0" anchor="ctr"/>
          <a:lstStyle/>
          <a:p>
            <a:pPr indent="0" marL="0">
              <a:buNone/>
            </a:pPr>
            <a:r>
              <a:rPr lang="en-US" sz="1300" dirty="0">
                <a:solidFill>
                  <a:srgbClr val="4D4D4D"/>
                </a:solidFill>
              </a:rPr>
              <a:t>Reminder journeys, waitlists, QR check-in</a:t>
            </a:r>
            <a:endParaRPr lang="en-US" sz="1300" dirty="0"/>
          </a:p>
        </p:txBody>
      </p:sp>
      <p:sp>
        <p:nvSpPr>
          <p:cNvPr id="22" name="Shape 20"/>
          <p:cNvSpPr/>
          <p:nvPr/>
        </p:nvSpPr>
        <p:spPr>
          <a:xfrm>
            <a:off x="502920" y="4206240"/>
            <a:ext cx="11183112" cy="0"/>
          </a:xfrm>
          <a:prstGeom prst="line">
            <a:avLst/>
          </a:prstGeom>
          <a:noFill/>
          <a:ln w="9525">
            <a:solidFill>
              <a:srgbClr val="8C8C8C"/>
            </a:solidFill>
            <a:prstDash val="sysDot"/>
          </a:ln>
        </p:spPr>
      </p:sp>
      <p:sp>
        <p:nvSpPr>
          <p:cNvPr id="23" name="Text 21"/>
          <p:cNvSpPr txBox="1"/>
          <p:nvPr/>
        </p:nvSpPr>
        <p:spPr>
          <a:xfrm>
            <a:off x="576072" y="427939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p:txBody>
      </p:sp>
      <p:sp>
        <p:nvSpPr>
          <p:cNvPr id="24" name="Text 22"/>
          <p:cNvSpPr txBox="1"/>
          <p:nvPr/>
        </p:nvSpPr>
        <p:spPr>
          <a:xfrm>
            <a:off x="2587752" y="427939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Certain history migrated</a:t>
            </a:r>
            <a:endParaRPr lang="en-US" sz="1300" dirty="0"/>
          </a:p>
        </p:txBody>
      </p:sp>
      <p:sp>
        <p:nvSpPr>
          <p:cNvPr id="25" name="Text 23"/>
          <p:cNvSpPr txBox="1"/>
          <p:nvPr/>
        </p:nvSpPr>
        <p:spPr>
          <a:xfrm>
            <a:off x="7159752" y="427939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Class history kept; registrants matched to Health Cloud</a:t>
            </a:r>
            <a:endParaRPr lang="en-US" sz="1300" dirty="0"/>
          </a:p>
        </p:txBody>
      </p:sp>
      <p:sp>
        <p:nvSpPr>
          <p:cNvPr id="26" name="Shape 24"/>
          <p:cNvSpPr/>
          <p:nvPr/>
        </p:nvSpPr>
        <p:spPr>
          <a:xfrm>
            <a:off x="502920" y="4754880"/>
            <a:ext cx="11183112" cy="0"/>
          </a:xfrm>
          <a:prstGeom prst="line">
            <a:avLst/>
          </a:prstGeom>
          <a:noFill/>
          <a:ln w="9525">
            <a:solidFill>
              <a:srgbClr val="8C8C8C"/>
            </a:solidFill>
            <a:prstDash val="sysDot"/>
          </a:ln>
        </p:spPr>
      </p:sp>
      <p:sp>
        <p:nvSpPr>
          <p:cNvPr id="27" name="Text 25"/>
          <p:cNvSpPr txBox="1"/>
          <p:nvPr/>
        </p:nvSpPr>
        <p:spPr>
          <a:xfrm>
            <a:off x="576072" y="48280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Built in</a:t>
            </a:r>
            <a:endParaRPr lang="en-US" sz="1300" dirty="0"/>
          </a:p>
        </p:txBody>
      </p:sp>
      <p:sp>
        <p:nvSpPr>
          <p:cNvPr id="28" name="Text 26"/>
          <p:cNvSpPr txBox="1"/>
          <p:nvPr/>
        </p:nvSpPr>
        <p:spPr>
          <a:xfrm>
            <a:off x="2587752" y="48280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Load test before each conference opens</a:t>
            </a:r>
            <a:endParaRPr lang="en-US" sz="1300" dirty="0"/>
          </a:p>
        </p:txBody>
      </p:sp>
      <p:sp>
        <p:nvSpPr>
          <p:cNvPr id="29" name="Text 27"/>
          <p:cNvSpPr txBox="1"/>
          <p:nvPr/>
        </p:nvSpPr>
        <p:spPr>
          <a:xfrm>
            <a:off x="7159752" y="48280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Live seats, waitlists, encryption, monitoring</a:t>
            </a:r>
            <a:endParaRPr lang="en-US" sz="1300" dirty="0"/>
          </a:p>
        </p:txBody>
      </p:sp>
      <p:sp>
        <p:nvSpPr>
          <p:cNvPr id="30" name="Shape 28"/>
          <p:cNvSpPr/>
          <p:nvPr/>
        </p:nvSpPr>
        <p:spPr>
          <a:xfrm>
            <a:off x="502920" y="5303520"/>
            <a:ext cx="11183112" cy="0"/>
          </a:xfrm>
          <a:prstGeom prst="line">
            <a:avLst/>
          </a:prstGeom>
          <a:noFill/>
          <a:ln w="9525">
            <a:solidFill>
              <a:srgbClr val="8C8C8C"/>
            </a:solidFill>
            <a:prstDash val="sysDot"/>
          </a:ln>
        </p:spPr>
      </p:sp>
      <p:sp>
        <p:nvSpPr>
          <p:cNvPr id="31" name="Text 29"/>
          <p:cNvSpPr txBox="1"/>
          <p:nvPr/>
        </p:nvSpPr>
        <p:spPr>
          <a:xfrm>
            <a:off x="576072" y="53766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Retires</a:t>
            </a:r>
            <a:endParaRPr lang="en-US" sz="1300" dirty="0"/>
          </a:p>
        </p:txBody>
      </p:sp>
      <p:sp>
        <p:nvSpPr>
          <p:cNvPr id="32" name="Text 30"/>
          <p:cNvSpPr txBox="1"/>
          <p:nvPr/>
        </p:nvSpPr>
        <p:spPr>
          <a:xfrm>
            <a:off x="2587752" y="53766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Certain</a:t>
            </a:r>
            <a:endParaRPr lang="en-US" sz="1300" dirty="0"/>
          </a:p>
        </p:txBody>
      </p:sp>
      <p:sp>
        <p:nvSpPr>
          <p:cNvPr id="33" name="Text 31"/>
          <p:cNvSpPr txBox="1"/>
          <p:nvPr/>
        </p:nvSpPr>
        <p:spPr>
          <a:xfrm>
            <a:off x="7159752" y="53766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Nothing retired; today’s registration is improved</a:t>
            </a:r>
            <a:endParaRPr lang="en-US" sz="1300" dirty="0"/>
          </a:p>
        </p:txBody>
      </p:sp>
      <p:sp>
        <p:nvSpPr>
          <p:cNvPr id="34" name="Shape 32"/>
          <p:cNvSpPr/>
          <p:nvPr/>
        </p:nvSpPr>
        <p:spPr>
          <a:xfrm>
            <a:off x="502920" y="585216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Delivery plan: 10 two-week sprints</a:t>
            </a:r>
            <a:endParaRPr lang="en-US" sz="3200" dirty="0"/>
          </a:p>
        </p:txBody>
      </p:sp>
      <p:sp>
        <p:nvSpPr>
          <p:cNvPr id="3" name="Text 1"/>
          <p:cNvSpPr txBox="1"/>
          <p:nvPr/>
        </p:nvSpPr>
        <p:spPr>
          <a:xfrm>
            <a:off x="502920" y="1298448"/>
            <a:ext cx="8686800" cy="292608"/>
          </a:xfrm>
          <a:prstGeom prst="rect">
            <a:avLst/>
          </a:prstGeom>
          <a:noFill/>
          <a:ln/>
        </p:spPr>
        <p:txBody>
          <a:bodyPr wrap="square" lIns="0" tIns="0" rIns="0" bIns="0" rtlCol="0" anchor="t"/>
          <a:lstStyle/>
          <a:p>
            <a:pPr indent="0" marL="0">
              <a:buNone/>
            </a:pPr>
            <a:r>
              <a:rPr lang="en-US" sz="1400" dirty="0">
                <a:solidFill>
                  <a:srgbClr val="4D4D4D"/>
                </a:solidFill>
              </a:rPr>
              <a:t>A working demo and a milestone sign-off with Memorial Hermann at the end of every sprint</a:t>
            </a:r>
            <a:endParaRPr lang="en-US" sz="1400" dirty="0"/>
          </a:p>
        </p:txBody>
      </p:sp>
      <p:sp>
        <p:nvSpPr>
          <p:cNvPr id="4" name="Shape 2"/>
          <p:cNvSpPr/>
          <p:nvPr/>
        </p:nvSpPr>
        <p:spPr>
          <a:xfrm>
            <a:off x="502920" y="1737360"/>
            <a:ext cx="292608" cy="146304"/>
          </a:xfrm>
          <a:prstGeom prst="roundRect">
            <a:avLst>
              <a:gd name="adj" fmla="val 50000"/>
            </a:avLst>
          </a:prstGeom>
          <a:solidFill>
            <a:srgbClr val="00A9C0"/>
          </a:solidFill>
          <a:ln w="12700">
            <a:solidFill>
              <a:srgbClr val="00A9C0"/>
            </a:solidFill>
            <a:prstDash val="solid"/>
          </a:ln>
        </p:spPr>
      </p:sp>
      <p:sp>
        <p:nvSpPr>
          <p:cNvPr id="5" name="Text 3"/>
          <p:cNvSpPr txBox="1"/>
          <p:nvPr/>
        </p:nvSpPr>
        <p:spPr>
          <a:xfrm>
            <a:off x="886968" y="1682496"/>
            <a:ext cx="1504188" cy="256032"/>
          </a:xfrm>
          <a:prstGeom prst="rect">
            <a:avLst/>
          </a:prstGeom>
          <a:noFill/>
          <a:ln/>
        </p:spPr>
        <p:txBody>
          <a:bodyPr wrap="square" lIns="0" tIns="0" rIns="0" bIns="0" rtlCol="0" anchor="ctr"/>
          <a:lstStyle/>
          <a:p>
            <a:pPr indent="0" marL="0">
              <a:buNone/>
            </a:pPr>
            <a:r>
              <a:rPr lang="en-US" sz="1100" b="1" dirty="0">
                <a:solidFill>
                  <a:srgbClr val="007C8C"/>
                </a:solidFill>
              </a:rPr>
              <a:t>Assess and design</a:t>
            </a:r>
            <a:endParaRPr lang="en-US" sz="1100" dirty="0"/>
          </a:p>
        </p:txBody>
      </p:sp>
      <p:sp>
        <p:nvSpPr>
          <p:cNvPr id="6" name="Shape 4"/>
          <p:cNvSpPr/>
          <p:nvPr/>
        </p:nvSpPr>
        <p:spPr>
          <a:xfrm>
            <a:off x="2711196" y="1737360"/>
            <a:ext cx="292608" cy="146304"/>
          </a:xfrm>
          <a:prstGeom prst="roundRect">
            <a:avLst>
              <a:gd name="adj" fmla="val 50000"/>
            </a:avLst>
          </a:prstGeom>
          <a:solidFill>
            <a:srgbClr val="FF0068"/>
          </a:solidFill>
          <a:ln w="12700">
            <a:solidFill>
              <a:srgbClr val="FF0068"/>
            </a:solidFill>
            <a:prstDash val="solid"/>
          </a:ln>
        </p:spPr>
      </p:sp>
      <p:sp>
        <p:nvSpPr>
          <p:cNvPr id="7" name="Text 5"/>
          <p:cNvSpPr txBox="1"/>
          <p:nvPr/>
        </p:nvSpPr>
        <p:spPr>
          <a:xfrm>
            <a:off x="3095244" y="1682496"/>
            <a:ext cx="1815084" cy="256032"/>
          </a:xfrm>
          <a:prstGeom prst="rect">
            <a:avLst/>
          </a:prstGeom>
          <a:noFill/>
          <a:ln/>
        </p:spPr>
        <p:txBody>
          <a:bodyPr wrap="square" lIns="0" tIns="0" rIns="0" bIns="0" rtlCol="0" anchor="ctr"/>
          <a:lstStyle/>
          <a:p>
            <a:pPr indent="0" marL="0">
              <a:buNone/>
            </a:pPr>
            <a:r>
              <a:rPr lang="en-US" sz="1100" b="1" dirty="0">
                <a:solidFill>
                  <a:srgbClr val="C8005A"/>
                </a:solidFill>
              </a:rPr>
              <a:t>Phase 1 · Conferences</a:t>
            </a:r>
            <a:endParaRPr lang="en-US" sz="1100" dirty="0"/>
          </a:p>
        </p:txBody>
      </p:sp>
      <p:sp>
        <p:nvSpPr>
          <p:cNvPr id="8" name="Shape 6"/>
          <p:cNvSpPr/>
          <p:nvPr/>
        </p:nvSpPr>
        <p:spPr>
          <a:xfrm>
            <a:off x="5230368" y="1737360"/>
            <a:ext cx="292608" cy="146304"/>
          </a:xfrm>
          <a:prstGeom prst="roundRect">
            <a:avLst>
              <a:gd name="adj" fmla="val 50000"/>
            </a:avLst>
          </a:prstGeom>
          <a:solidFill>
            <a:srgbClr val="D9B200"/>
          </a:solidFill>
          <a:ln w="12700">
            <a:solidFill>
              <a:srgbClr val="D9B200"/>
            </a:solidFill>
            <a:prstDash val="solid"/>
          </a:ln>
        </p:spPr>
      </p:sp>
      <p:sp>
        <p:nvSpPr>
          <p:cNvPr id="9" name="Text 7"/>
          <p:cNvSpPr txBox="1"/>
          <p:nvPr/>
        </p:nvSpPr>
        <p:spPr>
          <a:xfrm>
            <a:off x="5614416" y="1682496"/>
            <a:ext cx="1504188" cy="256032"/>
          </a:xfrm>
          <a:prstGeom prst="rect">
            <a:avLst/>
          </a:prstGeom>
          <a:noFill/>
          <a:ln/>
        </p:spPr>
        <p:txBody>
          <a:bodyPr wrap="square" lIns="0" tIns="0" rIns="0" bIns="0" rtlCol="0" anchor="ctr"/>
          <a:lstStyle/>
          <a:p>
            <a:pPr indent="0" marL="0">
              <a:buNone/>
            </a:pPr>
            <a:r>
              <a:rPr lang="en-US" sz="1100" b="1" dirty="0">
                <a:solidFill>
                  <a:srgbClr val="7A6100"/>
                </a:solidFill>
              </a:rPr>
              <a:t>Phase 2 · Classes</a:t>
            </a:r>
            <a:endParaRPr lang="en-US" sz="1100" dirty="0"/>
          </a:p>
        </p:txBody>
      </p:sp>
      <p:sp>
        <p:nvSpPr>
          <p:cNvPr id="10" name="Shape 8"/>
          <p:cNvSpPr/>
          <p:nvPr/>
        </p:nvSpPr>
        <p:spPr>
          <a:xfrm>
            <a:off x="9905695" y="1728216"/>
            <a:ext cx="164592" cy="164592"/>
          </a:xfrm>
          <a:prstGeom prst="diamond">
            <a:avLst/>
          </a:prstGeom>
          <a:solidFill>
            <a:srgbClr val="000000"/>
          </a:solidFill>
          <a:ln w="12700">
            <a:solidFill>
              <a:srgbClr val="000000"/>
            </a:solidFill>
            <a:prstDash val="solid"/>
          </a:ln>
        </p:spPr>
      </p:sp>
      <p:sp>
        <p:nvSpPr>
          <p:cNvPr id="11" name="Text 9"/>
          <p:cNvSpPr txBox="1"/>
          <p:nvPr/>
        </p:nvSpPr>
        <p:spPr>
          <a:xfrm>
            <a:off x="10134295" y="1682496"/>
            <a:ext cx="1554480" cy="256032"/>
          </a:xfrm>
          <a:prstGeom prst="rect">
            <a:avLst/>
          </a:prstGeom>
          <a:noFill/>
          <a:ln/>
        </p:spPr>
        <p:txBody>
          <a:bodyPr wrap="square" lIns="0" tIns="0" rIns="0" bIns="0" rtlCol="0" anchor="ctr"/>
          <a:lstStyle/>
          <a:p>
            <a:pPr indent="0" marL="0">
              <a:buNone/>
            </a:pPr>
            <a:r>
              <a:rPr lang="en-US" sz="1100" dirty="0">
                <a:solidFill>
                  <a:srgbClr val="4D4D4D"/>
                </a:solidFill>
              </a:rPr>
              <a:t>Sprint-end milestone</a:t>
            </a:r>
            <a:endParaRPr lang="en-US" sz="1100" dirty="0"/>
          </a:p>
        </p:txBody>
      </p:sp>
      <p:sp>
        <p:nvSpPr>
          <p:cNvPr id="12" name="sprint-1"/>
          <p:cNvSpPr/>
          <p:nvPr/>
        </p:nvSpPr>
        <p:spPr>
          <a:xfrm>
            <a:off x="502920" y="2103120"/>
            <a:ext cx="2134758" cy="1901952"/>
          </a:xfrm>
          <a:prstGeom prst="roundRect">
            <a:avLst>
              <a:gd name="adj" fmla="val 4808"/>
            </a:avLst>
          </a:prstGeom>
          <a:solidFill>
            <a:srgbClr val="F2F2F2"/>
          </a:solidFill>
          <a:ln w="22225">
            <a:solidFill>
              <a:srgbClr val="00A9C0"/>
            </a:solidFill>
            <a:prstDash val="solid"/>
          </a:ln>
        </p:spPr>
      </p:sp>
      <p:sp>
        <p:nvSpPr>
          <p:cNvPr id="13" name="Text 11"/>
          <p:cNvSpPr txBox="1"/>
          <p:nvPr/>
        </p:nvSpPr>
        <p:spPr>
          <a:xfrm>
            <a:off x="640080" y="2221992"/>
            <a:ext cx="1860438" cy="219456"/>
          </a:xfrm>
          <a:prstGeom prst="rect">
            <a:avLst/>
          </a:prstGeom>
          <a:noFill/>
          <a:ln/>
        </p:spPr>
        <p:txBody>
          <a:bodyPr wrap="square" lIns="0" tIns="0" rIns="0" bIns="0" rtlCol="0" anchor="t"/>
          <a:lstStyle/>
          <a:p>
            <a:pPr indent="0" marL="0">
              <a:buNone/>
            </a:pPr>
            <a:r>
              <a:rPr lang="en-US" sz="1100" b="1" spc="200" kern="0" dirty="0">
                <a:solidFill>
                  <a:srgbClr val="007C8C"/>
                </a:solidFill>
              </a:rPr>
              <a:t>SPRINT 1</a:t>
            </a:r>
            <a:endParaRPr lang="en-US" sz="1100" dirty="0"/>
          </a:p>
        </p:txBody>
      </p:sp>
      <p:sp>
        <p:nvSpPr>
          <p:cNvPr id="14" name="Text 12"/>
          <p:cNvSpPr txBox="1"/>
          <p:nvPr/>
        </p:nvSpPr>
        <p:spPr>
          <a:xfrm>
            <a:off x="640080"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1-2</a:t>
            </a:r>
            <a:endParaRPr lang="en-US" sz="1000" dirty="0"/>
          </a:p>
        </p:txBody>
      </p:sp>
      <p:sp>
        <p:nvSpPr>
          <p:cNvPr id="15" name="Text 13"/>
          <p:cNvSpPr txBox="1"/>
          <p:nvPr/>
        </p:nvSpPr>
        <p:spPr>
          <a:xfrm>
            <a:off x="640080"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Review today’s Experience Cloud site, app and Certain; design</a:t>
            </a:r>
            <a:endParaRPr lang="en-US" sz="1100" dirty="0"/>
          </a:p>
        </p:txBody>
      </p:sp>
      <p:sp>
        <p:nvSpPr>
          <p:cNvPr id="16" name="Shape 14"/>
          <p:cNvSpPr/>
          <p:nvPr/>
        </p:nvSpPr>
        <p:spPr>
          <a:xfrm>
            <a:off x="640080" y="3383280"/>
            <a:ext cx="1860438" cy="0"/>
          </a:xfrm>
          <a:prstGeom prst="line">
            <a:avLst/>
          </a:prstGeom>
          <a:noFill/>
          <a:ln w="9525">
            <a:solidFill>
              <a:srgbClr val="D0D0D6"/>
            </a:solidFill>
            <a:prstDash val="solid"/>
          </a:ln>
        </p:spPr>
      </p:sp>
      <p:sp>
        <p:nvSpPr>
          <p:cNvPr id="17" name="Shape 15"/>
          <p:cNvSpPr/>
          <p:nvPr/>
        </p:nvSpPr>
        <p:spPr>
          <a:xfrm>
            <a:off x="640080" y="3520440"/>
            <a:ext cx="155448" cy="155448"/>
          </a:xfrm>
          <a:prstGeom prst="diamond">
            <a:avLst/>
          </a:prstGeom>
          <a:solidFill>
            <a:srgbClr val="000000"/>
          </a:solidFill>
          <a:ln w="12700">
            <a:solidFill>
              <a:srgbClr val="000000"/>
            </a:solidFill>
            <a:prstDash val="solid"/>
          </a:ln>
        </p:spPr>
      </p:sp>
      <p:sp>
        <p:nvSpPr>
          <p:cNvPr id="18" name="Text 16"/>
          <p:cNvSpPr txBox="1"/>
          <p:nvPr/>
        </p:nvSpPr>
        <p:spPr>
          <a:xfrm>
            <a:off x="886968"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Design sign-off</a:t>
            </a:r>
            <a:endParaRPr lang="en-US" sz="1050" dirty="0"/>
          </a:p>
        </p:txBody>
      </p:sp>
      <p:sp>
        <p:nvSpPr>
          <p:cNvPr id="19" name="sprint-2"/>
          <p:cNvSpPr/>
          <p:nvPr/>
        </p:nvSpPr>
        <p:spPr>
          <a:xfrm>
            <a:off x="2765694" y="2103120"/>
            <a:ext cx="2134758" cy="1901952"/>
          </a:xfrm>
          <a:prstGeom prst="roundRect">
            <a:avLst>
              <a:gd name="adj" fmla="val 4808"/>
            </a:avLst>
          </a:prstGeom>
          <a:solidFill>
            <a:srgbClr val="F2F2F2"/>
          </a:solidFill>
          <a:ln w="22225">
            <a:solidFill>
              <a:srgbClr val="FF0068"/>
            </a:solidFill>
            <a:prstDash val="solid"/>
          </a:ln>
        </p:spPr>
      </p:sp>
      <p:sp>
        <p:nvSpPr>
          <p:cNvPr id="20" name="Text 18"/>
          <p:cNvSpPr txBox="1"/>
          <p:nvPr/>
        </p:nvSpPr>
        <p:spPr>
          <a:xfrm>
            <a:off x="2902854"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2</a:t>
            </a:r>
            <a:endParaRPr lang="en-US" sz="1100" dirty="0"/>
          </a:p>
        </p:txBody>
      </p:sp>
      <p:sp>
        <p:nvSpPr>
          <p:cNvPr id="21" name="Text 19"/>
          <p:cNvSpPr txBox="1"/>
          <p:nvPr/>
        </p:nvSpPr>
        <p:spPr>
          <a:xfrm>
            <a:off x="2902854"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3-4</a:t>
            </a:r>
            <a:endParaRPr lang="en-US" sz="1000" dirty="0"/>
          </a:p>
        </p:txBody>
      </p:sp>
      <p:sp>
        <p:nvSpPr>
          <p:cNvPr id="22" name="Text 20"/>
          <p:cNvSpPr txBox="1"/>
          <p:nvPr/>
        </p:nvSpPr>
        <p:spPr>
          <a:xfrm>
            <a:off x="2902854"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Shared event model; sessions, tracks, rooms, speakers</a:t>
            </a:r>
            <a:endParaRPr lang="en-US" sz="1100" dirty="0"/>
          </a:p>
        </p:txBody>
      </p:sp>
      <p:sp>
        <p:nvSpPr>
          <p:cNvPr id="23" name="Shape 21"/>
          <p:cNvSpPr/>
          <p:nvPr/>
        </p:nvSpPr>
        <p:spPr>
          <a:xfrm>
            <a:off x="2902854" y="3383280"/>
            <a:ext cx="1860438" cy="0"/>
          </a:xfrm>
          <a:prstGeom prst="line">
            <a:avLst/>
          </a:prstGeom>
          <a:noFill/>
          <a:ln w="9525">
            <a:solidFill>
              <a:srgbClr val="D0D0D6"/>
            </a:solidFill>
            <a:prstDash val="solid"/>
          </a:ln>
        </p:spPr>
      </p:sp>
      <p:sp>
        <p:nvSpPr>
          <p:cNvPr id="24" name="Shape 22"/>
          <p:cNvSpPr/>
          <p:nvPr/>
        </p:nvSpPr>
        <p:spPr>
          <a:xfrm>
            <a:off x="2902854" y="3520440"/>
            <a:ext cx="155448" cy="155448"/>
          </a:xfrm>
          <a:prstGeom prst="diamond">
            <a:avLst/>
          </a:prstGeom>
          <a:solidFill>
            <a:srgbClr val="000000"/>
          </a:solidFill>
          <a:ln w="12700">
            <a:solidFill>
              <a:srgbClr val="000000"/>
            </a:solidFill>
            <a:prstDash val="solid"/>
          </a:ln>
        </p:spPr>
      </p:sp>
      <p:sp>
        <p:nvSpPr>
          <p:cNvPr id="25" name="Text 23"/>
          <p:cNvSpPr txBox="1"/>
          <p:nvPr/>
        </p:nvSpPr>
        <p:spPr>
          <a:xfrm>
            <a:off x="3149742"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Conference model demo</a:t>
            </a:r>
            <a:endParaRPr lang="en-US" sz="1050" dirty="0"/>
          </a:p>
        </p:txBody>
      </p:sp>
      <p:sp>
        <p:nvSpPr>
          <p:cNvPr id="26" name="sprint-3"/>
          <p:cNvSpPr/>
          <p:nvPr/>
        </p:nvSpPr>
        <p:spPr>
          <a:xfrm>
            <a:off x="5028468" y="2103120"/>
            <a:ext cx="2134758" cy="1901952"/>
          </a:xfrm>
          <a:prstGeom prst="roundRect">
            <a:avLst>
              <a:gd name="adj" fmla="val 4808"/>
            </a:avLst>
          </a:prstGeom>
          <a:solidFill>
            <a:srgbClr val="F2F2F2"/>
          </a:solidFill>
          <a:ln w="22225">
            <a:solidFill>
              <a:srgbClr val="FF0068"/>
            </a:solidFill>
            <a:prstDash val="solid"/>
          </a:ln>
        </p:spPr>
      </p:sp>
      <p:sp>
        <p:nvSpPr>
          <p:cNvPr id="27" name="Text 25"/>
          <p:cNvSpPr txBox="1"/>
          <p:nvPr/>
        </p:nvSpPr>
        <p:spPr>
          <a:xfrm>
            <a:off x="5165628"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3</a:t>
            </a:r>
            <a:endParaRPr lang="en-US" sz="1100" dirty="0"/>
          </a:p>
        </p:txBody>
      </p:sp>
      <p:sp>
        <p:nvSpPr>
          <p:cNvPr id="28" name="Text 26"/>
          <p:cNvSpPr txBox="1"/>
          <p:nvPr/>
        </p:nvSpPr>
        <p:spPr>
          <a:xfrm>
            <a:off x="5165628"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5-6</a:t>
            </a:r>
            <a:endParaRPr lang="en-US" sz="1000" dirty="0"/>
          </a:p>
        </p:txBody>
      </p:sp>
      <p:sp>
        <p:nvSpPr>
          <p:cNvPr id="29" name="Text 27"/>
          <p:cNvSpPr txBox="1"/>
          <p:nvPr/>
        </p:nvSpPr>
        <p:spPr>
          <a:xfrm>
            <a:off x="5165628"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My Agenda portal on Experience Cloud; ticket types</a:t>
            </a:r>
            <a:endParaRPr lang="en-US" sz="1100" dirty="0"/>
          </a:p>
        </p:txBody>
      </p:sp>
      <p:sp>
        <p:nvSpPr>
          <p:cNvPr id="30" name="Shape 28"/>
          <p:cNvSpPr/>
          <p:nvPr/>
        </p:nvSpPr>
        <p:spPr>
          <a:xfrm>
            <a:off x="5165628" y="3383280"/>
            <a:ext cx="1860438" cy="0"/>
          </a:xfrm>
          <a:prstGeom prst="line">
            <a:avLst/>
          </a:prstGeom>
          <a:noFill/>
          <a:ln w="9525">
            <a:solidFill>
              <a:srgbClr val="D0D0D6"/>
            </a:solidFill>
            <a:prstDash val="solid"/>
          </a:ln>
        </p:spPr>
      </p:sp>
      <p:sp>
        <p:nvSpPr>
          <p:cNvPr id="31" name="Shape 29"/>
          <p:cNvSpPr/>
          <p:nvPr/>
        </p:nvSpPr>
        <p:spPr>
          <a:xfrm>
            <a:off x="5165628" y="3520440"/>
            <a:ext cx="155448" cy="155448"/>
          </a:xfrm>
          <a:prstGeom prst="diamond">
            <a:avLst/>
          </a:prstGeom>
          <a:solidFill>
            <a:srgbClr val="000000"/>
          </a:solidFill>
          <a:ln w="12700">
            <a:solidFill>
              <a:srgbClr val="000000"/>
            </a:solidFill>
            <a:prstDash val="solid"/>
          </a:ln>
        </p:spPr>
      </p:sp>
      <p:sp>
        <p:nvSpPr>
          <p:cNvPr id="32" name="Text 30"/>
          <p:cNvSpPr txBox="1"/>
          <p:nvPr/>
        </p:nvSpPr>
        <p:spPr>
          <a:xfrm>
            <a:off x="5412516"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Attendee portal demo</a:t>
            </a:r>
            <a:endParaRPr lang="en-US" sz="1050" dirty="0"/>
          </a:p>
        </p:txBody>
      </p:sp>
      <p:sp>
        <p:nvSpPr>
          <p:cNvPr id="33" name="sprint-4"/>
          <p:cNvSpPr/>
          <p:nvPr/>
        </p:nvSpPr>
        <p:spPr>
          <a:xfrm>
            <a:off x="7291243" y="2103120"/>
            <a:ext cx="2134758" cy="1901952"/>
          </a:xfrm>
          <a:prstGeom prst="roundRect">
            <a:avLst>
              <a:gd name="adj" fmla="val 4808"/>
            </a:avLst>
          </a:prstGeom>
          <a:solidFill>
            <a:srgbClr val="F2F2F2"/>
          </a:solidFill>
          <a:ln w="22225">
            <a:solidFill>
              <a:srgbClr val="FF0068"/>
            </a:solidFill>
            <a:prstDash val="solid"/>
          </a:ln>
        </p:spPr>
      </p:sp>
      <p:sp>
        <p:nvSpPr>
          <p:cNvPr id="34" name="Text 32"/>
          <p:cNvSpPr txBox="1"/>
          <p:nvPr/>
        </p:nvSpPr>
        <p:spPr>
          <a:xfrm>
            <a:off x="7428403"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4</a:t>
            </a:r>
            <a:endParaRPr lang="en-US" sz="1100" dirty="0"/>
          </a:p>
        </p:txBody>
      </p:sp>
      <p:sp>
        <p:nvSpPr>
          <p:cNvPr id="35" name="Text 33"/>
          <p:cNvSpPr txBox="1"/>
          <p:nvPr/>
        </p:nvSpPr>
        <p:spPr>
          <a:xfrm>
            <a:off x="7428403"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7-8</a:t>
            </a:r>
            <a:endParaRPr lang="en-US" sz="1000" dirty="0"/>
          </a:p>
        </p:txBody>
      </p:sp>
      <p:sp>
        <p:nvSpPr>
          <p:cNvPr id="36" name="Text 34"/>
          <p:cNvSpPr txBox="1"/>
          <p:nvPr/>
        </p:nvSpPr>
        <p:spPr>
          <a:xfrm>
            <a:off x="7428403"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Chase checkout for conferences; badges; CME [to confirm]</a:t>
            </a:r>
            <a:endParaRPr lang="en-US" sz="1100" dirty="0"/>
          </a:p>
        </p:txBody>
      </p:sp>
      <p:sp>
        <p:nvSpPr>
          <p:cNvPr id="37" name="Shape 35"/>
          <p:cNvSpPr/>
          <p:nvPr/>
        </p:nvSpPr>
        <p:spPr>
          <a:xfrm>
            <a:off x="7428403" y="3383280"/>
            <a:ext cx="1860438" cy="0"/>
          </a:xfrm>
          <a:prstGeom prst="line">
            <a:avLst/>
          </a:prstGeom>
          <a:noFill/>
          <a:ln w="9525">
            <a:solidFill>
              <a:srgbClr val="D0D0D6"/>
            </a:solidFill>
            <a:prstDash val="solid"/>
          </a:ln>
        </p:spPr>
      </p:sp>
      <p:sp>
        <p:nvSpPr>
          <p:cNvPr id="38" name="Shape 36"/>
          <p:cNvSpPr/>
          <p:nvPr/>
        </p:nvSpPr>
        <p:spPr>
          <a:xfrm>
            <a:off x="7428403" y="3520440"/>
            <a:ext cx="155448" cy="155448"/>
          </a:xfrm>
          <a:prstGeom prst="diamond">
            <a:avLst/>
          </a:prstGeom>
          <a:solidFill>
            <a:srgbClr val="000000"/>
          </a:solidFill>
          <a:ln w="12700">
            <a:solidFill>
              <a:srgbClr val="000000"/>
            </a:solidFill>
            <a:prstDash val="solid"/>
          </a:ln>
        </p:spPr>
      </p:sp>
      <p:sp>
        <p:nvSpPr>
          <p:cNvPr id="39" name="Text 37"/>
          <p:cNvSpPr txBox="1"/>
          <p:nvPr/>
        </p:nvSpPr>
        <p:spPr>
          <a:xfrm>
            <a:off x="7675291"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Pay and badge end to end</a:t>
            </a:r>
            <a:endParaRPr lang="en-US" sz="1050" dirty="0"/>
          </a:p>
        </p:txBody>
      </p:sp>
      <p:sp>
        <p:nvSpPr>
          <p:cNvPr id="40" name="sprint-5"/>
          <p:cNvSpPr/>
          <p:nvPr/>
        </p:nvSpPr>
        <p:spPr>
          <a:xfrm>
            <a:off x="9554017" y="2103120"/>
            <a:ext cx="2134758" cy="1901952"/>
          </a:xfrm>
          <a:prstGeom prst="roundRect">
            <a:avLst>
              <a:gd name="adj" fmla="val 4808"/>
            </a:avLst>
          </a:prstGeom>
          <a:solidFill>
            <a:srgbClr val="F2F2F2"/>
          </a:solidFill>
          <a:ln w="22225">
            <a:solidFill>
              <a:srgbClr val="FF0068"/>
            </a:solidFill>
            <a:prstDash val="solid"/>
          </a:ln>
        </p:spPr>
      </p:sp>
      <p:sp>
        <p:nvSpPr>
          <p:cNvPr id="41" name="Text 39"/>
          <p:cNvSpPr txBox="1"/>
          <p:nvPr/>
        </p:nvSpPr>
        <p:spPr>
          <a:xfrm>
            <a:off x="9691177"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5</a:t>
            </a:r>
            <a:endParaRPr lang="en-US" sz="1100" dirty="0"/>
          </a:p>
        </p:txBody>
      </p:sp>
      <p:sp>
        <p:nvSpPr>
          <p:cNvPr id="42" name="Text 40"/>
          <p:cNvSpPr txBox="1"/>
          <p:nvPr/>
        </p:nvSpPr>
        <p:spPr>
          <a:xfrm>
            <a:off x="9691177"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9-10</a:t>
            </a:r>
            <a:endParaRPr lang="en-US" sz="1000" dirty="0"/>
          </a:p>
        </p:txBody>
      </p:sp>
      <p:sp>
        <p:nvSpPr>
          <p:cNvPr id="43" name="Text 41"/>
          <p:cNvSpPr txBox="1"/>
          <p:nvPr/>
        </p:nvSpPr>
        <p:spPr>
          <a:xfrm>
            <a:off x="9691177"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Certain data migration, load test, user testing</a:t>
            </a:r>
            <a:endParaRPr lang="en-US" sz="1100" dirty="0"/>
          </a:p>
        </p:txBody>
      </p:sp>
      <p:sp>
        <p:nvSpPr>
          <p:cNvPr id="44" name="Shape 42"/>
          <p:cNvSpPr/>
          <p:nvPr/>
        </p:nvSpPr>
        <p:spPr>
          <a:xfrm>
            <a:off x="9691177" y="3383280"/>
            <a:ext cx="1860438" cy="0"/>
          </a:xfrm>
          <a:prstGeom prst="line">
            <a:avLst/>
          </a:prstGeom>
          <a:noFill/>
          <a:ln w="9525">
            <a:solidFill>
              <a:srgbClr val="D0D0D6"/>
            </a:solidFill>
            <a:prstDash val="solid"/>
          </a:ln>
        </p:spPr>
      </p:sp>
      <p:sp>
        <p:nvSpPr>
          <p:cNvPr id="45" name="Shape 43"/>
          <p:cNvSpPr/>
          <p:nvPr/>
        </p:nvSpPr>
        <p:spPr>
          <a:xfrm>
            <a:off x="9691177" y="3520440"/>
            <a:ext cx="155448" cy="155448"/>
          </a:xfrm>
          <a:prstGeom prst="diamond">
            <a:avLst/>
          </a:prstGeom>
          <a:solidFill>
            <a:srgbClr val="000000"/>
          </a:solidFill>
          <a:ln w="12700">
            <a:solidFill>
              <a:srgbClr val="000000"/>
            </a:solidFill>
            <a:prstDash val="solid"/>
          </a:ln>
        </p:spPr>
      </p:sp>
      <p:sp>
        <p:nvSpPr>
          <p:cNvPr id="46" name="Text 44"/>
          <p:cNvSpPr txBox="1"/>
          <p:nvPr/>
        </p:nvSpPr>
        <p:spPr>
          <a:xfrm>
            <a:off x="9938065"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Testing sign-off</a:t>
            </a:r>
            <a:endParaRPr lang="en-US" sz="1050" dirty="0"/>
          </a:p>
        </p:txBody>
      </p:sp>
      <p:sp>
        <p:nvSpPr>
          <p:cNvPr id="47" name="sprint-6"/>
          <p:cNvSpPr/>
          <p:nvPr/>
        </p:nvSpPr>
        <p:spPr>
          <a:xfrm>
            <a:off x="502920" y="4151376"/>
            <a:ext cx="2134758" cy="1901952"/>
          </a:xfrm>
          <a:prstGeom prst="roundRect">
            <a:avLst>
              <a:gd name="adj" fmla="val 4808"/>
            </a:avLst>
          </a:prstGeom>
          <a:solidFill>
            <a:srgbClr val="000000"/>
          </a:solidFill>
          <a:ln w="22225">
            <a:solidFill>
              <a:srgbClr val="FF0068"/>
            </a:solidFill>
            <a:prstDash val="solid"/>
          </a:ln>
        </p:spPr>
      </p:sp>
      <p:sp>
        <p:nvSpPr>
          <p:cNvPr id="48" name="Text 46"/>
          <p:cNvSpPr txBox="1"/>
          <p:nvPr/>
        </p:nvSpPr>
        <p:spPr>
          <a:xfrm>
            <a:off x="640080" y="4270248"/>
            <a:ext cx="1860438" cy="219456"/>
          </a:xfrm>
          <a:prstGeom prst="rect">
            <a:avLst/>
          </a:prstGeom>
          <a:noFill/>
          <a:ln/>
        </p:spPr>
        <p:txBody>
          <a:bodyPr wrap="square" lIns="0" tIns="0" rIns="0" bIns="0" rtlCol="0" anchor="t"/>
          <a:lstStyle/>
          <a:p>
            <a:pPr indent="0" marL="0">
              <a:buNone/>
            </a:pPr>
            <a:r>
              <a:rPr lang="en-US" sz="1100" b="1" spc="200" kern="0" dirty="0">
                <a:solidFill>
                  <a:srgbClr val="FF0068"/>
                </a:solidFill>
              </a:rPr>
              <a:t>SPRINT 6</a:t>
            </a:r>
            <a:endParaRPr lang="en-US" sz="1100" dirty="0"/>
          </a:p>
        </p:txBody>
      </p:sp>
      <p:sp>
        <p:nvSpPr>
          <p:cNvPr id="49" name="Text 47"/>
          <p:cNvSpPr txBox="1"/>
          <p:nvPr/>
        </p:nvSpPr>
        <p:spPr>
          <a:xfrm>
            <a:off x="640080" y="4498848"/>
            <a:ext cx="1860438" cy="201168"/>
          </a:xfrm>
          <a:prstGeom prst="rect">
            <a:avLst/>
          </a:prstGeom>
          <a:noFill/>
          <a:ln/>
        </p:spPr>
        <p:txBody>
          <a:bodyPr wrap="square" lIns="0" tIns="0" rIns="0" bIns="0" rtlCol="0" anchor="t"/>
          <a:lstStyle/>
          <a:p>
            <a:pPr indent="0" marL="0">
              <a:buNone/>
            </a:pPr>
            <a:r>
              <a:rPr lang="en-US" sz="1000" dirty="0">
                <a:solidFill>
                  <a:srgbClr val="D9D9D9"/>
                </a:solidFill>
              </a:rPr>
              <a:t>Weeks 11-12</a:t>
            </a:r>
            <a:endParaRPr lang="en-US" sz="1000" dirty="0"/>
          </a:p>
        </p:txBody>
      </p:sp>
      <p:sp>
        <p:nvSpPr>
          <p:cNvPr id="50" name="Text 48"/>
          <p:cNvSpPr txBox="1"/>
          <p:nvPr/>
        </p:nvSpPr>
        <p:spPr>
          <a:xfrm>
            <a:off x="640080" y="4754880"/>
            <a:ext cx="1860438" cy="603504"/>
          </a:xfrm>
          <a:prstGeom prst="rect">
            <a:avLst/>
          </a:prstGeom>
          <a:noFill/>
          <a:ln/>
        </p:spPr>
        <p:txBody>
          <a:bodyPr wrap="square" lIns="0" tIns="0" rIns="0" bIns="0" rtlCol="0" anchor="t"/>
          <a:lstStyle/>
          <a:p>
            <a:pPr indent="0" marL="0">
              <a:buNone/>
            </a:pPr>
            <a:r>
              <a:rPr lang="en-US" sz="1100" dirty="0">
                <a:solidFill>
                  <a:srgbClr val="FFFFFF"/>
                </a:solidFill>
              </a:rPr>
              <a:t>Conference go-live and hypercare</a:t>
            </a:r>
            <a:endParaRPr lang="en-US" sz="1100" dirty="0"/>
          </a:p>
        </p:txBody>
      </p:sp>
      <p:sp>
        <p:nvSpPr>
          <p:cNvPr id="51" name="Shape 49"/>
          <p:cNvSpPr/>
          <p:nvPr/>
        </p:nvSpPr>
        <p:spPr>
          <a:xfrm>
            <a:off x="640080" y="5431536"/>
            <a:ext cx="1860438" cy="0"/>
          </a:xfrm>
          <a:prstGeom prst="line">
            <a:avLst/>
          </a:prstGeom>
          <a:noFill/>
          <a:ln w="9525">
            <a:solidFill>
              <a:srgbClr val="555555"/>
            </a:solidFill>
            <a:prstDash val="solid"/>
          </a:ln>
        </p:spPr>
      </p:sp>
      <p:sp>
        <p:nvSpPr>
          <p:cNvPr id="52" name="Shape 50"/>
          <p:cNvSpPr/>
          <p:nvPr/>
        </p:nvSpPr>
        <p:spPr>
          <a:xfrm>
            <a:off x="640080" y="5568696"/>
            <a:ext cx="155448" cy="155448"/>
          </a:xfrm>
          <a:prstGeom prst="diamond">
            <a:avLst/>
          </a:prstGeom>
          <a:solidFill>
            <a:srgbClr val="FF0068"/>
          </a:solidFill>
          <a:ln w="12700">
            <a:solidFill>
              <a:srgbClr val="FF0068"/>
            </a:solidFill>
            <a:prstDash val="solid"/>
          </a:ln>
        </p:spPr>
      </p:sp>
      <p:sp>
        <p:nvSpPr>
          <p:cNvPr id="53" name="Text 51"/>
          <p:cNvSpPr txBox="1"/>
          <p:nvPr/>
        </p:nvSpPr>
        <p:spPr>
          <a:xfrm>
            <a:off x="886968" y="5504688"/>
            <a:ext cx="1631838" cy="457200"/>
          </a:xfrm>
          <a:prstGeom prst="rect">
            <a:avLst/>
          </a:prstGeom>
          <a:noFill/>
          <a:ln/>
        </p:spPr>
        <p:txBody>
          <a:bodyPr wrap="square" lIns="0" tIns="0" rIns="0" bIns="0" rtlCol="0" anchor="t"/>
          <a:lstStyle/>
          <a:p>
            <a:pPr indent="0" marL="0">
              <a:buNone/>
            </a:pPr>
            <a:r>
              <a:rPr lang="en-US" sz="1050" b="1" dirty="0">
                <a:solidFill>
                  <a:srgbClr val="FFFFFF"/>
                </a:solidFill>
              </a:rPr>
              <a:t>Phase 1 live, Certain retired</a:t>
            </a:r>
            <a:endParaRPr lang="en-US" sz="1050" dirty="0"/>
          </a:p>
        </p:txBody>
      </p:sp>
      <p:sp>
        <p:nvSpPr>
          <p:cNvPr id="54" name="sprint-7"/>
          <p:cNvSpPr/>
          <p:nvPr/>
        </p:nvSpPr>
        <p:spPr>
          <a:xfrm>
            <a:off x="2765694" y="4151376"/>
            <a:ext cx="2134758" cy="1901952"/>
          </a:xfrm>
          <a:prstGeom prst="roundRect">
            <a:avLst>
              <a:gd name="adj" fmla="val 4808"/>
            </a:avLst>
          </a:prstGeom>
          <a:solidFill>
            <a:srgbClr val="F2F2F2"/>
          </a:solidFill>
          <a:ln w="22225">
            <a:solidFill>
              <a:srgbClr val="D9B200"/>
            </a:solidFill>
            <a:prstDash val="solid"/>
          </a:ln>
        </p:spPr>
      </p:sp>
      <p:sp>
        <p:nvSpPr>
          <p:cNvPr id="55" name="Text 53"/>
          <p:cNvSpPr txBox="1"/>
          <p:nvPr/>
        </p:nvSpPr>
        <p:spPr>
          <a:xfrm>
            <a:off x="2902854" y="4270248"/>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7</a:t>
            </a:r>
            <a:endParaRPr lang="en-US" sz="1100" dirty="0"/>
          </a:p>
        </p:txBody>
      </p:sp>
      <p:sp>
        <p:nvSpPr>
          <p:cNvPr id="56" name="Text 54"/>
          <p:cNvSpPr txBox="1"/>
          <p:nvPr/>
        </p:nvSpPr>
        <p:spPr>
          <a:xfrm>
            <a:off x="2902854" y="4498848"/>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13-14</a:t>
            </a:r>
            <a:endParaRPr lang="en-US" sz="1000" dirty="0"/>
          </a:p>
        </p:txBody>
      </p:sp>
      <p:sp>
        <p:nvSpPr>
          <p:cNvPr id="57" name="Text 55"/>
          <p:cNvSpPr txBox="1"/>
          <p:nvPr/>
        </p:nvSpPr>
        <p:spPr>
          <a:xfrm>
            <a:off x="2902854" y="4754880"/>
            <a:ext cx="1860438" cy="603504"/>
          </a:xfrm>
          <a:prstGeom prst="rect">
            <a:avLst/>
          </a:prstGeom>
          <a:noFill/>
          <a:ln/>
        </p:spPr>
        <p:txBody>
          <a:bodyPr wrap="square" lIns="0" tIns="0" rIns="0" bIns="0" rtlCol="0" anchor="t"/>
          <a:lstStyle/>
          <a:p>
            <a:pPr indent="0" marL="0">
              <a:buNone/>
            </a:pPr>
            <a:r>
              <a:rPr lang="en-US" sz="1100" dirty="0">
                <a:solidFill>
                  <a:srgbClr val="000000"/>
                </a:solidFill>
              </a:rPr>
              <a:t>Move classes onto the shared model; keep current pages</a:t>
            </a:r>
            <a:endParaRPr lang="en-US" sz="1100" dirty="0"/>
          </a:p>
        </p:txBody>
      </p:sp>
      <p:sp>
        <p:nvSpPr>
          <p:cNvPr id="58" name="Shape 56"/>
          <p:cNvSpPr/>
          <p:nvPr/>
        </p:nvSpPr>
        <p:spPr>
          <a:xfrm>
            <a:off x="2902854" y="5431536"/>
            <a:ext cx="1860438" cy="0"/>
          </a:xfrm>
          <a:prstGeom prst="line">
            <a:avLst/>
          </a:prstGeom>
          <a:noFill/>
          <a:ln w="9525">
            <a:solidFill>
              <a:srgbClr val="D0D0D6"/>
            </a:solidFill>
            <a:prstDash val="solid"/>
          </a:ln>
        </p:spPr>
      </p:sp>
      <p:sp>
        <p:nvSpPr>
          <p:cNvPr id="59" name="Shape 57"/>
          <p:cNvSpPr/>
          <p:nvPr/>
        </p:nvSpPr>
        <p:spPr>
          <a:xfrm>
            <a:off x="2902854" y="5568696"/>
            <a:ext cx="155448" cy="155448"/>
          </a:xfrm>
          <a:prstGeom prst="diamond">
            <a:avLst/>
          </a:prstGeom>
          <a:solidFill>
            <a:srgbClr val="000000"/>
          </a:solidFill>
          <a:ln w="12700">
            <a:solidFill>
              <a:srgbClr val="000000"/>
            </a:solidFill>
            <a:prstDash val="solid"/>
          </a:ln>
        </p:spPr>
      </p:sp>
      <p:sp>
        <p:nvSpPr>
          <p:cNvPr id="60" name="Text 58"/>
          <p:cNvSpPr txBox="1"/>
          <p:nvPr/>
        </p:nvSpPr>
        <p:spPr>
          <a:xfrm>
            <a:off x="3149742" y="5504688"/>
            <a:ext cx="1631838" cy="457200"/>
          </a:xfrm>
          <a:prstGeom prst="rect">
            <a:avLst/>
          </a:prstGeom>
          <a:noFill/>
          <a:ln/>
        </p:spPr>
        <p:txBody>
          <a:bodyPr wrap="square" lIns="0" tIns="0" rIns="0" bIns="0" rtlCol="0" anchor="t"/>
          <a:lstStyle/>
          <a:p>
            <a:pPr indent="0" marL="0">
              <a:buNone/>
            </a:pPr>
            <a:r>
              <a:rPr lang="en-US" sz="1050" b="1" dirty="0">
                <a:solidFill>
                  <a:srgbClr val="000000"/>
                </a:solidFill>
              </a:rPr>
              <a:t>Classes on shared model</a:t>
            </a:r>
            <a:endParaRPr lang="en-US" sz="1050" dirty="0"/>
          </a:p>
        </p:txBody>
      </p:sp>
      <p:sp>
        <p:nvSpPr>
          <p:cNvPr id="61" name="sprint-8"/>
          <p:cNvSpPr/>
          <p:nvPr/>
        </p:nvSpPr>
        <p:spPr>
          <a:xfrm>
            <a:off x="5028468" y="4151376"/>
            <a:ext cx="2134758" cy="1901952"/>
          </a:xfrm>
          <a:prstGeom prst="roundRect">
            <a:avLst>
              <a:gd name="adj" fmla="val 4808"/>
            </a:avLst>
          </a:prstGeom>
          <a:solidFill>
            <a:srgbClr val="F2F2F2"/>
          </a:solidFill>
          <a:ln w="22225">
            <a:solidFill>
              <a:srgbClr val="D9B200"/>
            </a:solidFill>
            <a:prstDash val="solid"/>
          </a:ln>
        </p:spPr>
      </p:sp>
      <p:sp>
        <p:nvSpPr>
          <p:cNvPr id="62" name="Text 60"/>
          <p:cNvSpPr txBox="1"/>
          <p:nvPr/>
        </p:nvSpPr>
        <p:spPr>
          <a:xfrm>
            <a:off x="5165628" y="4270248"/>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8</a:t>
            </a:r>
            <a:endParaRPr lang="en-US" sz="1100" dirty="0"/>
          </a:p>
        </p:txBody>
      </p:sp>
      <p:sp>
        <p:nvSpPr>
          <p:cNvPr id="63" name="Text 61"/>
          <p:cNvSpPr txBox="1"/>
          <p:nvPr/>
        </p:nvSpPr>
        <p:spPr>
          <a:xfrm>
            <a:off x="5165628" y="4498848"/>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15-16</a:t>
            </a:r>
            <a:endParaRPr lang="en-US" sz="1000" dirty="0"/>
          </a:p>
        </p:txBody>
      </p:sp>
      <p:sp>
        <p:nvSpPr>
          <p:cNvPr id="64" name="Text 62"/>
          <p:cNvSpPr txBox="1"/>
          <p:nvPr/>
        </p:nvSpPr>
        <p:spPr>
          <a:xfrm>
            <a:off x="5165628" y="4754880"/>
            <a:ext cx="1860438" cy="603504"/>
          </a:xfrm>
          <a:prstGeom prst="rect">
            <a:avLst/>
          </a:prstGeom>
          <a:noFill/>
          <a:ln/>
        </p:spPr>
        <p:txBody>
          <a:bodyPr wrap="square" lIns="0" tIns="0" rIns="0" bIns="0" rtlCol="0" anchor="t"/>
          <a:lstStyle/>
          <a:p>
            <a:pPr indent="0" marL="0">
              <a:buNone/>
            </a:pPr>
            <a:r>
              <a:rPr lang="en-US" sz="1100" dirty="0">
                <a:solidFill>
                  <a:srgbClr val="000000"/>
                </a:solidFill>
              </a:rPr>
              <a:t>Instant confirmation, safe payment retries, waitlists</a:t>
            </a:r>
            <a:endParaRPr lang="en-US" sz="1100" dirty="0"/>
          </a:p>
        </p:txBody>
      </p:sp>
      <p:sp>
        <p:nvSpPr>
          <p:cNvPr id="65" name="Shape 63"/>
          <p:cNvSpPr/>
          <p:nvPr/>
        </p:nvSpPr>
        <p:spPr>
          <a:xfrm>
            <a:off x="5165628" y="5431536"/>
            <a:ext cx="1860438" cy="0"/>
          </a:xfrm>
          <a:prstGeom prst="line">
            <a:avLst/>
          </a:prstGeom>
          <a:noFill/>
          <a:ln w="9525">
            <a:solidFill>
              <a:srgbClr val="D0D0D6"/>
            </a:solidFill>
            <a:prstDash val="solid"/>
          </a:ln>
        </p:spPr>
      </p:sp>
      <p:sp>
        <p:nvSpPr>
          <p:cNvPr id="66" name="Shape 64"/>
          <p:cNvSpPr/>
          <p:nvPr/>
        </p:nvSpPr>
        <p:spPr>
          <a:xfrm>
            <a:off x="5165628" y="5568696"/>
            <a:ext cx="155448" cy="155448"/>
          </a:xfrm>
          <a:prstGeom prst="diamond">
            <a:avLst/>
          </a:prstGeom>
          <a:solidFill>
            <a:srgbClr val="000000"/>
          </a:solidFill>
          <a:ln w="12700">
            <a:solidFill>
              <a:srgbClr val="000000"/>
            </a:solidFill>
            <a:prstDash val="solid"/>
          </a:ln>
        </p:spPr>
      </p:sp>
      <p:sp>
        <p:nvSpPr>
          <p:cNvPr id="67" name="Text 65"/>
          <p:cNvSpPr txBox="1"/>
          <p:nvPr/>
        </p:nvSpPr>
        <p:spPr>
          <a:xfrm>
            <a:off x="5412516" y="5504688"/>
            <a:ext cx="1631838" cy="457200"/>
          </a:xfrm>
          <a:prstGeom prst="rect">
            <a:avLst/>
          </a:prstGeom>
          <a:noFill/>
          <a:ln/>
        </p:spPr>
        <p:txBody>
          <a:bodyPr wrap="square" lIns="0" tIns="0" rIns="0" bIns="0" rtlCol="0" anchor="t"/>
          <a:lstStyle/>
          <a:p>
            <a:pPr indent="0" marL="0">
              <a:buNone/>
            </a:pPr>
            <a:r>
              <a:rPr lang="en-US" sz="1050" b="1" dirty="0">
                <a:solidFill>
                  <a:srgbClr val="000000"/>
                </a:solidFill>
              </a:rPr>
              <a:t>Registration improvements demo</a:t>
            </a:r>
            <a:endParaRPr lang="en-US" sz="1050" dirty="0"/>
          </a:p>
        </p:txBody>
      </p:sp>
      <p:sp>
        <p:nvSpPr>
          <p:cNvPr id="68" name="sprint-9"/>
          <p:cNvSpPr/>
          <p:nvPr/>
        </p:nvSpPr>
        <p:spPr>
          <a:xfrm>
            <a:off x="7291243" y="4151376"/>
            <a:ext cx="2134758" cy="1901952"/>
          </a:xfrm>
          <a:prstGeom prst="roundRect">
            <a:avLst>
              <a:gd name="adj" fmla="val 4808"/>
            </a:avLst>
          </a:prstGeom>
          <a:solidFill>
            <a:srgbClr val="F2F2F2"/>
          </a:solidFill>
          <a:ln w="22225">
            <a:solidFill>
              <a:srgbClr val="D9B200"/>
            </a:solidFill>
            <a:prstDash val="solid"/>
          </a:ln>
        </p:spPr>
      </p:sp>
      <p:sp>
        <p:nvSpPr>
          <p:cNvPr id="69" name="Text 67"/>
          <p:cNvSpPr txBox="1"/>
          <p:nvPr/>
        </p:nvSpPr>
        <p:spPr>
          <a:xfrm>
            <a:off x="7428403" y="4270248"/>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9</a:t>
            </a:r>
            <a:endParaRPr lang="en-US" sz="1100" dirty="0"/>
          </a:p>
        </p:txBody>
      </p:sp>
      <p:sp>
        <p:nvSpPr>
          <p:cNvPr id="70" name="Text 68"/>
          <p:cNvSpPr txBox="1"/>
          <p:nvPr/>
        </p:nvSpPr>
        <p:spPr>
          <a:xfrm>
            <a:off x="7428403" y="4498848"/>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17-18</a:t>
            </a:r>
            <a:endParaRPr lang="en-US" sz="1000" dirty="0"/>
          </a:p>
        </p:txBody>
      </p:sp>
      <p:sp>
        <p:nvSpPr>
          <p:cNvPr id="71" name="Text 69"/>
          <p:cNvSpPr txBox="1"/>
          <p:nvPr/>
        </p:nvSpPr>
        <p:spPr>
          <a:xfrm>
            <a:off x="7428403" y="4754880"/>
            <a:ext cx="1860438" cy="603504"/>
          </a:xfrm>
          <a:prstGeom prst="rect">
            <a:avLst/>
          </a:prstGeom>
          <a:noFill/>
          <a:ln/>
        </p:spPr>
        <p:txBody>
          <a:bodyPr wrap="square" lIns="0" tIns="0" rIns="0" bIns="0" rtlCol="0" anchor="t"/>
          <a:lstStyle/>
          <a:p>
            <a:pPr indent="0" marL="0">
              <a:buNone/>
            </a:pPr>
            <a:r>
              <a:rPr lang="en-US" sz="1100" dirty="0">
                <a:solidFill>
                  <a:srgbClr val="000000"/>
                </a:solidFill>
              </a:rPr>
              <a:t>QR check-in, reporting, app connected, PEI journeys</a:t>
            </a:r>
            <a:endParaRPr lang="en-US" sz="1100" dirty="0"/>
          </a:p>
        </p:txBody>
      </p:sp>
      <p:sp>
        <p:nvSpPr>
          <p:cNvPr id="72" name="Shape 70"/>
          <p:cNvSpPr/>
          <p:nvPr/>
        </p:nvSpPr>
        <p:spPr>
          <a:xfrm>
            <a:off x="7428403" y="5431536"/>
            <a:ext cx="1860438" cy="0"/>
          </a:xfrm>
          <a:prstGeom prst="line">
            <a:avLst/>
          </a:prstGeom>
          <a:noFill/>
          <a:ln w="9525">
            <a:solidFill>
              <a:srgbClr val="D0D0D6"/>
            </a:solidFill>
            <a:prstDash val="solid"/>
          </a:ln>
        </p:spPr>
      </p:sp>
      <p:sp>
        <p:nvSpPr>
          <p:cNvPr id="73" name="Shape 71"/>
          <p:cNvSpPr/>
          <p:nvPr/>
        </p:nvSpPr>
        <p:spPr>
          <a:xfrm>
            <a:off x="7428403" y="5568696"/>
            <a:ext cx="155448" cy="155448"/>
          </a:xfrm>
          <a:prstGeom prst="diamond">
            <a:avLst/>
          </a:prstGeom>
          <a:solidFill>
            <a:srgbClr val="000000"/>
          </a:solidFill>
          <a:ln w="12700">
            <a:solidFill>
              <a:srgbClr val="000000"/>
            </a:solidFill>
            <a:prstDash val="solid"/>
          </a:ln>
        </p:spPr>
      </p:sp>
      <p:sp>
        <p:nvSpPr>
          <p:cNvPr id="74" name="Text 72"/>
          <p:cNvSpPr txBox="1"/>
          <p:nvPr/>
        </p:nvSpPr>
        <p:spPr>
          <a:xfrm>
            <a:off x="7675291" y="5504688"/>
            <a:ext cx="1631838" cy="457200"/>
          </a:xfrm>
          <a:prstGeom prst="rect">
            <a:avLst/>
          </a:prstGeom>
          <a:noFill/>
          <a:ln/>
        </p:spPr>
        <p:txBody>
          <a:bodyPr wrap="square" lIns="0" tIns="0" rIns="0" bIns="0" rtlCol="0" anchor="t"/>
          <a:lstStyle/>
          <a:p>
            <a:pPr indent="0" marL="0">
              <a:buNone/>
            </a:pPr>
            <a:r>
              <a:rPr lang="en-US" sz="1050" b="1" dirty="0">
                <a:solidFill>
                  <a:srgbClr val="000000"/>
                </a:solidFill>
              </a:rPr>
              <a:t>User testing starts</a:t>
            </a:r>
            <a:endParaRPr lang="en-US" sz="1050" dirty="0"/>
          </a:p>
        </p:txBody>
      </p:sp>
      <p:sp>
        <p:nvSpPr>
          <p:cNvPr id="75" name="sprint-10"/>
          <p:cNvSpPr/>
          <p:nvPr/>
        </p:nvSpPr>
        <p:spPr>
          <a:xfrm>
            <a:off x="9554017" y="4151376"/>
            <a:ext cx="2134758" cy="1901952"/>
          </a:xfrm>
          <a:prstGeom prst="roundRect">
            <a:avLst>
              <a:gd name="adj" fmla="val 4808"/>
            </a:avLst>
          </a:prstGeom>
          <a:solidFill>
            <a:srgbClr val="000000"/>
          </a:solidFill>
          <a:ln w="22225">
            <a:solidFill>
              <a:srgbClr val="D9B200"/>
            </a:solidFill>
            <a:prstDash val="solid"/>
          </a:ln>
        </p:spPr>
      </p:sp>
      <p:sp>
        <p:nvSpPr>
          <p:cNvPr id="76" name="Text 74"/>
          <p:cNvSpPr txBox="1"/>
          <p:nvPr/>
        </p:nvSpPr>
        <p:spPr>
          <a:xfrm>
            <a:off x="9691177" y="4270248"/>
            <a:ext cx="1860438" cy="219456"/>
          </a:xfrm>
          <a:prstGeom prst="rect">
            <a:avLst/>
          </a:prstGeom>
          <a:noFill/>
          <a:ln/>
        </p:spPr>
        <p:txBody>
          <a:bodyPr wrap="square" lIns="0" tIns="0" rIns="0" bIns="0" rtlCol="0" anchor="t"/>
          <a:lstStyle/>
          <a:p>
            <a:pPr indent="0" marL="0">
              <a:buNone/>
            </a:pPr>
            <a:r>
              <a:rPr lang="en-US" sz="1100" b="1" spc="200" kern="0" dirty="0">
                <a:solidFill>
                  <a:srgbClr val="D9B200"/>
                </a:solidFill>
              </a:rPr>
              <a:t>SPRINT 10</a:t>
            </a:r>
            <a:endParaRPr lang="en-US" sz="1100" dirty="0"/>
          </a:p>
        </p:txBody>
      </p:sp>
      <p:sp>
        <p:nvSpPr>
          <p:cNvPr id="77" name="Text 75"/>
          <p:cNvSpPr txBox="1"/>
          <p:nvPr/>
        </p:nvSpPr>
        <p:spPr>
          <a:xfrm>
            <a:off x="9691177" y="4498848"/>
            <a:ext cx="1860438" cy="201168"/>
          </a:xfrm>
          <a:prstGeom prst="rect">
            <a:avLst/>
          </a:prstGeom>
          <a:noFill/>
          <a:ln/>
        </p:spPr>
        <p:txBody>
          <a:bodyPr wrap="square" lIns="0" tIns="0" rIns="0" bIns="0" rtlCol="0" anchor="t"/>
          <a:lstStyle/>
          <a:p>
            <a:pPr indent="0" marL="0">
              <a:buNone/>
            </a:pPr>
            <a:r>
              <a:rPr lang="en-US" sz="1000" dirty="0">
                <a:solidFill>
                  <a:srgbClr val="D9D9D9"/>
                </a:solidFill>
              </a:rPr>
              <a:t>Weeks 19-20</a:t>
            </a:r>
            <a:endParaRPr lang="en-US" sz="1000" dirty="0"/>
          </a:p>
        </p:txBody>
      </p:sp>
      <p:sp>
        <p:nvSpPr>
          <p:cNvPr id="78" name="Text 76"/>
          <p:cNvSpPr txBox="1"/>
          <p:nvPr/>
        </p:nvSpPr>
        <p:spPr>
          <a:xfrm>
            <a:off x="9691177" y="4754880"/>
            <a:ext cx="1860438" cy="603504"/>
          </a:xfrm>
          <a:prstGeom prst="rect">
            <a:avLst/>
          </a:prstGeom>
          <a:noFill/>
          <a:ln/>
        </p:spPr>
        <p:txBody>
          <a:bodyPr wrap="square" lIns="0" tIns="0" rIns="0" bIns="0" rtlCol="0" anchor="t"/>
          <a:lstStyle/>
          <a:p>
            <a:pPr indent="0" marL="0">
              <a:buNone/>
            </a:pPr>
            <a:r>
              <a:rPr lang="en-US" sz="1100" dirty="0">
                <a:solidFill>
                  <a:srgbClr val="FFFFFF"/>
                </a:solidFill>
              </a:rPr>
              <a:t>User testing, go-live, knowledge transfer</a:t>
            </a:r>
            <a:endParaRPr lang="en-US" sz="1100" dirty="0"/>
          </a:p>
        </p:txBody>
      </p:sp>
      <p:sp>
        <p:nvSpPr>
          <p:cNvPr id="79" name="Shape 77"/>
          <p:cNvSpPr/>
          <p:nvPr/>
        </p:nvSpPr>
        <p:spPr>
          <a:xfrm>
            <a:off x="9691177" y="5431536"/>
            <a:ext cx="1860438" cy="0"/>
          </a:xfrm>
          <a:prstGeom prst="line">
            <a:avLst/>
          </a:prstGeom>
          <a:noFill/>
          <a:ln w="9525">
            <a:solidFill>
              <a:srgbClr val="555555"/>
            </a:solidFill>
            <a:prstDash val="solid"/>
          </a:ln>
        </p:spPr>
      </p:sp>
      <p:sp>
        <p:nvSpPr>
          <p:cNvPr id="80" name="Shape 78"/>
          <p:cNvSpPr/>
          <p:nvPr/>
        </p:nvSpPr>
        <p:spPr>
          <a:xfrm>
            <a:off x="9691177" y="5568696"/>
            <a:ext cx="155448" cy="155448"/>
          </a:xfrm>
          <a:prstGeom prst="diamond">
            <a:avLst/>
          </a:prstGeom>
          <a:solidFill>
            <a:srgbClr val="D9B200"/>
          </a:solidFill>
          <a:ln w="12700">
            <a:solidFill>
              <a:srgbClr val="D9B200"/>
            </a:solidFill>
            <a:prstDash val="solid"/>
          </a:ln>
        </p:spPr>
      </p:sp>
      <p:sp>
        <p:nvSpPr>
          <p:cNvPr id="81" name="Text 79"/>
          <p:cNvSpPr txBox="1"/>
          <p:nvPr/>
        </p:nvSpPr>
        <p:spPr>
          <a:xfrm>
            <a:off x="9938065" y="5504688"/>
            <a:ext cx="1631838" cy="457200"/>
          </a:xfrm>
          <a:prstGeom prst="rect">
            <a:avLst/>
          </a:prstGeom>
          <a:noFill/>
          <a:ln/>
        </p:spPr>
        <p:txBody>
          <a:bodyPr wrap="square" lIns="0" tIns="0" rIns="0" bIns="0" rtlCol="0" anchor="t"/>
          <a:lstStyle/>
          <a:p>
            <a:pPr indent="0" marL="0">
              <a:buNone/>
            </a:pPr>
            <a:r>
              <a:rPr lang="en-US" sz="1050" b="1" dirty="0">
                <a:solidFill>
                  <a:srgbClr val="FFFFFF"/>
                </a:solidFill>
              </a:rPr>
              <a:t>Phase 2 live</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 dedicated five-person delivery pod</a:t>
            </a:r>
            <a:endParaRPr lang="en-US" sz="3200" dirty="0"/>
          </a:p>
        </p:txBody>
      </p:sp>
      <p:sp>
        <p:nvSpPr>
          <p:cNvPr id="3" name="Shape 1"/>
          <p:cNvSpPr/>
          <p:nvPr/>
        </p:nvSpPr>
        <p:spPr>
          <a:xfrm>
            <a:off x="502920" y="1691640"/>
            <a:ext cx="4023360" cy="4069080"/>
          </a:xfrm>
          <a:prstGeom prst="triangle">
            <a:avLst/>
          </a:prstGeom>
          <a:solidFill>
            <a:srgbClr val="FF0068"/>
          </a:solidFill>
          <a:ln w="12700">
            <a:solidFill>
              <a:srgbClr val="FF0068"/>
            </a:solidFill>
            <a:prstDash val="solid"/>
          </a:ln>
        </p:spPr>
      </p:sp>
      <p:sp>
        <p:nvSpPr>
          <p:cNvPr id="4" name="Shape 2"/>
          <p:cNvSpPr/>
          <p:nvPr/>
        </p:nvSpPr>
        <p:spPr>
          <a:xfrm>
            <a:off x="1173480" y="1691640"/>
            <a:ext cx="2682240" cy="2712720"/>
          </a:xfrm>
          <a:prstGeom prst="triangle">
            <a:avLst/>
          </a:prstGeom>
          <a:solidFill>
            <a:srgbClr val="D9B200"/>
          </a:solidFill>
          <a:ln w="12700">
            <a:solidFill>
              <a:srgbClr val="D9B200"/>
            </a:solidFill>
            <a:prstDash val="solid"/>
          </a:ln>
        </p:spPr>
      </p:sp>
      <p:sp>
        <p:nvSpPr>
          <p:cNvPr id="5" name="Shape 3"/>
          <p:cNvSpPr/>
          <p:nvPr/>
        </p:nvSpPr>
        <p:spPr>
          <a:xfrm>
            <a:off x="1844040" y="1691640"/>
            <a:ext cx="1341120" cy="1356360"/>
          </a:xfrm>
          <a:prstGeom prst="triangle">
            <a:avLst/>
          </a:prstGeom>
          <a:solidFill>
            <a:srgbClr val="00A9C0"/>
          </a:solidFill>
          <a:ln w="12700">
            <a:solidFill>
              <a:srgbClr val="00A9C0"/>
            </a:solidFill>
            <a:prstDash val="solid"/>
          </a:ln>
        </p:spPr>
      </p:sp>
      <p:sp>
        <p:nvSpPr>
          <p:cNvPr id="6" name="Shape 4"/>
          <p:cNvSpPr/>
          <p:nvPr/>
        </p:nvSpPr>
        <p:spPr>
          <a:xfrm>
            <a:off x="1798320" y="3048000"/>
            <a:ext cx="1432560" cy="0"/>
          </a:xfrm>
          <a:prstGeom prst="line">
            <a:avLst/>
          </a:prstGeom>
          <a:noFill/>
          <a:ln w="63500">
            <a:solidFill>
              <a:srgbClr val="FFFFFF"/>
            </a:solidFill>
            <a:prstDash val="solid"/>
          </a:ln>
        </p:spPr>
      </p:sp>
      <p:sp>
        <p:nvSpPr>
          <p:cNvPr id="7" name="Shape 5"/>
          <p:cNvSpPr/>
          <p:nvPr/>
        </p:nvSpPr>
        <p:spPr>
          <a:xfrm>
            <a:off x="1127760" y="4404360"/>
            <a:ext cx="2773680" cy="0"/>
          </a:xfrm>
          <a:prstGeom prst="line">
            <a:avLst/>
          </a:prstGeom>
          <a:noFill/>
          <a:ln w="63500">
            <a:solidFill>
              <a:srgbClr val="FFFFFF"/>
            </a:solidFill>
            <a:prstDash val="solid"/>
          </a:ln>
        </p:spPr>
      </p:sp>
      <p:sp>
        <p:nvSpPr>
          <p:cNvPr id="8" name="Text 6"/>
          <p:cNvSpPr txBox="1"/>
          <p:nvPr/>
        </p:nvSpPr>
        <p:spPr>
          <a:xfrm>
            <a:off x="1965960" y="248107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9" name="Text 7"/>
          <p:cNvSpPr txBox="1"/>
          <p:nvPr/>
        </p:nvSpPr>
        <p:spPr>
          <a:xfrm>
            <a:off x="1965960" y="374599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10" name="Text 8"/>
          <p:cNvSpPr txBox="1"/>
          <p:nvPr/>
        </p:nvSpPr>
        <p:spPr>
          <a:xfrm>
            <a:off x="1965960" y="5010912"/>
            <a:ext cx="1097280" cy="548640"/>
          </a:xfrm>
          <a:prstGeom prst="rect">
            <a:avLst/>
          </a:prstGeom>
          <a:noFill/>
          <a:ln/>
        </p:spPr>
        <p:txBody>
          <a:bodyPr wrap="square" lIns="0" tIns="0" rIns="0" bIns="0" rtlCol="0" anchor="ctr"/>
          <a:lstStyle/>
          <a:p>
            <a:pPr algn="ctr" indent="0" marL="0">
              <a:buNone/>
            </a:pPr>
            <a:r>
              <a:rPr lang="en-US" sz="3200" dirty="0">
                <a:solidFill>
                  <a:srgbClr val="FFFFFF"/>
                </a:solidFill>
                <a:latin typeface="Trenda IG Text Light" pitchFamily="34" charset="0"/>
                <a:ea typeface="Trenda IG Text Light" pitchFamily="34" charset="-122"/>
                <a:cs typeface="Trenda IG Text Light" pitchFamily="34" charset="-120"/>
              </a:rPr>
              <a:t>3</a:t>
            </a:r>
            <a:endParaRPr lang="en-US" sz="3200" dirty="0"/>
          </a:p>
        </p:txBody>
      </p:sp>
      <p:sp>
        <p:nvSpPr>
          <p:cNvPr id="11" name="Shape 9"/>
          <p:cNvSpPr/>
          <p:nvPr/>
        </p:nvSpPr>
        <p:spPr>
          <a:xfrm>
            <a:off x="2977280" y="2479548"/>
            <a:ext cx="1869040" cy="0"/>
          </a:xfrm>
          <a:prstGeom prst="line">
            <a:avLst/>
          </a:prstGeom>
          <a:noFill/>
          <a:ln w="12700">
            <a:solidFill>
              <a:srgbClr val="A0A0A8"/>
            </a:solidFill>
            <a:prstDash val="sysDot"/>
          </a:ln>
        </p:spPr>
      </p:sp>
      <p:sp>
        <p:nvSpPr>
          <p:cNvPr id="12" name="Shape 10"/>
          <p:cNvSpPr/>
          <p:nvPr/>
        </p:nvSpPr>
        <p:spPr>
          <a:xfrm>
            <a:off x="4846320" y="2433828"/>
            <a:ext cx="91440" cy="91440"/>
          </a:xfrm>
          <a:prstGeom prst="ellipse">
            <a:avLst/>
          </a:prstGeom>
          <a:solidFill>
            <a:srgbClr val="007C8C"/>
          </a:solidFill>
          <a:ln w="12700">
            <a:solidFill>
              <a:srgbClr val="007C8C"/>
            </a:solidFill>
            <a:prstDash val="solid"/>
          </a:ln>
        </p:spPr>
      </p:sp>
      <p:sp>
        <p:nvSpPr>
          <p:cNvPr id="13" name="Text 11"/>
          <p:cNvSpPr txBox="1"/>
          <p:nvPr/>
        </p:nvSpPr>
        <p:spPr>
          <a:xfrm>
            <a:off x="5029200" y="2095500"/>
            <a:ext cx="2926080" cy="201168"/>
          </a:xfrm>
          <a:prstGeom prst="rect">
            <a:avLst/>
          </a:prstGeom>
          <a:noFill/>
          <a:ln/>
        </p:spPr>
        <p:txBody>
          <a:bodyPr wrap="square" lIns="0" tIns="0" rIns="0" bIns="0" rtlCol="0" anchor="t"/>
          <a:lstStyle/>
          <a:p>
            <a:pPr indent="0" marL="0">
              <a:buNone/>
            </a:pPr>
            <a:r>
              <a:rPr lang="en-US" sz="950" b="1" spc="200" kern="0" dirty="0">
                <a:solidFill>
                  <a:srgbClr val="007C8C"/>
                </a:solidFill>
              </a:rPr>
              <a:t>LEAD</a:t>
            </a:r>
            <a:endParaRPr lang="en-US" sz="950" dirty="0"/>
          </a:p>
        </p:txBody>
      </p:sp>
      <p:sp>
        <p:nvSpPr>
          <p:cNvPr id="14" name="Text 12"/>
          <p:cNvSpPr txBox="1"/>
          <p:nvPr/>
        </p:nvSpPr>
        <p:spPr>
          <a:xfrm>
            <a:off x="5029200" y="2296668"/>
            <a:ext cx="2926080" cy="457200"/>
          </a:xfrm>
          <a:prstGeom prst="rect">
            <a:avLst/>
          </a:prstGeom>
          <a:noFill/>
          <a:ln/>
        </p:spPr>
        <p:txBody>
          <a:bodyPr wrap="square" lIns="0" tIns="0" rIns="0" bIns="0" rtlCol="0" anchor="t"/>
          <a:lstStyle/>
          <a:p>
            <a:pPr indent="0" marL="0">
              <a:buNone/>
            </a:pPr>
            <a:r>
              <a:rPr lang="en-US" sz="1300" b="1" dirty="0">
                <a:solidFill>
                  <a:srgbClr val="000000"/>
                </a:solidFill>
              </a:rPr>
              <a:t>Scrum Master or Project Manager</a:t>
            </a:r>
            <a:endParaRPr lang="en-US" sz="1300" dirty="0"/>
          </a:p>
        </p:txBody>
      </p:sp>
      <p:sp>
        <p:nvSpPr>
          <p:cNvPr id="15" name="Text 13"/>
          <p:cNvSpPr txBox="1"/>
          <p:nvPr/>
        </p:nvSpPr>
        <p:spPr>
          <a:xfrm>
            <a:off x="5029200" y="2570988"/>
            <a:ext cx="2926080" cy="411480"/>
          </a:xfrm>
          <a:prstGeom prst="rect">
            <a:avLst/>
          </a:prstGeom>
          <a:noFill/>
          <a:ln/>
        </p:spPr>
        <p:txBody>
          <a:bodyPr wrap="square" lIns="0" tIns="0" rIns="0" bIns="0" rtlCol="0" anchor="t"/>
          <a:lstStyle/>
          <a:p>
            <a:pPr indent="0" marL="0">
              <a:buNone/>
            </a:pPr>
            <a:r>
              <a:rPr lang="en-US" sz="1050" dirty="0">
                <a:solidFill>
                  <a:srgbClr val="4D4D4D"/>
                </a:solidFill>
              </a:rPr>
              <a:t>Runs sprints, milestones, risks and status</a:t>
            </a:r>
            <a:endParaRPr lang="en-US" sz="1050" dirty="0"/>
          </a:p>
        </p:txBody>
      </p:sp>
      <p:sp>
        <p:nvSpPr>
          <p:cNvPr id="16" name="Shape 14"/>
          <p:cNvSpPr/>
          <p:nvPr/>
        </p:nvSpPr>
        <p:spPr>
          <a:xfrm>
            <a:off x="3593592" y="3726180"/>
            <a:ext cx="1252728" cy="0"/>
          </a:xfrm>
          <a:prstGeom prst="line">
            <a:avLst/>
          </a:prstGeom>
          <a:noFill/>
          <a:ln w="12700">
            <a:solidFill>
              <a:srgbClr val="A0A0A8"/>
            </a:solidFill>
            <a:prstDash val="sysDot"/>
          </a:ln>
        </p:spPr>
      </p:sp>
      <p:sp>
        <p:nvSpPr>
          <p:cNvPr id="17" name="Shape 15"/>
          <p:cNvSpPr/>
          <p:nvPr/>
        </p:nvSpPr>
        <p:spPr>
          <a:xfrm>
            <a:off x="4846320" y="3680460"/>
            <a:ext cx="91440" cy="91440"/>
          </a:xfrm>
          <a:prstGeom prst="ellipse">
            <a:avLst/>
          </a:prstGeom>
          <a:solidFill>
            <a:srgbClr val="7A6100"/>
          </a:solidFill>
          <a:ln w="12700">
            <a:solidFill>
              <a:srgbClr val="7A6100"/>
            </a:solidFill>
            <a:prstDash val="solid"/>
          </a:ln>
        </p:spPr>
      </p:sp>
      <p:sp>
        <p:nvSpPr>
          <p:cNvPr id="18" name="Text 16"/>
          <p:cNvSpPr txBox="1"/>
          <p:nvPr/>
        </p:nvSpPr>
        <p:spPr>
          <a:xfrm>
            <a:off x="5029200" y="3342132"/>
            <a:ext cx="2926080" cy="201168"/>
          </a:xfrm>
          <a:prstGeom prst="rect">
            <a:avLst/>
          </a:prstGeom>
          <a:noFill/>
          <a:ln/>
        </p:spPr>
        <p:txBody>
          <a:bodyPr wrap="square" lIns="0" tIns="0" rIns="0" bIns="0" rtlCol="0" anchor="t"/>
          <a:lstStyle/>
          <a:p>
            <a:pPr indent="0" marL="0">
              <a:buNone/>
            </a:pPr>
            <a:r>
              <a:rPr lang="en-US" sz="950" b="1" spc="200" kern="0" dirty="0">
                <a:solidFill>
                  <a:srgbClr val="7A6100"/>
                </a:solidFill>
              </a:rPr>
              <a:t>QUALITY</a:t>
            </a:r>
            <a:endParaRPr lang="en-US" sz="950" dirty="0"/>
          </a:p>
        </p:txBody>
      </p:sp>
      <p:sp>
        <p:nvSpPr>
          <p:cNvPr id="19" name="Text 17"/>
          <p:cNvSpPr txBox="1"/>
          <p:nvPr/>
        </p:nvSpPr>
        <p:spPr>
          <a:xfrm>
            <a:off x="5029200" y="354330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QA Engineer</a:t>
            </a:r>
            <a:endParaRPr lang="en-US" sz="1300" dirty="0"/>
          </a:p>
        </p:txBody>
      </p:sp>
      <p:sp>
        <p:nvSpPr>
          <p:cNvPr id="20" name="Text 18"/>
          <p:cNvSpPr txBox="1"/>
          <p:nvPr/>
        </p:nvSpPr>
        <p:spPr>
          <a:xfrm>
            <a:off x="5029200" y="3817620"/>
            <a:ext cx="2926080" cy="411480"/>
          </a:xfrm>
          <a:prstGeom prst="rect">
            <a:avLst/>
          </a:prstGeom>
          <a:noFill/>
          <a:ln/>
        </p:spPr>
        <p:txBody>
          <a:bodyPr wrap="square" lIns="0" tIns="0" rIns="0" bIns="0" rtlCol="0" anchor="t"/>
          <a:lstStyle/>
          <a:p>
            <a:pPr indent="0" marL="0">
              <a:buNone/>
            </a:pPr>
            <a:r>
              <a:rPr lang="en-US" sz="1050" dirty="0">
                <a:solidFill>
                  <a:srgbClr val="4D4D4D"/>
                </a:solidFill>
              </a:rPr>
              <a:t>Test plans, automation, load tests, user testing support</a:t>
            </a:r>
            <a:endParaRPr lang="en-US" sz="1050" dirty="0"/>
          </a:p>
        </p:txBody>
      </p:sp>
      <p:sp>
        <p:nvSpPr>
          <p:cNvPr id="21" name="Shape 19"/>
          <p:cNvSpPr/>
          <p:nvPr/>
        </p:nvSpPr>
        <p:spPr>
          <a:xfrm>
            <a:off x="4264152" y="5082540"/>
            <a:ext cx="582168" cy="0"/>
          </a:xfrm>
          <a:prstGeom prst="line">
            <a:avLst/>
          </a:prstGeom>
          <a:noFill/>
          <a:ln w="12700">
            <a:solidFill>
              <a:srgbClr val="A0A0A8"/>
            </a:solidFill>
            <a:prstDash val="sysDot"/>
          </a:ln>
        </p:spPr>
      </p:sp>
      <p:sp>
        <p:nvSpPr>
          <p:cNvPr id="22" name="Shape 20"/>
          <p:cNvSpPr/>
          <p:nvPr/>
        </p:nvSpPr>
        <p:spPr>
          <a:xfrm>
            <a:off x="4846320" y="5036820"/>
            <a:ext cx="91440" cy="91440"/>
          </a:xfrm>
          <a:prstGeom prst="ellipse">
            <a:avLst/>
          </a:prstGeom>
          <a:solidFill>
            <a:srgbClr val="C8005A"/>
          </a:solidFill>
          <a:ln w="12700">
            <a:solidFill>
              <a:srgbClr val="C8005A"/>
            </a:solidFill>
            <a:prstDash val="solid"/>
          </a:ln>
        </p:spPr>
      </p:sp>
      <p:sp>
        <p:nvSpPr>
          <p:cNvPr id="23" name="Text 21"/>
          <p:cNvSpPr txBox="1"/>
          <p:nvPr/>
        </p:nvSpPr>
        <p:spPr>
          <a:xfrm>
            <a:off x="5029200" y="4698492"/>
            <a:ext cx="2926080" cy="201168"/>
          </a:xfrm>
          <a:prstGeom prst="rect">
            <a:avLst/>
          </a:prstGeom>
          <a:noFill/>
          <a:ln/>
        </p:spPr>
        <p:txBody>
          <a:bodyPr wrap="square" lIns="0" tIns="0" rIns="0" bIns="0" rtlCol="0" anchor="t"/>
          <a:lstStyle/>
          <a:p>
            <a:pPr indent="0" marL="0">
              <a:buNone/>
            </a:pPr>
            <a:r>
              <a:rPr lang="en-US" sz="950" b="1" spc="200" kern="0" dirty="0">
                <a:solidFill>
                  <a:srgbClr val="C8005A"/>
                </a:solidFill>
              </a:rPr>
              <a:t>BUILD</a:t>
            </a:r>
            <a:endParaRPr lang="en-US" sz="950" dirty="0"/>
          </a:p>
        </p:txBody>
      </p:sp>
      <p:sp>
        <p:nvSpPr>
          <p:cNvPr id="24" name="Text 22"/>
          <p:cNvSpPr txBox="1"/>
          <p:nvPr/>
        </p:nvSpPr>
        <p:spPr>
          <a:xfrm>
            <a:off x="5029200" y="489966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2 Salesforce Developers + 1 Marketing Cloud Developer</a:t>
            </a:r>
            <a:endParaRPr lang="en-US" sz="1300" dirty="0"/>
          </a:p>
        </p:txBody>
      </p:sp>
      <p:sp>
        <p:nvSpPr>
          <p:cNvPr id="25" name="Text 23"/>
          <p:cNvSpPr txBox="1"/>
          <p:nvPr/>
        </p:nvSpPr>
        <p:spPr>
          <a:xfrm>
            <a:off x="5029200" y="5356860"/>
            <a:ext cx="2926080" cy="411480"/>
          </a:xfrm>
          <a:prstGeom prst="rect">
            <a:avLst/>
          </a:prstGeom>
          <a:noFill/>
          <a:ln/>
        </p:spPr>
        <p:txBody>
          <a:bodyPr wrap="square" lIns="0" tIns="0" rIns="0" bIns="0" rtlCol="0" anchor="t"/>
          <a:lstStyle/>
          <a:p>
            <a:pPr indent="0" marL="0">
              <a:buNone/>
            </a:pPr>
            <a:r>
              <a:rPr lang="en-US" sz="1050" dirty="0">
                <a:solidFill>
                  <a:srgbClr val="4D4D4D"/>
                </a:solidFill>
              </a:rPr>
              <a:t>Event app, registration, payments, integrations, journeys and PEIs</a:t>
            </a:r>
            <a:endParaRPr lang="en-US" sz="1050" dirty="0"/>
          </a:p>
        </p:txBody>
      </p:sp>
      <p:sp>
        <p:nvSpPr>
          <p:cNvPr id="26" name="Shape 24"/>
          <p:cNvSpPr/>
          <p:nvPr/>
        </p:nvSpPr>
        <p:spPr>
          <a:xfrm>
            <a:off x="8183880" y="1691640"/>
            <a:ext cx="3502152" cy="4069080"/>
          </a:xfrm>
          <a:prstGeom prst="roundRect">
            <a:avLst>
              <a:gd name="adj" fmla="val 3133"/>
            </a:avLst>
          </a:prstGeom>
          <a:solidFill>
            <a:srgbClr val="F2F2F2"/>
          </a:solidFill>
          <a:ln w="12700">
            <a:solidFill>
              <a:srgbClr val="D0D0D6"/>
            </a:solidFill>
            <a:prstDash val="solid"/>
          </a:ln>
        </p:spPr>
      </p:sp>
      <p:sp>
        <p:nvSpPr>
          <p:cNvPr id="27" name="Text 25"/>
          <p:cNvSpPr txBox="1"/>
          <p:nvPr/>
        </p:nvSpPr>
        <p:spPr>
          <a:xfrm>
            <a:off x="8366760" y="1828800"/>
            <a:ext cx="3136392" cy="292608"/>
          </a:xfrm>
          <a:prstGeom prst="rect">
            <a:avLst/>
          </a:prstGeom>
          <a:noFill/>
          <a:ln/>
        </p:spPr>
        <p:txBody>
          <a:bodyPr wrap="square" lIns="0" tIns="0" rIns="0" bIns="0" rtlCol="0" anchor="t"/>
          <a:lstStyle/>
          <a:p>
            <a:pPr indent="0" marL="0">
              <a:buNone/>
            </a:pPr>
            <a:r>
              <a:rPr lang="en-US" sz="1500" b="1" dirty="0">
                <a:solidFill>
                  <a:srgbClr val="000000"/>
                </a:solidFill>
              </a:rPr>
              <a:t>Every two-week sprint</a:t>
            </a:r>
            <a:endParaRPr lang="en-US" sz="1500" dirty="0"/>
          </a:p>
        </p:txBody>
      </p:sp>
      <p:sp>
        <p:nvSpPr>
          <p:cNvPr id="28" name="Shape 26"/>
          <p:cNvSpPr/>
          <p:nvPr/>
        </p:nvSpPr>
        <p:spPr>
          <a:xfrm>
            <a:off x="8366760" y="2286000"/>
            <a:ext cx="384048" cy="384048"/>
          </a:xfrm>
          <a:prstGeom prst="ellipse">
            <a:avLst/>
          </a:prstGeom>
          <a:solidFill>
            <a:srgbClr val="FFFFFF"/>
          </a:solidFill>
          <a:ln w="12700">
            <a:solidFill>
              <a:srgbClr val="C8C8CE"/>
            </a:solidFill>
            <a:prstDash val="solid"/>
          </a:ln>
        </p:spPr>
      </p:sp>
      <p:pic>
        <p:nvPicPr>
          <p:cNvPr id="29" name="Image 0" descr="preencoded.png">    </p:cNvPr>
          <p:cNvPicPr>
            <a:picLocks noChangeAspect="1"/>
          </p:cNvPicPr>
          <p:nvPr/>
        </p:nvPicPr>
        <p:blipFill>
          <a:blip r:embed="rId1"/>
          <a:stretch>
            <a:fillRect/>
          </a:stretch>
        </p:blipFill>
        <p:spPr>
          <a:xfrm>
            <a:off x="8467344" y="2386584"/>
            <a:ext cx="182880" cy="182880"/>
          </a:xfrm>
          <a:prstGeom prst="rect">
            <a:avLst/>
          </a:prstGeom>
        </p:spPr>
      </p:pic>
      <p:sp>
        <p:nvSpPr>
          <p:cNvPr id="30" name="Text 27"/>
          <p:cNvSpPr txBox="1"/>
          <p:nvPr/>
        </p:nvSpPr>
        <p:spPr>
          <a:xfrm>
            <a:off x="8869680" y="2267712"/>
            <a:ext cx="2633472" cy="219456"/>
          </a:xfrm>
          <a:prstGeom prst="rect">
            <a:avLst/>
          </a:prstGeom>
          <a:noFill/>
          <a:ln/>
        </p:spPr>
        <p:txBody>
          <a:bodyPr wrap="square" lIns="0" tIns="0" rIns="0" bIns="0" rtlCol="0" anchor="t"/>
          <a:lstStyle/>
          <a:p>
            <a:pPr indent="0" marL="0">
              <a:buNone/>
            </a:pPr>
            <a:r>
              <a:rPr lang="en-US" sz="1200" b="1" dirty="0">
                <a:solidFill>
                  <a:srgbClr val="000000"/>
                </a:solidFill>
              </a:rPr>
              <a:t>Plan</a:t>
            </a:r>
            <a:endParaRPr lang="en-US" sz="1200" dirty="0"/>
          </a:p>
        </p:txBody>
      </p:sp>
      <p:sp>
        <p:nvSpPr>
          <p:cNvPr id="31" name="Text 28"/>
          <p:cNvSpPr txBox="1"/>
          <p:nvPr/>
        </p:nvSpPr>
        <p:spPr>
          <a:xfrm>
            <a:off x="8869680" y="2487168"/>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planning with your product owner</a:t>
            </a:r>
            <a:endParaRPr lang="en-US" sz="1050" dirty="0"/>
          </a:p>
        </p:txBody>
      </p:sp>
      <p:sp>
        <p:nvSpPr>
          <p:cNvPr id="32" name="Shape 29"/>
          <p:cNvSpPr/>
          <p:nvPr/>
        </p:nvSpPr>
        <p:spPr>
          <a:xfrm>
            <a:off x="8366760" y="2944368"/>
            <a:ext cx="384048" cy="384048"/>
          </a:xfrm>
          <a:prstGeom prst="ellipse">
            <a:avLst/>
          </a:prstGeom>
          <a:solidFill>
            <a:srgbClr val="FFFFFF"/>
          </a:solidFill>
          <a:ln w="12700">
            <a:solidFill>
              <a:srgbClr val="C8C8CE"/>
            </a:solidFill>
            <a:prstDash val="solid"/>
          </a:ln>
        </p:spPr>
      </p:sp>
      <p:pic>
        <p:nvPicPr>
          <p:cNvPr id="33" name="Image 1" descr="preencoded.png">    </p:cNvPr>
          <p:cNvPicPr>
            <a:picLocks noChangeAspect="1"/>
          </p:cNvPicPr>
          <p:nvPr/>
        </p:nvPicPr>
        <p:blipFill>
          <a:blip r:embed="rId2"/>
          <a:stretch>
            <a:fillRect/>
          </a:stretch>
        </p:blipFill>
        <p:spPr>
          <a:xfrm>
            <a:off x="8467344" y="3044952"/>
            <a:ext cx="182880" cy="182880"/>
          </a:xfrm>
          <a:prstGeom prst="rect">
            <a:avLst/>
          </a:prstGeom>
        </p:spPr>
      </p:pic>
      <p:sp>
        <p:nvSpPr>
          <p:cNvPr id="34" name="Text 30"/>
          <p:cNvSpPr txBox="1"/>
          <p:nvPr/>
        </p:nvSpPr>
        <p:spPr>
          <a:xfrm>
            <a:off x="8869680" y="2926080"/>
            <a:ext cx="2633472" cy="219456"/>
          </a:xfrm>
          <a:prstGeom prst="rect">
            <a:avLst/>
          </a:prstGeom>
          <a:noFill/>
          <a:ln/>
        </p:spPr>
        <p:txBody>
          <a:bodyPr wrap="square" lIns="0" tIns="0" rIns="0" bIns="0" rtlCol="0" anchor="t"/>
          <a:lstStyle/>
          <a:p>
            <a:pPr indent="0" marL="0">
              <a:buNone/>
            </a:pPr>
            <a:r>
              <a:rPr lang="en-US" sz="1200" b="1" dirty="0">
                <a:solidFill>
                  <a:srgbClr val="000000"/>
                </a:solidFill>
              </a:rPr>
              <a:t>Build and test</a:t>
            </a:r>
            <a:endParaRPr lang="en-US" sz="1200" dirty="0"/>
          </a:p>
        </p:txBody>
      </p:sp>
      <p:sp>
        <p:nvSpPr>
          <p:cNvPr id="35" name="Text 31"/>
          <p:cNvSpPr txBox="1"/>
          <p:nvPr/>
        </p:nvSpPr>
        <p:spPr>
          <a:xfrm>
            <a:off x="8869680" y="3145536"/>
            <a:ext cx="2633472" cy="329184"/>
          </a:xfrm>
          <a:prstGeom prst="rect">
            <a:avLst/>
          </a:prstGeom>
          <a:noFill/>
          <a:ln/>
        </p:spPr>
        <p:txBody>
          <a:bodyPr wrap="square" lIns="0" tIns="0" rIns="0" bIns="0" rtlCol="0" anchor="t"/>
          <a:lstStyle/>
          <a:p>
            <a:pPr indent="0" marL="0">
              <a:buNone/>
            </a:pPr>
            <a:r>
              <a:rPr lang="en-US" sz="1050" dirty="0">
                <a:solidFill>
                  <a:srgbClr val="4D4D4D"/>
                </a:solidFill>
              </a:rPr>
              <a:t>Daily stand-ups; QA inside the sprint</a:t>
            </a:r>
            <a:endParaRPr lang="en-US" sz="1050" dirty="0"/>
          </a:p>
        </p:txBody>
      </p:sp>
      <p:sp>
        <p:nvSpPr>
          <p:cNvPr id="36" name="Shape 32"/>
          <p:cNvSpPr/>
          <p:nvPr/>
        </p:nvSpPr>
        <p:spPr>
          <a:xfrm>
            <a:off x="8366760" y="3602736"/>
            <a:ext cx="384048" cy="384048"/>
          </a:xfrm>
          <a:prstGeom prst="ellipse">
            <a:avLst/>
          </a:prstGeom>
          <a:solidFill>
            <a:srgbClr val="FFFFFF"/>
          </a:solidFill>
          <a:ln w="12700">
            <a:solidFill>
              <a:srgbClr val="C8C8CE"/>
            </a:solidFill>
            <a:prstDash val="solid"/>
          </a:ln>
        </p:spPr>
      </p:sp>
      <p:pic>
        <p:nvPicPr>
          <p:cNvPr id="37" name="Image 2" descr="preencoded.png">    </p:cNvPr>
          <p:cNvPicPr>
            <a:picLocks noChangeAspect="1"/>
          </p:cNvPicPr>
          <p:nvPr/>
        </p:nvPicPr>
        <p:blipFill>
          <a:blip r:embed="rId3"/>
          <a:stretch>
            <a:fillRect/>
          </a:stretch>
        </p:blipFill>
        <p:spPr>
          <a:xfrm>
            <a:off x="8467344" y="3703320"/>
            <a:ext cx="182880" cy="182880"/>
          </a:xfrm>
          <a:prstGeom prst="rect">
            <a:avLst/>
          </a:prstGeom>
        </p:spPr>
      </p:pic>
      <p:sp>
        <p:nvSpPr>
          <p:cNvPr id="38" name="Text 33"/>
          <p:cNvSpPr txBox="1"/>
          <p:nvPr/>
        </p:nvSpPr>
        <p:spPr>
          <a:xfrm>
            <a:off x="8869680" y="3584448"/>
            <a:ext cx="2633472" cy="219456"/>
          </a:xfrm>
          <a:prstGeom prst="rect">
            <a:avLst/>
          </a:prstGeom>
          <a:noFill/>
          <a:ln/>
        </p:spPr>
        <p:txBody>
          <a:bodyPr wrap="square" lIns="0" tIns="0" rIns="0" bIns="0" rtlCol="0" anchor="t"/>
          <a:lstStyle/>
          <a:p>
            <a:pPr indent="0" marL="0">
              <a:buNone/>
            </a:pPr>
            <a:r>
              <a:rPr lang="en-US" sz="1200" b="1" dirty="0">
                <a:solidFill>
                  <a:srgbClr val="000000"/>
                </a:solidFill>
              </a:rPr>
              <a:t>Demo</a:t>
            </a:r>
            <a:endParaRPr lang="en-US" sz="1200" dirty="0"/>
          </a:p>
        </p:txBody>
      </p:sp>
      <p:sp>
        <p:nvSpPr>
          <p:cNvPr id="39" name="Text 34"/>
          <p:cNvSpPr txBox="1"/>
          <p:nvPr/>
        </p:nvSpPr>
        <p:spPr>
          <a:xfrm>
            <a:off x="8869680" y="3803904"/>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review and milestone sign-off</a:t>
            </a:r>
            <a:endParaRPr lang="en-US" sz="1050" dirty="0"/>
          </a:p>
        </p:txBody>
      </p:sp>
      <p:sp>
        <p:nvSpPr>
          <p:cNvPr id="40" name="Shape 35"/>
          <p:cNvSpPr/>
          <p:nvPr/>
        </p:nvSpPr>
        <p:spPr>
          <a:xfrm>
            <a:off x="8366760" y="4261104"/>
            <a:ext cx="384048" cy="384048"/>
          </a:xfrm>
          <a:prstGeom prst="ellipse">
            <a:avLst/>
          </a:prstGeom>
          <a:solidFill>
            <a:srgbClr val="FFFFFF"/>
          </a:solidFill>
          <a:ln w="12700">
            <a:solidFill>
              <a:srgbClr val="C8C8CE"/>
            </a:solidFill>
            <a:prstDash val="solid"/>
          </a:ln>
        </p:spPr>
      </p:sp>
      <p:pic>
        <p:nvPicPr>
          <p:cNvPr id="41" name="Image 3" descr="preencoded.png">    </p:cNvPr>
          <p:cNvPicPr>
            <a:picLocks noChangeAspect="1"/>
          </p:cNvPicPr>
          <p:nvPr/>
        </p:nvPicPr>
        <p:blipFill>
          <a:blip r:embed="rId4"/>
          <a:stretch>
            <a:fillRect/>
          </a:stretch>
        </p:blipFill>
        <p:spPr>
          <a:xfrm>
            <a:off x="8467344" y="4361688"/>
            <a:ext cx="182880" cy="182880"/>
          </a:xfrm>
          <a:prstGeom prst="rect">
            <a:avLst/>
          </a:prstGeom>
        </p:spPr>
      </p:pic>
      <p:sp>
        <p:nvSpPr>
          <p:cNvPr id="42" name="Text 36"/>
          <p:cNvSpPr txBox="1"/>
          <p:nvPr/>
        </p:nvSpPr>
        <p:spPr>
          <a:xfrm>
            <a:off x="8869680" y="4242816"/>
            <a:ext cx="2633472" cy="219456"/>
          </a:xfrm>
          <a:prstGeom prst="rect">
            <a:avLst/>
          </a:prstGeom>
          <a:noFill/>
          <a:ln/>
        </p:spPr>
        <p:txBody>
          <a:bodyPr wrap="square" lIns="0" tIns="0" rIns="0" bIns="0" rtlCol="0" anchor="t"/>
          <a:lstStyle/>
          <a:p>
            <a:pPr indent="0" marL="0">
              <a:buNone/>
            </a:pPr>
            <a:r>
              <a:rPr lang="en-US" sz="1200" b="1" dirty="0">
                <a:solidFill>
                  <a:srgbClr val="000000"/>
                </a:solidFill>
              </a:rPr>
              <a:t>Improve</a:t>
            </a:r>
            <a:endParaRPr lang="en-US" sz="1200" dirty="0"/>
          </a:p>
        </p:txBody>
      </p:sp>
      <p:sp>
        <p:nvSpPr>
          <p:cNvPr id="43" name="Text 37"/>
          <p:cNvSpPr txBox="1"/>
          <p:nvPr/>
        </p:nvSpPr>
        <p:spPr>
          <a:xfrm>
            <a:off x="8869680" y="4462272"/>
            <a:ext cx="2633472" cy="329184"/>
          </a:xfrm>
          <a:prstGeom prst="rect">
            <a:avLst/>
          </a:prstGeom>
          <a:noFill/>
          <a:ln/>
        </p:spPr>
        <p:txBody>
          <a:bodyPr wrap="square" lIns="0" tIns="0" rIns="0" bIns="0" rtlCol="0" anchor="t"/>
          <a:lstStyle/>
          <a:p>
            <a:pPr indent="0" marL="0">
              <a:buNone/>
            </a:pPr>
            <a:r>
              <a:rPr lang="en-US" sz="1050" dirty="0">
                <a:solidFill>
                  <a:srgbClr val="4D4D4D"/>
                </a:solidFill>
              </a:rPr>
              <a:t>Retrospective; adjust the next sprint</a:t>
            </a:r>
            <a:endParaRPr lang="en-US" sz="1050" dirty="0"/>
          </a:p>
        </p:txBody>
      </p:sp>
      <p:sp>
        <p:nvSpPr>
          <p:cNvPr id="44" name="Text 38"/>
          <p:cNvSpPr txBox="1"/>
          <p:nvPr/>
        </p:nvSpPr>
        <p:spPr>
          <a:xfrm>
            <a:off x="8366760" y="4956048"/>
            <a:ext cx="3136392" cy="201168"/>
          </a:xfrm>
          <a:prstGeom prst="rect">
            <a:avLst/>
          </a:prstGeom>
          <a:noFill/>
          <a:ln/>
        </p:spPr>
        <p:txBody>
          <a:bodyPr wrap="square" lIns="0" tIns="0" rIns="0" bIns="0" rtlCol="0" anchor="t"/>
          <a:lstStyle/>
          <a:p>
            <a:pPr indent="0" marL="0">
              <a:buNone/>
            </a:pPr>
            <a:r>
              <a:rPr lang="en-US" sz="900" b="1" spc="200" kern="0" dirty="0">
                <a:solidFill>
                  <a:srgbClr val="007C8C"/>
                </a:solidFill>
              </a:rPr>
              <a:t>FROM MEMORIAL HERMANN</a:t>
            </a:r>
            <a:endParaRPr lang="en-US" sz="900" dirty="0"/>
          </a:p>
        </p:txBody>
      </p:sp>
      <p:sp>
        <p:nvSpPr>
          <p:cNvPr id="45" name="Text 39"/>
          <p:cNvSpPr txBox="1"/>
          <p:nvPr/>
        </p:nvSpPr>
        <p:spPr>
          <a:xfrm>
            <a:off x="8366760" y="5175504"/>
            <a:ext cx="3090672" cy="457200"/>
          </a:xfrm>
          <a:prstGeom prst="rect">
            <a:avLst/>
          </a:prstGeom>
          <a:noFill/>
          <a:ln/>
        </p:spPr>
        <p:txBody>
          <a:bodyPr wrap="square" lIns="0" tIns="0" rIns="0" bIns="0" rtlCol="0" anchor="t"/>
          <a:lstStyle/>
          <a:p>
            <a:pPr indent="0" marL="0">
              <a:buNone/>
            </a:pPr>
            <a:r>
              <a:rPr lang="en-US" sz="1050" dirty="0">
                <a:solidFill>
                  <a:srgbClr val="000000"/>
                </a:solidFill>
              </a:rPr>
              <a:t>A product owner, plus an Epic and app contact from Lucky Rai’s team</a:t>
            </a:r>
            <a:endParaRPr lang="en-US" sz="1050" dirty="0"/>
          </a:p>
        </p:txBody>
      </p:sp>
      <p:sp>
        <p:nvSpPr>
          <p:cNvPr id="46" name="Text 40"/>
          <p:cNvSpPr txBox="1"/>
          <p:nvPr/>
        </p:nvSpPr>
        <p:spPr>
          <a:xfrm>
            <a:off x="502920" y="5897880"/>
            <a:ext cx="4023360" cy="274320"/>
          </a:xfrm>
          <a:prstGeom prst="rect">
            <a:avLst/>
          </a:prstGeom>
          <a:noFill/>
          <a:ln/>
        </p:spPr>
        <p:txBody>
          <a:bodyPr wrap="square" lIns="0" tIns="0" rIns="0" bIns="0" rtlCol="0" anchor="t"/>
          <a:lstStyle/>
          <a:p>
            <a:pPr algn="ctr" indent="0" marL="0">
              <a:buNone/>
            </a:pPr>
            <a:r>
              <a:rPr lang="en-US" sz="1300" b="1" dirty="0">
                <a:solidFill>
                  <a:srgbClr val="000000"/>
                </a:solidFill>
              </a:rPr>
              <a:t>5 people  ·  10 sprints  ·  20 weeks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28600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3-12</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and badges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Classes improved</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Weeks 13-20</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Shared event model</a:t>
            </a:r>
            <a:endParaRPr lang="en-US" sz="1400" dirty="0"/>
          </a:p>
          <a:p>
            <a:pPr marL="342900" indent="-342900">
              <a:spcAft>
                <a:spcPts val="600"/>
              </a:spcAft>
              <a:buSzPct val="100000"/>
              <a:buChar char="•"/>
            </a:pPr>
            <a:r>
              <a:rPr lang="en-US" sz="1400" dirty="0">
                <a:solidFill>
                  <a:srgbClr val="4D4D4D"/>
                </a:solidFill>
              </a:rPr>
              <a:t>Instant confirmation, waitlists</a:t>
            </a:r>
            <a:endParaRPr lang="en-US" sz="1400" dirty="0"/>
          </a:p>
          <a:p>
            <a:pPr marL="342900" indent="-342900">
              <a:spcAft>
                <a:spcPts val="600"/>
              </a:spcAft>
              <a:buSzPct val="100000"/>
              <a:buChar char="•"/>
            </a:pPr>
            <a:r>
              <a:rPr lang="en-US" sz="1400" dirty="0">
                <a:solidFill>
                  <a:srgbClr val="4D4D4D"/>
                </a:solidFill>
              </a:rPr>
              <a:t>Check-in and reporting</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From Phase 2 go-live</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adoption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Week 21+</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app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Phases 1 and 2 solve today’s problem. Phases 3 and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app,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Investment</a:t>
            </a:r>
            <a:endParaRPr lang="en-US" sz="3200" dirty="0"/>
          </a:p>
        </p:txBody>
      </p:sp>
      <p:sp>
        <p:nvSpPr>
          <p:cNvPr id="3" name="Text 1"/>
          <p:cNvSpPr txBox="1"/>
          <p:nvPr/>
        </p:nvSpPr>
        <p:spPr>
          <a:xfrm>
            <a:off x="502920" y="1298448"/>
            <a:ext cx="8229600" cy="292608"/>
          </a:xfrm>
          <a:prstGeom prst="rect">
            <a:avLst/>
          </a:prstGeom>
          <a:noFill/>
          <a:ln/>
        </p:spPr>
        <p:txBody>
          <a:bodyPr wrap="square" lIns="0" tIns="0" rIns="0" bIns="0" rtlCol="0" anchor="t"/>
          <a:lstStyle/>
          <a:p>
            <a:pPr indent="0" marL="0">
              <a:buNone/>
            </a:pPr>
            <a:r>
              <a:rPr lang="en-US" sz="1400" dirty="0">
                <a:solidFill>
                  <a:srgbClr val="4D4D4D"/>
                </a:solidFill>
              </a:rPr>
              <a:t>Offshore delivery model: fixed scope, five-person pod, 10 sprints</a:t>
            </a:r>
            <a:endParaRPr lang="en-US" sz="1400" dirty="0"/>
          </a:p>
        </p:txBody>
      </p:sp>
      <p:sp>
        <p:nvSpPr>
          <p:cNvPr id="4" name="price-card"/>
          <p:cNvSpPr/>
          <p:nvPr/>
        </p:nvSpPr>
        <p:spPr>
          <a:xfrm>
            <a:off x="502920" y="1783080"/>
            <a:ext cx="4206240" cy="4069080"/>
          </a:xfrm>
          <a:prstGeom prst="roundRect">
            <a:avLst>
              <a:gd name="adj" fmla="val 3146"/>
            </a:avLst>
          </a:prstGeom>
          <a:solidFill>
            <a:srgbClr val="000000"/>
          </a:solidFill>
          <a:ln w="12700">
            <a:solidFill>
              <a:srgbClr val="000000"/>
            </a:solidFill>
            <a:prstDash val="solid"/>
          </a:ln>
        </p:spPr>
      </p:sp>
      <p:sp>
        <p:nvSpPr>
          <p:cNvPr id="5" name="Shape 3"/>
          <p:cNvSpPr/>
          <p:nvPr/>
        </p:nvSpPr>
        <p:spPr>
          <a:xfrm>
            <a:off x="3291840" y="2057400"/>
            <a:ext cx="1097280" cy="292608"/>
          </a:xfrm>
          <a:prstGeom prst="roundRect">
            <a:avLst>
              <a:gd name="adj" fmla="val 50000"/>
            </a:avLst>
          </a:prstGeom>
          <a:ln w="15875">
            <a:solidFill>
              <a:srgbClr val="00D6F2"/>
            </a:solidFill>
            <a:prstDash val="solid"/>
          </a:ln>
        </p:spPr>
      </p:sp>
      <p:sp>
        <p:nvSpPr>
          <p:cNvPr id="6" name="Text 4"/>
          <p:cNvSpPr txBox="1"/>
          <p:nvPr/>
        </p:nvSpPr>
        <p:spPr>
          <a:xfrm>
            <a:off x="3291840" y="2057400"/>
            <a:ext cx="1097280" cy="292608"/>
          </a:xfrm>
          <a:prstGeom prst="rect">
            <a:avLst/>
          </a:prstGeom>
          <a:noFill/>
          <a:ln/>
        </p:spPr>
        <p:txBody>
          <a:bodyPr wrap="square" lIns="0" tIns="0" rIns="0" bIns="0" rtlCol="0" anchor="ctr"/>
          <a:lstStyle/>
          <a:p>
            <a:pPr algn="ctr" indent="0" marL="0">
              <a:buNone/>
            </a:pPr>
            <a:r>
              <a:rPr lang="en-US" sz="950" b="1" spc="200" kern="0" dirty="0">
                <a:solidFill>
                  <a:srgbClr val="00D6F2"/>
                </a:solidFill>
              </a:rPr>
              <a:t>OFFSHORE</a:t>
            </a:r>
            <a:endParaRPr lang="en-US" sz="950" dirty="0"/>
          </a:p>
        </p:txBody>
      </p:sp>
      <p:sp>
        <p:nvSpPr>
          <p:cNvPr id="7" name="Text 5"/>
          <p:cNvSpPr txBox="1"/>
          <p:nvPr/>
        </p:nvSpPr>
        <p:spPr>
          <a:xfrm>
            <a:off x="822960" y="2103120"/>
            <a:ext cx="2377440" cy="219456"/>
          </a:xfrm>
          <a:prstGeom prst="rect">
            <a:avLst/>
          </a:prstGeom>
          <a:noFill/>
          <a:ln/>
        </p:spPr>
        <p:txBody>
          <a:bodyPr wrap="square" lIns="0" tIns="0" rIns="0" bIns="0" rtlCol="0" anchor="t"/>
          <a:lstStyle/>
          <a:p>
            <a:pPr indent="0" marL="0">
              <a:buNone/>
            </a:pPr>
            <a:r>
              <a:rPr lang="en-US" sz="1000" b="1" spc="200" kern="0" dirty="0">
                <a:solidFill>
                  <a:srgbClr val="BFBFBF"/>
                </a:solidFill>
              </a:rPr>
              <a:t>STANDARD PROGRAM VALUE</a:t>
            </a:r>
            <a:endParaRPr lang="en-US" sz="1000" dirty="0"/>
          </a:p>
        </p:txBody>
      </p:sp>
      <p:sp>
        <p:nvSpPr>
          <p:cNvPr id="8" name="Text 6"/>
          <p:cNvSpPr txBox="1"/>
          <p:nvPr/>
        </p:nvSpPr>
        <p:spPr>
          <a:xfrm>
            <a:off x="822960" y="2350008"/>
            <a:ext cx="3566160" cy="548640"/>
          </a:xfrm>
          <a:prstGeom prst="rect">
            <a:avLst/>
          </a:prstGeom>
          <a:noFill/>
          <a:ln/>
        </p:spPr>
        <p:txBody>
          <a:bodyPr wrap="square" lIns="0" tIns="0" rIns="0" bIns="0" rtlCol="0" anchor="t"/>
          <a:lstStyle/>
          <a:p>
            <a:pPr indent="0" marL="0">
              <a:buNone/>
            </a:pPr>
            <a:r>
              <a:rPr lang="en-US" sz="3000" strike="sngStrike" dirty="0">
                <a:solidFill>
                  <a:srgbClr val="8C8C8C"/>
                </a:solidFill>
                <a:latin typeface="Trenda IG Text Light" pitchFamily="34" charset="0"/>
                <a:ea typeface="Trenda IG Text Light" pitchFamily="34" charset="-122"/>
                <a:cs typeface="Trenda IG Text Light" pitchFamily="34" charset="-120"/>
              </a:rPr>
              <a:t>$580,000</a:t>
            </a:r>
            <a:endParaRPr lang="en-US" sz="3000" dirty="0"/>
          </a:p>
        </p:txBody>
      </p:sp>
      <p:sp>
        <p:nvSpPr>
          <p:cNvPr id="9" name="Shape 7"/>
          <p:cNvSpPr/>
          <p:nvPr/>
        </p:nvSpPr>
        <p:spPr>
          <a:xfrm>
            <a:off x="822960" y="3108960"/>
            <a:ext cx="3566160" cy="0"/>
          </a:xfrm>
          <a:prstGeom prst="line">
            <a:avLst/>
          </a:prstGeom>
          <a:noFill/>
          <a:ln w="9525">
            <a:solidFill>
              <a:srgbClr val="444444"/>
            </a:solidFill>
            <a:prstDash val="solid"/>
          </a:ln>
        </p:spPr>
      </p:sp>
      <p:sp>
        <p:nvSpPr>
          <p:cNvPr id="10" name="Text 8"/>
          <p:cNvSpPr txBox="1"/>
          <p:nvPr/>
        </p:nvSpPr>
        <p:spPr>
          <a:xfrm>
            <a:off x="822960" y="3291840"/>
            <a:ext cx="3566160" cy="219456"/>
          </a:xfrm>
          <a:prstGeom prst="rect">
            <a:avLst/>
          </a:prstGeom>
          <a:noFill/>
          <a:ln/>
        </p:spPr>
        <p:txBody>
          <a:bodyPr wrap="square" lIns="0" tIns="0" rIns="0" bIns="0" rtlCol="0" anchor="t"/>
          <a:lstStyle/>
          <a:p>
            <a:pPr indent="0" marL="0">
              <a:buNone/>
            </a:pPr>
            <a:r>
              <a:rPr lang="en-US" sz="1000" b="1" spc="200" kern="0" dirty="0">
                <a:solidFill>
                  <a:srgbClr val="00D6F2"/>
                </a:solidFill>
              </a:rPr>
              <a:t>STRATEGIC PARTNER INVESTMENT</a:t>
            </a:r>
            <a:endParaRPr lang="en-US" sz="1000" dirty="0"/>
          </a:p>
        </p:txBody>
      </p:sp>
      <p:sp>
        <p:nvSpPr>
          <p:cNvPr id="11" name="Text 9"/>
          <p:cNvSpPr txBox="1"/>
          <p:nvPr/>
        </p:nvSpPr>
        <p:spPr>
          <a:xfrm>
            <a:off x="822960" y="3566160"/>
            <a:ext cx="3566160" cy="914400"/>
          </a:xfrm>
          <a:prstGeom prst="rect">
            <a:avLst/>
          </a:prstGeom>
          <a:noFill/>
          <a:ln/>
        </p:spPr>
        <p:txBody>
          <a:bodyPr wrap="square" lIns="0" tIns="0" rIns="0" bIns="0" rtlCol="0" anchor="t"/>
          <a:lstStyle/>
          <a:p>
            <a:pPr indent="0" marL="0">
              <a:buNone/>
            </a:pPr>
            <a:r>
              <a:rPr lang="en-US" sz="5400" dirty="0">
                <a:solidFill>
                  <a:srgbClr val="FFFFFF"/>
                </a:solidFill>
                <a:latin typeface="Trenda IG Text Light" pitchFamily="34" charset="0"/>
                <a:ea typeface="Trenda IG Text Light" pitchFamily="34" charset="-122"/>
                <a:cs typeface="Trenda IG Text Light" pitchFamily="34" charset="-120"/>
              </a:rPr>
              <a:t>$290,000</a:t>
            </a:r>
            <a:endParaRPr lang="en-US" sz="5400" dirty="0"/>
          </a:p>
        </p:txBody>
      </p:sp>
      <p:sp>
        <p:nvSpPr>
          <p:cNvPr id="12" name="Shape 10"/>
          <p:cNvSpPr/>
          <p:nvPr/>
        </p:nvSpPr>
        <p:spPr>
          <a:xfrm>
            <a:off x="822960" y="4617720"/>
            <a:ext cx="3108960" cy="384048"/>
          </a:xfrm>
          <a:prstGeom prst="roundRect">
            <a:avLst>
              <a:gd name="adj" fmla="val 50000"/>
            </a:avLst>
          </a:prstGeom>
          <a:solidFill>
            <a:srgbClr val="FF0068"/>
          </a:solidFill>
          <a:ln w="12700">
            <a:solidFill>
              <a:srgbClr val="FF0068"/>
            </a:solidFill>
            <a:prstDash val="solid"/>
          </a:ln>
        </p:spPr>
      </p:sp>
      <p:sp>
        <p:nvSpPr>
          <p:cNvPr id="13" name="Text 11"/>
          <p:cNvSpPr txBox="1"/>
          <p:nvPr/>
        </p:nvSpPr>
        <p:spPr>
          <a:xfrm>
            <a:off x="822960" y="4617720"/>
            <a:ext cx="3108960" cy="384048"/>
          </a:xfrm>
          <a:prstGeom prst="rect">
            <a:avLst/>
          </a:prstGeom>
          <a:noFill/>
          <a:ln/>
        </p:spPr>
        <p:txBody>
          <a:bodyPr wrap="square" lIns="0" tIns="0" rIns="0" bIns="0" rtlCol="0" anchor="ctr"/>
          <a:lstStyle/>
          <a:p>
            <a:pPr algn="ctr" indent="0" marL="0">
              <a:buNone/>
            </a:pPr>
            <a:r>
              <a:rPr lang="en-US" sz="1200" b="1" dirty="0">
                <a:solidFill>
                  <a:srgbClr val="FFFFFF"/>
                </a:solidFill>
              </a:rPr>
              <a:t>50% partnership credit, applied upfront</a:t>
            </a:r>
            <a:endParaRPr lang="en-US" sz="1200" dirty="0"/>
          </a:p>
        </p:txBody>
      </p:sp>
      <p:sp>
        <p:nvSpPr>
          <p:cNvPr id="14" name="Text 12"/>
          <p:cNvSpPr txBox="1"/>
          <p:nvPr/>
        </p:nvSpPr>
        <p:spPr>
          <a:xfrm>
            <a:off x="822960" y="5184648"/>
            <a:ext cx="3566160" cy="274320"/>
          </a:xfrm>
          <a:prstGeom prst="rect">
            <a:avLst/>
          </a:prstGeom>
          <a:noFill/>
          <a:ln/>
        </p:spPr>
        <p:txBody>
          <a:bodyPr wrap="square" lIns="0" tIns="0" rIns="0" bIns="0" rtlCol="0" anchor="t"/>
          <a:lstStyle/>
          <a:p>
            <a:pPr indent="0" marL="0">
              <a:buNone/>
            </a:pPr>
            <a:r>
              <a:rPr lang="en-US" sz="1200" dirty="0">
                <a:solidFill>
                  <a:srgbClr val="D9D9D9"/>
                </a:solidFill>
              </a:rPr>
              <a:t>You save $290,000 on the full program</a:t>
            </a:r>
            <a:endParaRPr lang="en-US" sz="1200" dirty="0"/>
          </a:p>
        </p:txBody>
      </p:sp>
      <p:sp>
        <p:nvSpPr>
          <p:cNvPr id="15" name="Text 13"/>
          <p:cNvSpPr txBox="1"/>
          <p:nvPr/>
        </p:nvSpPr>
        <p:spPr>
          <a:xfrm>
            <a:off x="5129784" y="1783080"/>
            <a:ext cx="3182112" cy="329184"/>
          </a:xfrm>
          <a:prstGeom prst="rect">
            <a:avLst/>
          </a:prstGeom>
          <a:noFill/>
          <a:ln/>
        </p:spPr>
        <p:txBody>
          <a:bodyPr wrap="square" lIns="0" tIns="0" rIns="0" bIns="0" rtlCol="0" anchor="ctr"/>
          <a:lstStyle/>
          <a:p>
            <a:pPr algn="l" indent="0" marL="0">
              <a:buNone/>
            </a:pPr>
            <a:r>
              <a:rPr lang="en-US" sz="1200" b="1" dirty="0">
                <a:solidFill>
                  <a:srgbClr val="000000"/>
                </a:solidFill>
              </a:rPr>
              <a:t>Phase</a:t>
            </a:r>
            <a:endParaRPr lang="en-US" sz="1200" dirty="0"/>
          </a:p>
        </p:txBody>
      </p:sp>
      <p:sp>
        <p:nvSpPr>
          <p:cNvPr id="16" name="Text 14"/>
          <p:cNvSpPr txBox="1"/>
          <p:nvPr/>
        </p:nvSpPr>
        <p:spPr>
          <a:xfrm>
            <a:off x="8421624" y="1783080"/>
            <a:ext cx="896112" cy="329184"/>
          </a:xfrm>
          <a:prstGeom prst="rect">
            <a:avLst/>
          </a:prstGeom>
          <a:noFill/>
          <a:ln/>
        </p:spPr>
        <p:txBody>
          <a:bodyPr wrap="square" lIns="0" tIns="0" rIns="0" bIns="0" rtlCol="0" anchor="ctr"/>
          <a:lstStyle/>
          <a:p>
            <a:pPr algn="l" indent="0" marL="0">
              <a:buNone/>
            </a:pPr>
            <a:r>
              <a:rPr lang="en-US" sz="1200" b="1" dirty="0">
                <a:solidFill>
                  <a:srgbClr val="000000"/>
                </a:solidFill>
              </a:rPr>
              <a:t>Sprints</a:t>
            </a:r>
            <a:endParaRPr lang="en-US" sz="1200" dirty="0"/>
          </a:p>
        </p:txBody>
      </p:sp>
      <p:sp>
        <p:nvSpPr>
          <p:cNvPr id="17" name="Text 15"/>
          <p:cNvSpPr txBox="1"/>
          <p:nvPr/>
        </p:nvSpPr>
        <p:spPr>
          <a:xfrm>
            <a:off x="9427464" y="1783080"/>
            <a:ext cx="1078992" cy="329184"/>
          </a:xfrm>
          <a:prstGeom prst="rect">
            <a:avLst/>
          </a:prstGeom>
          <a:noFill/>
          <a:ln/>
        </p:spPr>
        <p:txBody>
          <a:bodyPr wrap="square" lIns="0" tIns="0" rIns="0" bIns="0" rtlCol="0" anchor="ctr"/>
          <a:lstStyle/>
          <a:p>
            <a:pPr algn="r" indent="0" marL="0">
              <a:buNone/>
            </a:pPr>
            <a:r>
              <a:rPr lang="en-US" sz="1200" b="1" dirty="0">
                <a:solidFill>
                  <a:srgbClr val="000000"/>
                </a:solidFill>
              </a:rPr>
              <a:t>Standard</a:t>
            </a:r>
            <a:endParaRPr lang="en-US" sz="1200" dirty="0"/>
          </a:p>
        </p:txBody>
      </p:sp>
      <p:sp>
        <p:nvSpPr>
          <p:cNvPr id="18" name="Text 16"/>
          <p:cNvSpPr txBox="1"/>
          <p:nvPr/>
        </p:nvSpPr>
        <p:spPr>
          <a:xfrm>
            <a:off x="10616184" y="1783080"/>
            <a:ext cx="1014984" cy="329184"/>
          </a:xfrm>
          <a:prstGeom prst="rect">
            <a:avLst/>
          </a:prstGeom>
          <a:noFill/>
          <a:ln/>
        </p:spPr>
        <p:txBody>
          <a:bodyPr wrap="square" lIns="0" tIns="0" rIns="0" bIns="0" rtlCol="0" anchor="ctr"/>
          <a:lstStyle/>
          <a:p>
            <a:pPr algn="r" indent="0" marL="0">
              <a:buNone/>
            </a:pPr>
            <a:r>
              <a:rPr lang="en-US" sz="1200" b="1" dirty="0">
                <a:solidFill>
                  <a:srgbClr val="000000"/>
                </a:solidFill>
              </a:rPr>
              <a:t>Partner</a:t>
            </a:r>
            <a:endParaRPr lang="en-US" sz="1200" dirty="0"/>
          </a:p>
        </p:txBody>
      </p:sp>
      <p:sp>
        <p:nvSpPr>
          <p:cNvPr id="19" name="Shape 17"/>
          <p:cNvSpPr/>
          <p:nvPr/>
        </p:nvSpPr>
        <p:spPr>
          <a:xfrm>
            <a:off x="5074920" y="2112264"/>
            <a:ext cx="6611112" cy="0"/>
          </a:xfrm>
          <a:prstGeom prst="line">
            <a:avLst/>
          </a:prstGeom>
          <a:noFill/>
          <a:ln w="15875">
            <a:solidFill>
              <a:srgbClr val="000000"/>
            </a:solidFill>
            <a:prstDash val="solid"/>
          </a:ln>
        </p:spPr>
      </p:sp>
      <p:sp>
        <p:nvSpPr>
          <p:cNvPr id="20" name="Text 18"/>
          <p:cNvSpPr txBox="1"/>
          <p:nvPr/>
        </p:nvSpPr>
        <p:spPr>
          <a:xfrm>
            <a:off x="5129784" y="21122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1 · Conferences, replaces Certain</a:t>
            </a:r>
            <a:endParaRPr lang="en-US" sz="1200" dirty="0"/>
          </a:p>
        </p:txBody>
      </p:sp>
      <p:sp>
        <p:nvSpPr>
          <p:cNvPr id="21" name="Text 19"/>
          <p:cNvSpPr txBox="1"/>
          <p:nvPr/>
        </p:nvSpPr>
        <p:spPr>
          <a:xfrm>
            <a:off x="8421624" y="21122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1-6</a:t>
            </a:r>
            <a:endParaRPr lang="en-US" sz="1200" dirty="0"/>
          </a:p>
        </p:txBody>
      </p:sp>
      <p:sp>
        <p:nvSpPr>
          <p:cNvPr id="22" name="Text 20"/>
          <p:cNvSpPr txBox="1"/>
          <p:nvPr/>
        </p:nvSpPr>
        <p:spPr>
          <a:xfrm>
            <a:off x="9427464" y="21122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$350,000</a:t>
            </a:r>
            <a:endParaRPr lang="en-US" sz="1200" dirty="0"/>
          </a:p>
        </p:txBody>
      </p:sp>
      <p:sp>
        <p:nvSpPr>
          <p:cNvPr id="23" name="Text 21"/>
          <p:cNvSpPr txBox="1"/>
          <p:nvPr/>
        </p:nvSpPr>
        <p:spPr>
          <a:xfrm>
            <a:off x="10616184" y="21122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$175,000</a:t>
            </a:r>
            <a:endParaRPr lang="en-US" sz="1200" dirty="0"/>
          </a:p>
        </p:txBody>
      </p:sp>
      <p:sp>
        <p:nvSpPr>
          <p:cNvPr id="24" name="Shape 22"/>
          <p:cNvSpPr/>
          <p:nvPr/>
        </p:nvSpPr>
        <p:spPr>
          <a:xfrm>
            <a:off x="5074920" y="2569464"/>
            <a:ext cx="6611112" cy="0"/>
          </a:xfrm>
          <a:prstGeom prst="line">
            <a:avLst/>
          </a:prstGeom>
          <a:noFill/>
          <a:ln w="9525">
            <a:solidFill>
              <a:srgbClr val="A0A0A8"/>
            </a:solidFill>
            <a:prstDash val="sysDot"/>
          </a:ln>
        </p:spPr>
      </p:sp>
      <p:sp>
        <p:nvSpPr>
          <p:cNvPr id="25" name="Text 23"/>
          <p:cNvSpPr txBox="1"/>
          <p:nvPr/>
        </p:nvSpPr>
        <p:spPr>
          <a:xfrm>
            <a:off x="5129784" y="25694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2 · Classes on the shared platform</a:t>
            </a:r>
            <a:endParaRPr lang="en-US" sz="1200" dirty="0"/>
          </a:p>
        </p:txBody>
      </p:sp>
      <p:sp>
        <p:nvSpPr>
          <p:cNvPr id="26" name="Text 24"/>
          <p:cNvSpPr txBox="1"/>
          <p:nvPr/>
        </p:nvSpPr>
        <p:spPr>
          <a:xfrm>
            <a:off x="8421624" y="25694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7-10</a:t>
            </a:r>
            <a:endParaRPr lang="en-US" sz="1200" dirty="0"/>
          </a:p>
        </p:txBody>
      </p:sp>
      <p:sp>
        <p:nvSpPr>
          <p:cNvPr id="27" name="Text 25"/>
          <p:cNvSpPr txBox="1"/>
          <p:nvPr/>
        </p:nvSpPr>
        <p:spPr>
          <a:xfrm>
            <a:off x="9427464" y="25694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$230,000</a:t>
            </a:r>
            <a:endParaRPr lang="en-US" sz="1200" dirty="0"/>
          </a:p>
        </p:txBody>
      </p:sp>
      <p:sp>
        <p:nvSpPr>
          <p:cNvPr id="28" name="Text 26"/>
          <p:cNvSpPr txBox="1"/>
          <p:nvPr/>
        </p:nvSpPr>
        <p:spPr>
          <a:xfrm>
            <a:off x="10616184" y="25694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$115,000</a:t>
            </a:r>
            <a:endParaRPr lang="en-US" sz="1200" dirty="0"/>
          </a:p>
        </p:txBody>
      </p:sp>
      <p:sp>
        <p:nvSpPr>
          <p:cNvPr id="29" name="Shape 27"/>
          <p:cNvSpPr/>
          <p:nvPr/>
        </p:nvSpPr>
        <p:spPr>
          <a:xfrm>
            <a:off x="5074920" y="3026664"/>
            <a:ext cx="6611112" cy="0"/>
          </a:xfrm>
          <a:prstGeom prst="line">
            <a:avLst/>
          </a:prstGeom>
          <a:noFill/>
          <a:ln w="15875">
            <a:solidFill>
              <a:srgbClr val="000000"/>
            </a:solidFill>
            <a:prstDash val="solid"/>
          </a:ln>
        </p:spPr>
      </p:sp>
      <p:sp>
        <p:nvSpPr>
          <p:cNvPr id="30" name="Text 28"/>
          <p:cNvSpPr txBox="1"/>
          <p:nvPr/>
        </p:nvSpPr>
        <p:spPr>
          <a:xfrm>
            <a:off x="5129784" y="3026664"/>
            <a:ext cx="3182112" cy="457200"/>
          </a:xfrm>
          <a:prstGeom prst="rect">
            <a:avLst/>
          </a:prstGeom>
          <a:noFill/>
          <a:ln/>
        </p:spPr>
        <p:txBody>
          <a:bodyPr wrap="square" lIns="0" tIns="0" rIns="0" bIns="0" rtlCol="0" anchor="ctr"/>
          <a:lstStyle/>
          <a:p>
            <a:pPr algn="l" indent="0" marL="0">
              <a:buNone/>
            </a:pPr>
            <a:r>
              <a:rPr lang="en-US" sz="1200" b="1" dirty="0">
                <a:solidFill>
                  <a:srgbClr val="000000"/>
                </a:solidFill>
              </a:rPr>
              <a:t>Total program</a:t>
            </a:r>
            <a:endParaRPr lang="en-US" sz="1200" dirty="0"/>
          </a:p>
        </p:txBody>
      </p:sp>
      <p:sp>
        <p:nvSpPr>
          <p:cNvPr id="31" name="Text 29"/>
          <p:cNvSpPr txBox="1"/>
          <p:nvPr/>
        </p:nvSpPr>
        <p:spPr>
          <a:xfrm>
            <a:off x="8421624" y="3026664"/>
            <a:ext cx="896112" cy="457200"/>
          </a:xfrm>
          <a:prstGeom prst="rect">
            <a:avLst/>
          </a:prstGeom>
          <a:noFill/>
          <a:ln/>
        </p:spPr>
        <p:txBody>
          <a:bodyPr wrap="square" lIns="0" tIns="0" rIns="0" bIns="0" rtlCol="0" anchor="ctr"/>
          <a:lstStyle/>
          <a:p>
            <a:pPr algn="l" indent="0" marL="0">
              <a:buNone/>
            </a:pPr>
            <a:r>
              <a:rPr lang="en-US" sz="1200" b="1" dirty="0">
                <a:solidFill>
                  <a:srgbClr val="000000"/>
                </a:solidFill>
              </a:rPr>
              <a:t>10 sprints</a:t>
            </a:r>
            <a:endParaRPr lang="en-US" sz="1200" dirty="0"/>
          </a:p>
        </p:txBody>
      </p:sp>
      <p:sp>
        <p:nvSpPr>
          <p:cNvPr id="32" name="Text 30"/>
          <p:cNvSpPr txBox="1"/>
          <p:nvPr/>
        </p:nvSpPr>
        <p:spPr>
          <a:xfrm>
            <a:off x="9427464" y="3026664"/>
            <a:ext cx="1078992" cy="457200"/>
          </a:xfrm>
          <a:prstGeom prst="rect">
            <a:avLst/>
          </a:prstGeom>
          <a:noFill/>
          <a:ln/>
        </p:spPr>
        <p:txBody>
          <a:bodyPr wrap="square" lIns="0" tIns="0" rIns="0" bIns="0" rtlCol="0" anchor="ctr"/>
          <a:lstStyle/>
          <a:p>
            <a:pPr algn="r" indent="0" marL="0">
              <a:buNone/>
            </a:pPr>
            <a:r>
              <a:rPr lang="en-US" sz="1200" b="1" strike="sngStrike" dirty="0">
                <a:solidFill>
                  <a:srgbClr val="8C8C8C"/>
                </a:solidFill>
              </a:rPr>
              <a:t>$580,000</a:t>
            </a:r>
            <a:endParaRPr lang="en-US" sz="1200" dirty="0"/>
          </a:p>
        </p:txBody>
      </p:sp>
      <p:sp>
        <p:nvSpPr>
          <p:cNvPr id="33" name="Text 31"/>
          <p:cNvSpPr txBox="1"/>
          <p:nvPr/>
        </p:nvSpPr>
        <p:spPr>
          <a:xfrm>
            <a:off x="10616184" y="30266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$290,000</a:t>
            </a:r>
            <a:endParaRPr lang="en-US" sz="1200" dirty="0"/>
          </a:p>
        </p:txBody>
      </p:sp>
      <p:sp>
        <p:nvSpPr>
          <p:cNvPr id="34" name="Shape 32"/>
          <p:cNvSpPr/>
          <p:nvPr/>
        </p:nvSpPr>
        <p:spPr>
          <a:xfrm>
            <a:off x="5074920" y="3483864"/>
            <a:ext cx="6611112" cy="0"/>
          </a:xfrm>
          <a:prstGeom prst="line">
            <a:avLst/>
          </a:prstGeom>
          <a:noFill/>
          <a:ln w="9525">
            <a:solidFill>
              <a:srgbClr val="A0A0A8"/>
            </a:solidFill>
            <a:prstDash val="sysDot"/>
          </a:ln>
        </p:spPr>
      </p:sp>
      <p:sp>
        <p:nvSpPr>
          <p:cNvPr id="35" name="Text 33"/>
          <p:cNvSpPr txBox="1"/>
          <p:nvPr/>
        </p:nvSpPr>
        <p:spPr>
          <a:xfrm>
            <a:off x="5074920" y="3703320"/>
            <a:ext cx="3200400" cy="274320"/>
          </a:xfrm>
          <a:prstGeom prst="rect">
            <a:avLst/>
          </a:prstGeom>
          <a:noFill/>
          <a:ln/>
        </p:spPr>
        <p:txBody>
          <a:bodyPr wrap="square" lIns="0" tIns="0" rIns="0" bIns="0" rtlCol="0" anchor="t"/>
          <a:lstStyle/>
          <a:p>
            <a:pPr indent="0" marL="0">
              <a:buNone/>
            </a:pPr>
            <a:r>
              <a:rPr lang="en-US" sz="1400" b="1" dirty="0">
                <a:solidFill>
                  <a:srgbClr val="000000"/>
                </a:solidFill>
              </a:rPr>
              <a:t>Included</a:t>
            </a:r>
            <a:endParaRPr lang="en-US" sz="1400" dirty="0"/>
          </a:p>
        </p:txBody>
      </p:sp>
      <p:sp>
        <p:nvSpPr>
          <p:cNvPr id="36" name="Text 34"/>
          <p:cNvSpPr txBox="1"/>
          <p:nvPr/>
        </p:nvSpPr>
        <p:spPr>
          <a:xfrm>
            <a:off x="5074920" y="4032504"/>
            <a:ext cx="329184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Dedicated five-person offshore pod for 20 weeks</a:t>
            </a:r>
            <a:endParaRPr lang="en-US" sz="1100" dirty="0"/>
          </a:p>
          <a:p>
            <a:pPr marL="342900" indent="-342900">
              <a:spcAft>
                <a:spcPts val="400"/>
              </a:spcAft>
              <a:buSzPct val="100000"/>
              <a:buChar char="•"/>
            </a:pPr>
            <a:r>
              <a:rPr lang="en-US" sz="1100" dirty="0">
                <a:solidFill>
                  <a:srgbClr val="4D4D4D"/>
                </a:solidFill>
              </a:rPr>
              <a:t>Sprint demos and milestone sign-offs</a:t>
            </a:r>
            <a:endParaRPr lang="en-US" sz="1100" dirty="0"/>
          </a:p>
          <a:p>
            <a:pPr marL="342900" indent="-342900">
              <a:spcAft>
                <a:spcPts val="400"/>
              </a:spcAft>
              <a:buSzPct val="100000"/>
              <a:buChar char="•"/>
            </a:pPr>
            <a:r>
              <a:rPr lang="en-US" sz="1100" dirty="0">
                <a:solidFill>
                  <a:srgbClr val="4D4D4D"/>
                </a:solidFill>
              </a:rPr>
              <a:t>Testing, load testing, go-live and hypercare</a:t>
            </a:r>
            <a:endParaRPr lang="en-US" sz="1100" dirty="0"/>
          </a:p>
          <a:p>
            <a:pPr marL="342900" indent="-342900">
              <a:spcAft>
                <a:spcPts val="400"/>
              </a:spcAft>
              <a:buSzPct val="100000"/>
              <a:buChar char="•"/>
            </a:pPr>
            <a:r>
              <a:rPr lang="en-US" sz="1100" dirty="0">
                <a:solidFill>
                  <a:srgbClr val="4D4D4D"/>
                </a:solidFill>
              </a:rPr>
              <a:t>Documentation and handover to your admins</a:t>
            </a:r>
            <a:endParaRPr lang="en-US" sz="1100" dirty="0"/>
          </a:p>
        </p:txBody>
      </p:sp>
      <p:sp>
        <p:nvSpPr>
          <p:cNvPr id="37" name="Text 35"/>
          <p:cNvSpPr txBox="1"/>
          <p:nvPr/>
        </p:nvSpPr>
        <p:spPr>
          <a:xfrm>
            <a:off x="8595360" y="3703320"/>
            <a:ext cx="3108960" cy="274320"/>
          </a:xfrm>
          <a:prstGeom prst="rect">
            <a:avLst/>
          </a:prstGeom>
          <a:noFill/>
          <a:ln/>
        </p:spPr>
        <p:txBody>
          <a:bodyPr wrap="square" lIns="0" tIns="0" rIns="0" bIns="0" rtlCol="0" anchor="t"/>
          <a:lstStyle/>
          <a:p>
            <a:pPr indent="0" marL="0">
              <a:buNone/>
            </a:pPr>
            <a:r>
              <a:rPr lang="en-US" sz="1400" b="1" dirty="0">
                <a:solidFill>
                  <a:srgbClr val="000000"/>
                </a:solidFill>
              </a:rPr>
              <a:t>Not included</a:t>
            </a:r>
            <a:endParaRPr lang="en-US" sz="1400" dirty="0"/>
          </a:p>
        </p:txBody>
      </p:sp>
      <p:sp>
        <p:nvSpPr>
          <p:cNvPr id="38" name="Text 36"/>
          <p:cNvSpPr txBox="1"/>
          <p:nvPr/>
        </p:nvSpPr>
        <p:spPr>
          <a:xfrm>
            <a:off x="8595360" y="4032504"/>
            <a:ext cx="3090672"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Salesforce licenses</a:t>
            </a:r>
            <a:endParaRPr lang="en-US" sz="1100" dirty="0"/>
          </a:p>
          <a:p>
            <a:pPr marL="342900" indent="-342900">
              <a:spcAft>
                <a:spcPts val="400"/>
              </a:spcAft>
              <a:buSzPct val="100000"/>
              <a:buChar char="•"/>
            </a:pPr>
            <a:r>
              <a:rPr lang="en-US" sz="1100" dirty="0">
                <a:solidFill>
                  <a:srgbClr val="4D4D4D"/>
                </a:solidFill>
              </a:rPr>
              <a:t>Payment gateway transaction fees</a:t>
            </a:r>
            <a:endParaRPr lang="en-US" sz="1100" dirty="0"/>
          </a:p>
          <a:p>
            <a:pPr marL="342900" indent="-342900">
              <a:spcAft>
                <a:spcPts val="400"/>
              </a:spcAft>
              <a:buSzPct val="100000"/>
              <a:buChar char="•"/>
            </a:pPr>
            <a:r>
              <a:rPr lang="en-US" sz="1100" dirty="0">
                <a:solidFill>
                  <a:srgbClr val="4D4D4D"/>
                </a:solidFill>
              </a:rPr>
              <a:t>Waiting room subscription</a:t>
            </a:r>
            <a:endParaRPr lang="en-US" sz="1100" dirty="0"/>
          </a:p>
        </p:txBody>
      </p:sp>
      <p:sp>
        <p:nvSpPr>
          <p:cNvPr id="39" name="Text 37"/>
          <p:cNvSpPr txBox="1"/>
          <p:nvPr/>
        </p:nvSpPr>
        <p:spPr>
          <a:xfrm>
            <a:off x="5074920" y="5577840"/>
            <a:ext cx="6611112" cy="274320"/>
          </a:xfrm>
          <a:prstGeom prst="rect">
            <a:avLst/>
          </a:prstGeom>
          <a:noFill/>
          <a:ln/>
        </p:spPr>
        <p:txBody>
          <a:bodyPr wrap="square" lIns="0" tIns="0" rIns="0" bIns="0" rtlCol="0" anchor="t"/>
          <a:lstStyle/>
          <a:p>
            <a:pPr indent="0" marL="0">
              <a:buNone/>
            </a:pPr>
            <a:r>
              <a:rPr lang="en-US" sz="1050" i="1" dirty="0">
                <a:solidFill>
                  <a:srgbClr val="4D4D4D"/>
                </a:solidFill>
              </a:rPr>
              <a:t>Pricing is for an offshore delivery model. Indicative, billed at sprint milestones; final commercials in the statement of work.</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today’s Experience Cloud site, the app and Certain</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what is not working today and why Certain is being replaced</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yearly volumes: classes, conferences, registrants</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Chase for conference payments with finance</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so Phase 2 lands before it</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return with a scoped plan, team and estimate.</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2026-10-19T06:30:09Z</dcterms:created>
  <dcterms:modified xsi:type="dcterms:W3CDTF">2026-10-19T06:30:09Z</dcterms:modified>
</cp:coreProperties>
</file>