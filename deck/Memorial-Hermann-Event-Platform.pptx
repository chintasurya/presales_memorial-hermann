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b996d0d-aa25-6830-51cc-099d233f0f1a}">
          <p14:sldIdLst>
            <p14:sldId id="256"/>
            <p14:sldId id="257"/>
            <p14:sldId id="258"/>
            <p14:sldId id="259"/>
          </p14:sldIdLst>
        </p14:section>
        <p14:section name="The solution" id="{7c5ae7f4-a01a-d04e-e3ab-526c57c9a7b7}">
          <p14:sldIdLst>
            <p14:sldId id="260"/>
            <p14:sldId id="261"/>
            <p14:sldId id="262"/>
            <p14:sldId id="263"/>
            <p14:sldId id="264"/>
            <p14:sldId id="265"/>
            <p14:sldId id="266"/>
            <p14:sldId id="267"/>
            <p14:sldId id="268"/>
            <p14:sldId id="269"/>
          </p14:sldIdLst>
        </p14:section>
        <p14:section name="Delivery plan" id="{e8f7cbf6-a4e5-e9f3-acec-0aa98a431f14}">
          <p14:sldIdLst>
            <p14:sldId id="270"/>
            <p14:sldId id="271"/>
            <p14:sldId id="272"/>
            <p14:sldId id="273"/>
            <p14:sldId id="274"/>
            <p14:sldId id="275"/>
          </p14:sldIdLst>
        </p14:section>
        <p14:section name="Beyond the event" id="{ba38b831-d140-9fb8-df4c-d0bb8c2eb349}">
          <p14:sldIdLst>
            <p14:sldId id="276"/>
            <p14:sldId id="277"/>
            <p14:sldId id="278"/>
            <p14:sldId id="279"/>
            <p14:sldId id="280"/>
            <p14:sldId id="281"/>
          </p14:sldIdLst>
        </p14:section>
        <p14:section name="Roadmap and next steps" id="{e6c51c5b-afdf-5318-d6ff-0b1533d6fea9}">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sends the confirmation, QR code, calendar invite and reminders from Salesforce email, so confirmation is instant.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listing for conferences, classes and events, on the Sitecore page people already use. Book on a conference opens the registration site: pick sessions by day (seats are held while paying), pay on Chase’s hosted page, then get an instant confirmation with a QR code for check-in and add-to-calendar links. Classes and events use the same flow without the session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create a class, event or conference from one form, add ticket types, then build the agenda session by session: day, time, room, track, speaker and seat limit. Payment (Chase) and the Marketing Cloud journey are set per event. Publishing puts the agenda on the website and app. This replaces the conference setup done in Certain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class, event or session is full, people register interest with their preferred location and time, and consent to be contacted. Organizers see demand beyond capacity by event, location and time, which tells them where to add dates. When a new date opens, the interest list is invited first with a head start before seats go public. The length of the head start is Memorial Hermann’s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one gateway, one reconciliation. Authorize.net stays open only until refunds on payments taken before cutover are done, because its card tokens cannot move to Chase.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20, with a six-week Certain to Salesforce data transition in weeks 15 to 20; cutover is planned between conferences and before the Certain renewal. Phase 2 brings classes onto the same platform and improves them by week 25,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platform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migration from Certain is planned as its own six-week workstream at the end of Phase 1 (weeks 15 to 20), so conferences go live on Salesforce with their data. A sample Certain export is reviewed in Sprint 1 so the event model fits Certain’s data; every record keeps its Certain ID. Two trial loads run with emails and journeys switched off and are reconciled before the final load. Cutover is planned between conferences so only history moves; if a conference is open, its registrations move with new QR codes and a welcome email. How many years of history to bring across is Memorial Hermann’s decision, agreed in discovery; older history can stay in an archive export. Card data is never migrated: payment history moves as a summary marked Authorize.net, and Authorize.net stays open only until refunds on past payments are done. For Phase 2 the shared model extends today’s class objects where possible, so classes need no second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10 deliver conference and session management (live at week 20, Certain retired), with the six-week Certain to Salesforce data transition in weeks 15 to 20. Sprints 11 and 12 move classes onto the same platform and improve them, with go-live and handover in week 25.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Project Manager leading delivery and running the sprints, one QA engineer embedded in every sprint, and two developers covering Salesforce and Marketing Cloud.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 four-person pod for 25 weeks (Phase 1 weeks 1 to 20, $464,000; Phase 2 weeks 21 to 25, $116,000).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8.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8.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7.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 (Chase)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email</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3674516" y="3413019"/>
            <a:ext cx="2732227"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(payment confirmation)</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3205886"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duplicate-safe)</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Registrant view: find it, book it, pay, add to calendar</a:t>
            </a:r>
            <a:endParaRPr lang="en-US" sz="3200" dirty="0"/>
          </a:p>
        </p:txBody>
      </p:sp>
      <p:sp>
        <p:nvSpPr>
          <p:cNvPr id="3" name="Shape 1"/>
          <p:cNvSpPr/>
          <p:nvPr/>
        </p:nvSpPr>
        <p:spPr>
          <a:xfrm>
            <a:off x="502920" y="1371600"/>
            <a:ext cx="310896" cy="310896"/>
          </a:xfrm>
          <a:prstGeom prst="ellipse">
            <a:avLst/>
          </a:prstGeom>
          <a:solidFill>
            <a:srgbClr val="000000"/>
          </a:solidFill>
          <a:ln w="12700">
            <a:solidFill>
              <a:srgbClr val="000000"/>
            </a:solidFill>
            <a:prstDash val="solid"/>
          </a:ln>
        </p:spPr>
      </p:sp>
      <p:sp>
        <p:nvSpPr>
          <p:cNvPr id="4" name="Text 2"/>
          <p:cNvSpPr txBox="1"/>
          <p:nvPr/>
        </p:nvSpPr>
        <p:spPr>
          <a:xfrm>
            <a:off x="502920"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14400" y="1371600"/>
            <a:ext cx="4416552" cy="310896"/>
          </a:xfrm>
          <a:prstGeom prst="rect">
            <a:avLst/>
          </a:prstGeom>
          <a:noFill/>
          <a:ln/>
        </p:spPr>
        <p:txBody>
          <a:bodyPr wrap="square" lIns="0" tIns="0" rIns="0" bIns="0" rtlCol="0" anchor="ctr"/>
          <a:lstStyle/>
          <a:p>
            <a:pPr indent="0" marL="0">
              <a:buNone/>
            </a:pPr>
            <a:r>
              <a:rPr lang="en-US" sz="1400" b="1" dirty="0">
                <a:solidFill>
                  <a:srgbClr val="000000"/>
                </a:solidFill>
              </a:rPr>
              <a:t>Sitecore page: conferences, classes and events</a:t>
            </a:r>
            <a:endParaRPr lang="en-US" sz="1400" dirty="0"/>
          </a:p>
        </p:txBody>
      </p:sp>
      <p:sp>
        <p:nvSpPr>
          <p:cNvPr id="6" name="Shape 4"/>
          <p:cNvSpPr/>
          <p:nvPr/>
        </p:nvSpPr>
        <p:spPr>
          <a:xfrm>
            <a:off x="5330952" y="1371600"/>
            <a:ext cx="310896" cy="310896"/>
          </a:xfrm>
          <a:prstGeom prst="ellipse">
            <a:avLst/>
          </a:prstGeom>
          <a:solidFill>
            <a:srgbClr val="000000"/>
          </a:solidFill>
          <a:ln w="12700">
            <a:solidFill>
              <a:srgbClr val="000000"/>
            </a:solidFill>
            <a:prstDash val="solid"/>
          </a:ln>
        </p:spPr>
      </p:sp>
      <p:sp>
        <p:nvSpPr>
          <p:cNvPr id="7" name="Text 5"/>
          <p:cNvSpPr txBox="1"/>
          <p:nvPr/>
        </p:nvSpPr>
        <p:spPr>
          <a:xfrm>
            <a:off x="5330952"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8" name="Text 6"/>
          <p:cNvSpPr txBox="1"/>
          <p:nvPr/>
        </p:nvSpPr>
        <p:spPr>
          <a:xfrm>
            <a:off x="5742432" y="1371600"/>
            <a:ext cx="5946343" cy="310896"/>
          </a:xfrm>
          <a:prstGeom prst="rect">
            <a:avLst/>
          </a:prstGeom>
          <a:noFill/>
          <a:ln/>
        </p:spPr>
        <p:txBody>
          <a:bodyPr wrap="square" lIns="0" tIns="0" rIns="0" bIns="0" rtlCol="0" anchor="ctr"/>
          <a:lstStyle/>
          <a:p>
            <a:pPr indent="0" marL="0">
              <a:buNone/>
            </a:pPr>
            <a:r>
              <a:rPr lang="en-US" sz="1400" b="1" dirty="0">
                <a:solidFill>
                  <a:srgbClr val="000000"/>
                </a:solidFill>
              </a:rPr>
              <a:t>Click Book on a conference: session details, pay, add to calendar</a:t>
            </a:r>
            <a:endParaRPr lang="en-US" sz="1400" dirty="0"/>
          </a:p>
        </p:txBody>
      </p:sp>
      <p:pic>
        <p:nvPicPr>
          <p:cNvPr id="9" name="07-sitecore-listing.png" descr="/home/user/presales_memorial-hermann/deck/mockups/png/07-sitecore-listing.png">    </p:cNvPr>
          <p:cNvPicPr>
            <a:picLocks noChangeAspect="1"/>
          </p:cNvPicPr>
          <p:nvPr/>
        </p:nvPicPr>
        <p:blipFill>
          <a:blip r:embed="rId1"/>
          <a:stretch>
            <a:fillRect/>
          </a:stretch>
        </p:blipFill>
        <p:spPr>
          <a:xfrm>
            <a:off x="502920" y="1828800"/>
            <a:ext cx="4553712" cy="4065814"/>
          </a:xfrm>
          <a:prstGeom prst="rect">
            <a:avLst/>
          </a:prstGeom>
          <a:effectLst>
            <a:outerShdw sx="100000" sy="100000" kx="0" ky="0" algn="bl" rotWithShape="0" blurRad="101600" dist="25400" dir="5400000">
              <a:srgbClr val="000000">
                <a:alpha val="25000"/>
              </a:srgbClr>
            </a:outerShdw>
          </a:effectLst>
        </p:spPr>
      </p:pic>
      <p:pic>
        <p:nvPicPr>
          <p:cNvPr id="10" name="08-conference-booking.png" descr="/home/user/presales_memorial-hermann/deck/mockups/png/08-conference-booking.png">    </p:cNvPr>
          <p:cNvPicPr>
            <a:picLocks noChangeAspect="1"/>
          </p:cNvPicPr>
          <p:nvPr/>
        </p:nvPicPr>
        <p:blipFill>
          <a:blip r:embed="rId2"/>
          <a:stretch>
            <a:fillRect/>
          </a:stretch>
        </p:blipFill>
        <p:spPr>
          <a:xfrm>
            <a:off x="5330952" y="1828800"/>
            <a:ext cx="6357823" cy="4045887"/>
          </a:xfrm>
          <a:prstGeom prst="rect">
            <a:avLst/>
          </a:prstGeom>
          <a:effectLst>
            <a:outerShdw sx="100000" sy="100000" kx="0" ky="0" algn="bl" rotWithShape="0" blurRad="101600" dist="25400" dir="5400000">
              <a:srgbClr val="000000">
                <a:alpha val="25000"/>
              </a:srgbClr>
            </a:outerShdw>
          </a:effectLst>
        </p:spPr>
      </p:pic>
      <p:sp>
        <p:nvSpPr>
          <p:cNvPr id="11" name="Text 7"/>
          <p:cNvSpPr txBox="1"/>
          <p:nvPr/>
        </p:nvSpPr>
        <p:spPr>
          <a:xfrm>
            <a:off x="502920" y="6016752"/>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Listings stay on Sitecore; booking runs on the existing Experience Cloud site and app; payment on Chase’s hosted page.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view: set up a conference and its sessions</a:t>
            </a:r>
            <a:endParaRPr lang="en-US" sz="3200" dirty="0"/>
          </a:p>
        </p:txBody>
      </p:sp>
      <p:pic>
        <p:nvPicPr>
          <p:cNvPr id="3" name="09-staff-conference-setup.png" descr="/home/user/presales_memorial-hermann/deck/mockups/png/09-staff-conference-setup.png">    </p:cNvPr>
          <p:cNvPicPr>
            <a:picLocks noChangeAspect="1"/>
          </p:cNvPicPr>
          <p:nvPr/>
        </p:nvPicPr>
        <p:blipFill>
          <a:blip r:embed="rId1"/>
          <a:stretch>
            <a:fillRect/>
          </a:stretch>
        </p:blipFill>
        <p:spPr>
          <a:xfrm>
            <a:off x="502920" y="1600200"/>
            <a:ext cx="8138160" cy="4069080"/>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961120" y="1600200"/>
            <a:ext cx="2724912" cy="365760"/>
          </a:xfrm>
          <a:prstGeom prst="rect">
            <a:avLst/>
          </a:prstGeom>
          <a:noFill/>
          <a:ln/>
        </p:spPr>
        <p:txBody>
          <a:bodyPr wrap="square" lIns="0" tIns="0" rIns="0" bIns="0" rtlCol="0" anchor="t"/>
          <a:lstStyle/>
          <a:p>
            <a:pPr indent="0" marL="0">
              <a:buNone/>
            </a:pPr>
            <a:r>
              <a:rPr lang="en-US" sz="1800" b="1" dirty="0">
                <a:solidFill>
                  <a:srgbClr val="000000"/>
                </a:solidFill>
              </a:rPr>
              <a:t>How organizers work</a:t>
            </a:r>
            <a:endParaRPr lang="en-US" sz="1800" dirty="0"/>
          </a:p>
        </p:txBody>
      </p:sp>
      <p:sp>
        <p:nvSpPr>
          <p:cNvPr id="5" name="Shape 2"/>
          <p:cNvSpPr/>
          <p:nvPr/>
        </p:nvSpPr>
        <p:spPr>
          <a:xfrm>
            <a:off x="8961120" y="2139696"/>
            <a:ext cx="54864" cy="548640"/>
          </a:xfrm>
          <a:prstGeom prst="rect">
            <a:avLst/>
          </a:prstGeom>
          <a:solidFill>
            <a:srgbClr val="C8005A"/>
          </a:solidFill>
          <a:ln w="12700">
            <a:solidFill>
              <a:srgbClr val="C8005A"/>
            </a:solidFill>
            <a:prstDash val="solid"/>
          </a:ln>
        </p:spPr>
      </p:sp>
      <p:sp>
        <p:nvSpPr>
          <p:cNvPr id="6" name="Text 3"/>
          <p:cNvSpPr txBox="1"/>
          <p:nvPr/>
        </p:nvSpPr>
        <p:spPr>
          <a:xfrm>
            <a:off x="9144000" y="2103120"/>
            <a:ext cx="2542032" cy="256032"/>
          </a:xfrm>
          <a:prstGeom prst="rect">
            <a:avLst/>
          </a:prstGeom>
          <a:noFill/>
          <a:ln/>
        </p:spPr>
        <p:txBody>
          <a:bodyPr wrap="square" lIns="0" tIns="0" rIns="0" bIns="0" rtlCol="0" anchor="t"/>
          <a:lstStyle/>
          <a:p>
            <a:pPr indent="0" marL="0">
              <a:buNone/>
            </a:pPr>
            <a:r>
              <a:rPr lang="en-US" sz="1300" b="1" dirty="0">
                <a:solidFill>
                  <a:srgbClr val="000000"/>
                </a:solidFill>
              </a:rPr>
              <a:t>One form for every event</a:t>
            </a:r>
            <a:endParaRPr lang="en-US" sz="1300" dirty="0"/>
          </a:p>
        </p:txBody>
      </p:sp>
      <p:sp>
        <p:nvSpPr>
          <p:cNvPr id="7" name="Text 4"/>
          <p:cNvSpPr txBox="1"/>
          <p:nvPr/>
        </p:nvSpPr>
        <p:spPr>
          <a:xfrm>
            <a:off x="9144000" y="2368296"/>
            <a:ext cx="2542032" cy="384048"/>
          </a:xfrm>
          <a:prstGeom prst="rect">
            <a:avLst/>
          </a:prstGeom>
          <a:noFill/>
          <a:ln/>
        </p:spPr>
        <p:txBody>
          <a:bodyPr wrap="square" lIns="0" tIns="0" rIns="0" bIns="0" rtlCol="0" anchor="t"/>
          <a:lstStyle/>
          <a:p>
            <a:pPr indent="0" marL="0">
              <a:buNone/>
            </a:pPr>
            <a:r>
              <a:rPr lang="en-US" sz="1100" dirty="0">
                <a:solidFill>
                  <a:srgbClr val="4D4D4D"/>
                </a:solidFill>
              </a:rPr>
              <a:t>Pick class, event or conference; dates, venue, capacity</a:t>
            </a:r>
            <a:endParaRPr lang="en-US" sz="1100" dirty="0"/>
          </a:p>
        </p:txBody>
      </p:sp>
      <p:sp>
        <p:nvSpPr>
          <p:cNvPr id="8" name="Shape 5"/>
          <p:cNvSpPr/>
          <p:nvPr/>
        </p:nvSpPr>
        <p:spPr>
          <a:xfrm>
            <a:off x="8961120" y="2852928"/>
            <a:ext cx="54864" cy="548640"/>
          </a:xfrm>
          <a:prstGeom prst="rect">
            <a:avLst/>
          </a:prstGeom>
          <a:solidFill>
            <a:srgbClr val="C8005A"/>
          </a:solidFill>
          <a:ln w="12700">
            <a:solidFill>
              <a:srgbClr val="C8005A"/>
            </a:solidFill>
            <a:prstDash val="solid"/>
          </a:ln>
        </p:spPr>
      </p:sp>
      <p:sp>
        <p:nvSpPr>
          <p:cNvPr id="9" name="Text 6"/>
          <p:cNvSpPr txBox="1"/>
          <p:nvPr/>
        </p:nvSpPr>
        <p:spPr>
          <a:xfrm>
            <a:off x="9144000" y="2816352"/>
            <a:ext cx="2542032" cy="256032"/>
          </a:xfrm>
          <a:prstGeom prst="rect">
            <a:avLst/>
          </a:prstGeom>
          <a:noFill/>
          <a:ln/>
        </p:spPr>
        <p:txBody>
          <a:bodyPr wrap="square" lIns="0" tIns="0" rIns="0" bIns="0" rtlCol="0" anchor="t"/>
          <a:lstStyle/>
          <a:p>
            <a:pPr indent="0" marL="0">
              <a:buNone/>
            </a:pPr>
            <a:r>
              <a:rPr lang="en-US" sz="1300" b="1" dirty="0">
                <a:solidFill>
                  <a:srgbClr val="000000"/>
                </a:solidFill>
              </a:rPr>
              <a:t>Ticket types per audience</a:t>
            </a:r>
            <a:endParaRPr lang="en-US" sz="1300" dirty="0"/>
          </a:p>
        </p:txBody>
      </p:sp>
      <p:sp>
        <p:nvSpPr>
          <p:cNvPr id="10" name="Text 7"/>
          <p:cNvSpPr txBox="1"/>
          <p:nvPr/>
        </p:nvSpPr>
        <p:spPr>
          <a:xfrm>
            <a:off x="9144000" y="3081528"/>
            <a:ext cx="2542032" cy="384048"/>
          </a:xfrm>
          <a:prstGeom prst="rect">
            <a:avLst/>
          </a:prstGeom>
          <a:noFill/>
          <a:ln/>
        </p:spPr>
        <p:txBody>
          <a:bodyPr wrap="square" lIns="0" tIns="0" rIns="0" bIns="0" rtlCol="0" anchor="t"/>
          <a:lstStyle/>
          <a:p>
            <a:pPr indent="0" marL="0">
              <a:buNone/>
            </a:pPr>
            <a:r>
              <a:rPr lang="en-US" sz="1100" dirty="0">
                <a:solidFill>
                  <a:srgbClr val="4D4D4D"/>
                </a:solidFill>
              </a:rPr>
              <a:t>Provider, nurse, caregiver and community prices</a:t>
            </a:r>
            <a:endParaRPr lang="en-US" sz="1100" dirty="0"/>
          </a:p>
        </p:txBody>
      </p:sp>
      <p:sp>
        <p:nvSpPr>
          <p:cNvPr id="11" name="Shape 8"/>
          <p:cNvSpPr/>
          <p:nvPr/>
        </p:nvSpPr>
        <p:spPr>
          <a:xfrm>
            <a:off x="8961120" y="3566160"/>
            <a:ext cx="54864" cy="548640"/>
          </a:xfrm>
          <a:prstGeom prst="rect">
            <a:avLst/>
          </a:prstGeom>
          <a:solidFill>
            <a:srgbClr val="C8005A"/>
          </a:solidFill>
          <a:ln w="12700">
            <a:solidFill>
              <a:srgbClr val="C8005A"/>
            </a:solidFill>
            <a:prstDash val="solid"/>
          </a:ln>
        </p:spPr>
      </p:sp>
      <p:sp>
        <p:nvSpPr>
          <p:cNvPr id="12" name="Text 9"/>
          <p:cNvSpPr txBox="1"/>
          <p:nvPr/>
        </p:nvSpPr>
        <p:spPr>
          <a:xfrm>
            <a:off x="9144000" y="3529584"/>
            <a:ext cx="2542032" cy="256032"/>
          </a:xfrm>
          <a:prstGeom prst="rect">
            <a:avLst/>
          </a:prstGeom>
          <a:noFill/>
          <a:ln/>
        </p:spPr>
        <p:txBody>
          <a:bodyPr wrap="square" lIns="0" tIns="0" rIns="0" bIns="0" rtlCol="0" anchor="t"/>
          <a:lstStyle/>
          <a:p>
            <a:pPr indent="0" marL="0">
              <a:buNone/>
            </a:pPr>
            <a:r>
              <a:rPr lang="en-US" sz="1300" b="1" dirty="0">
                <a:solidFill>
                  <a:srgbClr val="000000"/>
                </a:solidFill>
              </a:rPr>
              <a:t>Sessions in minutes</a:t>
            </a:r>
            <a:endParaRPr lang="en-US" sz="1300" dirty="0"/>
          </a:p>
        </p:txBody>
      </p:sp>
      <p:sp>
        <p:nvSpPr>
          <p:cNvPr id="13" name="Text 10"/>
          <p:cNvSpPr txBox="1"/>
          <p:nvPr/>
        </p:nvSpPr>
        <p:spPr>
          <a:xfrm>
            <a:off x="9144000" y="3794760"/>
            <a:ext cx="2542032" cy="384048"/>
          </a:xfrm>
          <a:prstGeom prst="rect">
            <a:avLst/>
          </a:prstGeom>
          <a:noFill/>
          <a:ln/>
        </p:spPr>
        <p:txBody>
          <a:bodyPr wrap="square" lIns="0" tIns="0" rIns="0" bIns="0" rtlCol="0" anchor="t"/>
          <a:lstStyle/>
          <a:p>
            <a:pPr indent="0" marL="0">
              <a:buNone/>
            </a:pPr>
            <a:r>
              <a:rPr lang="en-US" sz="1100" dirty="0">
                <a:solidFill>
                  <a:srgbClr val="4D4D4D"/>
                </a:solidFill>
              </a:rPr>
              <a:t>Day, time, room, track, speaker, seat limit, CME [to confirm]</a:t>
            </a:r>
            <a:endParaRPr lang="en-US" sz="1100" dirty="0"/>
          </a:p>
        </p:txBody>
      </p:sp>
      <p:sp>
        <p:nvSpPr>
          <p:cNvPr id="14" name="Shape 11"/>
          <p:cNvSpPr/>
          <p:nvPr/>
        </p:nvSpPr>
        <p:spPr>
          <a:xfrm>
            <a:off x="8961120" y="4279392"/>
            <a:ext cx="54864" cy="548640"/>
          </a:xfrm>
          <a:prstGeom prst="rect">
            <a:avLst/>
          </a:prstGeom>
          <a:solidFill>
            <a:srgbClr val="C8005A"/>
          </a:solidFill>
          <a:ln w="12700">
            <a:solidFill>
              <a:srgbClr val="C8005A"/>
            </a:solidFill>
            <a:prstDash val="solid"/>
          </a:ln>
        </p:spPr>
      </p:sp>
      <p:sp>
        <p:nvSpPr>
          <p:cNvPr id="15" name="Text 12"/>
          <p:cNvSpPr txBox="1"/>
          <p:nvPr/>
        </p:nvSpPr>
        <p:spPr>
          <a:xfrm>
            <a:off x="9144000" y="4242816"/>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Payment and journey</a:t>
            </a:r>
            <a:endParaRPr lang="en-US" sz="1300" dirty="0"/>
          </a:p>
        </p:txBody>
      </p:sp>
      <p:sp>
        <p:nvSpPr>
          <p:cNvPr id="16" name="Text 13"/>
          <p:cNvSpPr txBox="1"/>
          <p:nvPr/>
        </p:nvSpPr>
        <p:spPr>
          <a:xfrm>
            <a:off x="9144000" y="4507992"/>
            <a:ext cx="2542032" cy="384048"/>
          </a:xfrm>
          <a:prstGeom prst="rect">
            <a:avLst/>
          </a:prstGeom>
          <a:noFill/>
          <a:ln/>
        </p:spPr>
        <p:txBody>
          <a:bodyPr wrap="square" lIns="0" tIns="0" rIns="0" bIns="0" rtlCol="0" anchor="t"/>
          <a:lstStyle/>
          <a:p>
            <a:pPr indent="0" marL="0">
              <a:buNone/>
            </a:pPr>
            <a:r>
              <a:rPr lang="en-US" sz="1100" dirty="0">
                <a:solidFill>
                  <a:srgbClr val="4D4D4D"/>
                </a:solidFill>
              </a:rPr>
              <a:t>Chase checkout and a Marketing Cloud journey set per event</a:t>
            </a:r>
            <a:endParaRPr lang="en-US" sz="1100" dirty="0"/>
          </a:p>
        </p:txBody>
      </p:sp>
      <p:sp>
        <p:nvSpPr>
          <p:cNvPr id="17" name="Shape 14"/>
          <p:cNvSpPr/>
          <p:nvPr/>
        </p:nvSpPr>
        <p:spPr>
          <a:xfrm>
            <a:off x="8961120" y="4992624"/>
            <a:ext cx="54864" cy="548640"/>
          </a:xfrm>
          <a:prstGeom prst="rect">
            <a:avLst/>
          </a:prstGeom>
          <a:solidFill>
            <a:srgbClr val="C8005A"/>
          </a:solidFill>
          <a:ln w="12700">
            <a:solidFill>
              <a:srgbClr val="C8005A"/>
            </a:solidFill>
            <a:prstDash val="solid"/>
          </a:ln>
        </p:spPr>
      </p:sp>
      <p:sp>
        <p:nvSpPr>
          <p:cNvPr id="18" name="Text 15"/>
          <p:cNvSpPr txBox="1"/>
          <p:nvPr/>
        </p:nvSpPr>
        <p:spPr>
          <a:xfrm>
            <a:off x="9144000" y="4956048"/>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Publish</a:t>
            </a:r>
            <a:endParaRPr lang="en-US" sz="1300" dirty="0"/>
          </a:p>
        </p:txBody>
      </p:sp>
      <p:sp>
        <p:nvSpPr>
          <p:cNvPr id="19" name="Text 16"/>
          <p:cNvSpPr txBox="1"/>
          <p:nvPr/>
        </p:nvSpPr>
        <p:spPr>
          <a:xfrm>
            <a:off x="9144000" y="5221224"/>
            <a:ext cx="2542032" cy="384048"/>
          </a:xfrm>
          <a:prstGeom prst="rect">
            <a:avLst/>
          </a:prstGeom>
          <a:noFill/>
          <a:ln/>
        </p:spPr>
        <p:txBody>
          <a:bodyPr wrap="square" lIns="0" tIns="0" rIns="0" bIns="0" rtlCol="0" anchor="t"/>
          <a:lstStyle/>
          <a:p>
            <a:pPr indent="0" marL="0">
              <a:buNone/>
            </a:pPr>
            <a:r>
              <a:rPr lang="en-US" sz="1100" dirty="0">
                <a:solidFill>
                  <a:srgbClr val="4D4D4D"/>
                </a:solidFill>
              </a:rPr>
              <a:t>The agenda appears on the website and app</a:t>
            </a:r>
            <a:endParaRPr lang="en-US" sz="1100" dirty="0"/>
          </a:p>
        </p:txBody>
      </p:sp>
      <p:sp>
        <p:nvSpPr>
          <p:cNvPr id="20" name="Text 17"/>
          <p:cNvSpPr txBox="1"/>
          <p:nvPr/>
        </p:nvSpPr>
        <p:spPr>
          <a:xfrm>
            <a:off x="502920" y="5852160"/>
            <a:ext cx="8138160" cy="274320"/>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A standard Salesforce Lightning app, so Memorial Hermann’s admins can own it after launch.</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Fully booked? Capture interest and invite them first</a:t>
            </a:r>
            <a:endParaRPr lang="en-US" sz="3200" dirty="0"/>
          </a:p>
        </p:txBody>
      </p:sp>
      <p:pic>
        <p:nvPicPr>
          <p:cNvPr id="3" name="10-interest-list.png" descr="/home/user/presales_memorial-hermann/deck/mockups/png/10-interest-list.png">    </p:cNvPr>
          <p:cNvPicPr>
            <a:picLocks noChangeAspect="1"/>
          </p:cNvPicPr>
          <p:nvPr/>
        </p:nvPicPr>
        <p:blipFill>
          <a:blip r:embed="rId1"/>
          <a:stretch>
            <a:fillRect/>
          </a:stretch>
        </p:blipFill>
        <p:spPr>
          <a:xfrm>
            <a:off x="502920" y="1481328"/>
            <a:ext cx="11185855" cy="4474342"/>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603504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Works for classes, events and conference sessions. Head-start window [to confirm].</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kept only for past refunds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Twelve sprints: conferences live at week 20, classes improved by week 25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Certain and a sample of its data; shared event model</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3-20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data moved and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21-25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26+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3" name="certain-transition"/>
          <p:cNvSpPr/>
          <p:nvPr/>
        </p:nvSpPr>
        <p:spPr>
          <a:xfrm>
            <a:off x="5410200" y="3529584"/>
            <a:ext cx="835152" cy="164592"/>
          </a:xfrm>
          <a:prstGeom prst="roundRect">
            <a:avLst>
              <a:gd name="adj" fmla="val 50000"/>
            </a:avLst>
          </a:prstGeom>
          <a:solidFill>
            <a:schemeClr val="accent3"/>
          </a:solidFill>
          <a:ln w="12700">
            <a:solidFill>
              <a:schemeClr val="bg1"/>
            </a:solidFill>
            <a:prstDash val="solid"/>
          </a:ln>
        </p:spPr>
      </p:sp>
      <p:sp>
        <p:nvSpPr>
          <p:cNvPr id="24" name="Text 22"/>
          <p:cNvSpPr txBox="1"/>
          <p:nvPr/>
        </p:nvSpPr>
        <p:spPr>
          <a:xfrm>
            <a:off x="4526280" y="3840480"/>
            <a:ext cx="1691640" cy="292608"/>
          </a:xfrm>
          <a:prstGeom prst="rect">
            <a:avLst/>
          </a:prstGeom>
          <a:noFill/>
          <a:ln/>
        </p:spPr>
        <p:txBody>
          <a:bodyPr wrap="square" lIns="0" tIns="0" rIns="0" bIns="0" rtlCol="0" anchor="t"/>
          <a:lstStyle/>
          <a:p>
            <a:pPr indent="0" marL="0">
              <a:buNone/>
            </a:pPr>
            <a:r>
              <a:rPr lang="en-US" sz="1300" b="1" dirty="0">
                <a:solidFill>
                  <a:schemeClr val="bg1"/>
                </a:solidFill>
              </a:rPr>
              <a:t>Certain transition</a:t>
            </a:r>
            <a:endParaRPr lang="en-US" sz="1300" dirty="0"/>
          </a:p>
        </p:txBody>
      </p:sp>
      <p:sp>
        <p:nvSpPr>
          <p:cNvPr id="25" name="Text 23"/>
          <p:cNvSpPr txBox="1"/>
          <p:nvPr/>
        </p:nvSpPr>
        <p:spPr>
          <a:xfrm>
            <a:off x="4526280" y="4206240"/>
            <a:ext cx="1600200" cy="822960"/>
          </a:xfrm>
          <a:prstGeom prst="rect">
            <a:avLst/>
          </a:prstGeom>
          <a:noFill/>
          <a:ln/>
        </p:spPr>
        <p:txBody>
          <a:bodyPr wrap="square" lIns="0" tIns="0" rIns="0" bIns="0" rtlCol="0" anchor="t"/>
          <a:lstStyle/>
          <a:p>
            <a:pPr indent="0" marL="0">
              <a:buNone/>
            </a:pPr>
            <a:r>
              <a:rPr lang="en-US" sz="1100" dirty="0">
                <a:solidFill>
                  <a:schemeClr val="bg1"/>
                </a:solidFill>
              </a:rPr>
              <a:t>Weeks 15-20: export, map, two trial loads, cutover between conferences</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Conferences (replaces Certain)</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Classes on the shared platform</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Today’s classes moved onto the shared event model</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Experience Cloud</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Existing Experience Cloud site and app, now with instant confirmation</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checkout, reusing today’s class integration</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Chase checkout with safe payment retries and refunds</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Reminder journeys, waitlists, QR check-in</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 data moved in a six-week transition (weeks 15-20)</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Class data stays in place: the shared model extends today’s objects</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Live seats, waitlists, encryption, monitoring</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Nothing retired; today’s registration is improved</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Certain to Salesforce transition</a:t>
            </a:r>
            <a:endParaRPr lang="en-US" sz="3200" dirty="0"/>
          </a:p>
        </p:txBody>
      </p:sp>
      <p:sp>
        <p:nvSpPr>
          <p:cNvPr id="3" name="Text 1"/>
          <p:cNvSpPr txBox="1"/>
          <p:nvPr/>
        </p:nvSpPr>
        <p:spPr>
          <a:xfrm>
            <a:off x="502920" y="1298448"/>
            <a:ext cx="11185855" cy="292608"/>
          </a:xfrm>
          <a:prstGeom prst="rect">
            <a:avLst/>
          </a:prstGeom>
          <a:noFill/>
          <a:ln/>
        </p:spPr>
        <p:txBody>
          <a:bodyPr wrap="square" lIns="0" tIns="0" rIns="0" bIns="0" rtlCol="0" anchor="t"/>
          <a:lstStyle/>
          <a:p>
            <a:pPr indent="0" marL="0">
              <a:buNone/>
            </a:pPr>
            <a:r>
              <a:rPr lang="en-US" sz="1400" dirty="0">
                <a:solidFill>
                  <a:srgbClr val="4D4D4D"/>
                </a:solidFill>
              </a:rPr>
              <a:t>Six weeks (weeks 15 to 20) at the end of Phase 1, with cutover planned between conferences. Certain stays live until sign-off.</a:t>
            </a:r>
            <a:endParaRPr lang="en-US" sz="1400" dirty="0"/>
          </a:p>
        </p:txBody>
      </p:sp>
      <p:sp>
        <p:nvSpPr>
          <p:cNvPr id="4" name="transition-1"/>
          <p:cNvSpPr/>
          <p:nvPr/>
        </p:nvSpPr>
        <p:spPr>
          <a:xfrm>
            <a:off x="502920" y="1737360"/>
            <a:ext cx="2127443" cy="1417320"/>
          </a:xfrm>
          <a:prstGeom prst="roundRect">
            <a:avLst>
              <a:gd name="adj" fmla="val 6452"/>
            </a:avLst>
          </a:prstGeom>
          <a:solidFill>
            <a:srgbClr val="F2F2F2"/>
          </a:solidFill>
          <a:ln w="22225">
            <a:solidFill>
              <a:srgbClr val="45289F"/>
            </a:solidFill>
            <a:prstDash val="solid"/>
          </a:ln>
        </p:spPr>
      </p:sp>
      <p:sp>
        <p:nvSpPr>
          <p:cNvPr id="5" name="Text 3"/>
          <p:cNvSpPr txBox="1"/>
          <p:nvPr/>
        </p:nvSpPr>
        <p:spPr>
          <a:xfrm>
            <a:off x="640080"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1  ·  WEEKS 15-16</a:t>
            </a:r>
            <a:endParaRPr lang="en-US" sz="1000" dirty="0"/>
          </a:p>
        </p:txBody>
      </p:sp>
      <p:sp>
        <p:nvSpPr>
          <p:cNvPr id="6" name="Text 4"/>
          <p:cNvSpPr txBox="1"/>
          <p:nvPr/>
        </p:nvSpPr>
        <p:spPr>
          <a:xfrm>
            <a:off x="640080"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Inventory and export</a:t>
            </a:r>
            <a:endParaRPr lang="en-US" sz="1400" dirty="0"/>
          </a:p>
        </p:txBody>
      </p:sp>
      <p:sp>
        <p:nvSpPr>
          <p:cNvPr id="7" name="Text 5"/>
          <p:cNvSpPr txBox="1"/>
          <p:nvPr/>
        </p:nvSpPr>
        <p:spPr>
          <a:xfrm>
            <a:off x="640080"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Data sample reviewed in Sprint 1 to shape the model; full export; history window agreed</a:t>
            </a:r>
            <a:endParaRPr lang="en-US" sz="1050" dirty="0"/>
          </a:p>
        </p:txBody>
      </p:sp>
      <p:sp>
        <p:nvSpPr>
          <p:cNvPr id="8" name="transition-2"/>
          <p:cNvSpPr/>
          <p:nvPr/>
        </p:nvSpPr>
        <p:spPr>
          <a:xfrm>
            <a:off x="2767523" y="1737360"/>
            <a:ext cx="2127443" cy="1417320"/>
          </a:xfrm>
          <a:prstGeom prst="roundRect">
            <a:avLst>
              <a:gd name="adj" fmla="val 6452"/>
            </a:avLst>
          </a:prstGeom>
          <a:solidFill>
            <a:srgbClr val="F2F2F2"/>
          </a:solidFill>
          <a:ln w="22225">
            <a:solidFill>
              <a:srgbClr val="45289F"/>
            </a:solidFill>
            <a:prstDash val="solid"/>
          </a:ln>
        </p:spPr>
      </p:sp>
      <p:sp>
        <p:nvSpPr>
          <p:cNvPr id="9" name="Text 7"/>
          <p:cNvSpPr txBox="1"/>
          <p:nvPr/>
        </p:nvSpPr>
        <p:spPr>
          <a:xfrm>
            <a:off x="2904683"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2  ·  WEEKS 15-16</a:t>
            </a:r>
            <a:endParaRPr lang="en-US" sz="1000" dirty="0"/>
          </a:p>
        </p:txBody>
      </p:sp>
      <p:sp>
        <p:nvSpPr>
          <p:cNvPr id="10" name="Text 8"/>
          <p:cNvSpPr txBox="1"/>
          <p:nvPr/>
        </p:nvSpPr>
        <p:spPr>
          <a:xfrm>
            <a:off x="2904683"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Map and cleanse</a:t>
            </a:r>
            <a:endParaRPr lang="en-US" sz="1400" dirty="0"/>
          </a:p>
        </p:txBody>
      </p:sp>
      <p:sp>
        <p:nvSpPr>
          <p:cNvPr id="11" name="Text 9"/>
          <p:cNvSpPr txBox="1"/>
          <p:nvPr/>
        </p:nvSpPr>
        <p:spPr>
          <a:xfrm>
            <a:off x="2904683"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Certain IDs kept for traceability; duplicates removed; attendees matched</a:t>
            </a:r>
            <a:endParaRPr lang="en-US" sz="1050" dirty="0"/>
          </a:p>
        </p:txBody>
      </p:sp>
      <p:sp>
        <p:nvSpPr>
          <p:cNvPr id="12" name="transition-3"/>
          <p:cNvSpPr/>
          <p:nvPr/>
        </p:nvSpPr>
        <p:spPr>
          <a:xfrm>
            <a:off x="5032126" y="1737360"/>
            <a:ext cx="2127443" cy="1417320"/>
          </a:xfrm>
          <a:prstGeom prst="roundRect">
            <a:avLst>
              <a:gd name="adj" fmla="val 6452"/>
            </a:avLst>
          </a:prstGeom>
          <a:solidFill>
            <a:srgbClr val="F2F2F2"/>
          </a:solidFill>
          <a:ln w="22225">
            <a:solidFill>
              <a:srgbClr val="45289F"/>
            </a:solidFill>
            <a:prstDash val="solid"/>
          </a:ln>
        </p:spPr>
      </p:sp>
      <p:sp>
        <p:nvSpPr>
          <p:cNvPr id="13" name="Text 11"/>
          <p:cNvSpPr txBox="1"/>
          <p:nvPr/>
        </p:nvSpPr>
        <p:spPr>
          <a:xfrm>
            <a:off x="5169286"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3  ·  WEEKS 17-18</a:t>
            </a:r>
            <a:endParaRPr lang="en-US" sz="1000" dirty="0"/>
          </a:p>
        </p:txBody>
      </p:sp>
      <p:sp>
        <p:nvSpPr>
          <p:cNvPr id="14" name="Text 12"/>
          <p:cNvSpPr txBox="1"/>
          <p:nvPr/>
        </p:nvSpPr>
        <p:spPr>
          <a:xfrm>
            <a:off x="5169286"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Trial loads</a:t>
            </a:r>
            <a:endParaRPr lang="en-US" sz="1400" dirty="0"/>
          </a:p>
        </p:txBody>
      </p:sp>
      <p:sp>
        <p:nvSpPr>
          <p:cNvPr id="15" name="Text 13"/>
          <p:cNvSpPr txBox="1"/>
          <p:nvPr/>
        </p:nvSpPr>
        <p:spPr>
          <a:xfrm>
            <a:off x="5169286"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Two rehearsal loads with emails and journeys switched off; counts and totals reconciled</a:t>
            </a:r>
            <a:endParaRPr lang="en-US" sz="1050" dirty="0"/>
          </a:p>
        </p:txBody>
      </p:sp>
      <p:sp>
        <p:nvSpPr>
          <p:cNvPr id="16" name="transition-4"/>
          <p:cNvSpPr/>
          <p:nvPr/>
        </p:nvSpPr>
        <p:spPr>
          <a:xfrm>
            <a:off x="7296729" y="1737360"/>
            <a:ext cx="2127443" cy="1417320"/>
          </a:xfrm>
          <a:prstGeom prst="roundRect">
            <a:avLst>
              <a:gd name="adj" fmla="val 6452"/>
            </a:avLst>
          </a:prstGeom>
          <a:solidFill>
            <a:srgbClr val="000000"/>
          </a:solidFill>
          <a:ln w="22225">
            <a:solidFill>
              <a:srgbClr val="C8005A"/>
            </a:solidFill>
            <a:prstDash val="solid"/>
          </a:ln>
        </p:spPr>
      </p:sp>
      <p:sp>
        <p:nvSpPr>
          <p:cNvPr id="17" name="Text 15"/>
          <p:cNvSpPr txBox="1"/>
          <p:nvPr/>
        </p:nvSpPr>
        <p:spPr>
          <a:xfrm>
            <a:off x="7433889" y="1856232"/>
            <a:ext cx="1853123" cy="219456"/>
          </a:xfrm>
          <a:prstGeom prst="rect">
            <a:avLst/>
          </a:prstGeom>
          <a:noFill/>
          <a:ln/>
        </p:spPr>
        <p:txBody>
          <a:bodyPr wrap="square" lIns="0" tIns="0" rIns="0" bIns="0" rtlCol="0" anchor="t"/>
          <a:lstStyle/>
          <a:p>
            <a:pPr indent="0" marL="0">
              <a:buNone/>
            </a:pPr>
            <a:r>
              <a:rPr lang="en-US" sz="1000" b="1" spc="200" kern="0" dirty="0">
                <a:solidFill>
                  <a:srgbClr val="FF0068"/>
                </a:solidFill>
              </a:rPr>
              <a:t>4  ·  WEEKS 19-20</a:t>
            </a:r>
            <a:endParaRPr lang="en-US" sz="1000" dirty="0"/>
          </a:p>
        </p:txBody>
      </p:sp>
      <p:sp>
        <p:nvSpPr>
          <p:cNvPr id="18" name="Text 16"/>
          <p:cNvSpPr txBox="1"/>
          <p:nvPr/>
        </p:nvSpPr>
        <p:spPr>
          <a:xfrm>
            <a:off x="7433889" y="2103120"/>
            <a:ext cx="1853123" cy="274320"/>
          </a:xfrm>
          <a:prstGeom prst="rect">
            <a:avLst/>
          </a:prstGeom>
          <a:noFill/>
          <a:ln/>
        </p:spPr>
        <p:txBody>
          <a:bodyPr wrap="square" lIns="0" tIns="0" rIns="0" bIns="0" rtlCol="0" anchor="t"/>
          <a:lstStyle/>
          <a:p>
            <a:pPr indent="0" marL="0">
              <a:buNone/>
            </a:pPr>
            <a:r>
              <a:rPr lang="en-US" sz="1400" b="1" dirty="0">
                <a:solidFill>
                  <a:srgbClr val="FFFFFF"/>
                </a:solidFill>
              </a:rPr>
              <a:t>Cutover</a:t>
            </a:r>
            <a:endParaRPr lang="en-US" sz="1400" dirty="0"/>
          </a:p>
        </p:txBody>
      </p:sp>
      <p:sp>
        <p:nvSpPr>
          <p:cNvPr id="19" name="Text 17"/>
          <p:cNvSpPr txBox="1"/>
          <p:nvPr/>
        </p:nvSpPr>
        <p:spPr>
          <a:xfrm>
            <a:off x="7433889" y="2414016"/>
            <a:ext cx="1853123" cy="731520"/>
          </a:xfrm>
          <a:prstGeom prst="rect">
            <a:avLst/>
          </a:prstGeom>
          <a:noFill/>
          <a:ln/>
        </p:spPr>
        <p:txBody>
          <a:bodyPr wrap="square" lIns="0" tIns="0" rIns="0" bIns="0" rtlCol="0" anchor="t"/>
          <a:lstStyle/>
          <a:p>
            <a:pPr indent="0" marL="0">
              <a:buNone/>
            </a:pPr>
            <a:r>
              <a:rPr lang="en-US" sz="1050" dirty="0">
                <a:solidFill>
                  <a:srgbClr val="D9D9D9"/>
                </a:solidFill>
              </a:rPr>
              <a:t>Between conferences, so only history moves; final delta load; go live on Salesforce</a:t>
            </a:r>
            <a:endParaRPr lang="en-US" sz="1050" dirty="0"/>
          </a:p>
        </p:txBody>
      </p:sp>
      <p:sp>
        <p:nvSpPr>
          <p:cNvPr id="20" name="transition-5"/>
          <p:cNvSpPr/>
          <p:nvPr/>
        </p:nvSpPr>
        <p:spPr>
          <a:xfrm>
            <a:off x="9561332" y="1737360"/>
            <a:ext cx="2127443" cy="1417320"/>
          </a:xfrm>
          <a:prstGeom prst="roundRect">
            <a:avLst>
              <a:gd name="adj" fmla="val 6452"/>
            </a:avLst>
          </a:prstGeom>
          <a:solidFill>
            <a:srgbClr val="F2F2F2"/>
          </a:solidFill>
          <a:ln w="22225">
            <a:solidFill>
              <a:srgbClr val="45289F"/>
            </a:solidFill>
            <a:prstDash val="solid"/>
          </a:ln>
        </p:spPr>
      </p:sp>
      <p:sp>
        <p:nvSpPr>
          <p:cNvPr id="21" name="Text 19"/>
          <p:cNvSpPr txBox="1"/>
          <p:nvPr/>
        </p:nvSpPr>
        <p:spPr>
          <a:xfrm>
            <a:off x="9698492"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5  ·  WEEK 20+</a:t>
            </a:r>
            <a:endParaRPr lang="en-US" sz="1000" dirty="0"/>
          </a:p>
        </p:txBody>
      </p:sp>
      <p:sp>
        <p:nvSpPr>
          <p:cNvPr id="22" name="Text 20"/>
          <p:cNvSpPr txBox="1"/>
          <p:nvPr/>
        </p:nvSpPr>
        <p:spPr>
          <a:xfrm>
            <a:off x="9698492"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Retire Certain</a:t>
            </a:r>
            <a:endParaRPr lang="en-US" sz="1400" dirty="0"/>
          </a:p>
        </p:txBody>
      </p:sp>
      <p:sp>
        <p:nvSpPr>
          <p:cNvPr id="23" name="Text 21"/>
          <p:cNvSpPr txBox="1"/>
          <p:nvPr/>
        </p:nvSpPr>
        <p:spPr>
          <a:xfrm>
            <a:off x="9698492"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Read-only until the contract ends; Authorize.net open only for past refunds</a:t>
            </a:r>
            <a:endParaRPr lang="en-US" sz="1050" dirty="0"/>
          </a:p>
        </p:txBody>
      </p:sp>
      <p:sp>
        <p:nvSpPr>
          <p:cNvPr id="24" name="Text 22"/>
          <p:cNvSpPr txBox="1"/>
          <p:nvPr/>
        </p:nvSpPr>
        <p:spPr>
          <a:xfrm>
            <a:off x="576072" y="3310128"/>
            <a:ext cx="2880360" cy="274320"/>
          </a:xfrm>
          <a:prstGeom prst="rect">
            <a:avLst/>
          </a:prstGeom>
          <a:noFill/>
          <a:ln/>
        </p:spPr>
        <p:txBody>
          <a:bodyPr wrap="square" lIns="0" tIns="0" rIns="0" bIns="0" rtlCol="0" anchor="b"/>
          <a:lstStyle/>
          <a:p>
            <a:pPr indent="0" marL="0">
              <a:buNone/>
            </a:pPr>
            <a:r>
              <a:rPr lang="en-US" sz="1300" b="1" dirty="0">
                <a:solidFill>
                  <a:srgbClr val="000000"/>
                </a:solidFill>
              </a:rPr>
              <a:t>Data</a:t>
            </a:r>
            <a:endParaRPr lang="en-US" sz="1300" dirty="0"/>
          </a:p>
        </p:txBody>
      </p:sp>
      <p:sp>
        <p:nvSpPr>
          <p:cNvPr id="25" name="Text 23"/>
          <p:cNvSpPr txBox="1"/>
          <p:nvPr/>
        </p:nvSpPr>
        <p:spPr>
          <a:xfrm>
            <a:off x="3456432" y="3310128"/>
            <a:ext cx="3886200" cy="274320"/>
          </a:xfrm>
          <a:prstGeom prst="rect">
            <a:avLst/>
          </a:prstGeom>
          <a:noFill/>
          <a:ln/>
        </p:spPr>
        <p:txBody>
          <a:bodyPr wrap="square" lIns="0" tIns="0" rIns="0" bIns="0" rtlCol="0" anchor="b"/>
          <a:lstStyle/>
          <a:p>
            <a:pPr indent="0" marL="0">
              <a:buNone/>
            </a:pPr>
            <a:r>
              <a:rPr lang="en-US" sz="1300" b="1" dirty="0">
                <a:solidFill>
                  <a:srgbClr val="000000"/>
                </a:solidFill>
              </a:rPr>
              <a:t>How it moves</a:t>
            </a:r>
            <a:endParaRPr lang="en-US" sz="1300" dirty="0"/>
          </a:p>
        </p:txBody>
      </p:sp>
      <p:sp>
        <p:nvSpPr>
          <p:cNvPr id="26" name="Shape 24"/>
          <p:cNvSpPr/>
          <p:nvPr/>
        </p:nvSpPr>
        <p:spPr>
          <a:xfrm>
            <a:off x="502920" y="3639312"/>
            <a:ext cx="6766560" cy="0"/>
          </a:xfrm>
          <a:prstGeom prst="line">
            <a:avLst/>
          </a:prstGeom>
          <a:noFill/>
          <a:ln w="19050">
            <a:solidFill>
              <a:srgbClr val="000000"/>
            </a:solidFill>
            <a:prstDash val="solid"/>
          </a:ln>
        </p:spPr>
      </p:sp>
      <p:sp>
        <p:nvSpPr>
          <p:cNvPr id="27" name="Text 25"/>
          <p:cNvSpPr txBox="1"/>
          <p:nvPr/>
        </p:nvSpPr>
        <p:spPr>
          <a:xfrm>
            <a:off x="576072" y="36667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Past events, sessions, speakers, attendees</a:t>
            </a:r>
            <a:endParaRPr lang="en-US" sz="1050" dirty="0"/>
          </a:p>
        </p:txBody>
      </p:sp>
      <p:sp>
        <p:nvSpPr>
          <p:cNvPr id="28" name="Text 26"/>
          <p:cNvSpPr txBox="1"/>
          <p:nvPr/>
        </p:nvSpPr>
        <p:spPr>
          <a:xfrm>
            <a:off x="3456432" y="36667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for the agreed history window</a:t>
            </a:r>
            <a:endParaRPr lang="en-US" sz="1050" dirty="0"/>
          </a:p>
        </p:txBody>
      </p:sp>
      <p:sp>
        <p:nvSpPr>
          <p:cNvPr id="29" name="Shape 27"/>
          <p:cNvSpPr/>
          <p:nvPr/>
        </p:nvSpPr>
        <p:spPr>
          <a:xfrm>
            <a:off x="502920" y="4050792"/>
            <a:ext cx="6766560" cy="0"/>
          </a:xfrm>
          <a:prstGeom prst="line">
            <a:avLst/>
          </a:prstGeom>
          <a:noFill/>
          <a:ln w="9525">
            <a:solidFill>
              <a:srgbClr val="8C8C8C"/>
            </a:solidFill>
            <a:prstDash val="sysDot"/>
          </a:ln>
        </p:spPr>
      </p:sp>
      <p:sp>
        <p:nvSpPr>
          <p:cNvPr id="30" name="Text 28"/>
          <p:cNvSpPr txBox="1"/>
          <p:nvPr/>
        </p:nvSpPr>
        <p:spPr>
          <a:xfrm>
            <a:off x="576072" y="407822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Attendance and CME records</a:t>
            </a:r>
            <a:endParaRPr lang="en-US" sz="1050" dirty="0"/>
          </a:p>
        </p:txBody>
      </p:sp>
      <p:sp>
        <p:nvSpPr>
          <p:cNvPr id="31" name="Text 29"/>
          <p:cNvSpPr txBox="1"/>
          <p:nvPr/>
        </p:nvSpPr>
        <p:spPr>
          <a:xfrm>
            <a:off x="3456432" y="407822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and kept for retention needs [to confirm]</a:t>
            </a:r>
            <a:endParaRPr lang="en-US" sz="1050" dirty="0"/>
          </a:p>
        </p:txBody>
      </p:sp>
      <p:sp>
        <p:nvSpPr>
          <p:cNvPr id="32" name="Shape 30"/>
          <p:cNvSpPr/>
          <p:nvPr/>
        </p:nvSpPr>
        <p:spPr>
          <a:xfrm>
            <a:off x="502920" y="4462272"/>
            <a:ext cx="6766560" cy="0"/>
          </a:xfrm>
          <a:prstGeom prst="line">
            <a:avLst/>
          </a:prstGeom>
          <a:noFill/>
          <a:ln w="9525">
            <a:solidFill>
              <a:srgbClr val="8C8C8C"/>
            </a:solidFill>
            <a:prstDash val="sysDot"/>
          </a:ln>
        </p:spPr>
      </p:sp>
      <p:sp>
        <p:nvSpPr>
          <p:cNvPr id="33" name="Text 31"/>
          <p:cNvSpPr txBox="1"/>
          <p:nvPr/>
        </p:nvSpPr>
        <p:spPr>
          <a:xfrm>
            <a:off x="576072" y="448970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Payment history</a:t>
            </a:r>
            <a:endParaRPr lang="en-US" sz="1050" dirty="0"/>
          </a:p>
        </p:txBody>
      </p:sp>
      <p:sp>
        <p:nvSpPr>
          <p:cNvPr id="34" name="Text 32"/>
          <p:cNvSpPr txBox="1"/>
          <p:nvPr/>
        </p:nvSpPr>
        <p:spPr>
          <a:xfrm>
            <a:off x="3456432" y="448970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Summary marked as Authorize.net; card data never moves</a:t>
            </a:r>
            <a:endParaRPr lang="en-US" sz="1050" dirty="0"/>
          </a:p>
        </p:txBody>
      </p:sp>
      <p:sp>
        <p:nvSpPr>
          <p:cNvPr id="35" name="Shape 33"/>
          <p:cNvSpPr/>
          <p:nvPr/>
        </p:nvSpPr>
        <p:spPr>
          <a:xfrm>
            <a:off x="502920" y="4873752"/>
            <a:ext cx="6766560" cy="0"/>
          </a:xfrm>
          <a:prstGeom prst="line">
            <a:avLst/>
          </a:prstGeom>
          <a:noFill/>
          <a:ln w="9525">
            <a:solidFill>
              <a:srgbClr val="8C8C8C"/>
            </a:solidFill>
            <a:prstDash val="sysDot"/>
          </a:ln>
        </p:spPr>
      </p:sp>
      <p:sp>
        <p:nvSpPr>
          <p:cNvPr id="36" name="Text 34"/>
          <p:cNvSpPr txBox="1"/>
          <p:nvPr/>
        </p:nvSpPr>
        <p:spPr>
          <a:xfrm>
            <a:off x="576072" y="490118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Open registrations at cutover</a:t>
            </a:r>
            <a:endParaRPr lang="en-US" sz="1050" dirty="0"/>
          </a:p>
        </p:txBody>
      </p:sp>
      <p:sp>
        <p:nvSpPr>
          <p:cNvPr id="37" name="Text 35"/>
          <p:cNvSpPr txBox="1"/>
          <p:nvPr/>
        </p:nvSpPr>
        <p:spPr>
          <a:xfrm>
            <a:off x="3456432" y="4901184"/>
            <a:ext cx="3739896" cy="356616"/>
          </a:xfrm>
          <a:prstGeom prst="rect">
            <a:avLst/>
          </a:prstGeom>
          <a:noFill/>
          <a:ln/>
        </p:spPr>
        <p:txBody>
          <a:bodyPr wrap="square" lIns="0" tIns="0" rIns="0" bIns="0" rtlCol="0" anchor="ctr"/>
          <a:lstStyle/>
          <a:p>
            <a:pPr indent="0" marL="0">
              <a:buNone/>
            </a:pPr>
            <a:r>
              <a:rPr lang="en-US" sz="1050" dirty="0">
                <a:solidFill>
                  <a:srgbClr val="4D4D4D"/>
                </a:solidFill>
              </a:rPr>
              <a:t>Ideally none. If any: moved with sessions, new QR codes, welcome email</a:t>
            </a:r>
            <a:endParaRPr lang="en-US" sz="1050" dirty="0"/>
          </a:p>
        </p:txBody>
      </p:sp>
      <p:sp>
        <p:nvSpPr>
          <p:cNvPr id="38" name="Shape 36"/>
          <p:cNvSpPr/>
          <p:nvPr/>
        </p:nvSpPr>
        <p:spPr>
          <a:xfrm>
            <a:off x="502920" y="5285232"/>
            <a:ext cx="6766560" cy="0"/>
          </a:xfrm>
          <a:prstGeom prst="line">
            <a:avLst/>
          </a:prstGeom>
          <a:noFill/>
          <a:ln w="9525">
            <a:solidFill>
              <a:srgbClr val="8C8C8C"/>
            </a:solidFill>
            <a:prstDash val="sysDot"/>
          </a:ln>
        </p:spPr>
      </p:sp>
      <p:sp>
        <p:nvSpPr>
          <p:cNvPr id="39" name="Text 37"/>
          <p:cNvSpPr txBox="1"/>
          <p:nvPr/>
        </p:nvSpPr>
        <p:spPr>
          <a:xfrm>
            <a:off x="576072" y="531266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Older history</a:t>
            </a:r>
            <a:endParaRPr lang="en-US" sz="1050" dirty="0"/>
          </a:p>
        </p:txBody>
      </p:sp>
      <p:sp>
        <p:nvSpPr>
          <p:cNvPr id="40" name="Text 38"/>
          <p:cNvSpPr txBox="1"/>
          <p:nvPr/>
        </p:nvSpPr>
        <p:spPr>
          <a:xfrm>
            <a:off x="3456432" y="5312664"/>
            <a:ext cx="3739896" cy="356616"/>
          </a:xfrm>
          <a:prstGeom prst="rect">
            <a:avLst/>
          </a:prstGeom>
          <a:noFill/>
          <a:ln/>
        </p:spPr>
        <p:txBody>
          <a:bodyPr wrap="square" lIns="0" tIns="0" rIns="0" bIns="0" rtlCol="0" anchor="ctr"/>
          <a:lstStyle/>
          <a:p>
            <a:pPr indent="0" marL="0">
              <a:buNone/>
            </a:pPr>
            <a:r>
              <a:rPr lang="en-US" sz="1050" dirty="0">
                <a:solidFill>
                  <a:srgbClr val="4D4D4D"/>
                </a:solidFill>
              </a:rPr>
              <a:t>Archive export, outside Salesforce storage</a:t>
            </a:r>
            <a:endParaRPr lang="en-US" sz="1050" dirty="0"/>
          </a:p>
        </p:txBody>
      </p:sp>
      <p:sp>
        <p:nvSpPr>
          <p:cNvPr id="41" name="Shape 39"/>
          <p:cNvSpPr/>
          <p:nvPr/>
        </p:nvSpPr>
        <p:spPr>
          <a:xfrm>
            <a:off x="502920" y="5696712"/>
            <a:ext cx="6766560" cy="0"/>
          </a:xfrm>
          <a:prstGeom prst="line">
            <a:avLst/>
          </a:prstGeom>
          <a:noFill/>
          <a:ln w="9525">
            <a:solidFill>
              <a:srgbClr val="8C8C8C"/>
            </a:solidFill>
            <a:prstDash val="sysDot"/>
          </a:ln>
        </p:spPr>
      </p:sp>
      <p:sp>
        <p:nvSpPr>
          <p:cNvPr id="42" name="Text 40"/>
          <p:cNvSpPr txBox="1"/>
          <p:nvPr/>
        </p:nvSpPr>
        <p:spPr>
          <a:xfrm>
            <a:off x="576072" y="57241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Today’s classes (Phase 2)</a:t>
            </a:r>
            <a:endParaRPr lang="en-US" sz="1050" dirty="0"/>
          </a:p>
        </p:txBody>
      </p:sp>
      <p:sp>
        <p:nvSpPr>
          <p:cNvPr id="43" name="Text 41"/>
          <p:cNvSpPr txBox="1"/>
          <p:nvPr/>
        </p:nvSpPr>
        <p:spPr>
          <a:xfrm>
            <a:off x="3456432" y="57241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Shared model extends today’s class objects, so no second migration [to confirm]</a:t>
            </a:r>
            <a:endParaRPr lang="en-US" sz="1050" dirty="0"/>
          </a:p>
        </p:txBody>
      </p:sp>
      <p:sp>
        <p:nvSpPr>
          <p:cNvPr id="44" name="Shape 42"/>
          <p:cNvSpPr/>
          <p:nvPr/>
        </p:nvSpPr>
        <p:spPr>
          <a:xfrm>
            <a:off x="502920" y="6108192"/>
            <a:ext cx="6766560" cy="0"/>
          </a:xfrm>
          <a:prstGeom prst="line">
            <a:avLst/>
          </a:prstGeom>
          <a:noFill/>
          <a:ln w="9525">
            <a:solidFill>
              <a:srgbClr val="8C8C8C"/>
            </a:solidFill>
            <a:prstDash val="sysDot"/>
          </a:ln>
        </p:spPr>
      </p:sp>
      <p:sp>
        <p:nvSpPr>
          <p:cNvPr id="45" name="Shape 43"/>
          <p:cNvSpPr/>
          <p:nvPr/>
        </p:nvSpPr>
        <p:spPr>
          <a:xfrm>
            <a:off x="7589520" y="3310128"/>
            <a:ext cx="4099255" cy="2798064"/>
          </a:xfrm>
          <a:prstGeom prst="roundRect">
            <a:avLst>
              <a:gd name="adj" fmla="val 3268"/>
            </a:avLst>
          </a:prstGeom>
          <a:solidFill>
            <a:srgbClr val="F2F2F2"/>
          </a:solidFill>
          <a:ln w="12700">
            <a:solidFill>
              <a:srgbClr val="D0D0D6"/>
            </a:solidFill>
            <a:prstDash val="solid"/>
          </a:ln>
        </p:spPr>
      </p:sp>
      <p:sp>
        <p:nvSpPr>
          <p:cNvPr id="46" name="Text 44"/>
          <p:cNvSpPr txBox="1"/>
          <p:nvPr/>
        </p:nvSpPr>
        <p:spPr>
          <a:xfrm>
            <a:off x="7772400" y="3447288"/>
            <a:ext cx="3733495" cy="274320"/>
          </a:xfrm>
          <a:prstGeom prst="rect">
            <a:avLst/>
          </a:prstGeom>
          <a:noFill/>
          <a:ln/>
        </p:spPr>
        <p:txBody>
          <a:bodyPr wrap="square" lIns="0" tIns="0" rIns="0" bIns="0" rtlCol="0" anchor="t"/>
          <a:lstStyle/>
          <a:p>
            <a:pPr indent="0" marL="0">
              <a:buNone/>
            </a:pPr>
            <a:r>
              <a:rPr lang="en-US" sz="1400" b="1" dirty="0">
                <a:solidFill>
                  <a:srgbClr val="000000"/>
                </a:solidFill>
              </a:rPr>
              <a:t>Safeguards</a:t>
            </a:r>
            <a:endParaRPr lang="en-US" sz="1400" dirty="0"/>
          </a:p>
        </p:txBody>
      </p:sp>
      <p:sp>
        <p:nvSpPr>
          <p:cNvPr id="47" name="Text 45"/>
          <p:cNvSpPr txBox="1"/>
          <p:nvPr/>
        </p:nvSpPr>
        <p:spPr>
          <a:xfrm>
            <a:off x="7772400" y="3813048"/>
            <a:ext cx="3733495"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D4D4D"/>
                </a:solidFill>
              </a:rPr>
              <a:t>Reconciliation report signed off before cutover</a:t>
            </a:r>
            <a:endParaRPr lang="en-US" sz="1150" dirty="0"/>
          </a:p>
          <a:p>
            <a:pPr marL="342900" indent="-342900">
              <a:spcAft>
                <a:spcPts val="500"/>
              </a:spcAft>
              <a:buSzPct val="100000"/>
              <a:buChar char="•"/>
            </a:pPr>
            <a:r>
              <a:rPr lang="en-US" sz="1150" dirty="0">
                <a:solidFill>
                  <a:srgbClr val="4D4D4D"/>
                </a:solidFill>
              </a:rPr>
              <a:t>Rollback ready: Certain stays live until sign-off</a:t>
            </a:r>
            <a:endParaRPr lang="en-US" sz="1150" dirty="0"/>
          </a:p>
          <a:p>
            <a:pPr marL="342900" indent="-342900">
              <a:spcAft>
                <a:spcPts val="500"/>
              </a:spcAft>
              <a:buSzPct val="100000"/>
              <a:buChar char="•"/>
            </a:pPr>
            <a:r>
              <a:rPr lang="en-US" sz="1150" dirty="0">
                <a:solidFill>
                  <a:srgbClr val="4D4D4D"/>
                </a:solidFill>
              </a:rPr>
              <a:t>No emails or journeys fire for migrated records</a:t>
            </a:r>
            <a:endParaRPr lang="en-US" sz="1150" dirty="0"/>
          </a:p>
          <a:p>
            <a:pPr marL="342900" indent="-342900">
              <a:spcAft>
                <a:spcPts val="500"/>
              </a:spcAft>
              <a:buSzPct val="100000"/>
              <a:buChar char="•"/>
            </a:pPr>
            <a:r>
              <a:rPr lang="en-US" sz="1150" dirty="0">
                <a:solidFill>
                  <a:srgbClr val="4D4D4D"/>
                </a:solidFill>
              </a:rPr>
              <a:t>Certain contract covers the read-only period [to confirm]</a:t>
            </a:r>
            <a:endParaRPr lang="en-US" sz="1150" dirty="0"/>
          </a:p>
          <a:p>
            <a:pPr marL="342900" indent="-342900">
              <a:spcAft>
                <a:spcPts val="500"/>
              </a:spcAft>
              <a:buSzPct val="100000"/>
              <a:buChar char="•"/>
            </a:pPr>
            <a:r>
              <a:rPr lang="en-US" sz="1150" dirty="0">
                <a:solidFill>
                  <a:srgbClr val="4D4D4D"/>
                </a:solidFill>
              </a:rPr>
              <a:t>Delivered by the same four-person pod</a:t>
            </a:r>
            <a:endParaRPr lang="en-US" sz="11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12 two-week sprints and a go-live week</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7438644" y="1737360"/>
            <a:ext cx="292608" cy="146304"/>
          </a:xfrm>
          <a:prstGeom prst="roundRect">
            <a:avLst>
              <a:gd name="adj" fmla="val 50000"/>
            </a:avLst>
          </a:prstGeom>
          <a:solidFill>
            <a:srgbClr val="45289F"/>
          </a:solidFill>
          <a:ln w="12700">
            <a:solidFill>
              <a:srgbClr val="45289F"/>
            </a:solidFill>
            <a:prstDash val="solid"/>
          </a:ln>
        </p:spPr>
      </p:sp>
      <p:sp>
        <p:nvSpPr>
          <p:cNvPr id="11" name="Text 9"/>
          <p:cNvSpPr txBox="1"/>
          <p:nvPr/>
        </p:nvSpPr>
        <p:spPr>
          <a:xfrm>
            <a:off x="7822692" y="1682496"/>
            <a:ext cx="1554480" cy="256032"/>
          </a:xfrm>
          <a:prstGeom prst="rect">
            <a:avLst/>
          </a:prstGeom>
          <a:noFill/>
          <a:ln/>
        </p:spPr>
        <p:txBody>
          <a:bodyPr wrap="square" lIns="0" tIns="0" rIns="0" bIns="0" rtlCol="0" anchor="ctr"/>
          <a:lstStyle/>
          <a:p>
            <a:pPr indent="0" marL="0">
              <a:buNone/>
            </a:pPr>
            <a:r>
              <a:rPr lang="en-US" sz="1100" b="1" dirty="0">
                <a:solidFill>
                  <a:srgbClr val="45289F"/>
                </a:solidFill>
              </a:rPr>
              <a:t>Certain transition</a:t>
            </a:r>
            <a:endParaRPr lang="en-US" sz="1100" dirty="0"/>
          </a:p>
        </p:txBody>
      </p:sp>
      <p:sp>
        <p:nvSpPr>
          <p:cNvPr id="12" name="Shape 10"/>
          <p:cNvSpPr/>
          <p:nvPr/>
        </p:nvSpPr>
        <p:spPr>
          <a:xfrm>
            <a:off x="9905695" y="1728216"/>
            <a:ext cx="164592" cy="164592"/>
          </a:xfrm>
          <a:prstGeom prst="diamond">
            <a:avLst/>
          </a:prstGeom>
          <a:solidFill>
            <a:srgbClr val="000000"/>
          </a:solidFill>
          <a:ln w="12700">
            <a:solidFill>
              <a:srgbClr val="000000"/>
            </a:solidFill>
            <a:prstDash val="solid"/>
          </a:ln>
        </p:spPr>
      </p:sp>
      <p:sp>
        <p:nvSpPr>
          <p:cNvPr id="13" name="Text 11"/>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4" name="sprint-1"/>
          <p:cNvSpPr/>
          <p:nvPr/>
        </p:nvSpPr>
        <p:spPr>
          <a:xfrm>
            <a:off x="502920" y="2103120"/>
            <a:ext cx="1519602" cy="1691640"/>
          </a:xfrm>
          <a:prstGeom prst="roundRect">
            <a:avLst>
              <a:gd name="adj" fmla="val 6017"/>
            </a:avLst>
          </a:prstGeom>
          <a:solidFill>
            <a:srgbClr val="F2F2F2"/>
          </a:solidFill>
          <a:ln w="22225">
            <a:solidFill>
              <a:srgbClr val="00A9C0"/>
            </a:solidFill>
            <a:prstDash val="solid"/>
          </a:ln>
        </p:spPr>
      </p:sp>
      <p:sp>
        <p:nvSpPr>
          <p:cNvPr id="15" name="Text 13"/>
          <p:cNvSpPr txBox="1"/>
          <p:nvPr/>
        </p:nvSpPr>
        <p:spPr>
          <a:xfrm>
            <a:off x="603504" y="2221992"/>
            <a:ext cx="1318434" cy="219456"/>
          </a:xfrm>
          <a:prstGeom prst="rect">
            <a:avLst/>
          </a:prstGeom>
          <a:noFill/>
          <a:ln/>
        </p:spPr>
        <p:txBody>
          <a:bodyPr wrap="square" lIns="0" tIns="0" rIns="0" bIns="0" rtlCol="0" anchor="t"/>
          <a:lstStyle/>
          <a:p>
            <a:pPr indent="0" marL="0">
              <a:buNone/>
            </a:pPr>
            <a:r>
              <a:rPr lang="en-US" sz="1000" b="1" spc="200" kern="0" dirty="0">
                <a:solidFill>
                  <a:srgbClr val="007C8C"/>
                </a:solidFill>
              </a:rPr>
              <a:t>SPRINT 1</a:t>
            </a:r>
            <a:endParaRPr lang="en-US" sz="1000" dirty="0"/>
          </a:p>
        </p:txBody>
      </p:sp>
      <p:sp>
        <p:nvSpPr>
          <p:cNvPr id="16" name="Text 14"/>
          <p:cNvSpPr txBox="1"/>
          <p:nvPr/>
        </p:nvSpPr>
        <p:spPr>
          <a:xfrm>
            <a:off x="603504"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1-2</a:t>
            </a:r>
            <a:endParaRPr lang="en-US" sz="950" dirty="0"/>
          </a:p>
        </p:txBody>
      </p:sp>
      <p:sp>
        <p:nvSpPr>
          <p:cNvPr id="17" name="Text 15"/>
          <p:cNvSpPr txBox="1"/>
          <p:nvPr/>
        </p:nvSpPr>
        <p:spPr>
          <a:xfrm>
            <a:off x="603504"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Review today’s site, app and a Certain data sample; design</a:t>
            </a:r>
            <a:endParaRPr lang="en-US" sz="1000" dirty="0"/>
          </a:p>
        </p:txBody>
      </p:sp>
      <p:sp>
        <p:nvSpPr>
          <p:cNvPr id="18" name="Shape 16"/>
          <p:cNvSpPr/>
          <p:nvPr/>
        </p:nvSpPr>
        <p:spPr>
          <a:xfrm>
            <a:off x="603504" y="3291840"/>
            <a:ext cx="1318434" cy="0"/>
          </a:xfrm>
          <a:prstGeom prst="line">
            <a:avLst/>
          </a:prstGeom>
          <a:noFill/>
          <a:ln w="9525">
            <a:solidFill>
              <a:srgbClr val="D0D0D6"/>
            </a:solidFill>
            <a:prstDash val="solid"/>
          </a:ln>
        </p:spPr>
      </p:sp>
      <p:sp>
        <p:nvSpPr>
          <p:cNvPr id="19" name="Shape 17"/>
          <p:cNvSpPr/>
          <p:nvPr/>
        </p:nvSpPr>
        <p:spPr>
          <a:xfrm>
            <a:off x="603504" y="3429000"/>
            <a:ext cx="137160" cy="137160"/>
          </a:xfrm>
          <a:prstGeom prst="diamond">
            <a:avLst/>
          </a:prstGeom>
          <a:solidFill>
            <a:srgbClr val="000000"/>
          </a:solidFill>
          <a:ln w="12700">
            <a:solidFill>
              <a:srgbClr val="000000"/>
            </a:solidFill>
            <a:prstDash val="solid"/>
          </a:ln>
        </p:spPr>
      </p:sp>
      <p:sp>
        <p:nvSpPr>
          <p:cNvPr id="20" name="Text 18"/>
          <p:cNvSpPr txBox="1"/>
          <p:nvPr/>
        </p:nvSpPr>
        <p:spPr>
          <a:xfrm>
            <a:off x="822960"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Design sign-off</a:t>
            </a:r>
            <a:endParaRPr lang="en-US" sz="950" dirty="0"/>
          </a:p>
        </p:txBody>
      </p:sp>
      <p:sp>
        <p:nvSpPr>
          <p:cNvPr id="21" name="sprint-2"/>
          <p:cNvSpPr/>
          <p:nvPr/>
        </p:nvSpPr>
        <p:spPr>
          <a:xfrm>
            <a:off x="2113962" y="2103120"/>
            <a:ext cx="1519602" cy="1691640"/>
          </a:xfrm>
          <a:prstGeom prst="roundRect">
            <a:avLst>
              <a:gd name="adj" fmla="val 6017"/>
            </a:avLst>
          </a:prstGeom>
          <a:solidFill>
            <a:srgbClr val="F2F2F2"/>
          </a:solidFill>
          <a:ln w="22225">
            <a:solidFill>
              <a:srgbClr val="FF0068"/>
            </a:solidFill>
            <a:prstDash val="solid"/>
          </a:ln>
        </p:spPr>
      </p:sp>
      <p:sp>
        <p:nvSpPr>
          <p:cNvPr id="22" name="Text 20"/>
          <p:cNvSpPr txBox="1"/>
          <p:nvPr/>
        </p:nvSpPr>
        <p:spPr>
          <a:xfrm>
            <a:off x="2214546"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2</a:t>
            </a:r>
            <a:endParaRPr lang="en-US" sz="1000" dirty="0"/>
          </a:p>
        </p:txBody>
      </p:sp>
      <p:sp>
        <p:nvSpPr>
          <p:cNvPr id="23" name="Text 21"/>
          <p:cNvSpPr txBox="1"/>
          <p:nvPr/>
        </p:nvSpPr>
        <p:spPr>
          <a:xfrm>
            <a:off x="2214546"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3-4</a:t>
            </a:r>
            <a:endParaRPr lang="en-US" sz="950" dirty="0"/>
          </a:p>
        </p:txBody>
      </p:sp>
      <p:sp>
        <p:nvSpPr>
          <p:cNvPr id="24" name="Text 22"/>
          <p:cNvSpPr txBox="1"/>
          <p:nvPr/>
        </p:nvSpPr>
        <p:spPr>
          <a:xfrm>
            <a:off x="2214546"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Shared event model; sessions, tracks, rooms</a:t>
            </a:r>
            <a:endParaRPr lang="en-US" sz="1000" dirty="0"/>
          </a:p>
        </p:txBody>
      </p:sp>
      <p:sp>
        <p:nvSpPr>
          <p:cNvPr id="25" name="Shape 23"/>
          <p:cNvSpPr/>
          <p:nvPr/>
        </p:nvSpPr>
        <p:spPr>
          <a:xfrm>
            <a:off x="2214546" y="3291840"/>
            <a:ext cx="1318434" cy="0"/>
          </a:xfrm>
          <a:prstGeom prst="line">
            <a:avLst/>
          </a:prstGeom>
          <a:noFill/>
          <a:ln w="9525">
            <a:solidFill>
              <a:srgbClr val="D0D0D6"/>
            </a:solidFill>
            <a:prstDash val="solid"/>
          </a:ln>
        </p:spPr>
      </p:sp>
      <p:sp>
        <p:nvSpPr>
          <p:cNvPr id="26" name="Shape 24"/>
          <p:cNvSpPr/>
          <p:nvPr/>
        </p:nvSpPr>
        <p:spPr>
          <a:xfrm>
            <a:off x="2214546" y="3429000"/>
            <a:ext cx="137160" cy="137160"/>
          </a:xfrm>
          <a:prstGeom prst="diamond">
            <a:avLst/>
          </a:prstGeom>
          <a:solidFill>
            <a:srgbClr val="000000"/>
          </a:solidFill>
          <a:ln w="12700">
            <a:solidFill>
              <a:srgbClr val="000000"/>
            </a:solidFill>
            <a:prstDash val="solid"/>
          </a:ln>
        </p:spPr>
      </p:sp>
      <p:sp>
        <p:nvSpPr>
          <p:cNvPr id="27" name="Text 25"/>
          <p:cNvSpPr txBox="1"/>
          <p:nvPr/>
        </p:nvSpPr>
        <p:spPr>
          <a:xfrm>
            <a:off x="2434002"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Conference model demo</a:t>
            </a:r>
            <a:endParaRPr lang="en-US" sz="950" dirty="0"/>
          </a:p>
        </p:txBody>
      </p:sp>
      <p:sp>
        <p:nvSpPr>
          <p:cNvPr id="28" name="sprint-3"/>
          <p:cNvSpPr/>
          <p:nvPr/>
        </p:nvSpPr>
        <p:spPr>
          <a:xfrm>
            <a:off x="3725004" y="2103120"/>
            <a:ext cx="1519602" cy="1691640"/>
          </a:xfrm>
          <a:prstGeom prst="roundRect">
            <a:avLst>
              <a:gd name="adj" fmla="val 6017"/>
            </a:avLst>
          </a:prstGeom>
          <a:solidFill>
            <a:srgbClr val="F2F2F2"/>
          </a:solidFill>
          <a:ln w="22225">
            <a:solidFill>
              <a:srgbClr val="FF0068"/>
            </a:solidFill>
            <a:prstDash val="solid"/>
          </a:ln>
        </p:spPr>
      </p:sp>
      <p:sp>
        <p:nvSpPr>
          <p:cNvPr id="29" name="Text 27"/>
          <p:cNvSpPr txBox="1"/>
          <p:nvPr/>
        </p:nvSpPr>
        <p:spPr>
          <a:xfrm>
            <a:off x="3825588"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3</a:t>
            </a:r>
            <a:endParaRPr lang="en-US" sz="1000" dirty="0"/>
          </a:p>
        </p:txBody>
      </p:sp>
      <p:sp>
        <p:nvSpPr>
          <p:cNvPr id="30" name="Text 28"/>
          <p:cNvSpPr txBox="1"/>
          <p:nvPr/>
        </p:nvSpPr>
        <p:spPr>
          <a:xfrm>
            <a:off x="3825588"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5-6</a:t>
            </a:r>
            <a:endParaRPr lang="en-US" sz="950" dirty="0"/>
          </a:p>
        </p:txBody>
      </p:sp>
      <p:sp>
        <p:nvSpPr>
          <p:cNvPr id="31" name="Text 29"/>
          <p:cNvSpPr txBox="1"/>
          <p:nvPr/>
        </p:nvSpPr>
        <p:spPr>
          <a:xfrm>
            <a:off x="3825588"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Speakers, ticket types and pricing</a:t>
            </a:r>
            <a:endParaRPr lang="en-US" sz="1000" dirty="0"/>
          </a:p>
        </p:txBody>
      </p:sp>
      <p:sp>
        <p:nvSpPr>
          <p:cNvPr id="32" name="Shape 30"/>
          <p:cNvSpPr/>
          <p:nvPr/>
        </p:nvSpPr>
        <p:spPr>
          <a:xfrm>
            <a:off x="3825588" y="3291840"/>
            <a:ext cx="1318434" cy="0"/>
          </a:xfrm>
          <a:prstGeom prst="line">
            <a:avLst/>
          </a:prstGeom>
          <a:noFill/>
          <a:ln w="9525">
            <a:solidFill>
              <a:srgbClr val="D0D0D6"/>
            </a:solidFill>
            <a:prstDash val="solid"/>
          </a:ln>
        </p:spPr>
      </p:sp>
      <p:sp>
        <p:nvSpPr>
          <p:cNvPr id="33" name="Shape 31"/>
          <p:cNvSpPr/>
          <p:nvPr/>
        </p:nvSpPr>
        <p:spPr>
          <a:xfrm>
            <a:off x="3825588" y="3429000"/>
            <a:ext cx="137160" cy="137160"/>
          </a:xfrm>
          <a:prstGeom prst="diamond">
            <a:avLst/>
          </a:prstGeom>
          <a:solidFill>
            <a:srgbClr val="000000"/>
          </a:solidFill>
          <a:ln w="12700">
            <a:solidFill>
              <a:srgbClr val="000000"/>
            </a:solidFill>
            <a:prstDash val="solid"/>
          </a:ln>
        </p:spPr>
      </p:sp>
      <p:sp>
        <p:nvSpPr>
          <p:cNvPr id="34" name="Text 32"/>
          <p:cNvSpPr txBox="1"/>
          <p:nvPr/>
        </p:nvSpPr>
        <p:spPr>
          <a:xfrm>
            <a:off x="4045044"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Speakers and tickets demo</a:t>
            </a:r>
            <a:endParaRPr lang="en-US" sz="950" dirty="0"/>
          </a:p>
        </p:txBody>
      </p:sp>
      <p:sp>
        <p:nvSpPr>
          <p:cNvPr id="35" name="sprint-4"/>
          <p:cNvSpPr/>
          <p:nvPr/>
        </p:nvSpPr>
        <p:spPr>
          <a:xfrm>
            <a:off x="5336047" y="2103120"/>
            <a:ext cx="1519602" cy="1691640"/>
          </a:xfrm>
          <a:prstGeom prst="roundRect">
            <a:avLst>
              <a:gd name="adj" fmla="val 6017"/>
            </a:avLst>
          </a:prstGeom>
          <a:solidFill>
            <a:srgbClr val="F2F2F2"/>
          </a:solidFill>
          <a:ln w="22225">
            <a:solidFill>
              <a:srgbClr val="FF0068"/>
            </a:solidFill>
            <a:prstDash val="solid"/>
          </a:ln>
        </p:spPr>
      </p:sp>
      <p:sp>
        <p:nvSpPr>
          <p:cNvPr id="36" name="Text 34"/>
          <p:cNvSpPr txBox="1"/>
          <p:nvPr/>
        </p:nvSpPr>
        <p:spPr>
          <a:xfrm>
            <a:off x="5436631"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4</a:t>
            </a:r>
            <a:endParaRPr lang="en-US" sz="1000" dirty="0"/>
          </a:p>
        </p:txBody>
      </p:sp>
      <p:sp>
        <p:nvSpPr>
          <p:cNvPr id="37" name="Text 35"/>
          <p:cNvSpPr txBox="1"/>
          <p:nvPr/>
        </p:nvSpPr>
        <p:spPr>
          <a:xfrm>
            <a:off x="5436631"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7-8</a:t>
            </a:r>
            <a:endParaRPr lang="en-US" sz="950" dirty="0"/>
          </a:p>
        </p:txBody>
      </p:sp>
      <p:sp>
        <p:nvSpPr>
          <p:cNvPr id="38" name="Text 36"/>
          <p:cNvSpPr txBox="1"/>
          <p:nvPr/>
        </p:nvSpPr>
        <p:spPr>
          <a:xfrm>
            <a:off x="5436631"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My Agenda portal on Experience Cloud</a:t>
            </a:r>
            <a:endParaRPr lang="en-US" sz="1000" dirty="0"/>
          </a:p>
        </p:txBody>
      </p:sp>
      <p:sp>
        <p:nvSpPr>
          <p:cNvPr id="39" name="Shape 37"/>
          <p:cNvSpPr/>
          <p:nvPr/>
        </p:nvSpPr>
        <p:spPr>
          <a:xfrm>
            <a:off x="5436631" y="3291840"/>
            <a:ext cx="1318434" cy="0"/>
          </a:xfrm>
          <a:prstGeom prst="line">
            <a:avLst/>
          </a:prstGeom>
          <a:noFill/>
          <a:ln w="9525">
            <a:solidFill>
              <a:srgbClr val="D0D0D6"/>
            </a:solidFill>
            <a:prstDash val="solid"/>
          </a:ln>
        </p:spPr>
      </p:sp>
      <p:sp>
        <p:nvSpPr>
          <p:cNvPr id="40" name="Shape 38"/>
          <p:cNvSpPr/>
          <p:nvPr/>
        </p:nvSpPr>
        <p:spPr>
          <a:xfrm>
            <a:off x="5436631" y="3429000"/>
            <a:ext cx="137160" cy="137160"/>
          </a:xfrm>
          <a:prstGeom prst="diamond">
            <a:avLst/>
          </a:prstGeom>
          <a:solidFill>
            <a:srgbClr val="000000"/>
          </a:solidFill>
          <a:ln w="12700">
            <a:solidFill>
              <a:srgbClr val="000000"/>
            </a:solidFill>
            <a:prstDash val="solid"/>
          </a:ln>
        </p:spPr>
      </p:sp>
      <p:sp>
        <p:nvSpPr>
          <p:cNvPr id="41" name="Text 39"/>
          <p:cNvSpPr txBox="1"/>
          <p:nvPr/>
        </p:nvSpPr>
        <p:spPr>
          <a:xfrm>
            <a:off x="5656087"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Attendee portal demo</a:t>
            </a:r>
            <a:endParaRPr lang="en-US" sz="950" dirty="0"/>
          </a:p>
        </p:txBody>
      </p:sp>
      <p:sp>
        <p:nvSpPr>
          <p:cNvPr id="42" name="sprint-5"/>
          <p:cNvSpPr/>
          <p:nvPr/>
        </p:nvSpPr>
        <p:spPr>
          <a:xfrm>
            <a:off x="6947089" y="2103120"/>
            <a:ext cx="1519602" cy="1691640"/>
          </a:xfrm>
          <a:prstGeom prst="roundRect">
            <a:avLst>
              <a:gd name="adj" fmla="val 6017"/>
            </a:avLst>
          </a:prstGeom>
          <a:solidFill>
            <a:srgbClr val="F2F2F2"/>
          </a:solidFill>
          <a:ln w="22225">
            <a:solidFill>
              <a:srgbClr val="FF0068"/>
            </a:solidFill>
            <a:prstDash val="solid"/>
          </a:ln>
        </p:spPr>
      </p:sp>
      <p:sp>
        <p:nvSpPr>
          <p:cNvPr id="43" name="Text 41"/>
          <p:cNvSpPr txBox="1"/>
          <p:nvPr/>
        </p:nvSpPr>
        <p:spPr>
          <a:xfrm>
            <a:off x="7047673"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5</a:t>
            </a:r>
            <a:endParaRPr lang="en-US" sz="1000" dirty="0"/>
          </a:p>
        </p:txBody>
      </p:sp>
      <p:sp>
        <p:nvSpPr>
          <p:cNvPr id="44" name="Text 42"/>
          <p:cNvSpPr txBox="1"/>
          <p:nvPr/>
        </p:nvSpPr>
        <p:spPr>
          <a:xfrm>
            <a:off x="7047673"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9-10</a:t>
            </a:r>
            <a:endParaRPr lang="en-US" sz="950" dirty="0"/>
          </a:p>
        </p:txBody>
      </p:sp>
      <p:sp>
        <p:nvSpPr>
          <p:cNvPr id="45" name="Text 43"/>
          <p:cNvSpPr txBox="1"/>
          <p:nvPr/>
        </p:nvSpPr>
        <p:spPr>
          <a:xfrm>
            <a:off x="7047673"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Session picks, seat limits, holds, waitlists</a:t>
            </a:r>
            <a:endParaRPr lang="en-US" sz="1000" dirty="0"/>
          </a:p>
        </p:txBody>
      </p:sp>
      <p:sp>
        <p:nvSpPr>
          <p:cNvPr id="46" name="Shape 44"/>
          <p:cNvSpPr/>
          <p:nvPr/>
        </p:nvSpPr>
        <p:spPr>
          <a:xfrm>
            <a:off x="7047673" y="3291840"/>
            <a:ext cx="1318434" cy="0"/>
          </a:xfrm>
          <a:prstGeom prst="line">
            <a:avLst/>
          </a:prstGeom>
          <a:noFill/>
          <a:ln w="9525">
            <a:solidFill>
              <a:srgbClr val="D0D0D6"/>
            </a:solidFill>
            <a:prstDash val="solid"/>
          </a:ln>
        </p:spPr>
      </p:sp>
      <p:sp>
        <p:nvSpPr>
          <p:cNvPr id="47" name="Shape 45"/>
          <p:cNvSpPr/>
          <p:nvPr/>
        </p:nvSpPr>
        <p:spPr>
          <a:xfrm>
            <a:off x="7047673" y="3429000"/>
            <a:ext cx="137160" cy="137160"/>
          </a:xfrm>
          <a:prstGeom prst="diamond">
            <a:avLst/>
          </a:prstGeom>
          <a:solidFill>
            <a:srgbClr val="000000"/>
          </a:solidFill>
          <a:ln w="12700">
            <a:solidFill>
              <a:srgbClr val="000000"/>
            </a:solidFill>
            <a:prstDash val="solid"/>
          </a:ln>
        </p:spPr>
      </p:sp>
      <p:sp>
        <p:nvSpPr>
          <p:cNvPr id="48" name="Text 46"/>
          <p:cNvSpPr txBox="1"/>
          <p:nvPr/>
        </p:nvSpPr>
        <p:spPr>
          <a:xfrm>
            <a:off x="7267129"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Session booking demo</a:t>
            </a:r>
            <a:endParaRPr lang="en-US" sz="950" dirty="0"/>
          </a:p>
        </p:txBody>
      </p:sp>
      <p:sp>
        <p:nvSpPr>
          <p:cNvPr id="49" name="sprint-6"/>
          <p:cNvSpPr/>
          <p:nvPr/>
        </p:nvSpPr>
        <p:spPr>
          <a:xfrm>
            <a:off x="8558131" y="2103120"/>
            <a:ext cx="1519602" cy="1691640"/>
          </a:xfrm>
          <a:prstGeom prst="roundRect">
            <a:avLst>
              <a:gd name="adj" fmla="val 6017"/>
            </a:avLst>
          </a:prstGeom>
          <a:solidFill>
            <a:srgbClr val="F2F2F2"/>
          </a:solidFill>
          <a:ln w="22225">
            <a:solidFill>
              <a:srgbClr val="FF0068"/>
            </a:solidFill>
            <a:prstDash val="solid"/>
          </a:ln>
        </p:spPr>
      </p:sp>
      <p:sp>
        <p:nvSpPr>
          <p:cNvPr id="50" name="Text 48"/>
          <p:cNvSpPr txBox="1"/>
          <p:nvPr/>
        </p:nvSpPr>
        <p:spPr>
          <a:xfrm>
            <a:off x="8658715"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6</a:t>
            </a:r>
            <a:endParaRPr lang="en-US" sz="1000" dirty="0"/>
          </a:p>
        </p:txBody>
      </p:sp>
      <p:sp>
        <p:nvSpPr>
          <p:cNvPr id="51" name="Text 49"/>
          <p:cNvSpPr txBox="1"/>
          <p:nvPr/>
        </p:nvSpPr>
        <p:spPr>
          <a:xfrm>
            <a:off x="8658715"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11-12</a:t>
            </a:r>
            <a:endParaRPr lang="en-US" sz="950" dirty="0"/>
          </a:p>
        </p:txBody>
      </p:sp>
      <p:sp>
        <p:nvSpPr>
          <p:cNvPr id="52" name="Text 50"/>
          <p:cNvSpPr txBox="1"/>
          <p:nvPr/>
        </p:nvSpPr>
        <p:spPr>
          <a:xfrm>
            <a:off x="8658715"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Chase checkout for conferences; refunds</a:t>
            </a:r>
            <a:endParaRPr lang="en-US" sz="1000" dirty="0"/>
          </a:p>
        </p:txBody>
      </p:sp>
      <p:sp>
        <p:nvSpPr>
          <p:cNvPr id="53" name="Shape 51"/>
          <p:cNvSpPr/>
          <p:nvPr/>
        </p:nvSpPr>
        <p:spPr>
          <a:xfrm>
            <a:off x="8658715" y="3291840"/>
            <a:ext cx="1318434" cy="0"/>
          </a:xfrm>
          <a:prstGeom prst="line">
            <a:avLst/>
          </a:prstGeom>
          <a:noFill/>
          <a:ln w="9525">
            <a:solidFill>
              <a:srgbClr val="D0D0D6"/>
            </a:solidFill>
            <a:prstDash val="solid"/>
          </a:ln>
        </p:spPr>
      </p:sp>
      <p:sp>
        <p:nvSpPr>
          <p:cNvPr id="54" name="Shape 52"/>
          <p:cNvSpPr/>
          <p:nvPr/>
        </p:nvSpPr>
        <p:spPr>
          <a:xfrm>
            <a:off x="8658715" y="3429000"/>
            <a:ext cx="137160" cy="137160"/>
          </a:xfrm>
          <a:prstGeom prst="diamond">
            <a:avLst/>
          </a:prstGeom>
          <a:solidFill>
            <a:srgbClr val="000000"/>
          </a:solidFill>
          <a:ln w="12700">
            <a:solidFill>
              <a:srgbClr val="000000"/>
            </a:solidFill>
            <a:prstDash val="solid"/>
          </a:ln>
        </p:spPr>
      </p:sp>
      <p:sp>
        <p:nvSpPr>
          <p:cNvPr id="55" name="Text 53"/>
          <p:cNvSpPr txBox="1"/>
          <p:nvPr/>
        </p:nvSpPr>
        <p:spPr>
          <a:xfrm>
            <a:off x="8878171"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Pay end to end</a:t>
            </a:r>
            <a:endParaRPr lang="en-US" sz="950" dirty="0"/>
          </a:p>
        </p:txBody>
      </p:sp>
      <p:sp>
        <p:nvSpPr>
          <p:cNvPr id="56" name="sprint-7"/>
          <p:cNvSpPr/>
          <p:nvPr/>
        </p:nvSpPr>
        <p:spPr>
          <a:xfrm>
            <a:off x="10169173" y="2103120"/>
            <a:ext cx="1519602" cy="1691640"/>
          </a:xfrm>
          <a:prstGeom prst="roundRect">
            <a:avLst>
              <a:gd name="adj" fmla="val 6017"/>
            </a:avLst>
          </a:prstGeom>
          <a:solidFill>
            <a:srgbClr val="F2F2F2"/>
          </a:solidFill>
          <a:ln w="22225">
            <a:solidFill>
              <a:srgbClr val="FF0068"/>
            </a:solidFill>
            <a:prstDash val="solid"/>
          </a:ln>
        </p:spPr>
      </p:sp>
      <p:sp>
        <p:nvSpPr>
          <p:cNvPr id="57" name="Text 55"/>
          <p:cNvSpPr txBox="1"/>
          <p:nvPr/>
        </p:nvSpPr>
        <p:spPr>
          <a:xfrm>
            <a:off x="10269757" y="222199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7</a:t>
            </a:r>
            <a:endParaRPr lang="en-US" sz="1000" dirty="0"/>
          </a:p>
        </p:txBody>
      </p:sp>
      <p:sp>
        <p:nvSpPr>
          <p:cNvPr id="58" name="Text 56"/>
          <p:cNvSpPr txBox="1"/>
          <p:nvPr/>
        </p:nvSpPr>
        <p:spPr>
          <a:xfrm>
            <a:off x="10269757" y="245059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13-14</a:t>
            </a:r>
            <a:endParaRPr lang="en-US" sz="950" dirty="0"/>
          </a:p>
        </p:txBody>
      </p:sp>
      <p:sp>
        <p:nvSpPr>
          <p:cNvPr id="59" name="Text 57"/>
          <p:cNvSpPr txBox="1"/>
          <p:nvPr/>
        </p:nvSpPr>
        <p:spPr>
          <a:xfrm>
            <a:off x="10269757" y="2688336"/>
            <a:ext cx="1318434" cy="585216"/>
          </a:xfrm>
          <a:prstGeom prst="rect">
            <a:avLst/>
          </a:prstGeom>
          <a:noFill/>
          <a:ln/>
        </p:spPr>
        <p:txBody>
          <a:bodyPr wrap="square" lIns="0" tIns="0" rIns="0" bIns="0" rtlCol="0" anchor="t"/>
          <a:lstStyle/>
          <a:p>
            <a:pPr indent="0" marL="0">
              <a:buNone/>
            </a:pPr>
            <a:r>
              <a:rPr lang="en-US" sz="1000" dirty="0">
                <a:solidFill>
                  <a:srgbClr val="000000"/>
                </a:solidFill>
              </a:rPr>
              <a:t>Badges, check-in, CME [to confirm]; journeys</a:t>
            </a:r>
            <a:endParaRPr lang="en-US" sz="1000" dirty="0"/>
          </a:p>
        </p:txBody>
      </p:sp>
      <p:sp>
        <p:nvSpPr>
          <p:cNvPr id="60" name="Shape 58"/>
          <p:cNvSpPr/>
          <p:nvPr/>
        </p:nvSpPr>
        <p:spPr>
          <a:xfrm>
            <a:off x="10269757" y="3291840"/>
            <a:ext cx="1318434" cy="0"/>
          </a:xfrm>
          <a:prstGeom prst="line">
            <a:avLst/>
          </a:prstGeom>
          <a:noFill/>
          <a:ln w="9525">
            <a:solidFill>
              <a:srgbClr val="D0D0D6"/>
            </a:solidFill>
            <a:prstDash val="solid"/>
          </a:ln>
        </p:spPr>
      </p:sp>
      <p:sp>
        <p:nvSpPr>
          <p:cNvPr id="61" name="Shape 59"/>
          <p:cNvSpPr/>
          <p:nvPr/>
        </p:nvSpPr>
        <p:spPr>
          <a:xfrm>
            <a:off x="10269757" y="3429000"/>
            <a:ext cx="137160" cy="137160"/>
          </a:xfrm>
          <a:prstGeom prst="diamond">
            <a:avLst/>
          </a:prstGeom>
          <a:solidFill>
            <a:srgbClr val="000000"/>
          </a:solidFill>
          <a:ln w="12700">
            <a:solidFill>
              <a:srgbClr val="000000"/>
            </a:solidFill>
            <a:prstDash val="solid"/>
          </a:ln>
        </p:spPr>
      </p:sp>
      <p:sp>
        <p:nvSpPr>
          <p:cNvPr id="62" name="Text 60"/>
          <p:cNvSpPr txBox="1"/>
          <p:nvPr/>
        </p:nvSpPr>
        <p:spPr>
          <a:xfrm>
            <a:off x="10489213" y="334670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Check-in demo</a:t>
            </a:r>
            <a:endParaRPr lang="en-US" sz="950" dirty="0"/>
          </a:p>
        </p:txBody>
      </p:sp>
      <p:sp>
        <p:nvSpPr>
          <p:cNvPr id="63" name="sprint-8"/>
          <p:cNvSpPr/>
          <p:nvPr/>
        </p:nvSpPr>
        <p:spPr>
          <a:xfrm>
            <a:off x="502920" y="4251960"/>
            <a:ext cx="1519602" cy="1691640"/>
          </a:xfrm>
          <a:prstGeom prst="roundRect">
            <a:avLst>
              <a:gd name="adj" fmla="val 6017"/>
            </a:avLst>
          </a:prstGeom>
          <a:solidFill>
            <a:srgbClr val="F2F2F2"/>
          </a:solidFill>
          <a:ln w="22225">
            <a:solidFill>
              <a:srgbClr val="FF0068"/>
            </a:solidFill>
            <a:prstDash val="solid"/>
          </a:ln>
        </p:spPr>
      </p:sp>
      <p:sp>
        <p:nvSpPr>
          <p:cNvPr id="64" name="Text 62"/>
          <p:cNvSpPr txBox="1"/>
          <p:nvPr/>
        </p:nvSpPr>
        <p:spPr>
          <a:xfrm>
            <a:off x="603504" y="437083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8</a:t>
            </a:r>
            <a:endParaRPr lang="en-US" sz="1000" dirty="0"/>
          </a:p>
        </p:txBody>
      </p:sp>
      <p:sp>
        <p:nvSpPr>
          <p:cNvPr id="65" name="Text 63"/>
          <p:cNvSpPr txBox="1"/>
          <p:nvPr/>
        </p:nvSpPr>
        <p:spPr>
          <a:xfrm>
            <a:off x="603504"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15-16</a:t>
            </a:r>
            <a:endParaRPr lang="en-US" sz="950" dirty="0"/>
          </a:p>
        </p:txBody>
      </p:sp>
      <p:sp>
        <p:nvSpPr>
          <p:cNvPr id="66" name="Text 64"/>
          <p:cNvSpPr txBox="1"/>
          <p:nvPr/>
        </p:nvSpPr>
        <p:spPr>
          <a:xfrm>
            <a:off x="603504"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Conference reporting; load test</a:t>
            </a:r>
            <a:endParaRPr lang="en-US" sz="1000" dirty="0"/>
          </a:p>
        </p:txBody>
      </p:sp>
      <p:sp>
        <p:nvSpPr>
          <p:cNvPr id="67" name="Shape 65"/>
          <p:cNvSpPr/>
          <p:nvPr/>
        </p:nvSpPr>
        <p:spPr>
          <a:xfrm>
            <a:off x="603504" y="5440680"/>
            <a:ext cx="1318434" cy="0"/>
          </a:xfrm>
          <a:prstGeom prst="line">
            <a:avLst/>
          </a:prstGeom>
          <a:noFill/>
          <a:ln w="9525">
            <a:solidFill>
              <a:srgbClr val="D0D0D6"/>
            </a:solidFill>
            <a:prstDash val="solid"/>
          </a:ln>
        </p:spPr>
      </p:sp>
      <p:sp>
        <p:nvSpPr>
          <p:cNvPr id="68" name="Shape 66"/>
          <p:cNvSpPr/>
          <p:nvPr/>
        </p:nvSpPr>
        <p:spPr>
          <a:xfrm>
            <a:off x="603504" y="5577840"/>
            <a:ext cx="137160" cy="137160"/>
          </a:xfrm>
          <a:prstGeom prst="diamond">
            <a:avLst/>
          </a:prstGeom>
          <a:solidFill>
            <a:srgbClr val="000000"/>
          </a:solidFill>
          <a:ln w="12700">
            <a:solidFill>
              <a:srgbClr val="000000"/>
            </a:solidFill>
            <a:prstDash val="solid"/>
          </a:ln>
        </p:spPr>
      </p:sp>
      <p:sp>
        <p:nvSpPr>
          <p:cNvPr id="69" name="Text 67"/>
          <p:cNvSpPr txBox="1"/>
          <p:nvPr/>
        </p:nvSpPr>
        <p:spPr>
          <a:xfrm>
            <a:off x="822960"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Load test passed</a:t>
            </a:r>
            <a:endParaRPr lang="en-US" sz="950" dirty="0"/>
          </a:p>
        </p:txBody>
      </p:sp>
      <p:sp>
        <p:nvSpPr>
          <p:cNvPr id="70" name="sprint-9"/>
          <p:cNvSpPr/>
          <p:nvPr/>
        </p:nvSpPr>
        <p:spPr>
          <a:xfrm>
            <a:off x="2113962" y="4251960"/>
            <a:ext cx="1519602" cy="1691640"/>
          </a:xfrm>
          <a:prstGeom prst="roundRect">
            <a:avLst>
              <a:gd name="adj" fmla="val 6017"/>
            </a:avLst>
          </a:prstGeom>
          <a:solidFill>
            <a:srgbClr val="F2F2F2"/>
          </a:solidFill>
          <a:ln w="22225">
            <a:solidFill>
              <a:srgbClr val="FF0068"/>
            </a:solidFill>
            <a:prstDash val="solid"/>
          </a:ln>
        </p:spPr>
      </p:sp>
      <p:sp>
        <p:nvSpPr>
          <p:cNvPr id="71" name="Text 69"/>
          <p:cNvSpPr txBox="1"/>
          <p:nvPr/>
        </p:nvSpPr>
        <p:spPr>
          <a:xfrm>
            <a:off x="2214546" y="4370832"/>
            <a:ext cx="1318434" cy="219456"/>
          </a:xfrm>
          <a:prstGeom prst="rect">
            <a:avLst/>
          </a:prstGeom>
          <a:noFill/>
          <a:ln/>
        </p:spPr>
        <p:txBody>
          <a:bodyPr wrap="square" lIns="0" tIns="0" rIns="0" bIns="0" rtlCol="0" anchor="t"/>
          <a:lstStyle/>
          <a:p>
            <a:pPr indent="0" marL="0">
              <a:buNone/>
            </a:pPr>
            <a:r>
              <a:rPr lang="en-US" sz="1000" b="1" spc="200" kern="0" dirty="0">
                <a:solidFill>
                  <a:srgbClr val="C8005A"/>
                </a:solidFill>
              </a:rPr>
              <a:t>SPRINT 9</a:t>
            </a:r>
            <a:endParaRPr lang="en-US" sz="1000" dirty="0"/>
          </a:p>
        </p:txBody>
      </p:sp>
      <p:sp>
        <p:nvSpPr>
          <p:cNvPr id="72" name="Text 70"/>
          <p:cNvSpPr txBox="1"/>
          <p:nvPr/>
        </p:nvSpPr>
        <p:spPr>
          <a:xfrm>
            <a:off x="2214546"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17-18</a:t>
            </a:r>
            <a:endParaRPr lang="en-US" sz="950" dirty="0"/>
          </a:p>
        </p:txBody>
      </p:sp>
      <p:sp>
        <p:nvSpPr>
          <p:cNvPr id="73" name="Text 71"/>
          <p:cNvSpPr txBox="1"/>
          <p:nvPr/>
        </p:nvSpPr>
        <p:spPr>
          <a:xfrm>
            <a:off x="2214546"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User testing and fixes</a:t>
            </a:r>
            <a:endParaRPr lang="en-US" sz="1000" dirty="0"/>
          </a:p>
        </p:txBody>
      </p:sp>
      <p:sp>
        <p:nvSpPr>
          <p:cNvPr id="74" name="Shape 72"/>
          <p:cNvSpPr/>
          <p:nvPr/>
        </p:nvSpPr>
        <p:spPr>
          <a:xfrm>
            <a:off x="2214546" y="5440680"/>
            <a:ext cx="1318434" cy="0"/>
          </a:xfrm>
          <a:prstGeom prst="line">
            <a:avLst/>
          </a:prstGeom>
          <a:noFill/>
          <a:ln w="9525">
            <a:solidFill>
              <a:srgbClr val="D0D0D6"/>
            </a:solidFill>
            <a:prstDash val="solid"/>
          </a:ln>
        </p:spPr>
      </p:sp>
      <p:sp>
        <p:nvSpPr>
          <p:cNvPr id="75" name="Shape 73"/>
          <p:cNvSpPr/>
          <p:nvPr/>
        </p:nvSpPr>
        <p:spPr>
          <a:xfrm>
            <a:off x="2214546" y="5577840"/>
            <a:ext cx="137160" cy="137160"/>
          </a:xfrm>
          <a:prstGeom prst="diamond">
            <a:avLst/>
          </a:prstGeom>
          <a:solidFill>
            <a:srgbClr val="000000"/>
          </a:solidFill>
          <a:ln w="12700">
            <a:solidFill>
              <a:srgbClr val="000000"/>
            </a:solidFill>
            <a:prstDash val="solid"/>
          </a:ln>
        </p:spPr>
      </p:sp>
      <p:sp>
        <p:nvSpPr>
          <p:cNvPr id="76" name="Text 74"/>
          <p:cNvSpPr txBox="1"/>
          <p:nvPr/>
        </p:nvSpPr>
        <p:spPr>
          <a:xfrm>
            <a:off x="2434002"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Testing sign-off</a:t>
            </a:r>
            <a:endParaRPr lang="en-US" sz="950" dirty="0"/>
          </a:p>
        </p:txBody>
      </p:sp>
      <p:sp>
        <p:nvSpPr>
          <p:cNvPr id="77" name="sprint-10"/>
          <p:cNvSpPr/>
          <p:nvPr/>
        </p:nvSpPr>
        <p:spPr>
          <a:xfrm>
            <a:off x="3725004" y="4251960"/>
            <a:ext cx="1519602" cy="1691640"/>
          </a:xfrm>
          <a:prstGeom prst="roundRect">
            <a:avLst>
              <a:gd name="adj" fmla="val 6017"/>
            </a:avLst>
          </a:prstGeom>
          <a:solidFill>
            <a:srgbClr val="000000"/>
          </a:solidFill>
          <a:ln w="22225">
            <a:solidFill>
              <a:srgbClr val="FF0068"/>
            </a:solidFill>
            <a:prstDash val="solid"/>
          </a:ln>
        </p:spPr>
      </p:sp>
      <p:sp>
        <p:nvSpPr>
          <p:cNvPr id="78" name="Text 76"/>
          <p:cNvSpPr txBox="1"/>
          <p:nvPr/>
        </p:nvSpPr>
        <p:spPr>
          <a:xfrm>
            <a:off x="3825588" y="4370832"/>
            <a:ext cx="1318434" cy="219456"/>
          </a:xfrm>
          <a:prstGeom prst="rect">
            <a:avLst/>
          </a:prstGeom>
          <a:noFill/>
          <a:ln/>
        </p:spPr>
        <p:txBody>
          <a:bodyPr wrap="square" lIns="0" tIns="0" rIns="0" bIns="0" rtlCol="0" anchor="t"/>
          <a:lstStyle/>
          <a:p>
            <a:pPr indent="0" marL="0">
              <a:buNone/>
            </a:pPr>
            <a:r>
              <a:rPr lang="en-US" sz="1000" b="1" spc="200" kern="0" dirty="0">
                <a:solidFill>
                  <a:srgbClr val="FF0068"/>
                </a:solidFill>
              </a:rPr>
              <a:t>SPRINT 10</a:t>
            </a:r>
            <a:endParaRPr lang="en-US" sz="1000" dirty="0"/>
          </a:p>
        </p:txBody>
      </p:sp>
      <p:sp>
        <p:nvSpPr>
          <p:cNvPr id="79" name="Text 77"/>
          <p:cNvSpPr txBox="1"/>
          <p:nvPr/>
        </p:nvSpPr>
        <p:spPr>
          <a:xfrm>
            <a:off x="3825588" y="4599432"/>
            <a:ext cx="1318434" cy="201168"/>
          </a:xfrm>
          <a:prstGeom prst="rect">
            <a:avLst/>
          </a:prstGeom>
          <a:noFill/>
          <a:ln/>
        </p:spPr>
        <p:txBody>
          <a:bodyPr wrap="square" lIns="0" tIns="0" rIns="0" bIns="0" rtlCol="0" anchor="t"/>
          <a:lstStyle/>
          <a:p>
            <a:pPr indent="0" marL="0">
              <a:buNone/>
            </a:pPr>
            <a:r>
              <a:rPr lang="en-US" sz="950" dirty="0">
                <a:solidFill>
                  <a:srgbClr val="D9D9D9"/>
                </a:solidFill>
              </a:rPr>
              <a:t>Weeks 19-20</a:t>
            </a:r>
            <a:endParaRPr lang="en-US" sz="950" dirty="0"/>
          </a:p>
        </p:txBody>
      </p:sp>
      <p:sp>
        <p:nvSpPr>
          <p:cNvPr id="80" name="Text 78"/>
          <p:cNvSpPr txBox="1"/>
          <p:nvPr/>
        </p:nvSpPr>
        <p:spPr>
          <a:xfrm>
            <a:off x="3825588" y="4837176"/>
            <a:ext cx="1318434" cy="585216"/>
          </a:xfrm>
          <a:prstGeom prst="rect">
            <a:avLst/>
          </a:prstGeom>
          <a:noFill/>
          <a:ln/>
        </p:spPr>
        <p:txBody>
          <a:bodyPr wrap="square" lIns="0" tIns="0" rIns="0" bIns="0" rtlCol="0" anchor="t"/>
          <a:lstStyle/>
          <a:p>
            <a:pPr indent="0" marL="0">
              <a:buNone/>
            </a:pPr>
            <a:r>
              <a:rPr lang="en-US" sz="1000" dirty="0">
                <a:solidFill>
                  <a:srgbClr val="FFFFFF"/>
                </a:solidFill>
              </a:rPr>
              <a:t>Final data load, go-live, hypercare</a:t>
            </a:r>
            <a:endParaRPr lang="en-US" sz="1000" dirty="0"/>
          </a:p>
        </p:txBody>
      </p:sp>
      <p:sp>
        <p:nvSpPr>
          <p:cNvPr id="81" name="Shape 79"/>
          <p:cNvSpPr/>
          <p:nvPr/>
        </p:nvSpPr>
        <p:spPr>
          <a:xfrm>
            <a:off x="3825588" y="5440680"/>
            <a:ext cx="1318434" cy="0"/>
          </a:xfrm>
          <a:prstGeom prst="line">
            <a:avLst/>
          </a:prstGeom>
          <a:noFill/>
          <a:ln w="9525">
            <a:solidFill>
              <a:srgbClr val="555555"/>
            </a:solidFill>
            <a:prstDash val="solid"/>
          </a:ln>
        </p:spPr>
      </p:sp>
      <p:sp>
        <p:nvSpPr>
          <p:cNvPr id="82" name="Shape 80"/>
          <p:cNvSpPr/>
          <p:nvPr/>
        </p:nvSpPr>
        <p:spPr>
          <a:xfrm>
            <a:off x="3825588" y="5577840"/>
            <a:ext cx="137160" cy="137160"/>
          </a:xfrm>
          <a:prstGeom prst="diamond">
            <a:avLst/>
          </a:prstGeom>
          <a:solidFill>
            <a:srgbClr val="FF0068"/>
          </a:solidFill>
          <a:ln w="12700">
            <a:solidFill>
              <a:srgbClr val="FF0068"/>
            </a:solidFill>
            <a:prstDash val="solid"/>
          </a:ln>
        </p:spPr>
      </p:sp>
      <p:sp>
        <p:nvSpPr>
          <p:cNvPr id="83" name="Text 81"/>
          <p:cNvSpPr txBox="1"/>
          <p:nvPr/>
        </p:nvSpPr>
        <p:spPr>
          <a:xfrm>
            <a:off x="4045044" y="5495544"/>
            <a:ext cx="1098978" cy="402336"/>
          </a:xfrm>
          <a:prstGeom prst="rect">
            <a:avLst/>
          </a:prstGeom>
          <a:noFill/>
          <a:ln/>
        </p:spPr>
        <p:txBody>
          <a:bodyPr wrap="square" lIns="0" tIns="0" rIns="0" bIns="0" rtlCol="0" anchor="t"/>
          <a:lstStyle/>
          <a:p>
            <a:pPr indent="0" marL="0">
              <a:buNone/>
            </a:pPr>
            <a:r>
              <a:rPr lang="en-US" sz="950" b="1" dirty="0">
                <a:solidFill>
                  <a:srgbClr val="FFFFFF"/>
                </a:solidFill>
              </a:rPr>
              <a:t>Phase 1 live, Certain retired</a:t>
            </a:r>
            <a:endParaRPr lang="en-US" sz="950" dirty="0"/>
          </a:p>
        </p:txBody>
      </p:sp>
      <p:sp>
        <p:nvSpPr>
          <p:cNvPr id="84" name="sprint-11"/>
          <p:cNvSpPr/>
          <p:nvPr/>
        </p:nvSpPr>
        <p:spPr>
          <a:xfrm>
            <a:off x="5336047" y="4251960"/>
            <a:ext cx="1519602" cy="1691640"/>
          </a:xfrm>
          <a:prstGeom prst="roundRect">
            <a:avLst>
              <a:gd name="adj" fmla="val 6017"/>
            </a:avLst>
          </a:prstGeom>
          <a:solidFill>
            <a:srgbClr val="F2F2F2"/>
          </a:solidFill>
          <a:ln w="22225">
            <a:solidFill>
              <a:srgbClr val="D9B200"/>
            </a:solidFill>
            <a:prstDash val="solid"/>
          </a:ln>
        </p:spPr>
      </p:sp>
      <p:sp>
        <p:nvSpPr>
          <p:cNvPr id="85" name="Text 83"/>
          <p:cNvSpPr txBox="1"/>
          <p:nvPr/>
        </p:nvSpPr>
        <p:spPr>
          <a:xfrm>
            <a:off x="5436631" y="4370832"/>
            <a:ext cx="1318434" cy="219456"/>
          </a:xfrm>
          <a:prstGeom prst="rect">
            <a:avLst/>
          </a:prstGeom>
          <a:noFill/>
          <a:ln/>
        </p:spPr>
        <p:txBody>
          <a:bodyPr wrap="square" lIns="0" tIns="0" rIns="0" bIns="0" rtlCol="0" anchor="t"/>
          <a:lstStyle/>
          <a:p>
            <a:pPr indent="0" marL="0">
              <a:buNone/>
            </a:pPr>
            <a:r>
              <a:rPr lang="en-US" sz="1000" b="1" spc="200" kern="0" dirty="0">
                <a:solidFill>
                  <a:srgbClr val="7A6100"/>
                </a:solidFill>
              </a:rPr>
              <a:t>SPRINT 11</a:t>
            </a:r>
            <a:endParaRPr lang="en-US" sz="1000" dirty="0"/>
          </a:p>
        </p:txBody>
      </p:sp>
      <p:sp>
        <p:nvSpPr>
          <p:cNvPr id="86" name="Text 84"/>
          <p:cNvSpPr txBox="1"/>
          <p:nvPr/>
        </p:nvSpPr>
        <p:spPr>
          <a:xfrm>
            <a:off x="5436631"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21-22</a:t>
            </a:r>
            <a:endParaRPr lang="en-US" sz="950" dirty="0"/>
          </a:p>
        </p:txBody>
      </p:sp>
      <p:sp>
        <p:nvSpPr>
          <p:cNvPr id="87" name="Text 85"/>
          <p:cNvSpPr txBox="1"/>
          <p:nvPr/>
        </p:nvSpPr>
        <p:spPr>
          <a:xfrm>
            <a:off x="5436631"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Classes onto the shared model; instant confirmation, waitlists</a:t>
            </a:r>
            <a:endParaRPr lang="en-US" sz="1000" dirty="0"/>
          </a:p>
        </p:txBody>
      </p:sp>
      <p:sp>
        <p:nvSpPr>
          <p:cNvPr id="88" name="Shape 86"/>
          <p:cNvSpPr/>
          <p:nvPr/>
        </p:nvSpPr>
        <p:spPr>
          <a:xfrm>
            <a:off x="5436631" y="5440680"/>
            <a:ext cx="1318434" cy="0"/>
          </a:xfrm>
          <a:prstGeom prst="line">
            <a:avLst/>
          </a:prstGeom>
          <a:noFill/>
          <a:ln w="9525">
            <a:solidFill>
              <a:srgbClr val="D0D0D6"/>
            </a:solidFill>
            <a:prstDash val="solid"/>
          </a:ln>
        </p:spPr>
      </p:sp>
      <p:sp>
        <p:nvSpPr>
          <p:cNvPr id="89" name="Shape 87"/>
          <p:cNvSpPr/>
          <p:nvPr/>
        </p:nvSpPr>
        <p:spPr>
          <a:xfrm>
            <a:off x="5436631" y="5577840"/>
            <a:ext cx="137160" cy="137160"/>
          </a:xfrm>
          <a:prstGeom prst="diamond">
            <a:avLst/>
          </a:prstGeom>
          <a:solidFill>
            <a:srgbClr val="000000"/>
          </a:solidFill>
          <a:ln w="12700">
            <a:solidFill>
              <a:srgbClr val="000000"/>
            </a:solidFill>
            <a:prstDash val="solid"/>
          </a:ln>
        </p:spPr>
      </p:sp>
      <p:sp>
        <p:nvSpPr>
          <p:cNvPr id="90" name="Text 88"/>
          <p:cNvSpPr txBox="1"/>
          <p:nvPr/>
        </p:nvSpPr>
        <p:spPr>
          <a:xfrm>
            <a:off x="5656087"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Classes on shared model</a:t>
            </a:r>
            <a:endParaRPr lang="en-US" sz="950" dirty="0"/>
          </a:p>
        </p:txBody>
      </p:sp>
      <p:sp>
        <p:nvSpPr>
          <p:cNvPr id="91" name="sprint-12"/>
          <p:cNvSpPr/>
          <p:nvPr/>
        </p:nvSpPr>
        <p:spPr>
          <a:xfrm>
            <a:off x="6947089" y="4251960"/>
            <a:ext cx="1519602" cy="1691640"/>
          </a:xfrm>
          <a:prstGeom prst="roundRect">
            <a:avLst>
              <a:gd name="adj" fmla="val 6017"/>
            </a:avLst>
          </a:prstGeom>
          <a:solidFill>
            <a:srgbClr val="F2F2F2"/>
          </a:solidFill>
          <a:ln w="22225">
            <a:solidFill>
              <a:srgbClr val="D9B200"/>
            </a:solidFill>
            <a:prstDash val="solid"/>
          </a:ln>
        </p:spPr>
      </p:sp>
      <p:sp>
        <p:nvSpPr>
          <p:cNvPr id="92" name="Text 90"/>
          <p:cNvSpPr txBox="1"/>
          <p:nvPr/>
        </p:nvSpPr>
        <p:spPr>
          <a:xfrm>
            <a:off x="7047673" y="4370832"/>
            <a:ext cx="1318434" cy="219456"/>
          </a:xfrm>
          <a:prstGeom prst="rect">
            <a:avLst/>
          </a:prstGeom>
          <a:noFill/>
          <a:ln/>
        </p:spPr>
        <p:txBody>
          <a:bodyPr wrap="square" lIns="0" tIns="0" rIns="0" bIns="0" rtlCol="0" anchor="t"/>
          <a:lstStyle/>
          <a:p>
            <a:pPr indent="0" marL="0">
              <a:buNone/>
            </a:pPr>
            <a:r>
              <a:rPr lang="en-US" sz="1000" b="1" spc="200" kern="0" dirty="0">
                <a:solidFill>
                  <a:srgbClr val="7A6100"/>
                </a:solidFill>
              </a:rPr>
              <a:t>SPRINT 12</a:t>
            </a:r>
            <a:endParaRPr lang="en-US" sz="1000" dirty="0"/>
          </a:p>
        </p:txBody>
      </p:sp>
      <p:sp>
        <p:nvSpPr>
          <p:cNvPr id="93" name="Text 91"/>
          <p:cNvSpPr txBox="1"/>
          <p:nvPr/>
        </p:nvSpPr>
        <p:spPr>
          <a:xfrm>
            <a:off x="7047673" y="4599432"/>
            <a:ext cx="1318434" cy="201168"/>
          </a:xfrm>
          <a:prstGeom prst="rect">
            <a:avLst/>
          </a:prstGeom>
          <a:noFill/>
          <a:ln/>
        </p:spPr>
        <p:txBody>
          <a:bodyPr wrap="square" lIns="0" tIns="0" rIns="0" bIns="0" rtlCol="0" anchor="t"/>
          <a:lstStyle/>
          <a:p>
            <a:pPr indent="0" marL="0">
              <a:buNone/>
            </a:pPr>
            <a:r>
              <a:rPr lang="en-US" sz="950" dirty="0">
                <a:solidFill>
                  <a:srgbClr val="4D4D4D"/>
                </a:solidFill>
              </a:rPr>
              <a:t>Weeks 23-24</a:t>
            </a:r>
            <a:endParaRPr lang="en-US" sz="950" dirty="0"/>
          </a:p>
        </p:txBody>
      </p:sp>
      <p:sp>
        <p:nvSpPr>
          <p:cNvPr id="94" name="Text 92"/>
          <p:cNvSpPr txBox="1"/>
          <p:nvPr/>
        </p:nvSpPr>
        <p:spPr>
          <a:xfrm>
            <a:off x="7047673" y="4837176"/>
            <a:ext cx="1318434" cy="585216"/>
          </a:xfrm>
          <a:prstGeom prst="rect">
            <a:avLst/>
          </a:prstGeom>
          <a:noFill/>
          <a:ln/>
        </p:spPr>
        <p:txBody>
          <a:bodyPr wrap="square" lIns="0" tIns="0" rIns="0" bIns="0" rtlCol="0" anchor="t"/>
          <a:lstStyle/>
          <a:p>
            <a:pPr indent="0" marL="0">
              <a:buNone/>
            </a:pPr>
            <a:r>
              <a:rPr lang="en-US" sz="1000" dirty="0">
                <a:solidFill>
                  <a:srgbClr val="000000"/>
                </a:solidFill>
              </a:rPr>
              <a:t>QR check-in, reporting, app connected; user testing</a:t>
            </a:r>
            <a:endParaRPr lang="en-US" sz="1000" dirty="0"/>
          </a:p>
        </p:txBody>
      </p:sp>
      <p:sp>
        <p:nvSpPr>
          <p:cNvPr id="95" name="Shape 93"/>
          <p:cNvSpPr/>
          <p:nvPr/>
        </p:nvSpPr>
        <p:spPr>
          <a:xfrm>
            <a:off x="7047673" y="5440680"/>
            <a:ext cx="1318434" cy="0"/>
          </a:xfrm>
          <a:prstGeom prst="line">
            <a:avLst/>
          </a:prstGeom>
          <a:noFill/>
          <a:ln w="9525">
            <a:solidFill>
              <a:srgbClr val="D0D0D6"/>
            </a:solidFill>
            <a:prstDash val="solid"/>
          </a:ln>
        </p:spPr>
      </p:sp>
      <p:sp>
        <p:nvSpPr>
          <p:cNvPr id="96" name="Shape 94"/>
          <p:cNvSpPr/>
          <p:nvPr/>
        </p:nvSpPr>
        <p:spPr>
          <a:xfrm>
            <a:off x="7047673" y="5577840"/>
            <a:ext cx="137160" cy="137160"/>
          </a:xfrm>
          <a:prstGeom prst="diamond">
            <a:avLst/>
          </a:prstGeom>
          <a:solidFill>
            <a:srgbClr val="000000"/>
          </a:solidFill>
          <a:ln w="12700">
            <a:solidFill>
              <a:srgbClr val="000000"/>
            </a:solidFill>
            <a:prstDash val="solid"/>
          </a:ln>
        </p:spPr>
      </p:sp>
      <p:sp>
        <p:nvSpPr>
          <p:cNvPr id="97" name="Text 95"/>
          <p:cNvSpPr txBox="1"/>
          <p:nvPr/>
        </p:nvSpPr>
        <p:spPr>
          <a:xfrm>
            <a:off x="7267129" y="5495544"/>
            <a:ext cx="1098978" cy="402336"/>
          </a:xfrm>
          <a:prstGeom prst="rect">
            <a:avLst/>
          </a:prstGeom>
          <a:noFill/>
          <a:ln/>
        </p:spPr>
        <p:txBody>
          <a:bodyPr wrap="square" lIns="0" tIns="0" rIns="0" bIns="0" rtlCol="0" anchor="t"/>
          <a:lstStyle/>
          <a:p>
            <a:pPr indent="0" marL="0">
              <a:buNone/>
            </a:pPr>
            <a:r>
              <a:rPr lang="en-US" sz="950" b="1" dirty="0">
                <a:solidFill>
                  <a:srgbClr val="000000"/>
                </a:solidFill>
              </a:rPr>
              <a:t>Testing sign-off</a:t>
            </a:r>
            <a:endParaRPr lang="en-US" sz="950" dirty="0"/>
          </a:p>
        </p:txBody>
      </p:sp>
      <p:sp>
        <p:nvSpPr>
          <p:cNvPr id="98" name="sprint-13"/>
          <p:cNvSpPr/>
          <p:nvPr/>
        </p:nvSpPr>
        <p:spPr>
          <a:xfrm>
            <a:off x="8558131" y="4251960"/>
            <a:ext cx="1519602" cy="1691640"/>
          </a:xfrm>
          <a:prstGeom prst="roundRect">
            <a:avLst>
              <a:gd name="adj" fmla="val 6017"/>
            </a:avLst>
          </a:prstGeom>
          <a:solidFill>
            <a:srgbClr val="000000"/>
          </a:solidFill>
          <a:ln w="22225">
            <a:solidFill>
              <a:srgbClr val="D9B200"/>
            </a:solidFill>
            <a:prstDash val="solid"/>
          </a:ln>
        </p:spPr>
      </p:sp>
      <p:sp>
        <p:nvSpPr>
          <p:cNvPr id="99" name="Text 97"/>
          <p:cNvSpPr txBox="1"/>
          <p:nvPr/>
        </p:nvSpPr>
        <p:spPr>
          <a:xfrm>
            <a:off x="8658715" y="4370832"/>
            <a:ext cx="1318434" cy="219456"/>
          </a:xfrm>
          <a:prstGeom prst="rect">
            <a:avLst/>
          </a:prstGeom>
          <a:noFill/>
          <a:ln/>
        </p:spPr>
        <p:txBody>
          <a:bodyPr wrap="square" lIns="0" tIns="0" rIns="0" bIns="0" rtlCol="0" anchor="t"/>
          <a:lstStyle/>
          <a:p>
            <a:pPr indent="0" marL="0">
              <a:buNone/>
            </a:pPr>
            <a:r>
              <a:rPr lang="en-US" sz="1000" b="1" spc="200" kern="0" dirty="0">
                <a:solidFill>
                  <a:srgbClr val="D9B200"/>
                </a:solidFill>
              </a:rPr>
              <a:t>GO-LIVE</a:t>
            </a:r>
            <a:endParaRPr lang="en-US" sz="1000" dirty="0"/>
          </a:p>
        </p:txBody>
      </p:sp>
      <p:sp>
        <p:nvSpPr>
          <p:cNvPr id="100" name="Text 98"/>
          <p:cNvSpPr txBox="1"/>
          <p:nvPr/>
        </p:nvSpPr>
        <p:spPr>
          <a:xfrm>
            <a:off x="8658715" y="4599432"/>
            <a:ext cx="1318434" cy="201168"/>
          </a:xfrm>
          <a:prstGeom prst="rect">
            <a:avLst/>
          </a:prstGeom>
          <a:noFill/>
          <a:ln/>
        </p:spPr>
        <p:txBody>
          <a:bodyPr wrap="square" lIns="0" tIns="0" rIns="0" bIns="0" rtlCol="0" anchor="t"/>
          <a:lstStyle/>
          <a:p>
            <a:pPr indent="0" marL="0">
              <a:buNone/>
            </a:pPr>
            <a:r>
              <a:rPr lang="en-US" sz="950" dirty="0">
                <a:solidFill>
                  <a:srgbClr val="D9D9D9"/>
                </a:solidFill>
              </a:rPr>
              <a:t>Week 25</a:t>
            </a:r>
            <a:endParaRPr lang="en-US" sz="950" dirty="0"/>
          </a:p>
        </p:txBody>
      </p:sp>
      <p:sp>
        <p:nvSpPr>
          <p:cNvPr id="101" name="Text 99"/>
          <p:cNvSpPr txBox="1"/>
          <p:nvPr/>
        </p:nvSpPr>
        <p:spPr>
          <a:xfrm>
            <a:off x="8658715" y="4837176"/>
            <a:ext cx="1318434" cy="585216"/>
          </a:xfrm>
          <a:prstGeom prst="rect">
            <a:avLst/>
          </a:prstGeom>
          <a:noFill/>
          <a:ln/>
        </p:spPr>
        <p:txBody>
          <a:bodyPr wrap="square" lIns="0" tIns="0" rIns="0" bIns="0" rtlCol="0" anchor="t"/>
          <a:lstStyle/>
          <a:p>
            <a:pPr indent="0" marL="0">
              <a:buNone/>
            </a:pPr>
            <a:r>
              <a:rPr lang="en-US" sz="1000" dirty="0">
                <a:solidFill>
                  <a:srgbClr val="FFFFFF"/>
                </a:solidFill>
              </a:rPr>
              <a:t>Classes go-live, hypercare, knowledge transfer</a:t>
            </a:r>
            <a:endParaRPr lang="en-US" sz="1000" dirty="0"/>
          </a:p>
        </p:txBody>
      </p:sp>
      <p:sp>
        <p:nvSpPr>
          <p:cNvPr id="102" name="Shape 100"/>
          <p:cNvSpPr/>
          <p:nvPr/>
        </p:nvSpPr>
        <p:spPr>
          <a:xfrm>
            <a:off x="8658715" y="5440680"/>
            <a:ext cx="1318434" cy="0"/>
          </a:xfrm>
          <a:prstGeom prst="line">
            <a:avLst/>
          </a:prstGeom>
          <a:noFill/>
          <a:ln w="9525">
            <a:solidFill>
              <a:srgbClr val="555555"/>
            </a:solidFill>
            <a:prstDash val="solid"/>
          </a:ln>
        </p:spPr>
      </p:sp>
      <p:sp>
        <p:nvSpPr>
          <p:cNvPr id="103" name="Shape 101"/>
          <p:cNvSpPr/>
          <p:nvPr/>
        </p:nvSpPr>
        <p:spPr>
          <a:xfrm>
            <a:off x="8658715" y="5577840"/>
            <a:ext cx="137160" cy="137160"/>
          </a:xfrm>
          <a:prstGeom prst="diamond">
            <a:avLst/>
          </a:prstGeom>
          <a:solidFill>
            <a:srgbClr val="D9B200"/>
          </a:solidFill>
          <a:ln w="12700">
            <a:solidFill>
              <a:srgbClr val="D9B200"/>
            </a:solidFill>
            <a:prstDash val="solid"/>
          </a:ln>
        </p:spPr>
      </p:sp>
      <p:sp>
        <p:nvSpPr>
          <p:cNvPr id="104" name="Text 102"/>
          <p:cNvSpPr txBox="1"/>
          <p:nvPr/>
        </p:nvSpPr>
        <p:spPr>
          <a:xfrm>
            <a:off x="8878171" y="5495544"/>
            <a:ext cx="1098978" cy="402336"/>
          </a:xfrm>
          <a:prstGeom prst="rect">
            <a:avLst/>
          </a:prstGeom>
          <a:noFill/>
          <a:ln/>
        </p:spPr>
        <p:txBody>
          <a:bodyPr wrap="square" lIns="0" tIns="0" rIns="0" bIns="0" rtlCol="0" anchor="t"/>
          <a:lstStyle/>
          <a:p>
            <a:pPr indent="0" marL="0">
              <a:buNone/>
            </a:pPr>
            <a:r>
              <a:rPr lang="en-US" sz="950" b="1" dirty="0">
                <a:solidFill>
                  <a:srgbClr val="FFFFFF"/>
                </a:solidFill>
              </a:rPr>
              <a:t>Phase 2 live</a:t>
            </a:r>
            <a:endParaRPr lang="en-US" sz="950" dirty="0"/>
          </a:p>
        </p:txBody>
      </p:sp>
      <p:sp>
        <p:nvSpPr>
          <p:cNvPr id="105" name="transition-band-8"/>
          <p:cNvSpPr/>
          <p:nvPr/>
        </p:nvSpPr>
        <p:spPr>
          <a:xfrm>
            <a:off x="502920" y="6016752"/>
            <a:ext cx="4741687" cy="274320"/>
          </a:xfrm>
          <a:prstGeom prst="roundRect">
            <a:avLst>
              <a:gd name="adj" fmla="val 20000"/>
            </a:avLst>
          </a:prstGeom>
          <a:solidFill>
            <a:srgbClr val="45289F"/>
          </a:solidFill>
          <a:ln w="12700">
            <a:solidFill>
              <a:srgbClr val="45289F"/>
            </a:solidFill>
            <a:prstDash val="solid"/>
          </a:ln>
        </p:spPr>
      </p:sp>
      <p:sp>
        <p:nvSpPr>
          <p:cNvPr id="106" name="Text 104"/>
          <p:cNvSpPr txBox="1"/>
          <p:nvPr/>
        </p:nvSpPr>
        <p:spPr>
          <a:xfrm>
            <a:off x="612648" y="6016752"/>
            <a:ext cx="4522231" cy="274320"/>
          </a:xfrm>
          <a:prstGeom prst="rect">
            <a:avLst/>
          </a:prstGeom>
          <a:noFill/>
          <a:ln/>
        </p:spPr>
        <p:txBody>
          <a:bodyPr wrap="square" lIns="0" tIns="0" rIns="0" bIns="0" rtlCol="0" anchor="ctr"/>
          <a:lstStyle/>
          <a:p>
            <a:pPr indent="0" marL="0">
              <a:buNone/>
            </a:pPr>
            <a:r>
              <a:rPr lang="en-US" sz="1000" b="1" dirty="0">
                <a:solidFill>
                  <a:srgbClr val="FFFFFF"/>
                </a:solidFill>
              </a:rPr>
              <a:t>CERTAIN TRANSITION  ·  Weeks 15-20: export, map, trial loads, cutover</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four-person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2</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Developers: Salesforce and Marketing Cloud</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journeys, data migration</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4 people  ·  12 sprints  ·  25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3-20</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21-25</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26+</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four-person pod, 25 weeks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Weeks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1-20</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$464,000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$232,000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21-25</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$116,000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$58,000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25</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four-person offshore pod for 25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and conference calendar to set the cutover</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2026-10-20T11:54:05Z</dcterms:created>
  <dcterms:modified xsi:type="dcterms:W3CDTF">2026-10-20T11:54:05Z</dcterms:modified>
</cp:coreProperties>
</file>