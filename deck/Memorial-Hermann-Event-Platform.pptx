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3479ca7-9daf-dd6a-f5f7-806fc403effb}">
          <p14:sldIdLst>
            <p14:sldId id="256"/>
            <p14:sldId id="257"/>
            <p14:sldId id="258"/>
          </p14:sldIdLst>
        </p14:section>
        <p14:section name="The solution" id="{d190dae1-3c12-73a7-6cb1-c361cd79e491}">
          <p14:sldIdLst>
            <p14:sldId id="259"/>
            <p14:sldId id="260"/>
            <p14:sldId id="261"/>
            <p14:sldId id="262"/>
            <p14:sldId id="263"/>
            <p14:sldId id="264"/>
            <p14:sldId id="265"/>
            <p14:sldId id="266"/>
            <p14:sldId id="267"/>
            <p14:sldId id="268"/>
          </p14:sldIdLst>
        </p14:section>
        <p14:section name="Delivery plan" id="{9bed81af-68b1-e08a-e27b-9cb959d7b3f1}">
          <p14:sldIdLst>
            <p14:sldId id="269"/>
            <p14:sldId id="270"/>
            <p14:sldId id="271"/>
          </p14:sldIdLst>
        </p14:section>
        <p14:section name="Beyond the event" id="{d723d0bc-6010-d434-e1ad-3aa55cded8b1}">
          <p14:sldIdLst>
            <p14:sldId id="272"/>
            <p14:sldId id="273"/>
            <p14:sldId id="274"/>
            <p14:sldId id="275"/>
            <p14:sldId id="276"/>
            <p14:sldId id="277"/>
          </p14:sldIdLst>
        </p14:section>
        <p14:section name="Roadmap and next steps" id="{cadcd1b0-e7a9-cf21-acbe-80657a54889c}">
          <p14:sldIdLst>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1 to 4 solve the problem Kevin described. Section 5 is the value we add on top: using registration data to keep people engaged and bring them into the Memorial Hermann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back Kevin’s answers so he can correct anything. Two systems and two payment gateways today; the goal is one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app on the Health Cloud org they already own. Sitecore and the existing My Memorial Hermann app are the front doors, Salesforce runs events, Marketing Cloud sends every message. This retires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both the home-built class tool and Certain.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 screens, sample data. One registration flow serves the Sitecore website and the existing My Memorial Hermann app (Epic MyChart), so nothing is built twice. How it appears in the app (menu link or SMART on FHIR launch) is confirmed with Lucky Rai’s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standard Salesforce Lightning app, so their in-house Salesforce admins can own it after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use the same app and data as classes, so attendees, payments and reporting stay in one place. CME requirements to be confirmed with Kevin.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Gateway choice is Memorial Hermann finance's decision; both are supported.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the home-built class registration around week 14. Phase 2 replaces Certain around week 24; time it to land before the Certain renewal. Engagement work can start as soon as Phase 1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app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state. Five agents run day-to-day event and campaign work, but only through the harness: approved actions, guardrails on consent and patient data, staff approval for anything that reaches patients or spends money, per-agent identity, a full audit trail, evaluation before release, the Einstein Trust Layer and a kill switch. Autonomy grows as trust is 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8.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7.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8.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8.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7.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image" Target="../media/image-24-9.png"/><Relationship Id="rId10" Type="http://schemas.openxmlformats.org/officeDocument/2006/relationships/image" Target="../media/image-24-10.png"/><Relationship Id="rId11" Type="http://schemas.openxmlformats.org/officeDocument/2006/relationships/image" Target="../media/image-24-11.png"/><Relationship Id="rId12" Type="http://schemas.openxmlformats.org/officeDocument/2006/relationships/image" Target="../media/image-24-12.png"/><Relationship Id="rId13" Type="http://schemas.openxmlformats.org/officeDocument/2006/relationships/image" Target="../media/image-24-13.png"/><Relationship Id="rId14" Type="http://schemas.openxmlformats.org/officeDocument/2006/relationships/slideLayout" Target="../slideLayouts/slideLayout7.xml"/><Relationship Id="rId1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What we heard</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we heard</a:t>
            </a:r>
            <a:endParaRPr lang="en-US" sz="3200" dirty="0"/>
          </a:p>
        </p:txBody>
      </p:sp>
      <p:sp>
        <p:nvSpPr>
          <p:cNvPr id="3" name="Text 1"/>
          <p:cNvSpPr txBox="1"/>
          <p:nvPr/>
        </p:nvSpPr>
        <p:spPr>
          <a:xfrm>
            <a:off x="576072" y="1600200"/>
            <a:ext cx="2231136" cy="384048"/>
          </a:xfrm>
          <a:prstGeom prst="rect">
            <a:avLst/>
          </a:prstGeom>
          <a:noFill/>
          <a:ln/>
        </p:spPr>
        <p:txBody>
          <a:bodyPr wrap="square" lIns="0" tIns="0" rIns="0" bIns="0" rtlCol="0" anchor="b"/>
          <a:lstStyle/>
          <a:p>
            <a:pPr indent="0" marL="0">
              <a:buNone/>
            </a:pPr>
            <a:r>
              <a:rPr lang="en-US" sz="1500" b="1" dirty="0">
                <a:solidFill>
                  <a:schemeClr val="tx1"/>
                </a:solidFill>
              </a:rPr>
              <a:t>Area</a:t>
            </a:r>
            <a:endParaRPr lang="en-US" sz="1500" dirty="0"/>
          </a:p>
        </p:txBody>
      </p:sp>
      <p:sp>
        <p:nvSpPr>
          <p:cNvPr id="4" name="Text 2"/>
          <p:cNvSpPr txBox="1"/>
          <p:nvPr/>
        </p:nvSpPr>
        <p:spPr>
          <a:xfrm>
            <a:off x="2953512" y="1600200"/>
            <a:ext cx="4334256" cy="384048"/>
          </a:xfrm>
          <a:prstGeom prst="rect">
            <a:avLst/>
          </a:prstGeom>
          <a:noFill/>
          <a:ln/>
        </p:spPr>
        <p:txBody>
          <a:bodyPr wrap="square" lIns="0" tIns="0" rIns="0" bIns="0" rtlCol="0" anchor="b"/>
          <a:lstStyle/>
          <a:p>
            <a:pPr indent="0" marL="0">
              <a:buNone/>
            </a:pPr>
            <a:r>
              <a:rPr lang="en-US" sz="1500" b="1" dirty="0">
                <a:solidFill>
                  <a:schemeClr val="tx1"/>
                </a:solidFill>
              </a:rPr>
              <a:t>Today</a:t>
            </a:r>
            <a:endParaRPr lang="en-US" sz="1500" dirty="0"/>
          </a:p>
        </p:txBody>
      </p:sp>
      <p:sp>
        <p:nvSpPr>
          <p:cNvPr id="5" name="Text 3"/>
          <p:cNvSpPr txBox="1"/>
          <p:nvPr/>
        </p:nvSpPr>
        <p:spPr>
          <a:xfrm>
            <a:off x="7434072" y="1600200"/>
            <a:ext cx="4178808" cy="384048"/>
          </a:xfrm>
          <a:prstGeom prst="rect">
            <a:avLst/>
          </a:prstGeom>
          <a:noFill/>
          <a:ln/>
        </p:spPr>
        <p:txBody>
          <a:bodyPr wrap="square" lIns="0" tIns="0" rIns="0" bIns="0" rtlCol="0" anchor="b"/>
          <a:lstStyle/>
          <a:p>
            <a:pPr indent="0" marL="0">
              <a:buNone/>
            </a:pPr>
            <a:r>
              <a:rPr lang="en-US" sz="1500" b="1" dirty="0">
                <a:solidFill>
                  <a:schemeClr val="tx1"/>
                </a:solidFill>
              </a:rPr>
              <a:t>With one platform</a:t>
            </a:r>
            <a:endParaRPr lang="en-US" sz="1500" dirty="0"/>
          </a:p>
        </p:txBody>
      </p:sp>
      <p:sp>
        <p:nvSpPr>
          <p:cNvPr id="6" name="Shape 4"/>
          <p:cNvSpPr/>
          <p:nvPr/>
        </p:nvSpPr>
        <p:spPr>
          <a:xfrm>
            <a:off x="502920" y="2057400"/>
            <a:ext cx="11183112" cy="0"/>
          </a:xfrm>
          <a:prstGeom prst="line">
            <a:avLst/>
          </a:prstGeom>
          <a:noFill/>
          <a:ln w="19050">
            <a:solidFill>
              <a:schemeClr val="tx1"/>
            </a:solidFill>
            <a:prstDash val="solid"/>
          </a:ln>
        </p:spPr>
      </p:sp>
      <p:sp>
        <p:nvSpPr>
          <p:cNvPr id="7" name="Text 5"/>
          <p:cNvSpPr txBox="1"/>
          <p:nvPr/>
        </p:nvSpPr>
        <p:spPr>
          <a:xfrm>
            <a:off x="576072" y="2130552"/>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Classes and events</a:t>
            </a:r>
            <a:endParaRPr lang="en-US" sz="1300" dirty="0"/>
          </a:p>
        </p:txBody>
      </p:sp>
      <p:sp>
        <p:nvSpPr>
          <p:cNvPr id="8" name="Text 6"/>
          <p:cNvSpPr txBox="1"/>
          <p:nvPr/>
        </p:nvSpPr>
        <p:spPr>
          <a:xfrm>
            <a:off x="2953512" y="2130552"/>
            <a:ext cx="4334256" cy="548640"/>
          </a:xfrm>
          <a:prstGeom prst="rect">
            <a:avLst/>
          </a:prstGeom>
          <a:noFill/>
          <a:ln/>
        </p:spPr>
        <p:txBody>
          <a:bodyPr wrap="square" lIns="0" tIns="0" rIns="0" bIns="0" rtlCol="0" anchor="ctr"/>
          <a:lstStyle/>
          <a:p>
            <a:pPr indent="0" marL="0">
              <a:buNone/>
            </a:pPr>
            <a:r>
              <a:rPr lang="en-US" sz="1300" dirty="0">
                <a:solidFill>
                  <a:srgbClr val="4D4D4D"/>
                </a:solidFill>
              </a:rPr>
              <a:t>Home-built on Salesforce + Sitecore; payments through Chase</a:t>
            </a:r>
            <a:endParaRPr lang="en-US" sz="1300" dirty="0"/>
          </a:p>
        </p:txBody>
      </p:sp>
      <p:sp>
        <p:nvSpPr>
          <p:cNvPr id="9" name="Text 7"/>
          <p:cNvSpPr txBox="1"/>
          <p:nvPr/>
        </p:nvSpPr>
        <p:spPr>
          <a:xfrm>
            <a:off x="7434072" y="2130552"/>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Salesforce event app for every class, tour and seminar</a:t>
            </a:r>
            <a:endParaRPr lang="en-US" sz="1300" dirty="0"/>
          </a:p>
        </p:txBody>
      </p:sp>
      <p:sp>
        <p:nvSpPr>
          <p:cNvPr id="10" name="Shape 8"/>
          <p:cNvSpPr/>
          <p:nvPr/>
        </p:nvSpPr>
        <p:spPr>
          <a:xfrm>
            <a:off x="502920" y="2715768"/>
            <a:ext cx="11183112" cy="0"/>
          </a:xfrm>
          <a:prstGeom prst="line">
            <a:avLst/>
          </a:prstGeom>
          <a:noFill/>
          <a:ln w="9525">
            <a:solidFill>
              <a:srgbClr val="8C8C8C"/>
            </a:solidFill>
            <a:prstDash val="sysDot"/>
          </a:ln>
        </p:spPr>
      </p:sp>
      <p:sp>
        <p:nvSpPr>
          <p:cNvPr id="11" name="Text 9"/>
          <p:cNvSpPr txBox="1"/>
          <p:nvPr/>
        </p:nvSpPr>
        <p:spPr>
          <a:xfrm>
            <a:off x="576072" y="2788920"/>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Conferences</a:t>
            </a:r>
            <a:endParaRPr lang="en-US" sz="1300" dirty="0"/>
          </a:p>
        </p:txBody>
      </p:sp>
      <p:sp>
        <p:nvSpPr>
          <p:cNvPr id="12" name="Text 10"/>
          <p:cNvSpPr txBox="1"/>
          <p:nvPr/>
        </p:nvSpPr>
        <p:spPr>
          <a:xfrm>
            <a:off x="2953512" y="2788920"/>
            <a:ext cx="4334256" cy="548640"/>
          </a:xfrm>
          <a:prstGeom prst="rect">
            <a:avLst/>
          </a:prstGeom>
          <a:noFill/>
          <a:ln/>
        </p:spPr>
        <p:txBody>
          <a:bodyPr wrap="square" lIns="0" tIns="0" rIns="0" bIns="0" rtlCol="0" anchor="ctr"/>
          <a:lstStyle/>
          <a:p>
            <a:pPr indent="0" marL="0">
              <a:buNone/>
            </a:pPr>
            <a:r>
              <a:rPr lang="en-US" sz="1300" dirty="0">
                <a:solidFill>
                  <a:srgbClr val="4D4D4D"/>
                </a:solidFill>
              </a:rPr>
              <a:t>Certain for 1 to 2 multi-day events a year; Authorize.net</a:t>
            </a:r>
            <a:endParaRPr lang="en-US" sz="1300" dirty="0"/>
          </a:p>
        </p:txBody>
      </p:sp>
      <p:sp>
        <p:nvSpPr>
          <p:cNvPr id="13" name="Text 11"/>
          <p:cNvSpPr txBox="1"/>
          <p:nvPr/>
        </p:nvSpPr>
        <p:spPr>
          <a:xfrm>
            <a:off x="7434072" y="2788920"/>
            <a:ext cx="4178808" cy="548640"/>
          </a:xfrm>
          <a:prstGeom prst="rect">
            <a:avLst/>
          </a:prstGeom>
          <a:noFill/>
          <a:ln/>
        </p:spPr>
        <p:txBody>
          <a:bodyPr wrap="square" lIns="0" tIns="0" rIns="0" bIns="0" rtlCol="0" anchor="ctr"/>
          <a:lstStyle/>
          <a:p>
            <a:pPr indent="0" marL="0">
              <a:buNone/>
            </a:pPr>
            <a:r>
              <a:rPr lang="en-US" sz="1300" dirty="0">
                <a:solidFill>
                  <a:srgbClr val="4D4D4D"/>
                </a:solidFill>
              </a:rPr>
              <a:t>Same app with sessions, tracks and speakers; Certain retired</a:t>
            </a:r>
            <a:endParaRPr lang="en-US" sz="1300" dirty="0"/>
          </a:p>
        </p:txBody>
      </p:sp>
      <p:sp>
        <p:nvSpPr>
          <p:cNvPr id="14" name="Shape 12"/>
          <p:cNvSpPr/>
          <p:nvPr/>
        </p:nvSpPr>
        <p:spPr>
          <a:xfrm>
            <a:off x="502920" y="3374136"/>
            <a:ext cx="11183112" cy="0"/>
          </a:xfrm>
          <a:prstGeom prst="line">
            <a:avLst/>
          </a:prstGeom>
          <a:noFill/>
          <a:ln w="9525">
            <a:solidFill>
              <a:srgbClr val="8C8C8C"/>
            </a:solidFill>
            <a:prstDash val="sysDot"/>
          </a:ln>
        </p:spPr>
      </p:sp>
      <p:sp>
        <p:nvSpPr>
          <p:cNvPr id="15" name="Text 13"/>
          <p:cNvSpPr txBox="1"/>
          <p:nvPr/>
        </p:nvSpPr>
        <p:spPr>
          <a:xfrm>
            <a:off x="576072" y="3447288"/>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Who registers</a:t>
            </a:r>
            <a:endParaRPr lang="en-US" sz="1300" dirty="0"/>
          </a:p>
        </p:txBody>
      </p:sp>
      <p:sp>
        <p:nvSpPr>
          <p:cNvPr id="16" name="Text 14"/>
          <p:cNvSpPr txBox="1"/>
          <p:nvPr/>
        </p:nvSpPr>
        <p:spPr>
          <a:xfrm>
            <a:off x="2953512" y="3447288"/>
            <a:ext cx="4334256" cy="548640"/>
          </a:xfrm>
          <a:prstGeom prst="rect">
            <a:avLst/>
          </a:prstGeom>
          <a:noFill/>
          <a:ln/>
        </p:spPr>
        <p:txBody>
          <a:bodyPr wrap="square" lIns="0" tIns="0" rIns="0" bIns="0" rtlCol="0" anchor="ctr"/>
          <a:lstStyle/>
          <a:p>
            <a:pPr indent="0" marL="0">
              <a:buNone/>
            </a:pPr>
            <a:r>
              <a:rPr lang="en-US" sz="1300" dirty="0">
                <a:solidFill>
                  <a:srgbClr val="4D4D4D"/>
                </a:solidFill>
              </a:rPr>
              <a:t>Consumers, caregivers and providers</a:t>
            </a:r>
            <a:endParaRPr lang="en-US" sz="1300" dirty="0"/>
          </a:p>
        </p:txBody>
      </p:sp>
      <p:sp>
        <p:nvSpPr>
          <p:cNvPr id="17" name="Text 15"/>
          <p:cNvSpPr txBox="1"/>
          <p:nvPr/>
        </p:nvSpPr>
        <p:spPr>
          <a:xfrm>
            <a:off x="7434072" y="3447288"/>
            <a:ext cx="4178808" cy="548640"/>
          </a:xfrm>
          <a:prstGeom prst="rect">
            <a:avLst/>
          </a:prstGeom>
          <a:noFill/>
          <a:ln/>
        </p:spPr>
        <p:txBody>
          <a:bodyPr wrap="square" lIns="0" tIns="0" rIns="0" bIns="0" rtlCol="0" anchor="ctr"/>
          <a:lstStyle/>
          <a:p>
            <a:pPr indent="0" marL="0">
              <a:buNone/>
            </a:pPr>
            <a:r>
              <a:rPr lang="en-US" sz="1300" dirty="0">
                <a:solidFill>
                  <a:srgbClr val="4D4D4D"/>
                </a:solidFill>
              </a:rPr>
              <a:t>One profile per person, matched to Health Cloud</a:t>
            </a:r>
            <a:endParaRPr lang="en-US" sz="1300" dirty="0"/>
          </a:p>
        </p:txBody>
      </p:sp>
      <p:sp>
        <p:nvSpPr>
          <p:cNvPr id="18" name="Shape 16"/>
          <p:cNvSpPr/>
          <p:nvPr/>
        </p:nvSpPr>
        <p:spPr>
          <a:xfrm>
            <a:off x="502920" y="4032504"/>
            <a:ext cx="11183112" cy="0"/>
          </a:xfrm>
          <a:prstGeom prst="line">
            <a:avLst/>
          </a:prstGeom>
          <a:noFill/>
          <a:ln w="9525">
            <a:solidFill>
              <a:srgbClr val="8C8C8C"/>
            </a:solidFill>
            <a:prstDash val="sysDot"/>
          </a:ln>
        </p:spPr>
      </p:sp>
      <p:sp>
        <p:nvSpPr>
          <p:cNvPr id="19" name="Text 17"/>
          <p:cNvSpPr txBox="1"/>
          <p:nvPr/>
        </p:nvSpPr>
        <p:spPr>
          <a:xfrm>
            <a:off x="576072" y="4105656"/>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Platform</a:t>
            </a:r>
            <a:endParaRPr lang="en-US" sz="1300" dirty="0"/>
          </a:p>
        </p:txBody>
      </p:sp>
      <p:sp>
        <p:nvSpPr>
          <p:cNvPr id="20" name="Text 18"/>
          <p:cNvSpPr txBox="1"/>
          <p:nvPr/>
        </p:nvSpPr>
        <p:spPr>
          <a:xfrm>
            <a:off x="2953512" y="4105656"/>
            <a:ext cx="4334256" cy="548640"/>
          </a:xfrm>
          <a:prstGeom prst="rect">
            <a:avLst/>
          </a:prstGeom>
          <a:noFill/>
          <a:ln/>
        </p:spPr>
        <p:txBody>
          <a:bodyPr wrap="square" lIns="0" tIns="0" rIns="0" bIns="0" rtlCol="0" anchor="ctr"/>
          <a:lstStyle/>
          <a:p>
            <a:pPr indent="0" marL="0">
              <a:buNone/>
            </a:pPr>
            <a:r>
              <a:rPr lang="en-US" sz="1300" dirty="0">
                <a:solidFill>
                  <a:srgbClr val="4D4D4D"/>
                </a:solidFill>
              </a:rPr>
              <a:t>Health Cloud and Marketing Cloud</a:t>
            </a:r>
            <a:endParaRPr lang="en-US" sz="1300" dirty="0"/>
          </a:p>
        </p:txBody>
      </p:sp>
      <p:sp>
        <p:nvSpPr>
          <p:cNvPr id="21" name="Text 19"/>
          <p:cNvSpPr txBox="1"/>
          <p:nvPr/>
        </p:nvSpPr>
        <p:spPr>
          <a:xfrm>
            <a:off x="7434072" y="4105656"/>
            <a:ext cx="4178808" cy="548640"/>
          </a:xfrm>
          <a:prstGeom prst="rect">
            <a:avLst/>
          </a:prstGeom>
          <a:noFill/>
          <a:ln/>
        </p:spPr>
        <p:txBody>
          <a:bodyPr wrap="square" lIns="0" tIns="0" rIns="0" bIns="0" rtlCol="0" anchor="ctr"/>
          <a:lstStyle/>
          <a:p>
            <a:pPr indent="0" marL="0">
              <a:buNone/>
            </a:pPr>
            <a:r>
              <a:rPr lang="en-US" sz="1300" dirty="0">
                <a:solidFill>
                  <a:srgbClr val="4D4D4D"/>
                </a:solidFill>
              </a:rPr>
              <a:t>Built on what Memorial Hermann already owns</a:t>
            </a:r>
            <a:endParaRPr lang="en-US" sz="1300" dirty="0"/>
          </a:p>
        </p:txBody>
      </p:sp>
      <p:sp>
        <p:nvSpPr>
          <p:cNvPr id="22" name="Shape 20"/>
          <p:cNvSpPr/>
          <p:nvPr/>
        </p:nvSpPr>
        <p:spPr>
          <a:xfrm>
            <a:off x="502920" y="4690872"/>
            <a:ext cx="11183112" cy="0"/>
          </a:xfrm>
          <a:prstGeom prst="line">
            <a:avLst/>
          </a:prstGeom>
          <a:noFill/>
          <a:ln w="9525">
            <a:solidFill>
              <a:srgbClr val="8C8C8C"/>
            </a:solidFill>
            <a:prstDash val="sysDot"/>
          </a:ln>
        </p:spPr>
      </p:sp>
      <p:sp>
        <p:nvSpPr>
          <p:cNvPr id="23" name="Text 21"/>
          <p:cNvSpPr txBox="1"/>
          <p:nvPr/>
        </p:nvSpPr>
        <p:spPr>
          <a:xfrm>
            <a:off x="576072" y="4764024"/>
            <a:ext cx="2231136" cy="548640"/>
          </a:xfrm>
          <a:prstGeom prst="rect">
            <a:avLst/>
          </a:prstGeom>
          <a:noFill/>
          <a:ln/>
        </p:spPr>
        <p:txBody>
          <a:bodyPr wrap="square" lIns="0" tIns="0" rIns="0" bIns="0" rtlCol="0" anchor="ctr"/>
          <a:lstStyle/>
          <a:p>
            <a:pPr indent="0" marL="0">
              <a:buNone/>
            </a:pPr>
            <a:r>
              <a:rPr lang="en-US" sz="1300" b="1" dirty="0">
                <a:solidFill>
                  <a:schemeClr val="tx1"/>
                </a:solidFill>
              </a:rPr>
              <a:t>Epic</a:t>
            </a:r>
            <a:endParaRPr lang="en-US" sz="1300" dirty="0"/>
          </a:p>
        </p:txBody>
      </p:sp>
      <p:sp>
        <p:nvSpPr>
          <p:cNvPr id="24" name="Text 22"/>
          <p:cNvSpPr txBox="1"/>
          <p:nvPr/>
        </p:nvSpPr>
        <p:spPr>
          <a:xfrm>
            <a:off x="2953512" y="4764024"/>
            <a:ext cx="4334256" cy="548640"/>
          </a:xfrm>
          <a:prstGeom prst="rect">
            <a:avLst/>
          </a:prstGeom>
          <a:noFill/>
          <a:ln/>
        </p:spPr>
        <p:txBody>
          <a:bodyPr wrap="square" lIns="0" tIns="0" rIns="0" bIns="0" rtlCol="0" anchor="ctr"/>
          <a:lstStyle/>
          <a:p>
            <a:pPr indent="0" marL="0">
              <a:buNone/>
            </a:pPr>
            <a:r>
              <a:rPr lang="en-US" sz="1300" dirty="0">
                <a:solidFill>
                  <a:srgbClr val="4D4D4D"/>
                </a:solidFill>
              </a:rPr>
              <a:t>Not needed for this use case</a:t>
            </a:r>
            <a:endParaRPr lang="en-US" sz="1300" dirty="0"/>
          </a:p>
        </p:txBody>
      </p:sp>
      <p:sp>
        <p:nvSpPr>
          <p:cNvPr id="25" name="Text 23"/>
          <p:cNvSpPr txBox="1"/>
          <p:nvPr/>
        </p:nvSpPr>
        <p:spPr>
          <a:xfrm>
            <a:off x="7434072" y="4764024"/>
            <a:ext cx="4178808" cy="548640"/>
          </a:xfrm>
          <a:prstGeom prst="rect">
            <a:avLst/>
          </a:prstGeom>
          <a:noFill/>
          <a:ln/>
        </p:spPr>
        <p:txBody>
          <a:bodyPr wrap="square" lIns="0" tIns="0" rIns="0" bIns="0" rtlCol="0" anchor="ctr"/>
          <a:lstStyle/>
          <a:p>
            <a:pPr indent="0" marL="0">
              <a:buNone/>
            </a:pPr>
            <a:r>
              <a:rPr lang="en-US" sz="1300" dirty="0">
                <a:solidFill>
                  <a:srgbClr val="4D4D4D"/>
                </a:solidFill>
              </a:rPr>
              <a:t>Lucky Rai’s team if an integration is ever required</a:t>
            </a:r>
            <a:endParaRPr lang="en-US" sz="1300" dirty="0"/>
          </a:p>
        </p:txBody>
      </p:sp>
      <p:sp>
        <p:nvSpPr>
          <p:cNvPr id="26" name="Shape 24"/>
          <p:cNvSpPr/>
          <p:nvPr/>
        </p:nvSpPr>
        <p:spPr>
          <a:xfrm>
            <a:off x="502920" y="5349240"/>
            <a:ext cx="11183112" cy="0"/>
          </a:xfrm>
          <a:prstGeom prst="line">
            <a:avLst/>
          </a:prstGeom>
          <a:noFill/>
          <a:ln w="9525">
            <a:solidFill>
              <a:srgbClr val="8C8C8C"/>
            </a:solidFill>
            <a:prstDash val="sysDot"/>
          </a:ln>
        </p:spPr>
      </p:sp>
      <p:sp>
        <p:nvSpPr>
          <p:cNvPr id="27" name="Text 25"/>
          <p:cNvSpPr txBox="1"/>
          <p:nvPr/>
        </p:nvSpPr>
        <p:spPr>
          <a:xfrm>
            <a:off x="502920" y="5715000"/>
            <a:ext cx="11185855" cy="365760"/>
          </a:xfrm>
          <a:prstGeom prst="rect">
            <a:avLst/>
          </a:prstGeom>
          <a:noFill/>
          <a:ln/>
        </p:spPr>
        <p:txBody>
          <a:bodyPr wrap="square" lIns="0" tIns="0" rIns="0" bIns="0" rtlCol="0" anchor="t"/>
          <a:lstStyle/>
          <a:p>
            <a:pPr indent="0" marL="0">
              <a:buNone/>
            </a:pPr>
            <a:r>
              <a:rPr lang="en-US" sz="1500" b="1" dirty="0">
                <a:solidFill>
                  <a:schemeClr val="tx1"/>
                </a:solidFill>
              </a:rPr>
              <a:t>Goal: one platform for simple classes (free or paid, in person or online) and multi-day conferences with session management.</a:t>
            </a:r>
            <a:endParaRPr lang="en-US" sz="15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One Salesforce event app for classes, events and conferences</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An event app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Website and My MH app</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Sign-up on Sitecore pages and inside the existing My Memorial Hermann app</a:t>
            </a:r>
            <a:endParaRPr lang="en-US" sz="1400" dirty="0"/>
          </a:p>
          <a:p>
            <a:pPr marL="342900" indent="-342900">
              <a:spcAft>
                <a:spcPts val="600"/>
              </a:spcAft>
              <a:buSzPct val="100000"/>
              <a:buChar char="•"/>
            </a:pPr>
            <a:r>
              <a:rPr lang="en-US" sz="1400" dirty="0">
                <a:solidFill>
                  <a:srgbClr val="BFBFBF"/>
                </a:solidFill>
              </a:rPr>
              <a:t>Secure hosted checkout</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Authorize.net</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BFBFBF"/>
                </a:solidFill>
              </a:rPr>
              <a:t>One flow from sign-up to follow-up for classes and conferences, replacing the home-built class tool and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17171B"/>
          </a:solidFill>
          <a:ln w="15875">
            <a:solidFill>
              <a:srgbClr val="6A6A75"/>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4A4A55"/>
            </a:solidFill>
            <a:prstDash val="dash"/>
          </a:ln>
        </p:spPr>
      </p:sp>
      <p:sp>
        <p:nvSpPr>
          <p:cNvPr id="7" name="participant-ch"/>
          <p:cNvSpPr/>
          <p:nvPr/>
        </p:nvSpPr>
        <p:spPr>
          <a:xfrm>
            <a:off x="2939535" y="1755648"/>
            <a:ext cx="1357623" cy="475488"/>
          </a:xfrm>
          <a:prstGeom prst="roundRect">
            <a:avLst>
              <a:gd name="adj" fmla="val 15385"/>
            </a:avLst>
          </a:prstGeom>
          <a:solidFill>
            <a:srgbClr val="17171B"/>
          </a:solidFill>
          <a:ln w="15875">
            <a:solidFill>
              <a:srgbClr val="00D6F2"/>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Website or My MH app</a:t>
            </a:r>
            <a:endParaRPr lang="en-US" sz="1050" dirty="0"/>
          </a:p>
        </p:txBody>
      </p:sp>
      <p:sp>
        <p:nvSpPr>
          <p:cNvPr id="9" name="Shape 7"/>
          <p:cNvSpPr/>
          <p:nvPr/>
        </p:nvSpPr>
        <p:spPr>
          <a:xfrm>
            <a:off x="3618346" y="2231136"/>
            <a:ext cx="0" cy="3822192"/>
          </a:xfrm>
          <a:prstGeom prst="line">
            <a:avLst/>
          </a:prstGeom>
          <a:noFill/>
          <a:ln w="12700">
            <a:solidFill>
              <a:srgbClr val="4A4A55"/>
            </a:solidFill>
            <a:prstDash val="dash"/>
          </a:ln>
        </p:spPr>
      </p:sp>
      <p:sp>
        <p:nvSpPr>
          <p:cNvPr id="10" name="participant-reg"/>
          <p:cNvSpPr/>
          <p:nvPr/>
        </p:nvSpPr>
        <p:spPr>
          <a:xfrm>
            <a:off x="4406885" y="1755648"/>
            <a:ext cx="1357623" cy="475488"/>
          </a:xfrm>
          <a:prstGeom prst="roundRect">
            <a:avLst>
              <a:gd name="adj" fmla="val 15385"/>
            </a:avLst>
          </a:prstGeom>
          <a:solidFill>
            <a:srgbClr val="17171B"/>
          </a:solidFill>
          <a:ln w="15875">
            <a:solidFill>
              <a:srgbClr val="FED7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4A4A55"/>
            </a:solidFill>
            <a:prstDash val="dash"/>
          </a:ln>
        </p:spPr>
      </p:sp>
      <p:sp>
        <p:nvSpPr>
          <p:cNvPr id="13" name="participant-pay"/>
          <p:cNvSpPr/>
          <p:nvPr/>
        </p:nvSpPr>
        <p:spPr>
          <a:xfrm>
            <a:off x="5874236" y="1755648"/>
            <a:ext cx="1357623" cy="475488"/>
          </a:xfrm>
          <a:prstGeom prst="roundRect">
            <a:avLst>
              <a:gd name="adj" fmla="val 15385"/>
            </a:avLst>
          </a:prstGeom>
          <a:solidFill>
            <a:srgbClr val="17171B"/>
          </a:solidFill>
          <a:ln w="15875">
            <a:solidFill>
              <a:srgbClr val="6A6A75"/>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Payment gateway</a:t>
            </a:r>
            <a:endParaRPr lang="en-US" sz="1050" dirty="0"/>
          </a:p>
        </p:txBody>
      </p:sp>
      <p:sp>
        <p:nvSpPr>
          <p:cNvPr id="15" name="Shape 13"/>
          <p:cNvSpPr/>
          <p:nvPr/>
        </p:nvSpPr>
        <p:spPr>
          <a:xfrm>
            <a:off x="6553048" y="2231136"/>
            <a:ext cx="0" cy="3822192"/>
          </a:xfrm>
          <a:prstGeom prst="line">
            <a:avLst/>
          </a:prstGeom>
          <a:noFill/>
          <a:ln w="12700">
            <a:solidFill>
              <a:srgbClr val="4A4A55"/>
            </a:solidFill>
            <a:prstDash val="dash"/>
          </a:ln>
        </p:spPr>
      </p:sp>
      <p:sp>
        <p:nvSpPr>
          <p:cNvPr id="16" name="participant-sf"/>
          <p:cNvSpPr/>
          <p:nvPr/>
        </p:nvSpPr>
        <p:spPr>
          <a:xfrm>
            <a:off x="7341587" y="1755648"/>
            <a:ext cx="1357623" cy="475488"/>
          </a:xfrm>
          <a:prstGeom prst="roundRect">
            <a:avLst>
              <a:gd name="adj" fmla="val 15385"/>
            </a:avLst>
          </a:prstGeom>
          <a:solidFill>
            <a:srgbClr val="17171B"/>
          </a:solidFill>
          <a:ln w="15875">
            <a:solidFill>
              <a:srgbClr val="00D6F2"/>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4A4A55"/>
            </a:solidFill>
            <a:prstDash val="dash"/>
          </a:ln>
        </p:spPr>
      </p:sp>
      <p:sp>
        <p:nvSpPr>
          <p:cNvPr id="19" name="participant-mc"/>
          <p:cNvSpPr/>
          <p:nvPr/>
        </p:nvSpPr>
        <p:spPr>
          <a:xfrm>
            <a:off x="8808938" y="1755648"/>
            <a:ext cx="1357623" cy="475488"/>
          </a:xfrm>
          <a:prstGeom prst="roundRect">
            <a:avLst>
              <a:gd name="adj" fmla="val 15385"/>
            </a:avLst>
          </a:prstGeom>
          <a:solidFill>
            <a:srgbClr val="17171B"/>
          </a:solidFill>
          <a:ln w="1587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4A4A55"/>
            </a:solidFill>
            <a:prstDash val="dash"/>
          </a:ln>
        </p:spPr>
      </p:sp>
      <p:sp>
        <p:nvSpPr>
          <p:cNvPr id="22" name="participant-st"/>
          <p:cNvSpPr/>
          <p:nvPr/>
        </p:nvSpPr>
        <p:spPr>
          <a:xfrm>
            <a:off x="10276288" y="1755648"/>
            <a:ext cx="1357623" cy="475488"/>
          </a:xfrm>
          <a:prstGeom prst="roundRect">
            <a:avLst>
              <a:gd name="adj" fmla="val 15385"/>
            </a:avLst>
          </a:prstGeom>
          <a:solidFill>
            <a:srgbClr val="17171B"/>
          </a:solidFill>
          <a:ln w="15875">
            <a:solidFill>
              <a:srgbClr val="6A6A75"/>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FFFFFF"/>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4A4A55"/>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FFFFFF"/>
            </a:solidFill>
            <a:prstDash val="solid"/>
            <a:tailEnd type="triangle"/>
          </a:ln>
        </p:spPr>
      </p:sp>
      <p:sp>
        <p:nvSpPr>
          <p:cNvPr id="27" name="Shape 25"/>
          <p:cNvSpPr/>
          <p:nvPr/>
        </p:nvSpPr>
        <p:spPr>
          <a:xfrm>
            <a:off x="2050411" y="2411399"/>
            <a:ext cx="201168" cy="201168"/>
          </a:xfrm>
          <a:prstGeom prst="ellipse">
            <a:avLst/>
          </a:prstGeom>
          <a:solidFill>
            <a:srgbClr val="00D6F2"/>
          </a:solidFill>
          <a:ln w="12700">
            <a:solidFill>
              <a:srgbClr val="00D6F2"/>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FFFFFF"/>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FFFFFF"/>
            </a:solidFill>
            <a:prstDash val="solid"/>
            <a:tailEnd type="triangle"/>
          </a:ln>
        </p:spPr>
      </p:sp>
      <p:sp>
        <p:nvSpPr>
          <p:cNvPr id="31" name="Shape 29"/>
          <p:cNvSpPr/>
          <p:nvPr/>
        </p:nvSpPr>
        <p:spPr>
          <a:xfrm>
            <a:off x="3517762" y="2698380"/>
            <a:ext cx="201168" cy="201168"/>
          </a:xfrm>
          <a:prstGeom prst="ellipse">
            <a:avLst/>
          </a:prstGeom>
          <a:solidFill>
            <a:srgbClr val="00D6F2"/>
          </a:solidFill>
          <a:ln w="12700">
            <a:solidFill>
              <a:srgbClr val="00D6F2"/>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FFFFFF"/>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9AA7B4"/>
            </a:solidFill>
            <a:prstDash val="dash"/>
            <a:headEnd type="triangle"/>
          </a:ln>
        </p:spPr>
      </p:sp>
      <p:sp>
        <p:nvSpPr>
          <p:cNvPr id="35" name="Shape 33"/>
          <p:cNvSpPr/>
          <p:nvPr/>
        </p:nvSpPr>
        <p:spPr>
          <a:xfrm>
            <a:off x="4985113" y="2985361"/>
            <a:ext cx="201168" cy="201168"/>
          </a:xfrm>
          <a:prstGeom prst="ellipse">
            <a:avLst/>
          </a:prstGeom>
          <a:solidFill>
            <a:srgbClr val="00D6F2"/>
          </a:solidFill>
          <a:ln w="12700">
            <a:solidFill>
              <a:srgbClr val="00D6F2"/>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D0D6DC"/>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33333B"/>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PAY</a:t>
            </a:r>
            <a:endParaRPr lang="en-US" sz="950" dirty="0"/>
          </a:p>
        </p:txBody>
      </p:sp>
      <p:sp>
        <p:nvSpPr>
          <p:cNvPr id="40" name="Shape 38"/>
          <p:cNvSpPr/>
          <p:nvPr/>
        </p:nvSpPr>
        <p:spPr>
          <a:xfrm>
            <a:off x="2150995" y="3372926"/>
            <a:ext cx="4402052" cy="0"/>
          </a:xfrm>
          <a:prstGeom prst="line">
            <a:avLst/>
          </a:prstGeom>
          <a:noFill/>
          <a:ln w="15875">
            <a:solidFill>
              <a:srgbClr val="FFFFFF"/>
            </a:solidFill>
            <a:prstDash val="solid"/>
            <a:tailEnd type="triangle"/>
          </a:ln>
        </p:spPr>
      </p:sp>
      <p:sp>
        <p:nvSpPr>
          <p:cNvPr id="41" name="Shape 39"/>
          <p:cNvSpPr/>
          <p:nvPr/>
        </p:nvSpPr>
        <p:spPr>
          <a:xfrm>
            <a:off x="2050411" y="3272342"/>
            <a:ext cx="201168" cy="201168"/>
          </a:xfrm>
          <a:prstGeom prst="ellipse">
            <a:avLst/>
          </a:prstGeom>
          <a:solidFill>
            <a:srgbClr val="00D6F2"/>
          </a:solidFill>
          <a:ln w="12700">
            <a:solidFill>
              <a:srgbClr val="00D6F2"/>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FFFFFF"/>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9AA7B4"/>
            </a:solidFill>
            <a:prstDash val="dash"/>
            <a:headEnd type="triangle"/>
          </a:ln>
        </p:spPr>
      </p:sp>
      <p:sp>
        <p:nvSpPr>
          <p:cNvPr id="45" name="Shape 43"/>
          <p:cNvSpPr/>
          <p:nvPr/>
        </p:nvSpPr>
        <p:spPr>
          <a:xfrm>
            <a:off x="6452464" y="3559323"/>
            <a:ext cx="201168" cy="201168"/>
          </a:xfrm>
          <a:prstGeom prst="ellipse">
            <a:avLst/>
          </a:prstGeom>
          <a:solidFill>
            <a:srgbClr val="00D6F2"/>
          </a:solidFill>
          <a:ln w="12700">
            <a:solidFill>
              <a:srgbClr val="00D6F2"/>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D0D6DC"/>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FFFFFF"/>
            </a:solidFill>
            <a:prstDash val="solid"/>
            <a:tailEnd type="triangle"/>
          </a:ln>
        </p:spPr>
      </p:sp>
      <p:sp>
        <p:nvSpPr>
          <p:cNvPr id="49" name="Shape 47"/>
          <p:cNvSpPr/>
          <p:nvPr/>
        </p:nvSpPr>
        <p:spPr>
          <a:xfrm>
            <a:off x="4985113" y="3846304"/>
            <a:ext cx="201168" cy="201168"/>
          </a:xfrm>
          <a:prstGeom prst="ellipse">
            <a:avLst/>
          </a:prstGeom>
          <a:solidFill>
            <a:srgbClr val="00D6F2"/>
          </a:solidFill>
          <a:ln w="12700">
            <a:solidFill>
              <a:srgbClr val="00D6F2"/>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FFFFFF"/>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33333B"/>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CONFIRM</a:t>
            </a:r>
            <a:endParaRPr lang="en-US" sz="950" dirty="0"/>
          </a:p>
        </p:txBody>
      </p:sp>
      <p:sp>
        <p:nvSpPr>
          <p:cNvPr id="54" name="Shape 52"/>
          <p:cNvSpPr/>
          <p:nvPr/>
        </p:nvSpPr>
        <p:spPr>
          <a:xfrm>
            <a:off x="8020398" y="4233869"/>
            <a:ext cx="1467351" cy="0"/>
          </a:xfrm>
          <a:prstGeom prst="line">
            <a:avLst/>
          </a:prstGeom>
          <a:noFill/>
          <a:ln w="15875">
            <a:solidFill>
              <a:srgbClr val="FFFFFF"/>
            </a:solidFill>
            <a:prstDash val="solid"/>
            <a:tailEnd type="triangle"/>
          </a:ln>
        </p:spPr>
      </p:sp>
      <p:sp>
        <p:nvSpPr>
          <p:cNvPr id="55" name="Shape 53"/>
          <p:cNvSpPr/>
          <p:nvPr/>
        </p:nvSpPr>
        <p:spPr>
          <a:xfrm>
            <a:off x="7919814" y="4133285"/>
            <a:ext cx="201168" cy="201168"/>
          </a:xfrm>
          <a:prstGeom prst="ellipse">
            <a:avLst/>
          </a:prstGeom>
          <a:solidFill>
            <a:srgbClr val="00D6F2"/>
          </a:solidFill>
          <a:ln w="12700">
            <a:solidFill>
              <a:srgbClr val="00D6F2"/>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FFFFFF"/>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9AA7B4"/>
            </a:solidFill>
            <a:prstDash val="dash"/>
            <a:headEnd type="triangle"/>
          </a:ln>
        </p:spPr>
      </p:sp>
      <p:sp>
        <p:nvSpPr>
          <p:cNvPr id="59" name="Shape 57"/>
          <p:cNvSpPr/>
          <p:nvPr/>
        </p:nvSpPr>
        <p:spPr>
          <a:xfrm>
            <a:off x="9387165" y="4420266"/>
            <a:ext cx="201168" cy="201168"/>
          </a:xfrm>
          <a:prstGeom prst="ellipse">
            <a:avLst/>
          </a:prstGeom>
          <a:solidFill>
            <a:srgbClr val="00D6F2"/>
          </a:solidFill>
          <a:ln w="12700">
            <a:solidFill>
              <a:srgbClr val="00D6F2"/>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D0D6DC"/>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33333B"/>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ATTEND</a:t>
            </a:r>
            <a:endParaRPr lang="en-US" sz="950" dirty="0"/>
          </a:p>
        </p:txBody>
      </p:sp>
      <p:sp>
        <p:nvSpPr>
          <p:cNvPr id="64" name="Shape 62"/>
          <p:cNvSpPr/>
          <p:nvPr/>
        </p:nvSpPr>
        <p:spPr>
          <a:xfrm>
            <a:off x="8020398" y="4807831"/>
            <a:ext cx="2934701" cy="0"/>
          </a:xfrm>
          <a:prstGeom prst="line">
            <a:avLst/>
          </a:prstGeom>
          <a:noFill/>
          <a:ln w="15875">
            <a:solidFill>
              <a:srgbClr val="FFFFFF"/>
            </a:solidFill>
            <a:prstDash val="solid"/>
            <a:headEnd type="triangle"/>
          </a:ln>
        </p:spPr>
      </p:sp>
      <p:sp>
        <p:nvSpPr>
          <p:cNvPr id="65" name="Shape 63"/>
          <p:cNvSpPr/>
          <p:nvPr/>
        </p:nvSpPr>
        <p:spPr>
          <a:xfrm>
            <a:off x="10854516" y="4707247"/>
            <a:ext cx="201168" cy="201168"/>
          </a:xfrm>
          <a:prstGeom prst="ellipse">
            <a:avLst/>
          </a:prstGeom>
          <a:solidFill>
            <a:srgbClr val="00D6F2"/>
          </a:solidFill>
          <a:ln w="12700">
            <a:solidFill>
              <a:srgbClr val="00D6F2"/>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FFFFFF"/>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33333B"/>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ENGAGE</a:t>
            </a:r>
            <a:endParaRPr lang="en-US" sz="950" dirty="0"/>
          </a:p>
        </p:txBody>
      </p:sp>
      <p:sp>
        <p:nvSpPr>
          <p:cNvPr id="70" name="Shape 68"/>
          <p:cNvSpPr/>
          <p:nvPr/>
        </p:nvSpPr>
        <p:spPr>
          <a:xfrm>
            <a:off x="8020398" y="5094812"/>
            <a:ext cx="1467351" cy="0"/>
          </a:xfrm>
          <a:prstGeom prst="line">
            <a:avLst/>
          </a:prstGeom>
          <a:noFill/>
          <a:ln w="15875">
            <a:solidFill>
              <a:srgbClr val="FFFFFF"/>
            </a:solidFill>
            <a:prstDash val="solid"/>
            <a:tailEnd type="triangle"/>
          </a:ln>
        </p:spPr>
      </p:sp>
      <p:sp>
        <p:nvSpPr>
          <p:cNvPr id="71" name="Shape 69"/>
          <p:cNvSpPr/>
          <p:nvPr/>
        </p:nvSpPr>
        <p:spPr>
          <a:xfrm>
            <a:off x="7919814" y="4994228"/>
            <a:ext cx="201168" cy="201168"/>
          </a:xfrm>
          <a:prstGeom prst="ellipse">
            <a:avLst/>
          </a:prstGeom>
          <a:solidFill>
            <a:srgbClr val="00D6F2"/>
          </a:solidFill>
          <a:ln w="12700">
            <a:solidFill>
              <a:srgbClr val="00D6F2"/>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FFFFFF"/>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9AA7B4"/>
            </a:solidFill>
            <a:prstDash val="dash"/>
            <a:headEnd type="triangle"/>
          </a:ln>
        </p:spPr>
      </p:sp>
      <p:sp>
        <p:nvSpPr>
          <p:cNvPr id="75" name="Shape 73"/>
          <p:cNvSpPr/>
          <p:nvPr/>
        </p:nvSpPr>
        <p:spPr>
          <a:xfrm>
            <a:off x="9387165" y="5281209"/>
            <a:ext cx="201168" cy="201168"/>
          </a:xfrm>
          <a:prstGeom prst="ellipse">
            <a:avLst/>
          </a:prstGeom>
          <a:solidFill>
            <a:srgbClr val="00D6F2"/>
          </a:solidFill>
          <a:ln w="12700">
            <a:solidFill>
              <a:srgbClr val="00D6F2"/>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D0D6DC"/>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33333B"/>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D6F2"/>
                </a:solidFill>
              </a:rPr>
              <a:t>GROW</a:t>
            </a:r>
            <a:endParaRPr lang="en-US" sz="950" dirty="0"/>
          </a:p>
        </p:txBody>
      </p:sp>
      <p:sp>
        <p:nvSpPr>
          <p:cNvPr id="80" name="Shape 78"/>
          <p:cNvSpPr/>
          <p:nvPr/>
        </p:nvSpPr>
        <p:spPr>
          <a:xfrm>
            <a:off x="8020398" y="5668774"/>
            <a:ext cx="2934701" cy="0"/>
          </a:xfrm>
          <a:prstGeom prst="line">
            <a:avLst/>
          </a:prstGeom>
          <a:noFill/>
          <a:ln w="15875">
            <a:solidFill>
              <a:srgbClr val="9AA7B4"/>
            </a:solidFill>
            <a:prstDash val="dash"/>
            <a:tailEnd type="triangle"/>
          </a:ln>
        </p:spPr>
      </p:sp>
      <p:sp>
        <p:nvSpPr>
          <p:cNvPr id="81" name="Shape 79"/>
          <p:cNvSpPr/>
          <p:nvPr/>
        </p:nvSpPr>
        <p:spPr>
          <a:xfrm>
            <a:off x="7919814" y="5568190"/>
            <a:ext cx="201168" cy="201168"/>
          </a:xfrm>
          <a:prstGeom prst="ellipse">
            <a:avLst/>
          </a:prstGeom>
          <a:solidFill>
            <a:srgbClr val="00D6F2"/>
          </a:solidFill>
          <a:ln w="12700">
            <a:solidFill>
              <a:srgbClr val="00D6F2"/>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D0D6DC"/>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FFFFFF"/>
            </a:solidFill>
            <a:prstDash val="solid"/>
            <a:headEnd type="triangle"/>
          </a:ln>
        </p:spPr>
      </p:sp>
      <p:sp>
        <p:nvSpPr>
          <p:cNvPr id="85" name="Shape 83"/>
          <p:cNvSpPr/>
          <p:nvPr/>
        </p:nvSpPr>
        <p:spPr>
          <a:xfrm>
            <a:off x="10854516" y="5855170"/>
            <a:ext cx="201168" cy="201168"/>
          </a:xfrm>
          <a:prstGeom prst="ellipse">
            <a:avLst/>
          </a:prstGeom>
          <a:solidFill>
            <a:srgbClr val="00D6F2"/>
          </a:solidFill>
          <a:ln w="12700">
            <a:solidFill>
              <a:srgbClr val="00D6F2"/>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FFFFFF"/>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BFBFBF"/>
                </a:solidFill>
              </a:rPr>
              <a:t>Conferences follow the same flow, adding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One registration flow for website and app</a:t>
            </a:r>
            <a:endParaRPr lang="en-US" sz="3200" dirty="0"/>
          </a:p>
        </p:txBody>
      </p:sp>
      <p:pic>
        <p:nvPicPr>
          <p:cNvPr id="3" name="01-web-registration.png" descr="/home/user/presales_memorial-hermann/deck/mockups/png/01-web-registration.png">    </p:cNvPr>
          <p:cNvPicPr>
            <a:picLocks noChangeAspect="1"/>
          </p:cNvPicPr>
          <p:nvPr/>
        </p:nvPicPr>
        <p:blipFill>
          <a:blip r:embed="rId1"/>
          <a:stretch>
            <a:fillRect/>
          </a:stretch>
        </p:blipFill>
        <p:spPr>
          <a:xfrm>
            <a:off x="502920" y="1691640"/>
            <a:ext cx="5440680" cy="3401568"/>
          </a:xfrm>
          <a:prstGeom prst="rect">
            <a:avLst/>
          </a:prstGeom>
          <a:effectLst>
            <a:outerShdw sx="100000" sy="100000" kx="0" ky="0" algn="bl" rotWithShape="0" blurRad="101600" dist="25400" dir="5400000">
              <a:srgbClr val="000000">
                <a:alpha val="25000"/>
              </a:srgbClr>
            </a:outerShdw>
          </a:effectLst>
        </p:spPr>
      </p:pic>
      <p:pic>
        <p:nvPicPr>
          <p:cNvPr id="4" name="02-mobile-flow.png" descr="/home/user/presales_memorial-hermann/deck/mockups/png/02-mobile-flow.png">    </p:cNvPr>
          <p:cNvPicPr>
            <a:picLocks noChangeAspect="1"/>
          </p:cNvPicPr>
          <p:nvPr/>
        </p:nvPicPr>
        <p:blipFill>
          <a:blip r:embed="rId2"/>
          <a:stretch>
            <a:fillRect/>
          </a:stretch>
        </p:blipFill>
        <p:spPr>
          <a:xfrm>
            <a:off x="6245352" y="1691640"/>
            <a:ext cx="5440680" cy="3401568"/>
          </a:xfrm>
          <a:prstGeom prst="rect">
            <a:avLst/>
          </a:prstGeom>
          <a:effectLst>
            <a:outerShdw sx="100000" sy="100000" kx="0" ky="0" algn="bl" rotWithShape="0" blurRad="101600" dist="25400" dir="5400000">
              <a:srgbClr val="000000">
                <a:alpha val="25000"/>
              </a:srgbClr>
            </a:outerShdw>
          </a:effectLst>
        </p:spPr>
      </p:pic>
      <p:sp>
        <p:nvSpPr>
          <p:cNvPr id="5" name="Text 1"/>
          <p:cNvSpPr txBox="1"/>
          <p:nvPr/>
        </p:nvSpPr>
        <p:spPr>
          <a:xfrm>
            <a:off x="502920"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Website</a:t>
            </a:r>
            <a:endParaRPr lang="en-US" sz="1500" dirty="0"/>
          </a:p>
        </p:txBody>
      </p:sp>
      <p:sp>
        <p:nvSpPr>
          <p:cNvPr id="6" name="Text 2"/>
          <p:cNvSpPr txBox="1"/>
          <p:nvPr/>
        </p:nvSpPr>
        <p:spPr>
          <a:xfrm>
            <a:off x="502920"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Search by topic, location, date, format and price. Seats left and waitlists update live.</a:t>
            </a:r>
            <a:endParaRPr lang="en-US" sz="1300" dirty="0"/>
          </a:p>
        </p:txBody>
      </p:sp>
      <p:sp>
        <p:nvSpPr>
          <p:cNvPr id="7" name="Text 3"/>
          <p:cNvSpPr txBox="1"/>
          <p:nvPr/>
        </p:nvSpPr>
        <p:spPr>
          <a:xfrm>
            <a:off x="6245352" y="5257800"/>
            <a:ext cx="5440680" cy="274320"/>
          </a:xfrm>
          <a:prstGeom prst="rect">
            <a:avLst/>
          </a:prstGeom>
          <a:noFill/>
          <a:ln/>
        </p:spPr>
        <p:txBody>
          <a:bodyPr wrap="square" lIns="0" tIns="0" rIns="0" bIns="0" rtlCol="0" anchor="t"/>
          <a:lstStyle/>
          <a:p>
            <a:pPr indent="0" marL="0">
              <a:buNone/>
            </a:pPr>
            <a:r>
              <a:rPr lang="en-US" sz="1500" b="1" dirty="0">
                <a:solidFill>
                  <a:schemeClr val="tx1"/>
                </a:solidFill>
              </a:rPr>
              <a:t>Existing My Memorial Hermann app</a:t>
            </a:r>
            <a:endParaRPr lang="en-US" sz="1500" dirty="0"/>
          </a:p>
        </p:txBody>
      </p:sp>
      <p:sp>
        <p:nvSpPr>
          <p:cNvPr id="8" name="Text 4"/>
          <p:cNvSpPr txBox="1"/>
          <p:nvPr/>
        </p:nvSpPr>
        <p:spPr>
          <a:xfrm>
            <a:off x="6245352" y="5550408"/>
            <a:ext cx="5440680" cy="502920"/>
          </a:xfrm>
          <a:prstGeom prst="rect">
            <a:avLst/>
          </a:prstGeom>
          <a:noFill/>
          <a:ln/>
        </p:spPr>
        <p:txBody>
          <a:bodyPr wrap="square" lIns="0" tIns="0" rIns="0" bIns="0" rtlCol="0" anchor="t"/>
          <a:lstStyle/>
          <a:p>
            <a:pPr indent="0" marL="0">
              <a:buNone/>
            </a:pPr>
            <a:r>
              <a:rPr lang="en-US" sz="1300" dirty="0">
                <a:solidFill>
                  <a:srgbClr val="4D4D4D"/>
                </a:solidFill>
              </a:rPr>
              <a:t>A Classes &amp; Events entry in the app people already use. No new app to download [Epic setup to confirm].</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run every class from one Salesforce console</a:t>
            </a:r>
            <a:endParaRPr lang="en-US" sz="3200" dirty="0"/>
          </a:p>
        </p:txBody>
      </p:sp>
      <p:pic>
        <p:nvPicPr>
          <p:cNvPr id="3" name="03-salesforce-console.png" descr="/home/user/presales_memorial-hermann/deck/mockups/png/03-salesforce-console.png">    </p:cNvPr>
          <p:cNvPicPr>
            <a:picLocks noChangeAspect="1"/>
          </p:cNvPicPr>
          <p:nvPr/>
        </p:nvPicPr>
        <p:blipFill>
          <a:blip r:embed="rId1"/>
          <a:stretch>
            <a:fillRect/>
          </a:stretch>
        </p:blipFill>
        <p:spPr>
          <a:xfrm>
            <a:off x="502920" y="1783080"/>
            <a:ext cx="7863840" cy="3538728"/>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732520" y="1783080"/>
            <a:ext cx="2971800" cy="365760"/>
          </a:xfrm>
          <a:prstGeom prst="rect">
            <a:avLst/>
          </a:prstGeom>
          <a:noFill/>
          <a:ln/>
        </p:spPr>
        <p:txBody>
          <a:bodyPr wrap="square" lIns="0" tIns="0" rIns="0" bIns="0" rtlCol="0" anchor="t"/>
          <a:lstStyle/>
          <a:p>
            <a:pPr indent="0" marL="0">
              <a:buNone/>
            </a:pPr>
            <a:r>
              <a:rPr lang="en-US" sz="1800" b="1" dirty="0">
                <a:solidFill>
                  <a:schemeClr val="tx1"/>
                </a:solidFill>
              </a:rPr>
              <a:t>What staff can do</a:t>
            </a:r>
            <a:endParaRPr lang="en-US" sz="1800" dirty="0"/>
          </a:p>
        </p:txBody>
      </p:sp>
      <p:sp>
        <p:nvSpPr>
          <p:cNvPr id="5" name="Text 2"/>
          <p:cNvSpPr txBox="1"/>
          <p:nvPr/>
        </p:nvSpPr>
        <p:spPr>
          <a:xfrm>
            <a:off x="8732520" y="2286000"/>
            <a:ext cx="2971800" cy="3108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Set up a class once and repeat it as a series</a:t>
            </a:r>
            <a:endParaRPr lang="en-US" sz="1400" dirty="0"/>
          </a:p>
          <a:p>
            <a:pPr marL="342900" indent="-342900">
              <a:spcAft>
                <a:spcPts val="600"/>
              </a:spcAft>
              <a:buSzPct val="100000"/>
              <a:buChar char="•"/>
            </a:pPr>
            <a:r>
              <a:rPr lang="en-US" sz="1400" dirty="0">
                <a:solidFill>
                  <a:srgbClr val="4D4D4D"/>
                </a:solidFill>
              </a:rPr>
              <a:t>Watch capacity and waitlists fill in real time</a:t>
            </a:r>
            <a:endParaRPr lang="en-US" sz="1400" dirty="0"/>
          </a:p>
          <a:p>
            <a:pPr marL="342900" indent="-342900">
              <a:spcAft>
                <a:spcPts val="600"/>
              </a:spcAft>
              <a:buSzPct val="100000"/>
              <a:buChar char="•"/>
            </a:pPr>
            <a:r>
              <a:rPr lang="en-US" sz="1400" dirty="0">
                <a:solidFill>
                  <a:srgbClr val="4D4D4D"/>
                </a:solidFill>
              </a:rPr>
              <a:t>Match registrants to existing Health Cloud records</a:t>
            </a:r>
            <a:endParaRPr lang="en-US" sz="1400" dirty="0"/>
          </a:p>
          <a:p>
            <a:pPr marL="342900" indent="-342900">
              <a:spcAft>
                <a:spcPts val="600"/>
              </a:spcAft>
              <a:buSzPct val="100000"/>
              <a:buChar char="•"/>
            </a:pPr>
            <a:r>
              <a:rPr lang="en-US" sz="1400" dirty="0">
                <a:solidFill>
                  <a:srgbClr val="4D4D4D"/>
                </a:solidFill>
              </a:rPr>
              <a:t>Check people in with a QR scan</a:t>
            </a:r>
            <a:endParaRPr lang="en-US" sz="1400" dirty="0"/>
          </a:p>
          <a:p>
            <a:pPr marL="342900" indent="-342900">
              <a:spcAft>
                <a:spcPts val="600"/>
              </a:spcAft>
              <a:buSzPct val="100000"/>
              <a:buChar char="•"/>
            </a:pPr>
            <a:r>
              <a:rPr lang="en-US" sz="1400" dirty="0">
                <a:solidFill>
                  <a:srgbClr val="4D4D4D"/>
                </a:solidFill>
              </a:rPr>
              <a:t>Email attendees and track revenue</a:t>
            </a:r>
            <a:endParaRPr lang="en-US" sz="1400" dirty="0"/>
          </a:p>
        </p:txBody>
      </p:sp>
      <p:sp>
        <p:nvSpPr>
          <p:cNvPr id="6" name="Text 3"/>
          <p:cNvSpPr txBox="1"/>
          <p:nvPr/>
        </p:nvSpPr>
        <p:spPr>
          <a:xfrm>
            <a:off x="502920" y="5486400"/>
            <a:ext cx="4572000" cy="274320"/>
          </a:xfrm>
          <a:prstGeom prst="rect">
            <a:avLst/>
          </a:prstGeom>
          <a:noFill/>
          <a:ln/>
        </p:spPr>
        <p:txBody>
          <a:bodyPr wrap="square" lIns="0" tIns="0" rIns="0" bIns="0" rtlCol="0" anchor="t"/>
          <a:lstStyle/>
          <a:p>
            <a:pPr indent="0" marL="0">
              <a:buNone/>
            </a:pPr>
            <a:r>
              <a:rPr lang="en-US" sz="1100" i="1" dirty="0">
                <a:solidFill>
                  <a:srgbClr val="4D4D4D"/>
                </a:solidFill>
              </a:rPr>
              <a:t>Concept mockup, sample data</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Conferences with full session management</a:t>
            </a:r>
            <a:endParaRPr lang="en-US" sz="3200" dirty="0"/>
          </a:p>
        </p:txBody>
      </p:sp>
      <p:pic>
        <p:nvPicPr>
          <p:cNvPr id="3" name="04-conference-agenda.png" descr="/home/user/presales_memorial-hermann/deck/mockups/png/04-conference-agenda.png">    </p:cNvPr>
          <p:cNvPicPr>
            <a:picLocks noChangeAspect="1"/>
          </p:cNvPicPr>
          <p:nvPr/>
        </p:nvPicPr>
        <p:blipFill>
          <a:blip r:embed="rId1"/>
          <a:stretch>
            <a:fillRect/>
          </a:stretch>
        </p:blipFill>
        <p:spPr>
          <a:xfrm>
            <a:off x="502920" y="1691640"/>
            <a:ext cx="6858000" cy="428853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7772400" y="1691640"/>
            <a:ext cx="3931920" cy="365760"/>
          </a:xfrm>
          <a:prstGeom prst="rect">
            <a:avLst/>
          </a:prstGeom>
          <a:noFill/>
          <a:ln/>
        </p:spPr>
        <p:txBody>
          <a:bodyPr wrap="square" lIns="0" tIns="0" rIns="0" bIns="0" rtlCol="0" anchor="t"/>
          <a:lstStyle/>
          <a:p>
            <a:pPr indent="0" marL="0">
              <a:buNone/>
            </a:pPr>
            <a:r>
              <a:rPr lang="en-US" sz="1800" b="1" dirty="0">
                <a:solidFill>
                  <a:schemeClr val="tx1"/>
                </a:solidFill>
              </a:rPr>
              <a:t>Replaces Certain</a:t>
            </a:r>
            <a:endParaRPr lang="en-US" sz="1800" dirty="0"/>
          </a:p>
        </p:txBody>
      </p:sp>
      <p:sp>
        <p:nvSpPr>
          <p:cNvPr id="5" name="Text 2"/>
          <p:cNvSpPr txBox="1"/>
          <p:nvPr/>
        </p:nvSpPr>
        <p:spPr>
          <a:xfrm>
            <a:off x="7772400" y="2194560"/>
            <a:ext cx="393192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Multi-day agenda with tracks and rooms</a:t>
            </a:r>
            <a:endParaRPr lang="en-US" sz="1400" dirty="0"/>
          </a:p>
          <a:p>
            <a:pPr marL="342900" indent="-342900">
              <a:spcAft>
                <a:spcPts val="600"/>
              </a:spcAft>
              <a:buSzPct val="100000"/>
              <a:buChar char="•"/>
            </a:pPr>
            <a:r>
              <a:rPr lang="en-US" sz="1400" dirty="0">
                <a:solidFill>
                  <a:srgbClr val="4D4D4D"/>
                </a:solidFill>
              </a:rPr>
              <a:t>Attendees build their own “My Agenda”</a:t>
            </a:r>
            <a:endParaRPr lang="en-US" sz="1400" dirty="0"/>
          </a:p>
          <a:p>
            <a:pPr marL="342900" indent="-342900">
              <a:spcAft>
                <a:spcPts val="600"/>
              </a:spcAft>
              <a:buSzPct val="100000"/>
              <a:buChar char="•"/>
            </a:pPr>
            <a:r>
              <a:rPr lang="en-US" sz="1400" dirty="0">
                <a:solidFill>
                  <a:srgbClr val="4D4D4D"/>
                </a:solidFill>
              </a:rPr>
              <a:t>Session capacity and waitlists</a:t>
            </a:r>
            <a:endParaRPr lang="en-US" sz="1400" dirty="0"/>
          </a:p>
          <a:p>
            <a:pPr marL="342900" indent="-342900">
              <a:spcAft>
                <a:spcPts val="600"/>
              </a:spcAft>
              <a:buSzPct val="100000"/>
              <a:buChar char="•"/>
            </a:pPr>
            <a:r>
              <a:rPr lang="en-US" sz="1400" dirty="0">
                <a:solidFill>
                  <a:srgbClr val="4D4D4D"/>
                </a:solidFill>
              </a:rPr>
              <a:t>Speaker profiles and assignments</a:t>
            </a:r>
            <a:endParaRPr lang="en-US" sz="1400" dirty="0"/>
          </a:p>
          <a:p>
            <a:pPr marL="342900" indent="-342900">
              <a:spcAft>
                <a:spcPts val="600"/>
              </a:spcAft>
              <a:buSzPct val="100000"/>
              <a:buChar char="•"/>
            </a:pPr>
            <a:r>
              <a:rPr lang="en-US" sz="1400" dirty="0">
                <a:solidFill>
                  <a:srgbClr val="4D4D4D"/>
                </a:solidFill>
              </a:rPr>
              <a:t>Ticket types for providers and guests</a:t>
            </a:r>
            <a:endParaRPr lang="en-US" sz="1400" dirty="0"/>
          </a:p>
          <a:p>
            <a:pPr marL="342900" indent="-342900">
              <a:spcAft>
                <a:spcPts val="600"/>
              </a:spcAft>
              <a:buSzPct val="100000"/>
              <a:buChar char="•"/>
            </a:pPr>
            <a:r>
              <a:rPr lang="en-US" sz="1400" dirty="0">
                <a:solidFill>
                  <a:srgbClr val="4D4D4D"/>
                </a:solidFill>
              </a:rPr>
              <a:t>Badges and CME credit tracking [to confirm]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Example: 100,000 people click Register for a class with 30 seats</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17171B"/>
          </a:solidFill>
          <a:ln w="15875">
            <a:solidFill>
              <a:srgbClr val="6A6A75"/>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4A4A55"/>
            </a:solidFill>
            <a:prstDash val="dash"/>
          </a:ln>
        </p:spPr>
      </p:sp>
      <p:sp>
        <p:nvSpPr>
          <p:cNvPr id="6" name="participant-edge"/>
          <p:cNvSpPr/>
          <p:nvPr/>
        </p:nvSpPr>
        <p:spPr>
          <a:xfrm>
            <a:off x="2155763" y="1463040"/>
            <a:ext cx="1488251" cy="475488"/>
          </a:xfrm>
          <a:prstGeom prst="roundRect">
            <a:avLst>
              <a:gd name="adj" fmla="val 15385"/>
            </a:avLst>
          </a:prstGeom>
          <a:solidFill>
            <a:srgbClr val="17171B"/>
          </a:solidFill>
          <a:ln w="15875">
            <a:solidFill>
              <a:srgbClr val="00D6F2"/>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4A4A55"/>
            </a:solidFill>
            <a:prstDash val="dash"/>
          </a:ln>
        </p:spPr>
      </p:sp>
      <p:sp>
        <p:nvSpPr>
          <p:cNvPr id="9" name="participant-reg"/>
          <p:cNvSpPr/>
          <p:nvPr/>
        </p:nvSpPr>
        <p:spPr>
          <a:xfrm>
            <a:off x="3753743" y="1463040"/>
            <a:ext cx="1488251" cy="475488"/>
          </a:xfrm>
          <a:prstGeom prst="roundRect">
            <a:avLst>
              <a:gd name="adj" fmla="val 15385"/>
            </a:avLst>
          </a:prstGeom>
          <a:solidFill>
            <a:srgbClr val="17171B"/>
          </a:solidFill>
          <a:ln w="15875">
            <a:solidFill>
              <a:srgbClr val="FED7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4A4A55"/>
            </a:solidFill>
            <a:prstDash val="dash"/>
          </a:ln>
        </p:spPr>
      </p:sp>
      <p:sp>
        <p:nvSpPr>
          <p:cNvPr id="12" name="participant-inv"/>
          <p:cNvSpPr/>
          <p:nvPr/>
        </p:nvSpPr>
        <p:spPr>
          <a:xfrm>
            <a:off x="5351722" y="1463040"/>
            <a:ext cx="1488251" cy="475488"/>
          </a:xfrm>
          <a:prstGeom prst="roundRect">
            <a:avLst>
              <a:gd name="adj" fmla="val 15385"/>
            </a:avLst>
          </a:prstGeom>
          <a:solidFill>
            <a:srgbClr val="17171B"/>
          </a:solidFill>
          <a:ln w="15875">
            <a:solidFill>
              <a:srgbClr val="FED7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4A4A55"/>
            </a:solidFill>
            <a:prstDash val="dash"/>
          </a:ln>
        </p:spPr>
      </p:sp>
      <p:sp>
        <p:nvSpPr>
          <p:cNvPr id="15" name="participant-pay"/>
          <p:cNvSpPr/>
          <p:nvPr/>
        </p:nvSpPr>
        <p:spPr>
          <a:xfrm>
            <a:off x="6949701" y="1463040"/>
            <a:ext cx="1488251" cy="475488"/>
          </a:xfrm>
          <a:prstGeom prst="roundRect">
            <a:avLst>
              <a:gd name="adj" fmla="val 15385"/>
            </a:avLst>
          </a:prstGeom>
          <a:solidFill>
            <a:srgbClr val="17171B"/>
          </a:solidFill>
          <a:ln w="15875">
            <a:solidFill>
              <a:srgbClr val="6A6A75"/>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4A4A55"/>
            </a:solidFill>
            <a:prstDash val="dash"/>
          </a:ln>
        </p:spPr>
      </p:sp>
      <p:sp>
        <p:nvSpPr>
          <p:cNvPr id="18" name="participant-sf"/>
          <p:cNvSpPr/>
          <p:nvPr/>
        </p:nvSpPr>
        <p:spPr>
          <a:xfrm>
            <a:off x="8547681" y="1463040"/>
            <a:ext cx="1488251" cy="475488"/>
          </a:xfrm>
          <a:prstGeom prst="roundRect">
            <a:avLst>
              <a:gd name="adj" fmla="val 15385"/>
            </a:avLst>
          </a:prstGeom>
          <a:solidFill>
            <a:srgbClr val="17171B"/>
          </a:solidFill>
          <a:ln w="15875">
            <a:solidFill>
              <a:srgbClr val="00D6F2"/>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4A4A55"/>
            </a:solidFill>
            <a:prstDash val="dash"/>
          </a:ln>
        </p:spPr>
      </p:sp>
      <p:sp>
        <p:nvSpPr>
          <p:cNvPr id="21" name="participant-mc"/>
          <p:cNvSpPr/>
          <p:nvPr/>
        </p:nvSpPr>
        <p:spPr>
          <a:xfrm>
            <a:off x="10145660" y="1463040"/>
            <a:ext cx="1488251" cy="475488"/>
          </a:xfrm>
          <a:prstGeom prst="roundRect">
            <a:avLst>
              <a:gd name="adj" fmla="val 15385"/>
            </a:avLst>
          </a:prstGeom>
          <a:solidFill>
            <a:srgbClr val="17171B"/>
          </a:solidFill>
          <a:ln w="1587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FFFFFF"/>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4A4A55"/>
            </a:solidFill>
            <a:prstDash val="dash"/>
          </a:ln>
        </p:spPr>
      </p:sp>
      <p:sp>
        <p:nvSpPr>
          <p:cNvPr id="24" name="Shape 22"/>
          <p:cNvSpPr/>
          <p:nvPr/>
        </p:nvSpPr>
        <p:spPr>
          <a:xfrm>
            <a:off x="1301910" y="2192216"/>
            <a:ext cx="1597979" cy="0"/>
          </a:xfrm>
          <a:prstGeom prst="line">
            <a:avLst/>
          </a:prstGeom>
          <a:noFill/>
          <a:ln w="15875">
            <a:solidFill>
              <a:srgbClr val="FFFFFF"/>
            </a:solidFill>
            <a:prstDash val="solid"/>
            <a:tailEnd type="triangle"/>
          </a:ln>
        </p:spPr>
      </p:sp>
      <p:sp>
        <p:nvSpPr>
          <p:cNvPr id="25" name="Shape 23"/>
          <p:cNvSpPr/>
          <p:nvPr/>
        </p:nvSpPr>
        <p:spPr>
          <a:xfrm>
            <a:off x="1201326" y="2091632"/>
            <a:ext cx="201168" cy="201168"/>
          </a:xfrm>
          <a:prstGeom prst="ellipse">
            <a:avLst/>
          </a:prstGeom>
          <a:solidFill>
            <a:srgbClr val="00D6F2"/>
          </a:solidFill>
          <a:ln w="12700">
            <a:solidFill>
              <a:srgbClr val="00D6F2"/>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FFFFFF"/>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9AA7B4"/>
            </a:solidFill>
            <a:prstDash val="dash"/>
            <a:headEnd type="triangle"/>
          </a:ln>
        </p:spPr>
      </p:sp>
      <p:sp>
        <p:nvSpPr>
          <p:cNvPr id="29" name="Shape 27"/>
          <p:cNvSpPr/>
          <p:nvPr/>
        </p:nvSpPr>
        <p:spPr>
          <a:xfrm>
            <a:off x="2799305" y="2337461"/>
            <a:ext cx="201168" cy="201168"/>
          </a:xfrm>
          <a:prstGeom prst="ellipse">
            <a:avLst/>
          </a:prstGeom>
          <a:solidFill>
            <a:srgbClr val="00D6F2"/>
          </a:solidFill>
          <a:ln w="12700">
            <a:solidFill>
              <a:srgbClr val="00D6F2"/>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D0D6DC"/>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FFFFFF"/>
            </a:solidFill>
            <a:prstDash val="solid"/>
            <a:tailEnd type="triangle"/>
          </a:ln>
        </p:spPr>
      </p:sp>
      <p:sp>
        <p:nvSpPr>
          <p:cNvPr id="33" name="Shape 31"/>
          <p:cNvSpPr/>
          <p:nvPr/>
        </p:nvSpPr>
        <p:spPr>
          <a:xfrm>
            <a:off x="2799305" y="2583291"/>
            <a:ext cx="201168" cy="201168"/>
          </a:xfrm>
          <a:prstGeom prst="ellipse">
            <a:avLst/>
          </a:prstGeom>
          <a:solidFill>
            <a:srgbClr val="00D6F2"/>
          </a:solidFill>
          <a:ln w="12700">
            <a:solidFill>
              <a:srgbClr val="00D6F2"/>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FFFFFF"/>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FFFFFF"/>
            </a:solidFill>
            <a:prstDash val="solid"/>
            <a:tailEnd type="triangle"/>
          </a:ln>
        </p:spPr>
      </p:sp>
      <p:sp>
        <p:nvSpPr>
          <p:cNvPr id="37" name="Shape 35"/>
          <p:cNvSpPr/>
          <p:nvPr/>
        </p:nvSpPr>
        <p:spPr>
          <a:xfrm>
            <a:off x="4397284" y="2829121"/>
            <a:ext cx="201168" cy="201168"/>
          </a:xfrm>
          <a:prstGeom prst="ellipse">
            <a:avLst/>
          </a:prstGeom>
          <a:solidFill>
            <a:srgbClr val="00D6F2"/>
          </a:solidFill>
          <a:ln w="12700">
            <a:solidFill>
              <a:srgbClr val="00D6F2"/>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FFFFFF"/>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2A2508"/>
          </a:solidFill>
          <a:ln w="12700">
            <a:solidFill>
              <a:srgbClr val="FED7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FED7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9AA7B4"/>
            </a:solidFill>
            <a:prstDash val="dash"/>
            <a:headEnd type="triangle"/>
          </a:ln>
        </p:spPr>
      </p:sp>
      <p:sp>
        <p:nvSpPr>
          <p:cNvPr id="43" name="Shape 41"/>
          <p:cNvSpPr/>
          <p:nvPr/>
        </p:nvSpPr>
        <p:spPr>
          <a:xfrm>
            <a:off x="5995264" y="3259323"/>
            <a:ext cx="201168" cy="201168"/>
          </a:xfrm>
          <a:prstGeom prst="ellipse">
            <a:avLst/>
          </a:prstGeom>
          <a:solidFill>
            <a:srgbClr val="00D6F2"/>
          </a:solidFill>
          <a:ln w="12700">
            <a:solidFill>
              <a:srgbClr val="00D6F2"/>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D0D6DC"/>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9AA7B4"/>
            </a:solidFill>
            <a:prstDash val="dash"/>
            <a:headEnd type="triangle"/>
          </a:ln>
        </p:spPr>
      </p:sp>
      <p:sp>
        <p:nvSpPr>
          <p:cNvPr id="47" name="Shape 45"/>
          <p:cNvSpPr/>
          <p:nvPr/>
        </p:nvSpPr>
        <p:spPr>
          <a:xfrm>
            <a:off x="4397284" y="3505153"/>
            <a:ext cx="201168" cy="201168"/>
          </a:xfrm>
          <a:prstGeom prst="ellipse">
            <a:avLst/>
          </a:prstGeom>
          <a:solidFill>
            <a:srgbClr val="00D6F2"/>
          </a:solidFill>
          <a:ln w="12700">
            <a:solidFill>
              <a:srgbClr val="00D6F2"/>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D0D6DC"/>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FFFFFF"/>
            </a:solidFill>
            <a:prstDash val="solid"/>
            <a:tailEnd type="triangle"/>
          </a:ln>
        </p:spPr>
      </p:sp>
      <p:sp>
        <p:nvSpPr>
          <p:cNvPr id="51" name="Shape 49"/>
          <p:cNvSpPr/>
          <p:nvPr/>
        </p:nvSpPr>
        <p:spPr>
          <a:xfrm>
            <a:off x="1201326" y="3750983"/>
            <a:ext cx="201168" cy="201168"/>
          </a:xfrm>
          <a:prstGeom prst="ellipse">
            <a:avLst/>
          </a:prstGeom>
          <a:solidFill>
            <a:srgbClr val="00D6F2"/>
          </a:solidFill>
          <a:ln w="12700">
            <a:solidFill>
              <a:srgbClr val="00D6F2"/>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FFFFFF"/>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9AA7B4"/>
            </a:solidFill>
            <a:prstDash val="dash"/>
            <a:headEnd type="triangle"/>
          </a:ln>
        </p:spPr>
      </p:sp>
      <p:sp>
        <p:nvSpPr>
          <p:cNvPr id="55" name="Shape 53"/>
          <p:cNvSpPr/>
          <p:nvPr/>
        </p:nvSpPr>
        <p:spPr>
          <a:xfrm>
            <a:off x="7593243" y="3996813"/>
            <a:ext cx="201168" cy="201168"/>
          </a:xfrm>
          <a:prstGeom prst="ellipse">
            <a:avLst/>
          </a:prstGeom>
          <a:solidFill>
            <a:srgbClr val="00D6F2"/>
          </a:solidFill>
          <a:ln w="12700">
            <a:solidFill>
              <a:srgbClr val="00D6F2"/>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D0D6DC"/>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FFFFFF"/>
            </a:solidFill>
            <a:prstDash val="solid"/>
            <a:tailEnd type="triangle"/>
          </a:ln>
        </p:spPr>
      </p:sp>
      <p:sp>
        <p:nvSpPr>
          <p:cNvPr id="59" name="Shape 57"/>
          <p:cNvSpPr/>
          <p:nvPr/>
        </p:nvSpPr>
        <p:spPr>
          <a:xfrm>
            <a:off x="4397284" y="4242642"/>
            <a:ext cx="201168" cy="201168"/>
          </a:xfrm>
          <a:prstGeom prst="ellipse">
            <a:avLst/>
          </a:prstGeom>
          <a:solidFill>
            <a:srgbClr val="00D6F2"/>
          </a:solidFill>
          <a:ln w="12700">
            <a:solidFill>
              <a:srgbClr val="00D6F2"/>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FFFFFF"/>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FFFFFF"/>
            </a:solidFill>
            <a:prstDash val="solid"/>
            <a:tailEnd type="triangle"/>
          </a:ln>
        </p:spPr>
      </p:sp>
      <p:sp>
        <p:nvSpPr>
          <p:cNvPr id="63" name="Shape 61"/>
          <p:cNvSpPr/>
          <p:nvPr/>
        </p:nvSpPr>
        <p:spPr>
          <a:xfrm>
            <a:off x="9191222" y="4488472"/>
            <a:ext cx="201168" cy="201168"/>
          </a:xfrm>
          <a:prstGeom prst="ellipse">
            <a:avLst/>
          </a:prstGeom>
          <a:solidFill>
            <a:srgbClr val="00D6F2"/>
          </a:solidFill>
          <a:ln w="12700">
            <a:solidFill>
              <a:srgbClr val="00D6F2"/>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FFFFFF"/>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9AA7B4"/>
            </a:solidFill>
            <a:prstDash val="dash"/>
            <a:headEnd type="triangle"/>
          </a:ln>
        </p:spPr>
      </p:sp>
      <p:sp>
        <p:nvSpPr>
          <p:cNvPr id="67" name="Shape 65"/>
          <p:cNvSpPr/>
          <p:nvPr/>
        </p:nvSpPr>
        <p:spPr>
          <a:xfrm>
            <a:off x="10789202" y="4734302"/>
            <a:ext cx="201168" cy="201168"/>
          </a:xfrm>
          <a:prstGeom prst="ellipse">
            <a:avLst/>
          </a:prstGeom>
          <a:solidFill>
            <a:srgbClr val="00D6F2"/>
          </a:solidFill>
          <a:ln w="12700">
            <a:solidFill>
              <a:srgbClr val="00D6F2"/>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D0D6DC"/>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8C8C8C"/>
            </a:solidFill>
            <a:prstDash val="dash"/>
          </a:ln>
        </p:spPr>
      </p:sp>
      <p:sp>
        <p:nvSpPr>
          <p:cNvPr id="71" name="Shape 69"/>
          <p:cNvSpPr/>
          <p:nvPr/>
        </p:nvSpPr>
        <p:spPr>
          <a:xfrm>
            <a:off x="605723" y="4919214"/>
            <a:ext cx="1280160" cy="219456"/>
          </a:xfrm>
          <a:prstGeom prst="roundRect">
            <a:avLst>
              <a:gd name="adj" fmla="val 20833"/>
            </a:avLst>
          </a:prstGeom>
          <a:solidFill>
            <a:srgbClr val="2A2508"/>
          </a:solidFill>
          <a:ln w="12700">
            <a:solidFill>
              <a:srgbClr val="FED7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FED7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9AA7B4"/>
            </a:solidFill>
            <a:prstDash val="dash"/>
            <a:headEnd type="triangle"/>
          </a:ln>
        </p:spPr>
      </p:sp>
      <p:sp>
        <p:nvSpPr>
          <p:cNvPr id="74" name="Shape 72"/>
          <p:cNvSpPr/>
          <p:nvPr/>
        </p:nvSpPr>
        <p:spPr>
          <a:xfrm>
            <a:off x="5995264" y="5164504"/>
            <a:ext cx="201168" cy="201168"/>
          </a:xfrm>
          <a:prstGeom prst="ellipse">
            <a:avLst/>
          </a:prstGeom>
          <a:solidFill>
            <a:srgbClr val="00D6F2"/>
          </a:solidFill>
          <a:ln w="12700">
            <a:solidFill>
              <a:srgbClr val="00D6F2"/>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D0D6DC"/>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9AA7B4"/>
            </a:solidFill>
            <a:prstDash val="dash"/>
            <a:headEnd type="triangle"/>
          </a:ln>
        </p:spPr>
      </p:sp>
      <p:sp>
        <p:nvSpPr>
          <p:cNvPr id="78" name="Shape 76"/>
          <p:cNvSpPr/>
          <p:nvPr/>
        </p:nvSpPr>
        <p:spPr>
          <a:xfrm>
            <a:off x="4397284" y="5410334"/>
            <a:ext cx="201168" cy="201168"/>
          </a:xfrm>
          <a:prstGeom prst="ellipse">
            <a:avLst/>
          </a:prstGeom>
          <a:solidFill>
            <a:srgbClr val="00D6F2"/>
          </a:solidFill>
          <a:ln w="12700">
            <a:solidFill>
              <a:srgbClr val="00D6F2"/>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D0D6DC"/>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FFFFFF"/>
            </a:solidFill>
            <a:prstDash val="solid"/>
            <a:tailEnd type="triangle"/>
          </a:ln>
        </p:spPr>
      </p:sp>
      <p:sp>
        <p:nvSpPr>
          <p:cNvPr id="82" name="Shape 80"/>
          <p:cNvSpPr/>
          <p:nvPr/>
        </p:nvSpPr>
        <p:spPr>
          <a:xfrm>
            <a:off x="4397284" y="5656164"/>
            <a:ext cx="201168" cy="201168"/>
          </a:xfrm>
          <a:prstGeom prst="ellipse">
            <a:avLst/>
          </a:prstGeom>
          <a:solidFill>
            <a:srgbClr val="00D6F2"/>
          </a:solidFill>
          <a:ln w="12700">
            <a:solidFill>
              <a:srgbClr val="00D6F2"/>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FFFFFF"/>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8C8C8C"/>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My Memorial Hermann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Gateway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or Authorize.net)</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17171B"/>
          </a:solidFill>
          <a:ln w="15875">
            <a:solidFill>
              <a:srgbClr val="6A6A75"/>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4A4A55"/>
            </a:solidFill>
            <a:prstDash val="dash"/>
          </a:ln>
        </p:spPr>
      </p:sp>
      <p:sp>
        <p:nvSpPr>
          <p:cNvPr id="6" name="participant-reg"/>
          <p:cNvSpPr/>
          <p:nvPr/>
        </p:nvSpPr>
        <p:spPr>
          <a:xfrm>
            <a:off x="2432304" y="1508760"/>
            <a:ext cx="1764792" cy="475488"/>
          </a:xfrm>
          <a:prstGeom prst="roundRect">
            <a:avLst>
              <a:gd name="adj" fmla="val 15385"/>
            </a:avLst>
          </a:prstGeom>
          <a:solidFill>
            <a:srgbClr val="17171B"/>
          </a:solidFill>
          <a:ln w="15875">
            <a:solidFill>
              <a:srgbClr val="FED7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FFFFFF"/>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4A4A55"/>
            </a:solidFill>
            <a:prstDash val="dash"/>
          </a:ln>
        </p:spPr>
      </p:sp>
      <p:sp>
        <p:nvSpPr>
          <p:cNvPr id="9" name="participant-gw"/>
          <p:cNvSpPr/>
          <p:nvPr/>
        </p:nvSpPr>
        <p:spPr>
          <a:xfrm>
            <a:off x="4306824" y="1508760"/>
            <a:ext cx="1764792" cy="475488"/>
          </a:xfrm>
          <a:prstGeom prst="roundRect">
            <a:avLst>
              <a:gd name="adj" fmla="val 15385"/>
            </a:avLst>
          </a:prstGeom>
          <a:solidFill>
            <a:srgbClr val="17171B"/>
          </a:solidFill>
          <a:ln w="1587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FFFFFF"/>
                </a:solidFill>
              </a:rPr>
              <a:t>Gateway hosted page</a:t>
            </a:r>
            <a:endParaRPr lang="en-US" sz="1050" dirty="0"/>
          </a:p>
        </p:txBody>
      </p:sp>
      <p:sp>
        <p:nvSpPr>
          <p:cNvPr id="11" name="Shape 9"/>
          <p:cNvSpPr/>
          <p:nvPr/>
        </p:nvSpPr>
        <p:spPr>
          <a:xfrm>
            <a:off x="5189220" y="1984248"/>
            <a:ext cx="0" cy="4050792"/>
          </a:xfrm>
          <a:prstGeom prst="line">
            <a:avLst/>
          </a:prstGeom>
          <a:noFill/>
          <a:ln w="12700">
            <a:solidFill>
              <a:srgbClr val="4A4A55"/>
            </a:solidFill>
            <a:prstDash val="dash"/>
          </a:ln>
        </p:spPr>
      </p:sp>
      <p:sp>
        <p:nvSpPr>
          <p:cNvPr id="12" name="participant-sf"/>
          <p:cNvSpPr/>
          <p:nvPr/>
        </p:nvSpPr>
        <p:spPr>
          <a:xfrm>
            <a:off x="6181344" y="1508760"/>
            <a:ext cx="1764792" cy="475488"/>
          </a:xfrm>
          <a:prstGeom prst="roundRect">
            <a:avLst>
              <a:gd name="adj" fmla="val 15385"/>
            </a:avLst>
          </a:prstGeom>
          <a:solidFill>
            <a:srgbClr val="17171B"/>
          </a:solidFill>
          <a:ln w="15875">
            <a:solidFill>
              <a:srgbClr val="00D6F2"/>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FFFFFF"/>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4A4A55"/>
            </a:solidFill>
            <a:prstDash val="dash"/>
          </a:ln>
        </p:spPr>
      </p:sp>
      <p:sp>
        <p:nvSpPr>
          <p:cNvPr id="15" name="Shape 13"/>
          <p:cNvSpPr/>
          <p:nvPr/>
        </p:nvSpPr>
        <p:spPr>
          <a:xfrm>
            <a:off x="3314700" y="2358193"/>
            <a:ext cx="1874520" cy="0"/>
          </a:xfrm>
          <a:prstGeom prst="line">
            <a:avLst/>
          </a:prstGeom>
          <a:noFill/>
          <a:ln w="15875">
            <a:solidFill>
              <a:srgbClr val="FFFFFF"/>
            </a:solidFill>
            <a:prstDash val="solid"/>
            <a:tailEnd type="triangle"/>
          </a:ln>
        </p:spPr>
      </p:sp>
      <p:sp>
        <p:nvSpPr>
          <p:cNvPr id="16" name="Shape 14"/>
          <p:cNvSpPr/>
          <p:nvPr/>
        </p:nvSpPr>
        <p:spPr>
          <a:xfrm>
            <a:off x="3214116" y="2257609"/>
            <a:ext cx="201168" cy="201168"/>
          </a:xfrm>
          <a:prstGeom prst="ellipse">
            <a:avLst/>
          </a:prstGeom>
          <a:solidFill>
            <a:srgbClr val="00D6F2"/>
          </a:solidFill>
          <a:ln w="12700">
            <a:solidFill>
              <a:srgbClr val="00D6F2"/>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FFFFFF"/>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9AA7B4"/>
            </a:solidFill>
            <a:prstDash val="dash"/>
            <a:headEnd type="triangle"/>
          </a:ln>
        </p:spPr>
      </p:sp>
      <p:sp>
        <p:nvSpPr>
          <p:cNvPr id="20" name="Shape 18"/>
          <p:cNvSpPr/>
          <p:nvPr/>
        </p:nvSpPr>
        <p:spPr>
          <a:xfrm>
            <a:off x="5088636" y="2685647"/>
            <a:ext cx="201168" cy="201168"/>
          </a:xfrm>
          <a:prstGeom prst="ellipse">
            <a:avLst/>
          </a:prstGeom>
          <a:solidFill>
            <a:srgbClr val="00D6F2"/>
          </a:solidFill>
          <a:ln w="12700">
            <a:solidFill>
              <a:srgbClr val="00D6F2"/>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D0D6DC"/>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9AA7B4"/>
            </a:solidFill>
            <a:prstDash val="dash"/>
            <a:headEnd type="triangle"/>
          </a:ln>
        </p:spPr>
      </p:sp>
      <p:sp>
        <p:nvSpPr>
          <p:cNvPr id="24" name="Shape 22"/>
          <p:cNvSpPr/>
          <p:nvPr/>
        </p:nvSpPr>
        <p:spPr>
          <a:xfrm>
            <a:off x="3214116" y="3113685"/>
            <a:ext cx="201168" cy="201168"/>
          </a:xfrm>
          <a:prstGeom prst="ellipse">
            <a:avLst/>
          </a:prstGeom>
          <a:solidFill>
            <a:srgbClr val="00D6F2"/>
          </a:solidFill>
          <a:ln w="12700">
            <a:solidFill>
              <a:srgbClr val="00D6F2"/>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D0D6DC"/>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FFFFFF"/>
            </a:solidFill>
            <a:prstDash val="solid"/>
            <a:tailEnd type="triangle"/>
          </a:ln>
        </p:spPr>
      </p:sp>
      <p:sp>
        <p:nvSpPr>
          <p:cNvPr id="28" name="Shape 26"/>
          <p:cNvSpPr/>
          <p:nvPr/>
        </p:nvSpPr>
        <p:spPr>
          <a:xfrm>
            <a:off x="1339596" y="3541723"/>
            <a:ext cx="201168" cy="201168"/>
          </a:xfrm>
          <a:prstGeom prst="ellipse">
            <a:avLst/>
          </a:prstGeom>
          <a:solidFill>
            <a:srgbClr val="00D6F2"/>
          </a:solidFill>
          <a:ln w="12700">
            <a:solidFill>
              <a:srgbClr val="00D6F2"/>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FFFFFF"/>
                </a:solidFill>
              </a:rPr>
              <a:t>Card details typed into the gateway page</a:t>
            </a:r>
            <a:endParaRPr lang="en-US" sz="1000" dirty="0"/>
          </a:p>
        </p:txBody>
      </p:sp>
      <p:sp>
        <p:nvSpPr>
          <p:cNvPr id="31" name="Shape 29"/>
          <p:cNvSpPr/>
          <p:nvPr/>
        </p:nvSpPr>
        <p:spPr>
          <a:xfrm>
            <a:off x="1440180" y="4070345"/>
            <a:ext cx="3749040" cy="0"/>
          </a:xfrm>
          <a:prstGeom prst="line">
            <a:avLst/>
          </a:prstGeom>
          <a:noFill/>
          <a:ln w="15875">
            <a:solidFill>
              <a:srgbClr val="9AA7B4"/>
            </a:solidFill>
            <a:prstDash val="dash"/>
            <a:headEnd type="triangle"/>
          </a:ln>
        </p:spPr>
      </p:sp>
      <p:sp>
        <p:nvSpPr>
          <p:cNvPr id="32" name="Shape 30"/>
          <p:cNvSpPr/>
          <p:nvPr/>
        </p:nvSpPr>
        <p:spPr>
          <a:xfrm>
            <a:off x="5088636" y="3969761"/>
            <a:ext cx="201168" cy="201168"/>
          </a:xfrm>
          <a:prstGeom prst="ellipse">
            <a:avLst/>
          </a:prstGeom>
          <a:solidFill>
            <a:srgbClr val="00D6F2"/>
          </a:solidFill>
          <a:ln w="12700">
            <a:solidFill>
              <a:srgbClr val="00D6F2"/>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D0D6DC"/>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FFFFFF"/>
            </a:solidFill>
            <a:prstDash val="solid"/>
            <a:headEnd type="triangle"/>
          </a:ln>
        </p:spPr>
      </p:sp>
      <p:sp>
        <p:nvSpPr>
          <p:cNvPr id="36" name="Shape 34"/>
          <p:cNvSpPr/>
          <p:nvPr/>
        </p:nvSpPr>
        <p:spPr>
          <a:xfrm>
            <a:off x="5088636" y="4397799"/>
            <a:ext cx="201168" cy="201168"/>
          </a:xfrm>
          <a:prstGeom prst="ellipse">
            <a:avLst/>
          </a:prstGeom>
          <a:solidFill>
            <a:srgbClr val="00D6F2"/>
          </a:solidFill>
          <a:ln w="12700">
            <a:solidFill>
              <a:srgbClr val="00D6F2"/>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FFFFFF"/>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FFFFFF"/>
            </a:solidFill>
            <a:prstDash val="solid"/>
          </a:ln>
        </p:spPr>
      </p:sp>
      <p:sp>
        <p:nvSpPr>
          <p:cNvPr id="40" name="Shape 38"/>
          <p:cNvSpPr/>
          <p:nvPr/>
        </p:nvSpPr>
        <p:spPr>
          <a:xfrm>
            <a:off x="3634740" y="4831183"/>
            <a:ext cx="0" cy="240771"/>
          </a:xfrm>
          <a:prstGeom prst="line">
            <a:avLst/>
          </a:prstGeom>
          <a:noFill/>
          <a:ln w="15875">
            <a:solidFill>
              <a:srgbClr val="FFFFFF"/>
            </a:solidFill>
            <a:prstDash val="solid"/>
          </a:ln>
        </p:spPr>
      </p:sp>
      <p:sp>
        <p:nvSpPr>
          <p:cNvPr id="41" name="Shape 39"/>
          <p:cNvSpPr/>
          <p:nvPr/>
        </p:nvSpPr>
        <p:spPr>
          <a:xfrm>
            <a:off x="3314700" y="5071954"/>
            <a:ext cx="320040" cy="0"/>
          </a:xfrm>
          <a:prstGeom prst="line">
            <a:avLst/>
          </a:prstGeom>
          <a:noFill/>
          <a:ln w="15875">
            <a:solidFill>
              <a:srgbClr val="FFFFFF"/>
            </a:solidFill>
            <a:prstDash val="solid"/>
            <a:headEnd type="triangle"/>
          </a:ln>
        </p:spPr>
      </p:sp>
      <p:sp>
        <p:nvSpPr>
          <p:cNvPr id="42" name="Shape 40"/>
          <p:cNvSpPr/>
          <p:nvPr/>
        </p:nvSpPr>
        <p:spPr>
          <a:xfrm>
            <a:off x="3214116" y="4730599"/>
            <a:ext cx="201168" cy="201168"/>
          </a:xfrm>
          <a:prstGeom prst="ellipse">
            <a:avLst/>
          </a:prstGeom>
          <a:solidFill>
            <a:srgbClr val="00D6F2"/>
          </a:solidFill>
          <a:ln w="12700">
            <a:solidFill>
              <a:srgbClr val="00D6F2"/>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FFFFFF"/>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FFFFFF"/>
            </a:solidFill>
            <a:prstDash val="solid"/>
            <a:tailEnd type="triangle"/>
          </a:ln>
        </p:spPr>
      </p:sp>
      <p:sp>
        <p:nvSpPr>
          <p:cNvPr id="46" name="Shape 44"/>
          <p:cNvSpPr/>
          <p:nvPr/>
        </p:nvSpPr>
        <p:spPr>
          <a:xfrm>
            <a:off x="3214116" y="5360885"/>
            <a:ext cx="201168" cy="201168"/>
          </a:xfrm>
          <a:prstGeom prst="ellipse">
            <a:avLst/>
          </a:prstGeom>
          <a:solidFill>
            <a:srgbClr val="00D6F2"/>
          </a:solidFill>
          <a:ln w="12700">
            <a:solidFill>
              <a:srgbClr val="00D6F2"/>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FFFFFF"/>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bg1"/>
                </a:solidFill>
              </a:rPr>
              <a:t>Gateway choice</a:t>
            </a:r>
            <a:endParaRPr lang="en-US" sz="1600" dirty="0"/>
          </a:p>
        </p:txBody>
      </p:sp>
      <p:sp>
        <p:nvSpPr>
          <p:cNvPr id="52" name="Shape 50"/>
          <p:cNvSpPr/>
          <p:nvPr/>
        </p:nvSpPr>
        <p:spPr>
          <a:xfrm>
            <a:off x="8412480" y="1965960"/>
            <a:ext cx="3273552" cy="1078992"/>
          </a:xfrm>
          <a:prstGeom prst="roundRect">
            <a:avLst>
              <a:gd name="adj" fmla="val 8475"/>
            </a:avLst>
          </a:prstGeom>
          <a:solidFill>
            <a:srgbClr val="17171B"/>
          </a:solidFill>
          <a:ln w="12700">
            <a:solidFill>
              <a:srgbClr val="3A3A42"/>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D6F2"/>
                </a:solidFill>
              </a:rPr>
              <a:t>OPTION A</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bg1"/>
                </a:solidFill>
              </a:rPr>
              <a:t>Keep both</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BFBFBF"/>
                </a:solidFill>
              </a:rPr>
              <a:t>Chase for classes, Authorize.net for conferences</a:t>
            </a:r>
            <a:endParaRPr lang="en-US" sz="1100" dirty="0"/>
          </a:p>
        </p:txBody>
      </p:sp>
      <p:sp>
        <p:nvSpPr>
          <p:cNvPr id="56" name="Shape 54"/>
          <p:cNvSpPr/>
          <p:nvPr/>
        </p:nvSpPr>
        <p:spPr>
          <a:xfrm>
            <a:off x="8412480" y="3172968"/>
            <a:ext cx="3273552" cy="1078992"/>
          </a:xfrm>
          <a:prstGeom prst="roundRect">
            <a:avLst>
              <a:gd name="adj" fmla="val 8475"/>
            </a:avLst>
          </a:prstGeom>
          <a:solidFill>
            <a:srgbClr val="17171B"/>
          </a:solidFill>
          <a:ln w="12700">
            <a:solidFill>
              <a:srgbClr val="3A3A42"/>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FF0068"/>
                </a:solidFill>
              </a:rPr>
              <a:t>OPTION B</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bg1"/>
                </a:solidFill>
              </a:rPr>
              <a:t>Consolidate on one</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BFBFBF"/>
                </a:solidFill>
              </a:rPr>
              <a:t>One gateway for every event; simpler reconciliation</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bg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BFBFBF"/>
                </a:solidFill>
              </a:rPr>
              <a:t>Full and partial refunds by token from Salesforce</a:t>
            </a:r>
            <a:endParaRPr lang="en-US" sz="1200" dirty="0"/>
          </a:p>
          <a:p>
            <a:pPr marL="342900" indent="-342900">
              <a:spcAft>
                <a:spcPts val="400"/>
              </a:spcAft>
              <a:buSzPct val="100000"/>
              <a:buChar char="•"/>
            </a:pPr>
            <a:r>
              <a:rPr lang="en-US" sz="1200" dirty="0">
                <a:solidFill>
                  <a:srgbClr val="BFBFBF"/>
                </a:solidFill>
              </a:rPr>
              <a:t>Automatic receipts</a:t>
            </a:r>
            <a:endParaRPr lang="en-US" sz="1200" dirty="0"/>
          </a:p>
          <a:p>
            <a:pPr marL="342900" indent="-342900">
              <a:spcAft>
                <a:spcPts val="400"/>
              </a:spcAft>
              <a:buSzPct val="100000"/>
              <a:buChar char="•"/>
            </a:pPr>
            <a:r>
              <a:rPr lang="en-US" sz="1200" dirty="0">
                <a:solidFill>
                  <a:srgbClr val="BFBFBF"/>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Two phases, about 24 weeks to both platforms live</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  ·  Discover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Walkthrough of the current build, requirements, data model, payment decision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4-14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and events: registration, payments, journeys, check-in. Home-built tool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15-24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25+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Classes and events</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Conferences and sessions</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Event catalog, recurring classes, capacity and waitlists</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Consumers and caregivers, family sign-up</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hosted checkout, refunds, receipts</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Authorize.net or one consolidated gateway</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Confirmation and reminder journeys, QR check-in</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Registrants matched to Health Cloud records</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Certain history migrated</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Waiting room, seat holds, encryption, monitoring</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Home-built class registration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02920" y="100584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and events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1-14</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Registration and payments</a:t>
            </a:r>
            <a:endParaRPr lang="en-US" sz="1400" dirty="0"/>
          </a:p>
          <a:p>
            <a:pPr marL="342900" indent="-342900">
              <a:spcAft>
                <a:spcPts val="600"/>
              </a:spcAft>
              <a:buSzPct val="100000"/>
              <a:buChar char="•"/>
            </a:pPr>
            <a:r>
              <a:rPr lang="en-US" sz="1400" dirty="0">
                <a:solidFill>
                  <a:srgbClr val="4D4D4D"/>
                </a:solidFill>
              </a:rPr>
              <a:t>Marketing Cloud reminders</a:t>
            </a:r>
            <a:endParaRPr lang="en-US" sz="1400" dirty="0"/>
          </a:p>
          <a:p>
            <a:pPr marL="342900" indent="-342900">
              <a:spcAft>
                <a:spcPts val="600"/>
              </a:spcAft>
              <a:buSzPct val="100000"/>
              <a:buChar char="•"/>
            </a:pPr>
            <a:r>
              <a:rPr lang="en-US" sz="1400" dirty="0">
                <a:solidFill>
                  <a:srgbClr val="4D4D4D"/>
                </a:solidFill>
              </a:rPr>
              <a:t>QR check-in and reporting</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15-24</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1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download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25+</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the current class solution with Lucky Rai’s team</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how registration opens inside the My Memorial Hermann app</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Agree the payment approach: keep both gateways or consolidate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so Phase 2 lands before it</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2026-10-15T05:55:32Z</dcterms:created>
  <dcterms:modified xsi:type="dcterms:W3CDTF">2026-10-15T05:55:32Z</dcterms:modified>
</cp:coreProperties>
</file>