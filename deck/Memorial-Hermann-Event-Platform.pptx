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bb4496a-eec3-5181-8e33-d1476773826a}">
          <p14:sldIdLst>
            <p14:sldId id="256"/>
            <p14:sldId id="257"/>
            <p14:sldId id="258"/>
            <p14:sldId id="259"/>
          </p14:sldIdLst>
        </p14:section>
        <p14:section name="The solution" id="{ad431845-7781-8488-c729-19a0d12c0e26}">
          <p14:sldIdLst>
            <p14:sldId id="260"/>
            <p14:sldId id="261"/>
            <p14:sldId id="262"/>
            <p14:sldId id="263"/>
            <p14:sldId id="264"/>
            <p14:sldId id="265"/>
            <p14:sldId id="266"/>
            <p14:sldId id="267"/>
            <p14:sldId id="268"/>
            <p14:sldId id="269"/>
          </p14:sldIdLst>
        </p14:section>
        <p14:section name="Delivery plan" id="{e6266f6b-dc0f-0fc5-bd11-ed63df1745c6}">
          <p14:sldIdLst>
            <p14:sldId id="270"/>
            <p14:sldId id="271"/>
            <p14:sldId id="272"/>
            <p14:sldId id="273"/>
            <p14:sldId id="274"/>
          </p14:sldIdLst>
        </p14:section>
        <p14:section name="Beyond the event" id="{88ed536f-ead7-d7f6-a586-5d84670c3365}">
          <p14:sldIdLst>
            <p14:sldId id="275"/>
            <p14:sldId id="276"/>
            <p14:sldId id="277"/>
            <p14:sldId id="278"/>
            <p14:sldId id="279"/>
            <p14:sldId id="280"/>
          </p14:sldIdLst>
        </p14:section>
        <p14:section name="Roadmap and next steps" id="{779c2214-9497-706a-636d-12e32194e549}">
          <p14:sldIdLst>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We keep the Sitecore listings, the Experience Cloud registration site and the app. We improve classes where today’s experience is weak, such as confirmations that can take up to 24 hours. We replace only Certain. Engagement and AI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ask: replace Certain. Conferences run on the same Salesforce platform as classes, with the attendee portal on their existing Experience Cloud site. CME requirements to be confirmed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screens, sample data. We keep today’s registration site and app and improve them: instant confirmation instead of up to 24 hours, safe payment retries, live seats and waitlists. How the app connects is confirmed with Lucky Rai’s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Salesforce Lightning app, so their in-house Salesforce admins can own it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Gateway choice is Memorial Hermann finance's decision; both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Certain around week 12; time it to land before the Certain renewal. Phase 2 brings classes onto the same platform and improves them by week 20, without rebuilding the registration site. Engagement work can start once classes are on the shared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team and same platform across both phases, so Phase 2 builds on Phase 1 rather than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 1 assesses today’s Experience Cloud site, app and Certain. Sprints 2 to 6 deliver conference and session management (live at week 12, Certain retired). Sprints 7 to 10 move classes onto the same platform and improve them (live at week 20).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Scrum Master or Project Manager leading delivery, one QA engineer embedded in every sprint, and a build team of two Salesforce developers and one Marketing Cloud developer.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$580,000. As a strategic partner, Memorial Hermann receives a 50% partnership credit applied upfront, for an investment of $290,000.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8.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8.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8.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image" Target="../media/image-27-12.png"/><Relationship Id="rId13" Type="http://schemas.openxmlformats.org/officeDocument/2006/relationships/image" Target="../media/image-27-13.png"/><Relationship Id="rId14" Type="http://schemas.openxmlformats.org/officeDocument/2006/relationships/slideLayout" Target="../slideLayouts/slideLayout7.xml"/><Relationship Id="rId1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Business opportunity</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opportunity</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Also: run classes on the same platform, building on today’s registration instead of rebuilding it.</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Replace with Salesforce conference and session management</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confirmation up to 24 hours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the site and improve it on one shared event model</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Mobile app</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People can already register for events in the app</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it, connected to the same event model</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of today’s class registration. Replace only Certain, then bring every event onto one platform.</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class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Mobile app registration</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IMPROVE"/>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IMPROVE</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Instant confirmation (today up to 24 hours)</a:t>
            </a:r>
            <a:endParaRPr lang="en-US" sz="1300" dirty="0"/>
          </a:p>
          <a:p>
            <a:pPr marL="342900" indent="-342900">
              <a:spcAft>
                <a:spcPts val="600"/>
              </a:spcAft>
              <a:buSzPct val="100000"/>
              <a:buChar char="•"/>
            </a:pPr>
            <a:r>
              <a:rPr lang="en-US" sz="1300" dirty="0">
                <a:solidFill>
                  <a:schemeClr val="tx1"/>
                </a:solidFill>
              </a:rPr>
              <a:t>Safe payment retries</a:t>
            </a:r>
            <a:endParaRPr lang="en-US" sz="1300" dirty="0"/>
          </a:p>
          <a:p>
            <a:pPr marL="342900" indent="-342900">
              <a:spcAft>
                <a:spcPts val="600"/>
              </a:spcAft>
              <a:buSzPct val="100000"/>
              <a:buChar char="•"/>
            </a:pPr>
            <a:r>
              <a:rPr lang="en-US" sz="1300" dirty="0">
                <a:solidFill>
                  <a:schemeClr val="tx1"/>
                </a:solidFill>
              </a:rPr>
              <a:t>Live seats and waitlists</a:t>
            </a:r>
            <a:endParaRPr lang="en-US" sz="1300" dirty="0"/>
          </a:p>
          <a:p>
            <a:pPr marL="342900" indent="-342900">
              <a:spcAft>
                <a:spcPts val="600"/>
              </a:spcAft>
              <a:buSzPct val="100000"/>
              <a:buChar char="•"/>
            </a:pPr>
            <a:r>
              <a:rPr lang="en-US" sz="1300" dirty="0">
                <a:solidFill>
                  <a:schemeClr val="tx1"/>
                </a:solidFill>
              </a:rPr>
              <a:t>Check-in and reporting</a:t>
            </a:r>
            <a:endParaRPr lang="en-US" sz="1300" dirty="0"/>
          </a:p>
          <a:p>
            <a:pPr marL="342900" indent="-342900">
              <a:spcAft>
                <a:spcPts val="600"/>
              </a:spcAft>
              <a:buSzPct val="100000"/>
              <a:buChar char="•"/>
            </a:pPr>
            <a:r>
              <a:rPr lang="en-US" sz="1300" dirty="0">
                <a:solidFill>
                  <a:schemeClr val="tx1"/>
                </a:solidFill>
              </a:rPr>
              <a:t>One shared event model</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Salesforce conference and session management</a:t>
            </a:r>
            <a:endParaRPr lang="en-US" sz="1300" dirty="0"/>
          </a:p>
          <a:p>
            <a:pPr marL="342900" indent="-342900">
              <a:spcAft>
                <a:spcPts val="600"/>
              </a:spcAft>
              <a:buSzPct val="100000"/>
              <a:buChar char="•"/>
            </a:pPr>
            <a:r>
              <a:rPr lang="en-US" sz="1300" dirty="0">
                <a:solidFill>
                  <a:srgbClr val="FFFFFF"/>
                </a:solidFill>
              </a:rPr>
              <a:t>My Agenda portal on Experience Cloud</a:t>
            </a:r>
            <a:endParaRPr lang="en-US" sz="1300" dirty="0"/>
          </a:p>
          <a:p>
            <a:pPr marL="342900" indent="-342900">
              <a:spcAft>
                <a:spcPts val="600"/>
              </a:spcAft>
              <a:buSzPct val="100000"/>
              <a:buChar char="•"/>
            </a:pPr>
            <a:r>
              <a:rPr lang="en-US" sz="1300" dirty="0">
                <a:solidFill>
                  <a:srgbClr val="FFFFFF"/>
                </a:solidFill>
              </a:rPr>
              <a:t>Authorize.net checkout inside the platform</a:t>
            </a:r>
            <a:endParaRPr lang="en-US" sz="1300" dirty="0"/>
          </a:p>
          <a:p>
            <a:pPr marL="342900" indent="-342900">
              <a:spcAft>
                <a:spcPts val="600"/>
              </a:spcAft>
              <a:buSzPct val="100000"/>
              <a:buChar char="•"/>
            </a:pPr>
            <a:r>
              <a:rPr lang="en-US" sz="1300" dirty="0">
                <a:solidFill>
                  <a:srgbClr val="FFFFFF"/>
                </a:solidFill>
              </a:rPr>
              <a:t>Certain data migrated</a:t>
            </a:r>
            <a:endParaRPr lang="en-US" sz="1300" dirty="0"/>
          </a:p>
        </p:txBody>
      </p:sp>
      <p:sp>
        <p:nvSpPr>
          <p:cNvPr id="13" name="kir-ADD 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ADD 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every event ends up on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first, then classes on the same Salesforce platform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One event platform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front doors</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Existing mobile app</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Authorize.net</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for conferences and classes on your existing Experience Cloud site and app;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Phase 1: conferences with full session management</a:t>
            </a:r>
            <a:endParaRPr lang="en-US" sz="3200" dirty="0"/>
          </a:p>
        </p:txBody>
      </p:sp>
      <p:pic>
        <p:nvPicPr>
          <p:cNvPr id="3" name="04-conference-agenda.png" descr="/home/user/presales_memorial-hermann/deck/mockups/png/04-conference-agenda.png">    </p:cNvPr>
          <p:cNvPicPr>
            <a:picLocks noChangeAspect="1"/>
          </p:cNvPicPr>
          <p:nvPr/>
        </p:nvPicPr>
        <p:blipFill>
          <a:blip r:embed="rId1"/>
          <a:stretch>
            <a:fillRect/>
          </a:stretch>
        </p:blipFill>
        <p:spPr>
          <a:xfrm>
            <a:off x="502920" y="1691640"/>
            <a:ext cx="6858000" cy="428853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7772400" y="16916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Replaces Certain</a:t>
            </a:r>
            <a:endParaRPr lang="en-US" sz="1800" dirty="0"/>
          </a:p>
        </p:txBody>
      </p:sp>
      <p:sp>
        <p:nvSpPr>
          <p:cNvPr id="5" name="Text 2"/>
          <p:cNvSpPr txBox="1"/>
          <p:nvPr/>
        </p:nvSpPr>
        <p:spPr>
          <a:xfrm>
            <a:off x="7772400" y="2194560"/>
            <a:ext cx="39319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Multi-day agenda with tracks and rooms</a:t>
            </a:r>
            <a:endParaRPr lang="en-US" sz="1400" dirty="0"/>
          </a:p>
          <a:p>
            <a:pPr marL="342900" indent="-342900">
              <a:spcAft>
                <a:spcPts val="600"/>
              </a:spcAft>
              <a:buSzPct val="100000"/>
              <a:buChar char="•"/>
            </a:pPr>
            <a:r>
              <a:rPr lang="en-US" sz="1400" dirty="0">
                <a:solidFill>
                  <a:srgbClr val="4D4D4D"/>
                </a:solidFill>
              </a:rPr>
              <a:t>Attendees build their own “My Agenda”</a:t>
            </a:r>
            <a:endParaRPr lang="en-US" sz="1400" dirty="0"/>
          </a:p>
          <a:p>
            <a:pPr marL="342900" indent="-342900">
              <a:spcAft>
                <a:spcPts val="600"/>
              </a:spcAft>
              <a:buSzPct val="100000"/>
              <a:buChar char="•"/>
            </a:pPr>
            <a:r>
              <a:rPr lang="en-US" sz="1400" dirty="0">
                <a:solidFill>
                  <a:srgbClr val="4D4D4D"/>
                </a:solidFill>
              </a:rPr>
              <a:t>Session capacity and waitlists</a:t>
            </a:r>
            <a:endParaRPr lang="en-US" sz="1400" dirty="0"/>
          </a:p>
          <a:p>
            <a:pPr marL="342900" indent="-342900">
              <a:spcAft>
                <a:spcPts val="600"/>
              </a:spcAft>
              <a:buSzPct val="100000"/>
              <a:buChar char="•"/>
            </a:pPr>
            <a:r>
              <a:rPr lang="en-US" sz="1400" dirty="0">
                <a:solidFill>
                  <a:srgbClr val="4D4D4D"/>
                </a:solidFill>
              </a:rPr>
              <a:t>Speaker profiles and assignments</a:t>
            </a:r>
            <a:endParaRPr lang="en-US" sz="1400" dirty="0"/>
          </a:p>
          <a:p>
            <a:pPr marL="342900" indent="-342900">
              <a:spcAft>
                <a:spcPts val="600"/>
              </a:spcAft>
              <a:buSzPct val="100000"/>
              <a:buChar char="•"/>
            </a:pPr>
            <a:r>
              <a:rPr lang="en-US" sz="1400" dirty="0">
                <a:solidFill>
                  <a:srgbClr val="4D4D4D"/>
                </a:solidFill>
              </a:rPr>
              <a:t>Ticket types for providers and guests</a:t>
            </a:r>
            <a:endParaRPr lang="en-US" sz="1400" dirty="0"/>
          </a:p>
          <a:p>
            <a:pPr marL="342900" indent="-342900">
              <a:spcAft>
                <a:spcPts val="600"/>
              </a:spcAft>
              <a:buSzPct val="100000"/>
              <a:buChar char="•"/>
            </a:pPr>
            <a:r>
              <a:rPr lang="en-US" sz="1400" dirty="0">
                <a:solidFill>
                  <a:srgbClr val="4D4D4D"/>
                </a:solidFill>
              </a:rPr>
              <a:t>Badges and CME credit tracking [to confirm]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Phase 2: today’s class registration, improved</a:t>
            </a:r>
            <a:endParaRPr lang="en-US" sz="3200" dirty="0"/>
          </a:p>
        </p:txBody>
      </p:sp>
      <p:pic>
        <p:nvPicPr>
          <p:cNvPr id="3" name="01-web-registration.png" descr="/home/user/presales_memorial-hermann/deck/mockups/png/01-web-registration.png">    </p:cNvPr>
          <p:cNvPicPr>
            <a:picLocks noChangeAspect="1"/>
          </p:cNvPicPr>
          <p:nvPr/>
        </p:nvPicPr>
        <p:blipFill>
          <a:blip r:embed="rId1"/>
          <a:stretch>
            <a:fillRect/>
          </a:stretch>
        </p:blipFill>
        <p:spPr>
          <a:xfrm>
            <a:off x="502920" y="1691640"/>
            <a:ext cx="5440680" cy="3401568"/>
          </a:xfrm>
          <a:prstGeom prst="rect">
            <a:avLst/>
          </a:prstGeom>
          <a:effectLst>
            <a:outerShdw sx="100000" sy="100000" kx="0" ky="0" algn="bl" rotWithShape="0" blurRad="101600" dist="25400" dir="5400000">
              <a:srgbClr val="000000">
                <a:alpha val="25000"/>
              </a:srgbClr>
            </a:outerShdw>
          </a:effectLst>
        </p:spPr>
      </p:pic>
      <p:pic>
        <p:nvPicPr>
          <p:cNvPr id="4" name="02-mobile-flow.png" descr="/home/user/presales_memorial-hermann/deck/mockups/png/02-mobile-flow.png">    </p:cNvPr>
          <p:cNvPicPr>
            <a:picLocks noChangeAspect="1"/>
          </p:cNvPicPr>
          <p:nvPr/>
        </p:nvPicPr>
        <p:blipFill>
          <a:blip r:embed="rId2"/>
          <a:stretch>
            <a:fillRect/>
          </a:stretch>
        </p:blipFill>
        <p:spPr>
          <a:xfrm>
            <a:off x="6245352" y="1691640"/>
            <a:ext cx="5440680" cy="3401568"/>
          </a:xfrm>
          <a:prstGeom prst="rect">
            <a:avLst/>
          </a:prstGeom>
          <a:effectLst>
            <a:outerShdw sx="100000" sy="100000" kx="0" ky="0" algn="bl" rotWithShape="0" blurRad="101600" dist="25400" dir="5400000">
              <a:srgbClr val="000000">
                <a:alpha val="25000"/>
              </a:srgbClr>
            </a:outerShdw>
          </a:effectLst>
        </p:spPr>
      </p:pic>
      <p:sp>
        <p:nvSpPr>
          <p:cNvPr id="5" name="Text 1"/>
          <p:cNvSpPr txBox="1"/>
          <p:nvPr/>
        </p:nvSpPr>
        <p:spPr>
          <a:xfrm>
            <a:off x="502920"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Website and Experience Cloud site</a:t>
            </a:r>
            <a:endParaRPr lang="en-US" sz="1500" dirty="0"/>
          </a:p>
        </p:txBody>
      </p:sp>
      <p:sp>
        <p:nvSpPr>
          <p:cNvPr id="6" name="Text 2"/>
          <p:cNvSpPr txBox="1"/>
          <p:nvPr/>
        </p:nvSpPr>
        <p:spPr>
          <a:xfrm>
            <a:off x="502920"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Same listings and registration site, now with live seats, waitlists and instant confirmation.</a:t>
            </a:r>
            <a:endParaRPr lang="en-US" sz="1300" dirty="0"/>
          </a:p>
        </p:txBody>
      </p:sp>
      <p:sp>
        <p:nvSpPr>
          <p:cNvPr id="7" name="Text 3"/>
          <p:cNvSpPr txBox="1"/>
          <p:nvPr/>
        </p:nvSpPr>
        <p:spPr>
          <a:xfrm>
            <a:off x="6245352"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Existing mobile app</a:t>
            </a:r>
            <a:endParaRPr lang="en-US" sz="1500" dirty="0"/>
          </a:p>
        </p:txBody>
      </p:sp>
      <p:sp>
        <p:nvSpPr>
          <p:cNvPr id="8" name="Text 4"/>
          <p:cNvSpPr txBox="1"/>
          <p:nvPr/>
        </p:nvSpPr>
        <p:spPr>
          <a:xfrm>
            <a:off x="6245352"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The app people already register in, connected to the same event model. No new app.</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run classes and conferences from one console</a:t>
            </a:r>
            <a:endParaRPr lang="en-US" sz="3200" dirty="0"/>
          </a:p>
        </p:txBody>
      </p:sp>
      <p:pic>
        <p:nvPicPr>
          <p:cNvPr id="3" name="03-salesforce-console.png" descr="/home/user/presales_memorial-hermann/deck/mockups/png/03-salesforce-console.png">    </p:cNvPr>
          <p:cNvPicPr>
            <a:picLocks noChangeAspect="1"/>
          </p:cNvPicPr>
          <p:nvPr/>
        </p:nvPicPr>
        <p:blipFill>
          <a:blip r:embed="rId1"/>
          <a:stretch>
            <a:fillRect/>
          </a:stretch>
        </p:blipFill>
        <p:spPr>
          <a:xfrm>
            <a:off x="502920" y="1783080"/>
            <a:ext cx="7863840" cy="3538728"/>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732520" y="1783080"/>
            <a:ext cx="2971800" cy="365760"/>
          </a:xfrm>
          <a:prstGeom prst="rect">
            <a:avLst/>
          </a:prstGeom>
          <a:noFill/>
          <a:ln/>
        </p:spPr>
        <p:txBody>
          <a:bodyPr wrap="square" lIns="0" tIns="0" rIns="0" bIns="0" rtlCol="0" anchor="t"/>
          <a:lstStyle/>
          <a:p>
            <a:pPr indent="0" marL="0">
              <a:buNone/>
            </a:pPr>
            <a:r>
              <a:rPr lang="en-US" sz="1800" b="1" dirty="0">
                <a:solidFill>
                  <a:schemeClr val="tx1"/>
                </a:solidFill>
              </a:rPr>
              <a:t>What staff can do</a:t>
            </a:r>
            <a:endParaRPr lang="en-US" sz="1800" dirty="0"/>
          </a:p>
        </p:txBody>
      </p:sp>
      <p:sp>
        <p:nvSpPr>
          <p:cNvPr id="5" name="Text 2"/>
          <p:cNvSpPr txBox="1"/>
          <p:nvPr/>
        </p:nvSpPr>
        <p:spPr>
          <a:xfrm>
            <a:off x="8732520" y="2286000"/>
            <a:ext cx="297180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Set up a class once and repeat it as a series</a:t>
            </a:r>
            <a:endParaRPr lang="en-US" sz="1400" dirty="0"/>
          </a:p>
          <a:p>
            <a:pPr marL="342900" indent="-342900">
              <a:spcAft>
                <a:spcPts val="600"/>
              </a:spcAft>
              <a:buSzPct val="100000"/>
              <a:buChar char="•"/>
            </a:pPr>
            <a:r>
              <a:rPr lang="en-US" sz="1400" dirty="0">
                <a:solidFill>
                  <a:srgbClr val="4D4D4D"/>
                </a:solidFill>
              </a:rPr>
              <a:t>Watch capacity and waitlists fill in real time</a:t>
            </a:r>
            <a:endParaRPr lang="en-US" sz="1400" dirty="0"/>
          </a:p>
          <a:p>
            <a:pPr marL="342900" indent="-342900">
              <a:spcAft>
                <a:spcPts val="600"/>
              </a:spcAft>
              <a:buSzPct val="100000"/>
              <a:buChar char="•"/>
            </a:pPr>
            <a:r>
              <a:rPr lang="en-US" sz="1400" dirty="0">
                <a:solidFill>
                  <a:srgbClr val="4D4D4D"/>
                </a:solidFill>
              </a:rPr>
              <a:t>Match registrants to existing Health Cloud records</a:t>
            </a:r>
            <a:endParaRPr lang="en-US" sz="1400" dirty="0"/>
          </a:p>
          <a:p>
            <a:pPr marL="342900" indent="-342900">
              <a:spcAft>
                <a:spcPts val="600"/>
              </a:spcAft>
              <a:buSzPct val="100000"/>
              <a:buChar char="•"/>
            </a:pPr>
            <a:r>
              <a:rPr lang="en-US" sz="1400" dirty="0">
                <a:solidFill>
                  <a:srgbClr val="4D4D4D"/>
                </a:solidFill>
              </a:rPr>
              <a:t>Check people in with a QR scan</a:t>
            </a:r>
            <a:endParaRPr lang="en-US" sz="1400" dirty="0"/>
          </a:p>
          <a:p>
            <a:pPr marL="342900" indent="-342900">
              <a:spcAft>
                <a:spcPts val="600"/>
              </a:spcAft>
              <a:buSzPct val="100000"/>
              <a:buChar char="•"/>
            </a:pPr>
            <a:r>
              <a:rPr lang="en-US" sz="1400" dirty="0">
                <a:solidFill>
                  <a:srgbClr val="4D4D4D"/>
                </a:solidFill>
              </a:rPr>
              <a:t>Email attendees and track revenue</a:t>
            </a:r>
            <a:endParaRPr lang="en-US" sz="1400" dirty="0"/>
          </a:p>
        </p:txBody>
      </p:sp>
      <p:sp>
        <p:nvSpPr>
          <p:cNvPr id="6" name="Text 3"/>
          <p:cNvSpPr txBox="1"/>
          <p:nvPr/>
        </p:nvSpPr>
        <p:spPr>
          <a:xfrm>
            <a:off x="502920" y="5486400"/>
            <a:ext cx="4572000" cy="274320"/>
          </a:xfrm>
          <a:prstGeom prst="rect">
            <a:avLst/>
          </a:prstGeom>
          <a:noFill/>
          <a:ln/>
        </p:spPr>
        <p:txBody>
          <a:bodyPr wrap="square" lIns="0" tIns="0" rIns="0" bIns="0" rtlCol="0" anchor="t"/>
          <a:lstStyle/>
          <a:p>
            <a:pPr indent="0" marL="0">
              <a:buNone/>
            </a:pPr>
            <a:r>
              <a:rPr lang="en-US" sz="1100" i="1" dirty="0">
                <a:solidFill>
                  <a:srgbClr val="4D4D4D"/>
                </a:solidFill>
              </a:rPr>
              <a:t>Concept mockup, sample data</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Experience Cloud or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Gateway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or Authorize.net)</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Gateway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gateway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Gateway choice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OPTION A</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Keep both</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for classes, Authorize.net for conferences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OPTION B</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Consolidate on one</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One gateway for every event; simpler reconciliation</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Ten sprints: conferences live at week 12, classes improved by week 20</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Review today’s Experience Cloud site, the app and Certain; shared event model; payment decision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3-12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13-20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on the shared model: instant confirmation, waitlists, check-in, reporting</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21+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each phase delivers</a:t>
            </a:r>
            <a:endParaRPr lang="en-US" sz="3200" dirty="0"/>
          </a:p>
        </p:txBody>
      </p:sp>
      <p:sp>
        <p:nvSpPr>
          <p:cNvPr id="3" name="Text 1"/>
          <p:cNvSpPr txBox="1"/>
          <p:nvPr/>
        </p:nvSpPr>
        <p:spPr>
          <a:xfrm>
            <a:off x="576072" y="1554480"/>
            <a:ext cx="186537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587752" y="1554480"/>
            <a:ext cx="4425696" cy="384048"/>
          </a:xfrm>
          <a:prstGeom prst="rect">
            <a:avLst/>
          </a:prstGeom>
          <a:noFill/>
          <a:ln/>
        </p:spPr>
        <p:txBody>
          <a:bodyPr wrap="square" lIns="0" tIns="0" rIns="0" bIns="0" rtlCol="0" anchor="b"/>
          <a:lstStyle/>
          <a:p>
            <a:pPr indent="0" marL="0">
              <a:buNone/>
            </a:pPr>
            <a:r>
              <a:rPr lang="en-US" sz="1500" b="1" dirty="0">
                <a:solidFill>
                  <a:schemeClr val="tx1"/>
                </a:solidFill>
              </a:rPr>
              <a:t>Phase 1  ·  Conferences (replaces Certain)</a:t>
            </a:r>
            <a:endParaRPr lang="en-US" sz="1500" dirty="0"/>
          </a:p>
        </p:txBody>
      </p:sp>
      <p:sp>
        <p:nvSpPr>
          <p:cNvPr id="5" name="Text 3"/>
          <p:cNvSpPr txBox="1"/>
          <p:nvPr/>
        </p:nvSpPr>
        <p:spPr>
          <a:xfrm>
            <a:off x="7159752" y="1554480"/>
            <a:ext cx="4453128" cy="384048"/>
          </a:xfrm>
          <a:prstGeom prst="rect">
            <a:avLst/>
          </a:prstGeom>
          <a:noFill/>
          <a:ln/>
        </p:spPr>
        <p:txBody>
          <a:bodyPr wrap="square" lIns="0" tIns="0" rIns="0" bIns="0" rtlCol="0" anchor="b"/>
          <a:lstStyle/>
          <a:p>
            <a:pPr indent="0" marL="0">
              <a:buNone/>
            </a:pPr>
            <a:r>
              <a:rPr lang="en-US" sz="1500" b="1" dirty="0">
                <a:solidFill>
                  <a:schemeClr val="tx1"/>
                </a:solidFill>
              </a:rPr>
              <a:t>Phase 2  ·  Classes on the shared platform</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8" name="Text 6"/>
          <p:cNvSpPr txBox="1"/>
          <p:nvPr/>
        </p:nvSpPr>
        <p:spPr>
          <a:xfrm>
            <a:off x="2587752" y="20848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and session capacity</a:t>
            </a:r>
            <a:endParaRPr lang="en-US" sz="1300" dirty="0"/>
          </a:p>
        </p:txBody>
      </p:sp>
      <p:sp>
        <p:nvSpPr>
          <p:cNvPr id="9" name="Text 7"/>
          <p:cNvSpPr txBox="1"/>
          <p:nvPr/>
        </p:nvSpPr>
        <p:spPr>
          <a:xfrm>
            <a:off x="7159752" y="20848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Today’s classes moved onto the shared event model</a:t>
            </a:r>
            <a:endParaRPr lang="en-US" sz="1300" dirty="0"/>
          </a:p>
        </p:txBody>
      </p:sp>
      <p:sp>
        <p:nvSpPr>
          <p:cNvPr id="10" name="Shape 8"/>
          <p:cNvSpPr/>
          <p:nvPr/>
        </p:nvSpPr>
        <p:spPr>
          <a:xfrm>
            <a:off x="502920" y="2560320"/>
            <a:ext cx="11183112" cy="0"/>
          </a:xfrm>
          <a:prstGeom prst="line">
            <a:avLst/>
          </a:prstGeom>
          <a:noFill/>
          <a:ln w="9525">
            <a:solidFill>
              <a:srgbClr val="8C8C8C"/>
            </a:solidFill>
            <a:prstDash val="sysDot"/>
          </a:ln>
        </p:spPr>
      </p:sp>
      <p:sp>
        <p:nvSpPr>
          <p:cNvPr id="11" name="Text 9"/>
          <p:cNvSpPr txBox="1"/>
          <p:nvPr/>
        </p:nvSpPr>
        <p:spPr>
          <a:xfrm>
            <a:off x="576072" y="26334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2" name="Text 10"/>
          <p:cNvSpPr txBox="1"/>
          <p:nvPr/>
        </p:nvSpPr>
        <p:spPr>
          <a:xfrm>
            <a:off x="2587752" y="26334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 on Experience Cloud</a:t>
            </a:r>
            <a:endParaRPr lang="en-US" sz="1300" dirty="0"/>
          </a:p>
        </p:txBody>
      </p:sp>
      <p:sp>
        <p:nvSpPr>
          <p:cNvPr id="13" name="Text 11"/>
          <p:cNvSpPr txBox="1"/>
          <p:nvPr/>
        </p:nvSpPr>
        <p:spPr>
          <a:xfrm>
            <a:off x="7159752" y="26334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Existing Experience Cloud site and app, now with instant confirmation</a:t>
            </a:r>
            <a:endParaRPr lang="en-US" sz="1300" dirty="0"/>
          </a:p>
        </p:txBody>
      </p:sp>
      <p:sp>
        <p:nvSpPr>
          <p:cNvPr id="14" name="Shape 12"/>
          <p:cNvSpPr/>
          <p:nvPr/>
        </p:nvSpPr>
        <p:spPr>
          <a:xfrm>
            <a:off x="502920" y="3108960"/>
            <a:ext cx="11183112" cy="0"/>
          </a:xfrm>
          <a:prstGeom prst="line">
            <a:avLst/>
          </a:prstGeom>
          <a:noFill/>
          <a:ln w="9525">
            <a:solidFill>
              <a:srgbClr val="8C8C8C"/>
            </a:solidFill>
            <a:prstDash val="sysDot"/>
          </a:ln>
        </p:spPr>
      </p:sp>
      <p:sp>
        <p:nvSpPr>
          <p:cNvPr id="15" name="Text 13"/>
          <p:cNvSpPr txBox="1"/>
          <p:nvPr/>
        </p:nvSpPr>
        <p:spPr>
          <a:xfrm>
            <a:off x="576072" y="318211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6" name="Text 14"/>
          <p:cNvSpPr txBox="1"/>
          <p:nvPr/>
        </p:nvSpPr>
        <p:spPr>
          <a:xfrm>
            <a:off x="2587752" y="3182112"/>
            <a:ext cx="4425696" cy="438912"/>
          </a:xfrm>
          <a:prstGeom prst="rect">
            <a:avLst/>
          </a:prstGeom>
          <a:noFill/>
          <a:ln/>
        </p:spPr>
        <p:txBody>
          <a:bodyPr wrap="square" lIns="0" tIns="0" rIns="0" bIns="0" rtlCol="0" anchor="ctr"/>
          <a:lstStyle/>
          <a:p>
            <a:pPr indent="0" marL="0">
              <a:buNone/>
            </a:pPr>
            <a:r>
              <a:rPr lang="en-US" sz="1300" dirty="0">
                <a:solidFill>
                  <a:srgbClr val="4D4D4D"/>
                </a:solidFill>
              </a:rPr>
              <a:t>Authorize.net checkout, or one consolidated gateway</a:t>
            </a:r>
            <a:endParaRPr lang="en-US" sz="1300" dirty="0"/>
          </a:p>
        </p:txBody>
      </p:sp>
      <p:sp>
        <p:nvSpPr>
          <p:cNvPr id="17" name="Text 15"/>
          <p:cNvSpPr txBox="1"/>
          <p:nvPr/>
        </p:nvSpPr>
        <p:spPr>
          <a:xfrm>
            <a:off x="7159752" y="318211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Chase checkout with safe payment retries and refunds</a:t>
            </a:r>
            <a:endParaRPr lang="en-US" sz="1300" dirty="0"/>
          </a:p>
        </p:txBody>
      </p:sp>
      <p:sp>
        <p:nvSpPr>
          <p:cNvPr id="18" name="Shape 16"/>
          <p:cNvSpPr/>
          <p:nvPr/>
        </p:nvSpPr>
        <p:spPr>
          <a:xfrm>
            <a:off x="502920" y="3657600"/>
            <a:ext cx="11183112" cy="0"/>
          </a:xfrm>
          <a:prstGeom prst="line">
            <a:avLst/>
          </a:prstGeom>
          <a:noFill/>
          <a:ln w="9525">
            <a:solidFill>
              <a:srgbClr val="8C8C8C"/>
            </a:solidFill>
            <a:prstDash val="sysDot"/>
          </a:ln>
        </p:spPr>
      </p:sp>
      <p:sp>
        <p:nvSpPr>
          <p:cNvPr id="19" name="Text 17"/>
          <p:cNvSpPr txBox="1"/>
          <p:nvPr/>
        </p:nvSpPr>
        <p:spPr>
          <a:xfrm>
            <a:off x="576072" y="373075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20" name="Text 18"/>
          <p:cNvSpPr txBox="1"/>
          <p:nvPr/>
        </p:nvSpPr>
        <p:spPr>
          <a:xfrm>
            <a:off x="2587752" y="3730752"/>
            <a:ext cx="4425696" cy="438912"/>
          </a:xfrm>
          <a:prstGeom prst="rect">
            <a:avLst/>
          </a:prstGeom>
          <a:noFill/>
          <a:ln/>
        </p:spPr>
        <p:txBody>
          <a:bodyPr wrap="square" lIns="0" tIns="0" rIns="0" bIns="0" rtlCol="0" anchor="ctr"/>
          <a:lstStyle/>
          <a:p>
            <a:pPr indent="0" marL="0">
              <a:buNone/>
            </a:pPr>
            <a:r>
              <a:rPr lang="en-US" sz="1300" dirty="0">
                <a:solidFill>
                  <a:srgbClr val="4D4D4D"/>
                </a:solidFill>
              </a:rPr>
              <a:t>Speaker and attendee communications, badges, CME [to confirm]</a:t>
            </a:r>
            <a:endParaRPr lang="en-US" sz="1300" dirty="0"/>
          </a:p>
        </p:txBody>
      </p:sp>
      <p:sp>
        <p:nvSpPr>
          <p:cNvPr id="21" name="Text 19"/>
          <p:cNvSpPr txBox="1"/>
          <p:nvPr/>
        </p:nvSpPr>
        <p:spPr>
          <a:xfrm>
            <a:off x="7159752" y="3730752"/>
            <a:ext cx="4453128" cy="438912"/>
          </a:xfrm>
          <a:prstGeom prst="rect">
            <a:avLst/>
          </a:prstGeom>
          <a:noFill/>
          <a:ln/>
        </p:spPr>
        <p:txBody>
          <a:bodyPr wrap="square" lIns="0" tIns="0" rIns="0" bIns="0" rtlCol="0" anchor="ctr"/>
          <a:lstStyle/>
          <a:p>
            <a:pPr indent="0" marL="0">
              <a:buNone/>
            </a:pPr>
            <a:r>
              <a:rPr lang="en-US" sz="1300" dirty="0">
                <a:solidFill>
                  <a:srgbClr val="4D4D4D"/>
                </a:solidFill>
              </a:rPr>
              <a:t>Reminder journeys, waitlists, QR check-in</a:t>
            </a:r>
            <a:endParaRPr lang="en-US" sz="1300" dirty="0"/>
          </a:p>
        </p:txBody>
      </p:sp>
      <p:sp>
        <p:nvSpPr>
          <p:cNvPr id="22" name="Shape 20"/>
          <p:cNvSpPr/>
          <p:nvPr/>
        </p:nvSpPr>
        <p:spPr>
          <a:xfrm>
            <a:off x="502920" y="4206240"/>
            <a:ext cx="11183112" cy="0"/>
          </a:xfrm>
          <a:prstGeom prst="line">
            <a:avLst/>
          </a:prstGeom>
          <a:noFill/>
          <a:ln w="9525">
            <a:solidFill>
              <a:srgbClr val="8C8C8C"/>
            </a:solidFill>
            <a:prstDash val="sysDot"/>
          </a:ln>
        </p:spPr>
      </p:sp>
      <p:sp>
        <p:nvSpPr>
          <p:cNvPr id="23" name="Text 21"/>
          <p:cNvSpPr txBox="1"/>
          <p:nvPr/>
        </p:nvSpPr>
        <p:spPr>
          <a:xfrm>
            <a:off x="576072" y="427939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4" name="Text 22"/>
          <p:cNvSpPr txBox="1"/>
          <p:nvPr/>
        </p:nvSpPr>
        <p:spPr>
          <a:xfrm>
            <a:off x="2587752" y="427939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 history migrated</a:t>
            </a:r>
            <a:endParaRPr lang="en-US" sz="1300" dirty="0"/>
          </a:p>
        </p:txBody>
      </p:sp>
      <p:sp>
        <p:nvSpPr>
          <p:cNvPr id="25" name="Text 23"/>
          <p:cNvSpPr txBox="1"/>
          <p:nvPr/>
        </p:nvSpPr>
        <p:spPr>
          <a:xfrm>
            <a:off x="7159752" y="427939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Class history kept; registrants matched to Health Cloud</a:t>
            </a:r>
            <a:endParaRPr lang="en-US" sz="1300" dirty="0"/>
          </a:p>
        </p:txBody>
      </p:sp>
      <p:sp>
        <p:nvSpPr>
          <p:cNvPr id="26" name="Shape 24"/>
          <p:cNvSpPr/>
          <p:nvPr/>
        </p:nvSpPr>
        <p:spPr>
          <a:xfrm>
            <a:off x="502920" y="4754880"/>
            <a:ext cx="11183112" cy="0"/>
          </a:xfrm>
          <a:prstGeom prst="line">
            <a:avLst/>
          </a:prstGeom>
          <a:noFill/>
          <a:ln w="9525">
            <a:solidFill>
              <a:srgbClr val="8C8C8C"/>
            </a:solidFill>
            <a:prstDash val="sysDot"/>
          </a:ln>
        </p:spPr>
      </p:sp>
      <p:sp>
        <p:nvSpPr>
          <p:cNvPr id="27" name="Text 25"/>
          <p:cNvSpPr txBox="1"/>
          <p:nvPr/>
        </p:nvSpPr>
        <p:spPr>
          <a:xfrm>
            <a:off x="576072" y="48280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Built in</a:t>
            </a:r>
            <a:endParaRPr lang="en-US" sz="1300" dirty="0"/>
          </a:p>
        </p:txBody>
      </p:sp>
      <p:sp>
        <p:nvSpPr>
          <p:cNvPr id="28" name="Text 26"/>
          <p:cNvSpPr txBox="1"/>
          <p:nvPr/>
        </p:nvSpPr>
        <p:spPr>
          <a:xfrm>
            <a:off x="2587752" y="48280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Load test before each conference opens</a:t>
            </a:r>
            <a:endParaRPr lang="en-US" sz="1300" dirty="0"/>
          </a:p>
        </p:txBody>
      </p:sp>
      <p:sp>
        <p:nvSpPr>
          <p:cNvPr id="29" name="Text 27"/>
          <p:cNvSpPr txBox="1"/>
          <p:nvPr/>
        </p:nvSpPr>
        <p:spPr>
          <a:xfrm>
            <a:off x="7159752" y="48280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Live seats, waitlists, encryption, monitoring</a:t>
            </a:r>
            <a:endParaRPr lang="en-US" sz="1300" dirty="0"/>
          </a:p>
        </p:txBody>
      </p:sp>
      <p:sp>
        <p:nvSpPr>
          <p:cNvPr id="30" name="Shape 28"/>
          <p:cNvSpPr/>
          <p:nvPr/>
        </p:nvSpPr>
        <p:spPr>
          <a:xfrm>
            <a:off x="502920" y="5303520"/>
            <a:ext cx="11183112" cy="0"/>
          </a:xfrm>
          <a:prstGeom prst="line">
            <a:avLst/>
          </a:prstGeom>
          <a:noFill/>
          <a:ln w="9525">
            <a:solidFill>
              <a:srgbClr val="8C8C8C"/>
            </a:solidFill>
            <a:prstDash val="sysDot"/>
          </a:ln>
        </p:spPr>
      </p:sp>
      <p:sp>
        <p:nvSpPr>
          <p:cNvPr id="31" name="Text 29"/>
          <p:cNvSpPr txBox="1"/>
          <p:nvPr/>
        </p:nvSpPr>
        <p:spPr>
          <a:xfrm>
            <a:off x="576072" y="53766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32" name="Text 30"/>
          <p:cNvSpPr txBox="1"/>
          <p:nvPr/>
        </p:nvSpPr>
        <p:spPr>
          <a:xfrm>
            <a:off x="2587752" y="53766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a:t>
            </a:r>
            <a:endParaRPr lang="en-US" sz="1300" dirty="0"/>
          </a:p>
        </p:txBody>
      </p:sp>
      <p:sp>
        <p:nvSpPr>
          <p:cNvPr id="33" name="Text 31"/>
          <p:cNvSpPr txBox="1"/>
          <p:nvPr/>
        </p:nvSpPr>
        <p:spPr>
          <a:xfrm>
            <a:off x="7159752" y="53766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Nothing retired; today’s registration is improved</a:t>
            </a:r>
            <a:endParaRPr lang="en-US" sz="1300" dirty="0"/>
          </a:p>
        </p:txBody>
      </p:sp>
      <p:sp>
        <p:nvSpPr>
          <p:cNvPr id="34" name="Shape 32"/>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10 two-week sprints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815084" cy="256032"/>
          </a:xfrm>
          <a:prstGeom prst="rect">
            <a:avLst/>
          </a:prstGeom>
          <a:noFill/>
          <a:ln/>
        </p:spPr>
        <p:txBody>
          <a:bodyPr wrap="square" lIns="0" tIns="0" rIns="0" bIns="0" rtlCol="0" anchor="ctr"/>
          <a:lstStyle/>
          <a:p>
            <a:pPr indent="0" marL="0">
              <a:buNone/>
            </a:pPr>
            <a:r>
              <a:rPr lang="en-US" sz="1100" b="1" dirty="0">
                <a:solidFill>
                  <a:srgbClr val="C8005A"/>
                </a:solidFill>
              </a:rPr>
              <a:t>Phase 1 · Conferences</a:t>
            </a:r>
            <a:endParaRPr lang="en-US" sz="1100" dirty="0"/>
          </a:p>
        </p:txBody>
      </p:sp>
      <p:sp>
        <p:nvSpPr>
          <p:cNvPr id="8" name="Shape 6"/>
          <p:cNvSpPr/>
          <p:nvPr/>
        </p:nvSpPr>
        <p:spPr>
          <a:xfrm>
            <a:off x="5230368" y="1737360"/>
            <a:ext cx="292608" cy="146304"/>
          </a:xfrm>
          <a:prstGeom prst="roundRect">
            <a:avLst>
              <a:gd name="adj" fmla="val 50000"/>
            </a:avLst>
          </a:prstGeom>
          <a:solidFill>
            <a:srgbClr val="D9B200"/>
          </a:solidFill>
          <a:ln w="12700">
            <a:solidFill>
              <a:srgbClr val="D9B200"/>
            </a:solidFill>
            <a:prstDash val="solid"/>
          </a:ln>
        </p:spPr>
      </p:sp>
      <p:sp>
        <p:nvSpPr>
          <p:cNvPr id="9" name="Text 7"/>
          <p:cNvSpPr txBox="1"/>
          <p:nvPr/>
        </p:nvSpPr>
        <p:spPr>
          <a:xfrm>
            <a:off x="5614416" y="1682496"/>
            <a:ext cx="1504188" cy="256032"/>
          </a:xfrm>
          <a:prstGeom prst="rect">
            <a:avLst/>
          </a:prstGeom>
          <a:noFill/>
          <a:ln/>
        </p:spPr>
        <p:txBody>
          <a:bodyPr wrap="square" lIns="0" tIns="0" rIns="0" bIns="0" rtlCol="0" anchor="ctr"/>
          <a:lstStyle/>
          <a:p>
            <a:pPr indent="0" marL="0">
              <a:buNone/>
            </a:pPr>
            <a:r>
              <a:rPr lang="en-US" sz="1100" b="1" dirty="0">
                <a:solidFill>
                  <a:srgbClr val="7A6100"/>
                </a:solidFill>
              </a:rPr>
              <a:t>Phase 2 · Classes</a:t>
            </a:r>
            <a:endParaRPr lang="en-US" sz="1100" dirty="0"/>
          </a:p>
        </p:txBody>
      </p:sp>
      <p:sp>
        <p:nvSpPr>
          <p:cNvPr id="10" name="Shape 8"/>
          <p:cNvSpPr/>
          <p:nvPr/>
        </p:nvSpPr>
        <p:spPr>
          <a:xfrm>
            <a:off x="9905695" y="1728216"/>
            <a:ext cx="164592" cy="164592"/>
          </a:xfrm>
          <a:prstGeom prst="diamond">
            <a:avLst/>
          </a:prstGeom>
          <a:solidFill>
            <a:srgbClr val="000000"/>
          </a:solidFill>
          <a:ln w="12700">
            <a:solidFill>
              <a:srgbClr val="000000"/>
            </a:solidFill>
            <a:prstDash val="solid"/>
          </a:ln>
        </p:spPr>
      </p:sp>
      <p:sp>
        <p:nvSpPr>
          <p:cNvPr id="11" name="Text 9"/>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2" name="sprint-1"/>
          <p:cNvSpPr/>
          <p:nvPr/>
        </p:nvSpPr>
        <p:spPr>
          <a:xfrm>
            <a:off x="502920" y="2103120"/>
            <a:ext cx="2134758" cy="1901952"/>
          </a:xfrm>
          <a:prstGeom prst="roundRect">
            <a:avLst>
              <a:gd name="adj" fmla="val 4808"/>
            </a:avLst>
          </a:prstGeom>
          <a:solidFill>
            <a:srgbClr val="F2F2F2"/>
          </a:solidFill>
          <a:ln w="22225">
            <a:solidFill>
              <a:srgbClr val="00A9C0"/>
            </a:solidFill>
            <a:prstDash val="solid"/>
          </a:ln>
        </p:spPr>
      </p:sp>
      <p:sp>
        <p:nvSpPr>
          <p:cNvPr id="13" name="Text 11"/>
          <p:cNvSpPr txBox="1"/>
          <p:nvPr/>
        </p:nvSpPr>
        <p:spPr>
          <a:xfrm>
            <a:off x="640080" y="2221992"/>
            <a:ext cx="1860438"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1</a:t>
            </a:r>
            <a:endParaRPr lang="en-US" sz="1100" dirty="0"/>
          </a:p>
        </p:txBody>
      </p:sp>
      <p:sp>
        <p:nvSpPr>
          <p:cNvPr id="14" name="Text 12"/>
          <p:cNvSpPr txBox="1"/>
          <p:nvPr/>
        </p:nvSpPr>
        <p:spPr>
          <a:xfrm>
            <a:off x="640080"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1-2</a:t>
            </a:r>
            <a:endParaRPr lang="en-US" sz="1000" dirty="0"/>
          </a:p>
        </p:txBody>
      </p:sp>
      <p:sp>
        <p:nvSpPr>
          <p:cNvPr id="15" name="Text 13"/>
          <p:cNvSpPr txBox="1"/>
          <p:nvPr/>
        </p:nvSpPr>
        <p:spPr>
          <a:xfrm>
            <a:off x="640080"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Review today’s Experience Cloud site, app and Certain; design</a:t>
            </a:r>
            <a:endParaRPr lang="en-US" sz="1100" dirty="0"/>
          </a:p>
        </p:txBody>
      </p:sp>
      <p:sp>
        <p:nvSpPr>
          <p:cNvPr id="16" name="Shape 14"/>
          <p:cNvSpPr/>
          <p:nvPr/>
        </p:nvSpPr>
        <p:spPr>
          <a:xfrm>
            <a:off x="640080" y="3383280"/>
            <a:ext cx="1860438" cy="0"/>
          </a:xfrm>
          <a:prstGeom prst="line">
            <a:avLst/>
          </a:prstGeom>
          <a:noFill/>
          <a:ln w="9525">
            <a:solidFill>
              <a:srgbClr val="D0D0D6"/>
            </a:solidFill>
            <a:prstDash val="solid"/>
          </a:ln>
        </p:spPr>
      </p:sp>
      <p:sp>
        <p:nvSpPr>
          <p:cNvPr id="17" name="Shape 15"/>
          <p:cNvSpPr/>
          <p:nvPr/>
        </p:nvSpPr>
        <p:spPr>
          <a:xfrm>
            <a:off x="640080" y="3520440"/>
            <a:ext cx="155448" cy="155448"/>
          </a:xfrm>
          <a:prstGeom prst="diamond">
            <a:avLst/>
          </a:prstGeom>
          <a:solidFill>
            <a:srgbClr val="000000"/>
          </a:solidFill>
          <a:ln w="12700">
            <a:solidFill>
              <a:srgbClr val="000000"/>
            </a:solidFill>
            <a:prstDash val="solid"/>
          </a:ln>
        </p:spPr>
      </p:sp>
      <p:sp>
        <p:nvSpPr>
          <p:cNvPr id="18" name="Text 16"/>
          <p:cNvSpPr txBox="1"/>
          <p:nvPr/>
        </p:nvSpPr>
        <p:spPr>
          <a:xfrm>
            <a:off x="886968"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Design sign-off</a:t>
            </a:r>
            <a:endParaRPr lang="en-US" sz="1050" dirty="0"/>
          </a:p>
        </p:txBody>
      </p:sp>
      <p:sp>
        <p:nvSpPr>
          <p:cNvPr id="19" name="sprint-2"/>
          <p:cNvSpPr/>
          <p:nvPr/>
        </p:nvSpPr>
        <p:spPr>
          <a:xfrm>
            <a:off x="2765694" y="2103120"/>
            <a:ext cx="2134758" cy="1901952"/>
          </a:xfrm>
          <a:prstGeom prst="roundRect">
            <a:avLst>
              <a:gd name="adj" fmla="val 4808"/>
            </a:avLst>
          </a:prstGeom>
          <a:solidFill>
            <a:srgbClr val="F2F2F2"/>
          </a:solidFill>
          <a:ln w="22225">
            <a:solidFill>
              <a:srgbClr val="FF0068"/>
            </a:solidFill>
            <a:prstDash val="solid"/>
          </a:ln>
        </p:spPr>
      </p:sp>
      <p:sp>
        <p:nvSpPr>
          <p:cNvPr id="20" name="Text 18"/>
          <p:cNvSpPr txBox="1"/>
          <p:nvPr/>
        </p:nvSpPr>
        <p:spPr>
          <a:xfrm>
            <a:off x="2902854"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2</a:t>
            </a:r>
            <a:endParaRPr lang="en-US" sz="1100" dirty="0"/>
          </a:p>
        </p:txBody>
      </p:sp>
      <p:sp>
        <p:nvSpPr>
          <p:cNvPr id="21" name="Text 19"/>
          <p:cNvSpPr txBox="1"/>
          <p:nvPr/>
        </p:nvSpPr>
        <p:spPr>
          <a:xfrm>
            <a:off x="2902854"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3-4</a:t>
            </a:r>
            <a:endParaRPr lang="en-US" sz="1000" dirty="0"/>
          </a:p>
        </p:txBody>
      </p:sp>
      <p:sp>
        <p:nvSpPr>
          <p:cNvPr id="22" name="Text 20"/>
          <p:cNvSpPr txBox="1"/>
          <p:nvPr/>
        </p:nvSpPr>
        <p:spPr>
          <a:xfrm>
            <a:off x="2902854"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Shared event model; sessions, tracks, rooms, speakers</a:t>
            </a:r>
            <a:endParaRPr lang="en-US" sz="1100" dirty="0"/>
          </a:p>
        </p:txBody>
      </p:sp>
      <p:sp>
        <p:nvSpPr>
          <p:cNvPr id="23" name="Shape 21"/>
          <p:cNvSpPr/>
          <p:nvPr/>
        </p:nvSpPr>
        <p:spPr>
          <a:xfrm>
            <a:off x="2902854" y="3383280"/>
            <a:ext cx="1860438" cy="0"/>
          </a:xfrm>
          <a:prstGeom prst="line">
            <a:avLst/>
          </a:prstGeom>
          <a:noFill/>
          <a:ln w="9525">
            <a:solidFill>
              <a:srgbClr val="D0D0D6"/>
            </a:solidFill>
            <a:prstDash val="solid"/>
          </a:ln>
        </p:spPr>
      </p:sp>
      <p:sp>
        <p:nvSpPr>
          <p:cNvPr id="24" name="Shape 22"/>
          <p:cNvSpPr/>
          <p:nvPr/>
        </p:nvSpPr>
        <p:spPr>
          <a:xfrm>
            <a:off x="2902854" y="3520440"/>
            <a:ext cx="155448" cy="155448"/>
          </a:xfrm>
          <a:prstGeom prst="diamond">
            <a:avLst/>
          </a:prstGeom>
          <a:solidFill>
            <a:srgbClr val="000000"/>
          </a:solidFill>
          <a:ln w="12700">
            <a:solidFill>
              <a:srgbClr val="000000"/>
            </a:solidFill>
            <a:prstDash val="solid"/>
          </a:ln>
        </p:spPr>
      </p:sp>
      <p:sp>
        <p:nvSpPr>
          <p:cNvPr id="25" name="Text 23"/>
          <p:cNvSpPr txBox="1"/>
          <p:nvPr/>
        </p:nvSpPr>
        <p:spPr>
          <a:xfrm>
            <a:off x="3149742"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Conference model demo</a:t>
            </a:r>
            <a:endParaRPr lang="en-US" sz="1050" dirty="0"/>
          </a:p>
        </p:txBody>
      </p:sp>
      <p:sp>
        <p:nvSpPr>
          <p:cNvPr id="26" name="sprint-3"/>
          <p:cNvSpPr/>
          <p:nvPr/>
        </p:nvSpPr>
        <p:spPr>
          <a:xfrm>
            <a:off x="5028468" y="2103120"/>
            <a:ext cx="2134758" cy="1901952"/>
          </a:xfrm>
          <a:prstGeom prst="roundRect">
            <a:avLst>
              <a:gd name="adj" fmla="val 4808"/>
            </a:avLst>
          </a:prstGeom>
          <a:solidFill>
            <a:srgbClr val="F2F2F2"/>
          </a:solidFill>
          <a:ln w="22225">
            <a:solidFill>
              <a:srgbClr val="FF0068"/>
            </a:solidFill>
            <a:prstDash val="solid"/>
          </a:ln>
        </p:spPr>
      </p:sp>
      <p:sp>
        <p:nvSpPr>
          <p:cNvPr id="27" name="Text 25"/>
          <p:cNvSpPr txBox="1"/>
          <p:nvPr/>
        </p:nvSpPr>
        <p:spPr>
          <a:xfrm>
            <a:off x="5165628"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3</a:t>
            </a:r>
            <a:endParaRPr lang="en-US" sz="1100" dirty="0"/>
          </a:p>
        </p:txBody>
      </p:sp>
      <p:sp>
        <p:nvSpPr>
          <p:cNvPr id="28" name="Text 26"/>
          <p:cNvSpPr txBox="1"/>
          <p:nvPr/>
        </p:nvSpPr>
        <p:spPr>
          <a:xfrm>
            <a:off x="5165628"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5-6</a:t>
            </a:r>
            <a:endParaRPr lang="en-US" sz="1000" dirty="0"/>
          </a:p>
        </p:txBody>
      </p:sp>
      <p:sp>
        <p:nvSpPr>
          <p:cNvPr id="29" name="Text 27"/>
          <p:cNvSpPr txBox="1"/>
          <p:nvPr/>
        </p:nvSpPr>
        <p:spPr>
          <a:xfrm>
            <a:off x="5165628"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My Agenda portal on Experience Cloud; ticket types</a:t>
            </a:r>
            <a:endParaRPr lang="en-US" sz="1100" dirty="0"/>
          </a:p>
        </p:txBody>
      </p:sp>
      <p:sp>
        <p:nvSpPr>
          <p:cNvPr id="30" name="Shape 28"/>
          <p:cNvSpPr/>
          <p:nvPr/>
        </p:nvSpPr>
        <p:spPr>
          <a:xfrm>
            <a:off x="5165628" y="3383280"/>
            <a:ext cx="1860438" cy="0"/>
          </a:xfrm>
          <a:prstGeom prst="line">
            <a:avLst/>
          </a:prstGeom>
          <a:noFill/>
          <a:ln w="9525">
            <a:solidFill>
              <a:srgbClr val="D0D0D6"/>
            </a:solidFill>
            <a:prstDash val="solid"/>
          </a:ln>
        </p:spPr>
      </p:sp>
      <p:sp>
        <p:nvSpPr>
          <p:cNvPr id="31" name="Shape 29"/>
          <p:cNvSpPr/>
          <p:nvPr/>
        </p:nvSpPr>
        <p:spPr>
          <a:xfrm>
            <a:off x="5165628" y="3520440"/>
            <a:ext cx="155448" cy="155448"/>
          </a:xfrm>
          <a:prstGeom prst="diamond">
            <a:avLst/>
          </a:prstGeom>
          <a:solidFill>
            <a:srgbClr val="000000"/>
          </a:solidFill>
          <a:ln w="12700">
            <a:solidFill>
              <a:srgbClr val="000000"/>
            </a:solidFill>
            <a:prstDash val="solid"/>
          </a:ln>
        </p:spPr>
      </p:sp>
      <p:sp>
        <p:nvSpPr>
          <p:cNvPr id="32" name="Text 30"/>
          <p:cNvSpPr txBox="1"/>
          <p:nvPr/>
        </p:nvSpPr>
        <p:spPr>
          <a:xfrm>
            <a:off x="5412516"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Attendee portal demo</a:t>
            </a:r>
            <a:endParaRPr lang="en-US" sz="1050" dirty="0"/>
          </a:p>
        </p:txBody>
      </p:sp>
      <p:sp>
        <p:nvSpPr>
          <p:cNvPr id="33" name="sprint-4"/>
          <p:cNvSpPr/>
          <p:nvPr/>
        </p:nvSpPr>
        <p:spPr>
          <a:xfrm>
            <a:off x="7291243" y="2103120"/>
            <a:ext cx="2134758" cy="1901952"/>
          </a:xfrm>
          <a:prstGeom prst="roundRect">
            <a:avLst>
              <a:gd name="adj" fmla="val 4808"/>
            </a:avLst>
          </a:prstGeom>
          <a:solidFill>
            <a:srgbClr val="F2F2F2"/>
          </a:solidFill>
          <a:ln w="22225">
            <a:solidFill>
              <a:srgbClr val="FF0068"/>
            </a:solidFill>
            <a:prstDash val="solid"/>
          </a:ln>
        </p:spPr>
      </p:sp>
      <p:sp>
        <p:nvSpPr>
          <p:cNvPr id="34" name="Text 32"/>
          <p:cNvSpPr txBox="1"/>
          <p:nvPr/>
        </p:nvSpPr>
        <p:spPr>
          <a:xfrm>
            <a:off x="7428403"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4</a:t>
            </a:r>
            <a:endParaRPr lang="en-US" sz="1100" dirty="0"/>
          </a:p>
        </p:txBody>
      </p:sp>
      <p:sp>
        <p:nvSpPr>
          <p:cNvPr id="35" name="Text 33"/>
          <p:cNvSpPr txBox="1"/>
          <p:nvPr/>
        </p:nvSpPr>
        <p:spPr>
          <a:xfrm>
            <a:off x="7428403"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7-8</a:t>
            </a:r>
            <a:endParaRPr lang="en-US" sz="1000" dirty="0"/>
          </a:p>
        </p:txBody>
      </p:sp>
      <p:sp>
        <p:nvSpPr>
          <p:cNvPr id="36" name="Text 34"/>
          <p:cNvSpPr txBox="1"/>
          <p:nvPr/>
        </p:nvSpPr>
        <p:spPr>
          <a:xfrm>
            <a:off x="7428403"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Authorize.net checkout; badges; CME [to confirm]</a:t>
            </a:r>
            <a:endParaRPr lang="en-US" sz="1100" dirty="0"/>
          </a:p>
        </p:txBody>
      </p:sp>
      <p:sp>
        <p:nvSpPr>
          <p:cNvPr id="37" name="Shape 35"/>
          <p:cNvSpPr/>
          <p:nvPr/>
        </p:nvSpPr>
        <p:spPr>
          <a:xfrm>
            <a:off x="7428403" y="3383280"/>
            <a:ext cx="1860438" cy="0"/>
          </a:xfrm>
          <a:prstGeom prst="line">
            <a:avLst/>
          </a:prstGeom>
          <a:noFill/>
          <a:ln w="9525">
            <a:solidFill>
              <a:srgbClr val="D0D0D6"/>
            </a:solidFill>
            <a:prstDash val="solid"/>
          </a:ln>
        </p:spPr>
      </p:sp>
      <p:sp>
        <p:nvSpPr>
          <p:cNvPr id="38" name="Shape 36"/>
          <p:cNvSpPr/>
          <p:nvPr/>
        </p:nvSpPr>
        <p:spPr>
          <a:xfrm>
            <a:off x="7428403" y="3520440"/>
            <a:ext cx="155448" cy="155448"/>
          </a:xfrm>
          <a:prstGeom prst="diamond">
            <a:avLst/>
          </a:prstGeom>
          <a:solidFill>
            <a:srgbClr val="000000"/>
          </a:solidFill>
          <a:ln w="12700">
            <a:solidFill>
              <a:srgbClr val="000000"/>
            </a:solidFill>
            <a:prstDash val="solid"/>
          </a:ln>
        </p:spPr>
      </p:sp>
      <p:sp>
        <p:nvSpPr>
          <p:cNvPr id="39" name="Text 37"/>
          <p:cNvSpPr txBox="1"/>
          <p:nvPr/>
        </p:nvSpPr>
        <p:spPr>
          <a:xfrm>
            <a:off x="7675291"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Pay and badge end to end</a:t>
            </a:r>
            <a:endParaRPr lang="en-US" sz="1050" dirty="0"/>
          </a:p>
        </p:txBody>
      </p:sp>
      <p:sp>
        <p:nvSpPr>
          <p:cNvPr id="40" name="sprint-5"/>
          <p:cNvSpPr/>
          <p:nvPr/>
        </p:nvSpPr>
        <p:spPr>
          <a:xfrm>
            <a:off x="9554017" y="2103120"/>
            <a:ext cx="2134758" cy="1901952"/>
          </a:xfrm>
          <a:prstGeom prst="roundRect">
            <a:avLst>
              <a:gd name="adj" fmla="val 4808"/>
            </a:avLst>
          </a:prstGeom>
          <a:solidFill>
            <a:srgbClr val="F2F2F2"/>
          </a:solidFill>
          <a:ln w="22225">
            <a:solidFill>
              <a:srgbClr val="FF0068"/>
            </a:solidFill>
            <a:prstDash val="solid"/>
          </a:ln>
        </p:spPr>
      </p:sp>
      <p:sp>
        <p:nvSpPr>
          <p:cNvPr id="41" name="Text 39"/>
          <p:cNvSpPr txBox="1"/>
          <p:nvPr/>
        </p:nvSpPr>
        <p:spPr>
          <a:xfrm>
            <a:off x="9691177"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5</a:t>
            </a:r>
            <a:endParaRPr lang="en-US" sz="1100" dirty="0"/>
          </a:p>
        </p:txBody>
      </p:sp>
      <p:sp>
        <p:nvSpPr>
          <p:cNvPr id="42" name="Text 40"/>
          <p:cNvSpPr txBox="1"/>
          <p:nvPr/>
        </p:nvSpPr>
        <p:spPr>
          <a:xfrm>
            <a:off x="9691177"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9-10</a:t>
            </a:r>
            <a:endParaRPr lang="en-US" sz="1000" dirty="0"/>
          </a:p>
        </p:txBody>
      </p:sp>
      <p:sp>
        <p:nvSpPr>
          <p:cNvPr id="43" name="Text 41"/>
          <p:cNvSpPr txBox="1"/>
          <p:nvPr/>
        </p:nvSpPr>
        <p:spPr>
          <a:xfrm>
            <a:off x="9691177"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Certain data migration, load test, user testing</a:t>
            </a:r>
            <a:endParaRPr lang="en-US" sz="1100" dirty="0"/>
          </a:p>
        </p:txBody>
      </p:sp>
      <p:sp>
        <p:nvSpPr>
          <p:cNvPr id="44" name="Shape 42"/>
          <p:cNvSpPr/>
          <p:nvPr/>
        </p:nvSpPr>
        <p:spPr>
          <a:xfrm>
            <a:off x="9691177" y="3383280"/>
            <a:ext cx="1860438" cy="0"/>
          </a:xfrm>
          <a:prstGeom prst="line">
            <a:avLst/>
          </a:prstGeom>
          <a:noFill/>
          <a:ln w="9525">
            <a:solidFill>
              <a:srgbClr val="D0D0D6"/>
            </a:solidFill>
            <a:prstDash val="solid"/>
          </a:ln>
        </p:spPr>
      </p:sp>
      <p:sp>
        <p:nvSpPr>
          <p:cNvPr id="45" name="Shape 43"/>
          <p:cNvSpPr/>
          <p:nvPr/>
        </p:nvSpPr>
        <p:spPr>
          <a:xfrm>
            <a:off x="9691177" y="3520440"/>
            <a:ext cx="155448" cy="155448"/>
          </a:xfrm>
          <a:prstGeom prst="diamond">
            <a:avLst/>
          </a:prstGeom>
          <a:solidFill>
            <a:srgbClr val="000000"/>
          </a:solidFill>
          <a:ln w="12700">
            <a:solidFill>
              <a:srgbClr val="000000"/>
            </a:solidFill>
            <a:prstDash val="solid"/>
          </a:ln>
        </p:spPr>
      </p:sp>
      <p:sp>
        <p:nvSpPr>
          <p:cNvPr id="46" name="Text 44"/>
          <p:cNvSpPr txBox="1"/>
          <p:nvPr/>
        </p:nvSpPr>
        <p:spPr>
          <a:xfrm>
            <a:off x="9938065" y="3456432"/>
            <a:ext cx="1631838" cy="457200"/>
          </a:xfrm>
          <a:prstGeom prst="rect">
            <a:avLst/>
          </a:prstGeom>
          <a:noFill/>
          <a:ln/>
        </p:spPr>
        <p:txBody>
          <a:bodyPr wrap="square" lIns="0" tIns="0" rIns="0" bIns="0" rtlCol="0" anchor="t"/>
          <a:lstStyle/>
          <a:p>
            <a:pPr indent="0" marL="0">
              <a:buNone/>
            </a:pPr>
            <a:r>
              <a:rPr lang="en-US" sz="1050" b="1" dirty="0">
                <a:solidFill>
                  <a:srgbClr val="000000"/>
                </a:solidFill>
              </a:rPr>
              <a:t>Testing sign-off</a:t>
            </a:r>
            <a:endParaRPr lang="en-US" sz="1050" dirty="0"/>
          </a:p>
        </p:txBody>
      </p:sp>
      <p:sp>
        <p:nvSpPr>
          <p:cNvPr id="47" name="sprint-6"/>
          <p:cNvSpPr/>
          <p:nvPr/>
        </p:nvSpPr>
        <p:spPr>
          <a:xfrm>
            <a:off x="502920" y="4151376"/>
            <a:ext cx="2134758" cy="1901952"/>
          </a:xfrm>
          <a:prstGeom prst="roundRect">
            <a:avLst>
              <a:gd name="adj" fmla="val 4808"/>
            </a:avLst>
          </a:prstGeom>
          <a:solidFill>
            <a:srgbClr val="000000"/>
          </a:solidFill>
          <a:ln w="22225">
            <a:solidFill>
              <a:srgbClr val="FF0068"/>
            </a:solidFill>
            <a:prstDash val="solid"/>
          </a:ln>
        </p:spPr>
      </p:sp>
      <p:sp>
        <p:nvSpPr>
          <p:cNvPr id="48" name="Text 46"/>
          <p:cNvSpPr txBox="1"/>
          <p:nvPr/>
        </p:nvSpPr>
        <p:spPr>
          <a:xfrm>
            <a:off x="640080" y="4270248"/>
            <a:ext cx="1860438" cy="219456"/>
          </a:xfrm>
          <a:prstGeom prst="rect">
            <a:avLst/>
          </a:prstGeom>
          <a:noFill/>
          <a:ln/>
        </p:spPr>
        <p:txBody>
          <a:bodyPr wrap="square" lIns="0" tIns="0" rIns="0" bIns="0" rtlCol="0" anchor="t"/>
          <a:lstStyle/>
          <a:p>
            <a:pPr indent="0" marL="0">
              <a:buNone/>
            </a:pPr>
            <a:r>
              <a:rPr lang="en-US" sz="1100" b="1" spc="200" kern="0" dirty="0">
                <a:solidFill>
                  <a:srgbClr val="FF0068"/>
                </a:solidFill>
              </a:rPr>
              <a:t>SPRINT 6</a:t>
            </a:r>
            <a:endParaRPr lang="en-US" sz="1100" dirty="0"/>
          </a:p>
        </p:txBody>
      </p:sp>
      <p:sp>
        <p:nvSpPr>
          <p:cNvPr id="49" name="Text 47"/>
          <p:cNvSpPr txBox="1"/>
          <p:nvPr/>
        </p:nvSpPr>
        <p:spPr>
          <a:xfrm>
            <a:off x="640080" y="4498848"/>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11-12</a:t>
            </a:r>
            <a:endParaRPr lang="en-US" sz="1000" dirty="0"/>
          </a:p>
        </p:txBody>
      </p:sp>
      <p:sp>
        <p:nvSpPr>
          <p:cNvPr id="50" name="Text 48"/>
          <p:cNvSpPr txBox="1"/>
          <p:nvPr/>
        </p:nvSpPr>
        <p:spPr>
          <a:xfrm>
            <a:off x="640080" y="4754880"/>
            <a:ext cx="1860438" cy="603504"/>
          </a:xfrm>
          <a:prstGeom prst="rect">
            <a:avLst/>
          </a:prstGeom>
          <a:noFill/>
          <a:ln/>
        </p:spPr>
        <p:txBody>
          <a:bodyPr wrap="square" lIns="0" tIns="0" rIns="0" bIns="0" rtlCol="0" anchor="t"/>
          <a:lstStyle/>
          <a:p>
            <a:pPr indent="0" marL="0">
              <a:buNone/>
            </a:pPr>
            <a:r>
              <a:rPr lang="en-US" sz="1100" dirty="0">
                <a:solidFill>
                  <a:srgbClr val="FFFFFF"/>
                </a:solidFill>
              </a:rPr>
              <a:t>Conference go-live and hypercare</a:t>
            </a:r>
            <a:endParaRPr lang="en-US" sz="1100" dirty="0"/>
          </a:p>
        </p:txBody>
      </p:sp>
      <p:sp>
        <p:nvSpPr>
          <p:cNvPr id="51" name="Shape 49"/>
          <p:cNvSpPr/>
          <p:nvPr/>
        </p:nvSpPr>
        <p:spPr>
          <a:xfrm>
            <a:off x="640080" y="5431536"/>
            <a:ext cx="1860438" cy="0"/>
          </a:xfrm>
          <a:prstGeom prst="line">
            <a:avLst/>
          </a:prstGeom>
          <a:noFill/>
          <a:ln w="9525">
            <a:solidFill>
              <a:srgbClr val="555555"/>
            </a:solidFill>
            <a:prstDash val="solid"/>
          </a:ln>
        </p:spPr>
      </p:sp>
      <p:sp>
        <p:nvSpPr>
          <p:cNvPr id="52" name="Shape 50"/>
          <p:cNvSpPr/>
          <p:nvPr/>
        </p:nvSpPr>
        <p:spPr>
          <a:xfrm>
            <a:off x="640080" y="5568696"/>
            <a:ext cx="155448" cy="155448"/>
          </a:xfrm>
          <a:prstGeom prst="diamond">
            <a:avLst/>
          </a:prstGeom>
          <a:solidFill>
            <a:srgbClr val="FF0068"/>
          </a:solidFill>
          <a:ln w="12700">
            <a:solidFill>
              <a:srgbClr val="FF0068"/>
            </a:solidFill>
            <a:prstDash val="solid"/>
          </a:ln>
        </p:spPr>
      </p:sp>
      <p:sp>
        <p:nvSpPr>
          <p:cNvPr id="53" name="Text 51"/>
          <p:cNvSpPr txBox="1"/>
          <p:nvPr/>
        </p:nvSpPr>
        <p:spPr>
          <a:xfrm>
            <a:off x="886968" y="5504688"/>
            <a:ext cx="1631838" cy="457200"/>
          </a:xfrm>
          <a:prstGeom prst="rect">
            <a:avLst/>
          </a:prstGeom>
          <a:noFill/>
          <a:ln/>
        </p:spPr>
        <p:txBody>
          <a:bodyPr wrap="square" lIns="0" tIns="0" rIns="0" bIns="0" rtlCol="0" anchor="t"/>
          <a:lstStyle/>
          <a:p>
            <a:pPr indent="0" marL="0">
              <a:buNone/>
            </a:pPr>
            <a:r>
              <a:rPr lang="en-US" sz="1050" b="1" dirty="0">
                <a:solidFill>
                  <a:srgbClr val="FFFFFF"/>
                </a:solidFill>
              </a:rPr>
              <a:t>Phase 1 live, Certain retired</a:t>
            </a:r>
            <a:endParaRPr lang="en-US" sz="1050" dirty="0"/>
          </a:p>
        </p:txBody>
      </p:sp>
      <p:sp>
        <p:nvSpPr>
          <p:cNvPr id="54" name="sprint-7"/>
          <p:cNvSpPr/>
          <p:nvPr/>
        </p:nvSpPr>
        <p:spPr>
          <a:xfrm>
            <a:off x="2765694" y="4151376"/>
            <a:ext cx="2134758" cy="1901952"/>
          </a:xfrm>
          <a:prstGeom prst="roundRect">
            <a:avLst>
              <a:gd name="adj" fmla="val 4808"/>
            </a:avLst>
          </a:prstGeom>
          <a:solidFill>
            <a:srgbClr val="F2F2F2"/>
          </a:solidFill>
          <a:ln w="22225">
            <a:solidFill>
              <a:srgbClr val="D9B200"/>
            </a:solidFill>
            <a:prstDash val="solid"/>
          </a:ln>
        </p:spPr>
      </p:sp>
      <p:sp>
        <p:nvSpPr>
          <p:cNvPr id="55" name="Text 53"/>
          <p:cNvSpPr txBox="1"/>
          <p:nvPr/>
        </p:nvSpPr>
        <p:spPr>
          <a:xfrm>
            <a:off x="2902854"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7</a:t>
            </a:r>
            <a:endParaRPr lang="en-US" sz="1100" dirty="0"/>
          </a:p>
        </p:txBody>
      </p:sp>
      <p:sp>
        <p:nvSpPr>
          <p:cNvPr id="56" name="Text 54"/>
          <p:cNvSpPr txBox="1"/>
          <p:nvPr/>
        </p:nvSpPr>
        <p:spPr>
          <a:xfrm>
            <a:off x="2902854"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13-14</a:t>
            </a:r>
            <a:endParaRPr lang="en-US" sz="1000" dirty="0"/>
          </a:p>
        </p:txBody>
      </p:sp>
      <p:sp>
        <p:nvSpPr>
          <p:cNvPr id="57" name="Text 55"/>
          <p:cNvSpPr txBox="1"/>
          <p:nvPr/>
        </p:nvSpPr>
        <p:spPr>
          <a:xfrm>
            <a:off x="2902854"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Move classes onto the shared model; keep current pages</a:t>
            </a:r>
            <a:endParaRPr lang="en-US" sz="1100" dirty="0"/>
          </a:p>
        </p:txBody>
      </p:sp>
      <p:sp>
        <p:nvSpPr>
          <p:cNvPr id="58" name="Shape 56"/>
          <p:cNvSpPr/>
          <p:nvPr/>
        </p:nvSpPr>
        <p:spPr>
          <a:xfrm>
            <a:off x="2902854" y="5431536"/>
            <a:ext cx="1860438" cy="0"/>
          </a:xfrm>
          <a:prstGeom prst="line">
            <a:avLst/>
          </a:prstGeom>
          <a:noFill/>
          <a:ln w="9525">
            <a:solidFill>
              <a:srgbClr val="D0D0D6"/>
            </a:solidFill>
            <a:prstDash val="solid"/>
          </a:ln>
        </p:spPr>
      </p:sp>
      <p:sp>
        <p:nvSpPr>
          <p:cNvPr id="59" name="Shape 57"/>
          <p:cNvSpPr/>
          <p:nvPr/>
        </p:nvSpPr>
        <p:spPr>
          <a:xfrm>
            <a:off x="2902854" y="5568696"/>
            <a:ext cx="155448" cy="155448"/>
          </a:xfrm>
          <a:prstGeom prst="diamond">
            <a:avLst/>
          </a:prstGeom>
          <a:solidFill>
            <a:srgbClr val="000000"/>
          </a:solidFill>
          <a:ln w="12700">
            <a:solidFill>
              <a:srgbClr val="000000"/>
            </a:solidFill>
            <a:prstDash val="solid"/>
          </a:ln>
        </p:spPr>
      </p:sp>
      <p:sp>
        <p:nvSpPr>
          <p:cNvPr id="60" name="Text 58"/>
          <p:cNvSpPr txBox="1"/>
          <p:nvPr/>
        </p:nvSpPr>
        <p:spPr>
          <a:xfrm>
            <a:off x="3149742"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Classes on shared model</a:t>
            </a:r>
            <a:endParaRPr lang="en-US" sz="1050" dirty="0"/>
          </a:p>
        </p:txBody>
      </p:sp>
      <p:sp>
        <p:nvSpPr>
          <p:cNvPr id="61" name="sprint-8"/>
          <p:cNvSpPr/>
          <p:nvPr/>
        </p:nvSpPr>
        <p:spPr>
          <a:xfrm>
            <a:off x="5028468" y="4151376"/>
            <a:ext cx="2134758" cy="1901952"/>
          </a:xfrm>
          <a:prstGeom prst="roundRect">
            <a:avLst>
              <a:gd name="adj" fmla="val 4808"/>
            </a:avLst>
          </a:prstGeom>
          <a:solidFill>
            <a:srgbClr val="F2F2F2"/>
          </a:solidFill>
          <a:ln w="22225">
            <a:solidFill>
              <a:srgbClr val="D9B200"/>
            </a:solidFill>
            <a:prstDash val="solid"/>
          </a:ln>
        </p:spPr>
      </p:sp>
      <p:sp>
        <p:nvSpPr>
          <p:cNvPr id="62" name="Text 60"/>
          <p:cNvSpPr txBox="1"/>
          <p:nvPr/>
        </p:nvSpPr>
        <p:spPr>
          <a:xfrm>
            <a:off x="5165628"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8</a:t>
            </a:r>
            <a:endParaRPr lang="en-US" sz="1100" dirty="0"/>
          </a:p>
        </p:txBody>
      </p:sp>
      <p:sp>
        <p:nvSpPr>
          <p:cNvPr id="63" name="Text 61"/>
          <p:cNvSpPr txBox="1"/>
          <p:nvPr/>
        </p:nvSpPr>
        <p:spPr>
          <a:xfrm>
            <a:off x="5165628"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15-16</a:t>
            </a:r>
            <a:endParaRPr lang="en-US" sz="1000" dirty="0"/>
          </a:p>
        </p:txBody>
      </p:sp>
      <p:sp>
        <p:nvSpPr>
          <p:cNvPr id="64" name="Text 62"/>
          <p:cNvSpPr txBox="1"/>
          <p:nvPr/>
        </p:nvSpPr>
        <p:spPr>
          <a:xfrm>
            <a:off x="5165628"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Instant confirmation, safe payment retries, waitlists</a:t>
            </a:r>
            <a:endParaRPr lang="en-US" sz="1100" dirty="0"/>
          </a:p>
        </p:txBody>
      </p:sp>
      <p:sp>
        <p:nvSpPr>
          <p:cNvPr id="65" name="Shape 63"/>
          <p:cNvSpPr/>
          <p:nvPr/>
        </p:nvSpPr>
        <p:spPr>
          <a:xfrm>
            <a:off x="5165628" y="5431536"/>
            <a:ext cx="1860438" cy="0"/>
          </a:xfrm>
          <a:prstGeom prst="line">
            <a:avLst/>
          </a:prstGeom>
          <a:noFill/>
          <a:ln w="9525">
            <a:solidFill>
              <a:srgbClr val="D0D0D6"/>
            </a:solidFill>
            <a:prstDash val="solid"/>
          </a:ln>
        </p:spPr>
      </p:sp>
      <p:sp>
        <p:nvSpPr>
          <p:cNvPr id="66" name="Shape 64"/>
          <p:cNvSpPr/>
          <p:nvPr/>
        </p:nvSpPr>
        <p:spPr>
          <a:xfrm>
            <a:off x="5165628" y="5568696"/>
            <a:ext cx="155448" cy="155448"/>
          </a:xfrm>
          <a:prstGeom prst="diamond">
            <a:avLst/>
          </a:prstGeom>
          <a:solidFill>
            <a:srgbClr val="000000"/>
          </a:solidFill>
          <a:ln w="12700">
            <a:solidFill>
              <a:srgbClr val="000000"/>
            </a:solidFill>
            <a:prstDash val="solid"/>
          </a:ln>
        </p:spPr>
      </p:sp>
      <p:sp>
        <p:nvSpPr>
          <p:cNvPr id="67" name="Text 65"/>
          <p:cNvSpPr txBox="1"/>
          <p:nvPr/>
        </p:nvSpPr>
        <p:spPr>
          <a:xfrm>
            <a:off x="5412516"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Registration improvements demo</a:t>
            </a:r>
            <a:endParaRPr lang="en-US" sz="1050" dirty="0"/>
          </a:p>
        </p:txBody>
      </p:sp>
      <p:sp>
        <p:nvSpPr>
          <p:cNvPr id="68" name="sprint-9"/>
          <p:cNvSpPr/>
          <p:nvPr/>
        </p:nvSpPr>
        <p:spPr>
          <a:xfrm>
            <a:off x="7291243" y="4151376"/>
            <a:ext cx="2134758" cy="1901952"/>
          </a:xfrm>
          <a:prstGeom prst="roundRect">
            <a:avLst>
              <a:gd name="adj" fmla="val 4808"/>
            </a:avLst>
          </a:prstGeom>
          <a:solidFill>
            <a:srgbClr val="F2F2F2"/>
          </a:solidFill>
          <a:ln w="22225">
            <a:solidFill>
              <a:srgbClr val="D9B200"/>
            </a:solidFill>
            <a:prstDash val="solid"/>
          </a:ln>
        </p:spPr>
      </p:sp>
      <p:sp>
        <p:nvSpPr>
          <p:cNvPr id="69" name="Text 67"/>
          <p:cNvSpPr txBox="1"/>
          <p:nvPr/>
        </p:nvSpPr>
        <p:spPr>
          <a:xfrm>
            <a:off x="7428403" y="4270248"/>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9</a:t>
            </a:r>
            <a:endParaRPr lang="en-US" sz="1100" dirty="0"/>
          </a:p>
        </p:txBody>
      </p:sp>
      <p:sp>
        <p:nvSpPr>
          <p:cNvPr id="70" name="Text 68"/>
          <p:cNvSpPr txBox="1"/>
          <p:nvPr/>
        </p:nvSpPr>
        <p:spPr>
          <a:xfrm>
            <a:off x="7428403" y="4498848"/>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17-18</a:t>
            </a:r>
            <a:endParaRPr lang="en-US" sz="1000" dirty="0"/>
          </a:p>
        </p:txBody>
      </p:sp>
      <p:sp>
        <p:nvSpPr>
          <p:cNvPr id="71" name="Text 69"/>
          <p:cNvSpPr txBox="1"/>
          <p:nvPr/>
        </p:nvSpPr>
        <p:spPr>
          <a:xfrm>
            <a:off x="7428403" y="4754880"/>
            <a:ext cx="1860438" cy="603504"/>
          </a:xfrm>
          <a:prstGeom prst="rect">
            <a:avLst/>
          </a:prstGeom>
          <a:noFill/>
          <a:ln/>
        </p:spPr>
        <p:txBody>
          <a:bodyPr wrap="square" lIns="0" tIns="0" rIns="0" bIns="0" rtlCol="0" anchor="t"/>
          <a:lstStyle/>
          <a:p>
            <a:pPr indent="0" marL="0">
              <a:buNone/>
            </a:pPr>
            <a:r>
              <a:rPr lang="en-US" sz="1100" dirty="0">
                <a:solidFill>
                  <a:srgbClr val="000000"/>
                </a:solidFill>
              </a:rPr>
              <a:t>QR check-in, reporting, app connected, PEI journeys</a:t>
            </a:r>
            <a:endParaRPr lang="en-US" sz="1100" dirty="0"/>
          </a:p>
        </p:txBody>
      </p:sp>
      <p:sp>
        <p:nvSpPr>
          <p:cNvPr id="72" name="Shape 70"/>
          <p:cNvSpPr/>
          <p:nvPr/>
        </p:nvSpPr>
        <p:spPr>
          <a:xfrm>
            <a:off x="7428403" y="5431536"/>
            <a:ext cx="1860438" cy="0"/>
          </a:xfrm>
          <a:prstGeom prst="line">
            <a:avLst/>
          </a:prstGeom>
          <a:noFill/>
          <a:ln w="9525">
            <a:solidFill>
              <a:srgbClr val="D0D0D6"/>
            </a:solidFill>
            <a:prstDash val="solid"/>
          </a:ln>
        </p:spPr>
      </p:sp>
      <p:sp>
        <p:nvSpPr>
          <p:cNvPr id="73" name="Shape 71"/>
          <p:cNvSpPr/>
          <p:nvPr/>
        </p:nvSpPr>
        <p:spPr>
          <a:xfrm>
            <a:off x="7428403" y="5568696"/>
            <a:ext cx="155448" cy="155448"/>
          </a:xfrm>
          <a:prstGeom prst="diamond">
            <a:avLst/>
          </a:prstGeom>
          <a:solidFill>
            <a:srgbClr val="000000"/>
          </a:solidFill>
          <a:ln w="12700">
            <a:solidFill>
              <a:srgbClr val="000000"/>
            </a:solidFill>
            <a:prstDash val="solid"/>
          </a:ln>
        </p:spPr>
      </p:sp>
      <p:sp>
        <p:nvSpPr>
          <p:cNvPr id="74" name="Text 72"/>
          <p:cNvSpPr txBox="1"/>
          <p:nvPr/>
        </p:nvSpPr>
        <p:spPr>
          <a:xfrm>
            <a:off x="7675291" y="5504688"/>
            <a:ext cx="1631838" cy="457200"/>
          </a:xfrm>
          <a:prstGeom prst="rect">
            <a:avLst/>
          </a:prstGeom>
          <a:noFill/>
          <a:ln/>
        </p:spPr>
        <p:txBody>
          <a:bodyPr wrap="square" lIns="0" tIns="0" rIns="0" bIns="0" rtlCol="0" anchor="t"/>
          <a:lstStyle/>
          <a:p>
            <a:pPr indent="0" marL="0">
              <a:buNone/>
            </a:pPr>
            <a:r>
              <a:rPr lang="en-US" sz="1050" b="1" dirty="0">
                <a:solidFill>
                  <a:srgbClr val="000000"/>
                </a:solidFill>
              </a:rPr>
              <a:t>User testing starts</a:t>
            </a:r>
            <a:endParaRPr lang="en-US" sz="1050" dirty="0"/>
          </a:p>
        </p:txBody>
      </p:sp>
      <p:sp>
        <p:nvSpPr>
          <p:cNvPr id="75" name="sprint-10"/>
          <p:cNvSpPr/>
          <p:nvPr/>
        </p:nvSpPr>
        <p:spPr>
          <a:xfrm>
            <a:off x="9554017" y="4151376"/>
            <a:ext cx="2134758" cy="1901952"/>
          </a:xfrm>
          <a:prstGeom prst="roundRect">
            <a:avLst>
              <a:gd name="adj" fmla="val 4808"/>
            </a:avLst>
          </a:prstGeom>
          <a:solidFill>
            <a:srgbClr val="000000"/>
          </a:solidFill>
          <a:ln w="22225">
            <a:solidFill>
              <a:srgbClr val="D9B200"/>
            </a:solidFill>
            <a:prstDash val="solid"/>
          </a:ln>
        </p:spPr>
      </p:sp>
      <p:sp>
        <p:nvSpPr>
          <p:cNvPr id="76" name="Text 74"/>
          <p:cNvSpPr txBox="1"/>
          <p:nvPr/>
        </p:nvSpPr>
        <p:spPr>
          <a:xfrm>
            <a:off x="9691177" y="4270248"/>
            <a:ext cx="1860438" cy="219456"/>
          </a:xfrm>
          <a:prstGeom prst="rect">
            <a:avLst/>
          </a:prstGeom>
          <a:noFill/>
          <a:ln/>
        </p:spPr>
        <p:txBody>
          <a:bodyPr wrap="square" lIns="0" tIns="0" rIns="0" bIns="0" rtlCol="0" anchor="t"/>
          <a:lstStyle/>
          <a:p>
            <a:pPr indent="0" marL="0">
              <a:buNone/>
            </a:pPr>
            <a:r>
              <a:rPr lang="en-US" sz="1100" b="1" spc="200" kern="0" dirty="0">
                <a:solidFill>
                  <a:srgbClr val="D9B200"/>
                </a:solidFill>
              </a:rPr>
              <a:t>SPRINT 10</a:t>
            </a:r>
            <a:endParaRPr lang="en-US" sz="1100" dirty="0"/>
          </a:p>
        </p:txBody>
      </p:sp>
      <p:sp>
        <p:nvSpPr>
          <p:cNvPr id="77" name="Text 75"/>
          <p:cNvSpPr txBox="1"/>
          <p:nvPr/>
        </p:nvSpPr>
        <p:spPr>
          <a:xfrm>
            <a:off x="9691177" y="4498848"/>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19-20</a:t>
            </a:r>
            <a:endParaRPr lang="en-US" sz="1000" dirty="0"/>
          </a:p>
        </p:txBody>
      </p:sp>
      <p:sp>
        <p:nvSpPr>
          <p:cNvPr id="78" name="Text 76"/>
          <p:cNvSpPr txBox="1"/>
          <p:nvPr/>
        </p:nvSpPr>
        <p:spPr>
          <a:xfrm>
            <a:off x="9691177" y="4754880"/>
            <a:ext cx="1860438" cy="603504"/>
          </a:xfrm>
          <a:prstGeom prst="rect">
            <a:avLst/>
          </a:prstGeom>
          <a:noFill/>
          <a:ln/>
        </p:spPr>
        <p:txBody>
          <a:bodyPr wrap="square" lIns="0" tIns="0" rIns="0" bIns="0" rtlCol="0" anchor="t"/>
          <a:lstStyle/>
          <a:p>
            <a:pPr indent="0" marL="0">
              <a:buNone/>
            </a:pPr>
            <a:r>
              <a:rPr lang="en-US" sz="1100" dirty="0">
                <a:solidFill>
                  <a:srgbClr val="FFFFFF"/>
                </a:solidFill>
              </a:rPr>
              <a:t>User testing, go-live, knowledge transfer</a:t>
            </a:r>
            <a:endParaRPr lang="en-US" sz="1100" dirty="0"/>
          </a:p>
        </p:txBody>
      </p:sp>
      <p:sp>
        <p:nvSpPr>
          <p:cNvPr id="79" name="Shape 77"/>
          <p:cNvSpPr/>
          <p:nvPr/>
        </p:nvSpPr>
        <p:spPr>
          <a:xfrm>
            <a:off x="9691177" y="5431536"/>
            <a:ext cx="1860438" cy="0"/>
          </a:xfrm>
          <a:prstGeom prst="line">
            <a:avLst/>
          </a:prstGeom>
          <a:noFill/>
          <a:ln w="9525">
            <a:solidFill>
              <a:srgbClr val="555555"/>
            </a:solidFill>
            <a:prstDash val="solid"/>
          </a:ln>
        </p:spPr>
      </p:sp>
      <p:sp>
        <p:nvSpPr>
          <p:cNvPr id="80" name="Shape 78"/>
          <p:cNvSpPr/>
          <p:nvPr/>
        </p:nvSpPr>
        <p:spPr>
          <a:xfrm>
            <a:off x="9691177" y="5568696"/>
            <a:ext cx="155448" cy="155448"/>
          </a:xfrm>
          <a:prstGeom prst="diamond">
            <a:avLst/>
          </a:prstGeom>
          <a:solidFill>
            <a:srgbClr val="D9B200"/>
          </a:solidFill>
          <a:ln w="12700">
            <a:solidFill>
              <a:srgbClr val="D9B200"/>
            </a:solidFill>
            <a:prstDash val="solid"/>
          </a:ln>
        </p:spPr>
      </p:sp>
      <p:sp>
        <p:nvSpPr>
          <p:cNvPr id="81" name="Text 79"/>
          <p:cNvSpPr txBox="1"/>
          <p:nvPr/>
        </p:nvSpPr>
        <p:spPr>
          <a:xfrm>
            <a:off x="9938065" y="5504688"/>
            <a:ext cx="1631838" cy="457200"/>
          </a:xfrm>
          <a:prstGeom prst="rect">
            <a:avLst/>
          </a:prstGeom>
          <a:noFill/>
          <a:ln/>
        </p:spPr>
        <p:txBody>
          <a:bodyPr wrap="square" lIns="0" tIns="0" rIns="0" bIns="0" rtlCol="0" anchor="t"/>
          <a:lstStyle/>
          <a:p>
            <a:pPr indent="0" marL="0">
              <a:buNone/>
            </a:pPr>
            <a:r>
              <a:rPr lang="en-US" sz="1050" b="1" dirty="0">
                <a:solidFill>
                  <a:srgbClr val="FFFFFF"/>
                </a:solidFill>
              </a:rPr>
              <a:t>Phase 2 live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five-person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3</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Scrum Master or 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Salesforce Developers + 1 Marketing Cloud Developer</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integrations, journeys and PEIs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5 people  ·  10 sprints  ·  20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3-12</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improved</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13-20</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Shared event model</a:t>
            </a:r>
            <a:endParaRPr lang="en-US" sz="1400" dirty="0"/>
          </a:p>
          <a:p>
            <a:pPr marL="342900" indent="-342900">
              <a:spcAft>
                <a:spcPts val="600"/>
              </a:spcAft>
              <a:buSzPct val="100000"/>
              <a:buChar char="•"/>
            </a:pPr>
            <a:r>
              <a:rPr lang="en-US" sz="1400" dirty="0">
                <a:solidFill>
                  <a:srgbClr val="4D4D4D"/>
                </a:solidFill>
              </a:rPr>
              <a:t>Instant confirmation,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2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21+</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five-person pod, 10 sprints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$580,000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$290,000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$290,000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Sprints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Conferences, replaces Certain</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1-6</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$350,000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$175,000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Classes on the shared platform</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7-10</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$230,000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$115,000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10 sprints</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$580,000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$290,000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five-person offshore pod for 20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the app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what is not working today and why Certain is being replaced</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Agree the payment approach: keep both gateways or consolidate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so Phase 2 lands before it</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2026-10-19T06:03:00Z</dcterms:created>
  <dcterms:modified xsi:type="dcterms:W3CDTF">2026-10-19T06:03:00Z</dcterms:modified>
</cp:coreProperties>
</file>