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5909832-393b-3af4-1ef7-43717ca90a29}">
          <p14:sldIdLst>
            <p14:sldId id="256"/>
            <p14:sldId id="257"/>
            <p14:sldId id="258"/>
          </p14:sldIdLst>
        </p14:section>
        <p14:section name="The solution" id="{fbb8bfb6-d0be-4db6-742a-05f1e18ae36f}">
          <p14:sldIdLst>
            <p14:sldId id="259"/>
            <p14:sldId id="260"/>
            <p14:sldId id="261"/>
            <p14:sldId id="262"/>
            <p14:sldId id="263"/>
            <p14:sldId id="264"/>
            <p14:sldId id="265"/>
            <p14:sldId id="266"/>
            <p14:sldId id="267"/>
            <p14:sldId id="268"/>
          </p14:sldIdLst>
        </p14:section>
        <p14:section name="Delivery plan" id="{1e5c8ccb-6add-cb30-c3c0-915daac8a8ef}">
          <p14:sldIdLst>
            <p14:sldId id="269"/>
            <p14:sldId id="270"/>
            <p14:sldId id="271"/>
            <p14:sldId id="272"/>
          </p14:sldIdLst>
        </p14:section>
        <p14:section name="Beyond the event" id="{a2bc7cd9-6cd3-4cce-c500-ff4b6d9b2bdc}">
          <p14:sldIdLst>
            <p14:sldId id="273"/>
            <p14:sldId id="274"/>
            <p14:sldId id="275"/>
            <p14:sldId id="276"/>
            <p14:sldId id="277"/>
            <p14:sldId id="278"/>
          </p14:sldIdLst>
        </p14:section>
        <p14:section name="Roadmap and next steps" id="{a3722bb0-38d1-ff6a-b39e-e56c0afea35d}">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 to 4 solve the problem Kevin described. Section 5 is the value we add on top: using registration data to keep people engaged and bring them into the Memorial Hermann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back Kevin’s answers so he can correct anything. Two systems and two payment gateways today; the goal is one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app on the Health Cloud org they already own. Sitecore and the existing My Memorial Hermann app are the front doors, Salesforce runs events, Marketing Cloud sends every message. This retires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One registration flow serves the Sitecore website and the existing My Memorial Hermann app (Epic MyChart), so nothing is built twice. How it appears in the app (menu link or SMART on FHIR launch)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Conferences use the same app and data as classes, so attendees, payments and reporting stay in one place.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Gateway choice is Memorial Hermann finance's decision; both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the home-built class registration around week 14. Phase 2 replaces Certain around week 24; time it to land before the Certain renewal. Engagement work can start as soon as Phase 1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Sprints 1 and 2 cover discovery and design, sprints 3 to 7 deliver classes and events (live at week 14), and sprints 8 to 12 deliver conferences and the first engagement journeys (live at week 24, Certain retired).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Scrum Master or Project Manager leading delivery, one QA engineer embedded in every sprint, and a build team of two Salesforce developers and one Marketing Cloud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state. Five agents run day-to-day event and campaign work, but only through the harness: approved actions, guardrails on consent and patient data, staff approval for anything that reaches patients or spends money, per-agent identity, a full audit trail, evaluation before release, the Einstein Trust Layer and a kill switch. Autonomy grows as trust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program value is $700,000. As a strategic partner, Memorial Hermann receives a 50% partnership credit applied upfront, for an investment of $350,000.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7.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8.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8.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8.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7.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What we heard</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we heard</a:t>
            </a:r>
            <a:endParaRPr lang="en-US" sz="3200" dirty="0"/>
          </a:p>
        </p:txBody>
      </p:sp>
      <p:sp>
        <p:nvSpPr>
          <p:cNvPr id="3" name="Text 1"/>
          <p:cNvSpPr txBox="1"/>
          <p:nvPr/>
        </p:nvSpPr>
        <p:spPr>
          <a:xfrm>
            <a:off x="576072" y="1600200"/>
            <a:ext cx="2231136" cy="384048"/>
          </a:xfrm>
          <a:prstGeom prst="rect">
            <a:avLst/>
          </a:prstGeom>
          <a:noFill/>
          <a:ln/>
        </p:spPr>
        <p:txBody>
          <a:bodyPr wrap="square" lIns="0" tIns="0" rIns="0" bIns="0" rtlCol="0" anchor="b"/>
          <a:lstStyle/>
          <a:p>
            <a:pPr indent="0" marL="0">
              <a:buNone/>
            </a:pPr>
            <a:r>
              <a:rPr lang="en-US" sz="1500" b="1" dirty="0">
                <a:solidFill>
                  <a:schemeClr val="tx1"/>
                </a:solidFill>
              </a:rPr>
              <a:t>Area</a:t>
            </a:r>
            <a:endParaRPr lang="en-US" sz="1500" dirty="0"/>
          </a:p>
        </p:txBody>
      </p:sp>
      <p:sp>
        <p:nvSpPr>
          <p:cNvPr id="4" name="Text 2"/>
          <p:cNvSpPr txBox="1"/>
          <p:nvPr/>
        </p:nvSpPr>
        <p:spPr>
          <a:xfrm>
            <a:off x="2953512" y="1600200"/>
            <a:ext cx="4334256" cy="384048"/>
          </a:xfrm>
          <a:prstGeom prst="rect">
            <a:avLst/>
          </a:prstGeom>
          <a:noFill/>
          <a:ln/>
        </p:spPr>
        <p:txBody>
          <a:bodyPr wrap="square" lIns="0" tIns="0" rIns="0" bIns="0" rtlCol="0" anchor="b"/>
          <a:lstStyle/>
          <a:p>
            <a:pPr indent="0" marL="0">
              <a:buNone/>
            </a:pPr>
            <a:r>
              <a:rPr lang="en-US" sz="1500" b="1" dirty="0">
                <a:solidFill>
                  <a:schemeClr val="tx1"/>
                </a:solidFill>
              </a:rPr>
              <a:t>Today</a:t>
            </a:r>
            <a:endParaRPr lang="en-US" sz="1500" dirty="0"/>
          </a:p>
        </p:txBody>
      </p:sp>
      <p:sp>
        <p:nvSpPr>
          <p:cNvPr id="5" name="Text 3"/>
          <p:cNvSpPr txBox="1"/>
          <p:nvPr/>
        </p:nvSpPr>
        <p:spPr>
          <a:xfrm>
            <a:off x="7434072" y="1600200"/>
            <a:ext cx="4178808" cy="384048"/>
          </a:xfrm>
          <a:prstGeom prst="rect">
            <a:avLst/>
          </a:prstGeom>
          <a:noFill/>
          <a:ln/>
        </p:spPr>
        <p:txBody>
          <a:bodyPr wrap="square" lIns="0" tIns="0" rIns="0" bIns="0" rtlCol="0" anchor="b"/>
          <a:lstStyle/>
          <a:p>
            <a:pPr indent="0" marL="0">
              <a:buNone/>
            </a:pPr>
            <a:r>
              <a:rPr lang="en-US" sz="1500" b="1" dirty="0">
                <a:solidFill>
                  <a:schemeClr val="tx1"/>
                </a:solidFill>
              </a:rPr>
              <a:t>With one platform</a:t>
            </a:r>
            <a:endParaRPr lang="en-US" sz="1500" dirty="0"/>
          </a:p>
        </p:txBody>
      </p:sp>
      <p:sp>
        <p:nvSpPr>
          <p:cNvPr id="6" name="Shape 4"/>
          <p:cNvSpPr/>
          <p:nvPr/>
        </p:nvSpPr>
        <p:spPr>
          <a:xfrm>
            <a:off x="502920" y="2057400"/>
            <a:ext cx="11183112" cy="0"/>
          </a:xfrm>
          <a:prstGeom prst="line">
            <a:avLst/>
          </a:prstGeom>
          <a:noFill/>
          <a:ln w="19050">
            <a:solidFill>
              <a:schemeClr val="tx1"/>
            </a:solidFill>
            <a:prstDash val="solid"/>
          </a:ln>
        </p:spPr>
      </p:sp>
      <p:sp>
        <p:nvSpPr>
          <p:cNvPr id="7" name="Text 5"/>
          <p:cNvSpPr txBox="1"/>
          <p:nvPr/>
        </p:nvSpPr>
        <p:spPr>
          <a:xfrm>
            <a:off x="576072" y="2130552"/>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Classes and events</a:t>
            </a:r>
            <a:endParaRPr lang="en-US" sz="1300" dirty="0"/>
          </a:p>
        </p:txBody>
      </p:sp>
      <p:sp>
        <p:nvSpPr>
          <p:cNvPr id="8" name="Text 6"/>
          <p:cNvSpPr txBox="1"/>
          <p:nvPr/>
        </p:nvSpPr>
        <p:spPr>
          <a:xfrm>
            <a:off x="2953512" y="2130552"/>
            <a:ext cx="4334256" cy="548640"/>
          </a:xfrm>
          <a:prstGeom prst="rect">
            <a:avLst/>
          </a:prstGeom>
          <a:noFill/>
          <a:ln/>
        </p:spPr>
        <p:txBody>
          <a:bodyPr wrap="square" lIns="0" tIns="0" rIns="0" bIns="0" rtlCol="0" anchor="ctr"/>
          <a:lstStyle/>
          <a:p>
            <a:pPr indent="0" marL="0">
              <a:buNone/>
            </a:pPr>
            <a:r>
              <a:rPr lang="en-US" sz="1300" dirty="0">
                <a:solidFill>
                  <a:srgbClr val="4D4D4D"/>
                </a:solidFill>
              </a:rPr>
              <a:t>Home-built on Salesforce + Sitecore; payments through Chase</a:t>
            </a:r>
            <a:endParaRPr lang="en-US" sz="1300" dirty="0"/>
          </a:p>
        </p:txBody>
      </p:sp>
      <p:sp>
        <p:nvSpPr>
          <p:cNvPr id="9" name="Text 7"/>
          <p:cNvSpPr txBox="1"/>
          <p:nvPr/>
        </p:nvSpPr>
        <p:spPr>
          <a:xfrm>
            <a:off x="7434072" y="2130552"/>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Salesforce event app for every class, tour and seminar</a:t>
            </a:r>
            <a:endParaRPr lang="en-US" sz="1300" dirty="0"/>
          </a:p>
        </p:txBody>
      </p:sp>
      <p:sp>
        <p:nvSpPr>
          <p:cNvPr id="10" name="Shape 8"/>
          <p:cNvSpPr/>
          <p:nvPr/>
        </p:nvSpPr>
        <p:spPr>
          <a:xfrm>
            <a:off x="502920" y="2715768"/>
            <a:ext cx="11183112" cy="0"/>
          </a:xfrm>
          <a:prstGeom prst="line">
            <a:avLst/>
          </a:prstGeom>
          <a:noFill/>
          <a:ln w="9525">
            <a:solidFill>
              <a:srgbClr val="8C8C8C"/>
            </a:solidFill>
            <a:prstDash val="sysDot"/>
          </a:ln>
        </p:spPr>
      </p:sp>
      <p:sp>
        <p:nvSpPr>
          <p:cNvPr id="11" name="Text 9"/>
          <p:cNvSpPr txBox="1"/>
          <p:nvPr/>
        </p:nvSpPr>
        <p:spPr>
          <a:xfrm>
            <a:off x="576072" y="2788920"/>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Conferences</a:t>
            </a:r>
            <a:endParaRPr lang="en-US" sz="1300" dirty="0"/>
          </a:p>
        </p:txBody>
      </p:sp>
      <p:sp>
        <p:nvSpPr>
          <p:cNvPr id="12" name="Text 10"/>
          <p:cNvSpPr txBox="1"/>
          <p:nvPr/>
        </p:nvSpPr>
        <p:spPr>
          <a:xfrm>
            <a:off x="2953512" y="2788920"/>
            <a:ext cx="4334256" cy="548640"/>
          </a:xfrm>
          <a:prstGeom prst="rect">
            <a:avLst/>
          </a:prstGeom>
          <a:noFill/>
          <a:ln/>
        </p:spPr>
        <p:txBody>
          <a:bodyPr wrap="square" lIns="0" tIns="0" rIns="0" bIns="0" rtlCol="0" anchor="ctr"/>
          <a:lstStyle/>
          <a:p>
            <a:pPr indent="0" marL="0">
              <a:buNone/>
            </a:pPr>
            <a:r>
              <a:rPr lang="en-US" sz="1300" dirty="0">
                <a:solidFill>
                  <a:srgbClr val="4D4D4D"/>
                </a:solidFill>
              </a:rPr>
              <a:t>Certain for 1 to 2 multi-day events a year; Authorize.net</a:t>
            </a:r>
            <a:endParaRPr lang="en-US" sz="1300" dirty="0"/>
          </a:p>
        </p:txBody>
      </p:sp>
      <p:sp>
        <p:nvSpPr>
          <p:cNvPr id="13" name="Text 11"/>
          <p:cNvSpPr txBox="1"/>
          <p:nvPr/>
        </p:nvSpPr>
        <p:spPr>
          <a:xfrm>
            <a:off x="7434072" y="2788920"/>
            <a:ext cx="4178808" cy="548640"/>
          </a:xfrm>
          <a:prstGeom prst="rect">
            <a:avLst/>
          </a:prstGeom>
          <a:noFill/>
          <a:ln/>
        </p:spPr>
        <p:txBody>
          <a:bodyPr wrap="square" lIns="0" tIns="0" rIns="0" bIns="0" rtlCol="0" anchor="ctr"/>
          <a:lstStyle/>
          <a:p>
            <a:pPr indent="0" marL="0">
              <a:buNone/>
            </a:pPr>
            <a:r>
              <a:rPr lang="en-US" sz="1300" dirty="0">
                <a:solidFill>
                  <a:srgbClr val="4D4D4D"/>
                </a:solidFill>
              </a:rPr>
              <a:t>Same app with sessions, tracks and speakers; Certain retired</a:t>
            </a:r>
            <a:endParaRPr lang="en-US" sz="1300" dirty="0"/>
          </a:p>
        </p:txBody>
      </p:sp>
      <p:sp>
        <p:nvSpPr>
          <p:cNvPr id="14" name="Shape 12"/>
          <p:cNvSpPr/>
          <p:nvPr/>
        </p:nvSpPr>
        <p:spPr>
          <a:xfrm>
            <a:off x="502920" y="3374136"/>
            <a:ext cx="11183112" cy="0"/>
          </a:xfrm>
          <a:prstGeom prst="line">
            <a:avLst/>
          </a:prstGeom>
          <a:noFill/>
          <a:ln w="9525">
            <a:solidFill>
              <a:srgbClr val="8C8C8C"/>
            </a:solidFill>
            <a:prstDash val="sysDot"/>
          </a:ln>
        </p:spPr>
      </p:sp>
      <p:sp>
        <p:nvSpPr>
          <p:cNvPr id="15" name="Text 13"/>
          <p:cNvSpPr txBox="1"/>
          <p:nvPr/>
        </p:nvSpPr>
        <p:spPr>
          <a:xfrm>
            <a:off x="576072" y="3447288"/>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Who registers</a:t>
            </a:r>
            <a:endParaRPr lang="en-US" sz="1300" dirty="0"/>
          </a:p>
        </p:txBody>
      </p:sp>
      <p:sp>
        <p:nvSpPr>
          <p:cNvPr id="16" name="Text 14"/>
          <p:cNvSpPr txBox="1"/>
          <p:nvPr/>
        </p:nvSpPr>
        <p:spPr>
          <a:xfrm>
            <a:off x="2953512" y="3447288"/>
            <a:ext cx="4334256" cy="548640"/>
          </a:xfrm>
          <a:prstGeom prst="rect">
            <a:avLst/>
          </a:prstGeom>
          <a:noFill/>
          <a:ln/>
        </p:spPr>
        <p:txBody>
          <a:bodyPr wrap="square" lIns="0" tIns="0" rIns="0" bIns="0" rtlCol="0" anchor="ctr"/>
          <a:lstStyle/>
          <a:p>
            <a:pPr indent="0" marL="0">
              <a:buNone/>
            </a:pPr>
            <a:r>
              <a:rPr lang="en-US" sz="1300" dirty="0">
                <a:solidFill>
                  <a:srgbClr val="4D4D4D"/>
                </a:solidFill>
              </a:rPr>
              <a:t>Consumers, caregivers and providers</a:t>
            </a:r>
            <a:endParaRPr lang="en-US" sz="1300" dirty="0"/>
          </a:p>
        </p:txBody>
      </p:sp>
      <p:sp>
        <p:nvSpPr>
          <p:cNvPr id="17" name="Text 15"/>
          <p:cNvSpPr txBox="1"/>
          <p:nvPr/>
        </p:nvSpPr>
        <p:spPr>
          <a:xfrm>
            <a:off x="7434072" y="3447288"/>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profile per person, matched to Health Cloud</a:t>
            </a:r>
            <a:endParaRPr lang="en-US" sz="1300" dirty="0"/>
          </a:p>
        </p:txBody>
      </p:sp>
      <p:sp>
        <p:nvSpPr>
          <p:cNvPr id="18" name="Shape 16"/>
          <p:cNvSpPr/>
          <p:nvPr/>
        </p:nvSpPr>
        <p:spPr>
          <a:xfrm>
            <a:off x="502920" y="4032504"/>
            <a:ext cx="11183112" cy="0"/>
          </a:xfrm>
          <a:prstGeom prst="line">
            <a:avLst/>
          </a:prstGeom>
          <a:noFill/>
          <a:ln w="9525">
            <a:solidFill>
              <a:srgbClr val="8C8C8C"/>
            </a:solidFill>
            <a:prstDash val="sysDot"/>
          </a:ln>
        </p:spPr>
      </p:sp>
      <p:sp>
        <p:nvSpPr>
          <p:cNvPr id="19" name="Text 17"/>
          <p:cNvSpPr txBox="1"/>
          <p:nvPr/>
        </p:nvSpPr>
        <p:spPr>
          <a:xfrm>
            <a:off x="576072" y="4105656"/>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Platform</a:t>
            </a:r>
            <a:endParaRPr lang="en-US" sz="1300" dirty="0"/>
          </a:p>
        </p:txBody>
      </p:sp>
      <p:sp>
        <p:nvSpPr>
          <p:cNvPr id="20" name="Text 18"/>
          <p:cNvSpPr txBox="1"/>
          <p:nvPr/>
        </p:nvSpPr>
        <p:spPr>
          <a:xfrm>
            <a:off x="2953512" y="4105656"/>
            <a:ext cx="4334256" cy="548640"/>
          </a:xfrm>
          <a:prstGeom prst="rect">
            <a:avLst/>
          </a:prstGeom>
          <a:noFill/>
          <a:ln/>
        </p:spPr>
        <p:txBody>
          <a:bodyPr wrap="square" lIns="0" tIns="0" rIns="0" bIns="0" rtlCol="0" anchor="ctr"/>
          <a:lstStyle/>
          <a:p>
            <a:pPr indent="0" marL="0">
              <a:buNone/>
            </a:pPr>
            <a:r>
              <a:rPr lang="en-US" sz="1300" dirty="0">
                <a:solidFill>
                  <a:srgbClr val="4D4D4D"/>
                </a:solidFill>
              </a:rPr>
              <a:t>Health Cloud and Marketing Cloud</a:t>
            </a:r>
            <a:endParaRPr lang="en-US" sz="1300" dirty="0"/>
          </a:p>
        </p:txBody>
      </p:sp>
      <p:sp>
        <p:nvSpPr>
          <p:cNvPr id="21" name="Text 19"/>
          <p:cNvSpPr txBox="1"/>
          <p:nvPr/>
        </p:nvSpPr>
        <p:spPr>
          <a:xfrm>
            <a:off x="7434072" y="4105656"/>
            <a:ext cx="4178808" cy="548640"/>
          </a:xfrm>
          <a:prstGeom prst="rect">
            <a:avLst/>
          </a:prstGeom>
          <a:noFill/>
          <a:ln/>
        </p:spPr>
        <p:txBody>
          <a:bodyPr wrap="square" lIns="0" tIns="0" rIns="0" bIns="0" rtlCol="0" anchor="ctr"/>
          <a:lstStyle/>
          <a:p>
            <a:pPr indent="0" marL="0">
              <a:buNone/>
            </a:pPr>
            <a:r>
              <a:rPr lang="en-US" sz="1300" dirty="0">
                <a:solidFill>
                  <a:srgbClr val="4D4D4D"/>
                </a:solidFill>
              </a:rPr>
              <a:t>Built on what Memorial Hermann already owns</a:t>
            </a:r>
            <a:endParaRPr lang="en-US" sz="1300" dirty="0"/>
          </a:p>
        </p:txBody>
      </p:sp>
      <p:sp>
        <p:nvSpPr>
          <p:cNvPr id="22" name="Shape 20"/>
          <p:cNvSpPr/>
          <p:nvPr/>
        </p:nvSpPr>
        <p:spPr>
          <a:xfrm>
            <a:off x="502920" y="4690872"/>
            <a:ext cx="11183112" cy="0"/>
          </a:xfrm>
          <a:prstGeom prst="line">
            <a:avLst/>
          </a:prstGeom>
          <a:noFill/>
          <a:ln w="9525">
            <a:solidFill>
              <a:srgbClr val="8C8C8C"/>
            </a:solidFill>
            <a:prstDash val="sysDot"/>
          </a:ln>
        </p:spPr>
      </p:sp>
      <p:sp>
        <p:nvSpPr>
          <p:cNvPr id="23" name="Text 21"/>
          <p:cNvSpPr txBox="1"/>
          <p:nvPr/>
        </p:nvSpPr>
        <p:spPr>
          <a:xfrm>
            <a:off x="576072" y="4764024"/>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Epic</a:t>
            </a:r>
            <a:endParaRPr lang="en-US" sz="1300" dirty="0"/>
          </a:p>
        </p:txBody>
      </p:sp>
      <p:sp>
        <p:nvSpPr>
          <p:cNvPr id="24" name="Text 22"/>
          <p:cNvSpPr txBox="1"/>
          <p:nvPr/>
        </p:nvSpPr>
        <p:spPr>
          <a:xfrm>
            <a:off x="2953512" y="4764024"/>
            <a:ext cx="4334256" cy="548640"/>
          </a:xfrm>
          <a:prstGeom prst="rect">
            <a:avLst/>
          </a:prstGeom>
          <a:noFill/>
          <a:ln/>
        </p:spPr>
        <p:txBody>
          <a:bodyPr wrap="square" lIns="0" tIns="0" rIns="0" bIns="0" rtlCol="0" anchor="ctr"/>
          <a:lstStyle/>
          <a:p>
            <a:pPr indent="0" marL="0">
              <a:buNone/>
            </a:pPr>
            <a:r>
              <a:rPr lang="en-US" sz="1300" dirty="0">
                <a:solidFill>
                  <a:srgbClr val="4D4D4D"/>
                </a:solidFill>
              </a:rPr>
              <a:t>Not needed for this use case</a:t>
            </a:r>
            <a:endParaRPr lang="en-US" sz="1300" dirty="0"/>
          </a:p>
        </p:txBody>
      </p:sp>
      <p:sp>
        <p:nvSpPr>
          <p:cNvPr id="25" name="Text 23"/>
          <p:cNvSpPr txBox="1"/>
          <p:nvPr/>
        </p:nvSpPr>
        <p:spPr>
          <a:xfrm>
            <a:off x="7434072" y="4764024"/>
            <a:ext cx="4178808" cy="548640"/>
          </a:xfrm>
          <a:prstGeom prst="rect">
            <a:avLst/>
          </a:prstGeom>
          <a:noFill/>
          <a:ln/>
        </p:spPr>
        <p:txBody>
          <a:bodyPr wrap="square" lIns="0" tIns="0" rIns="0" bIns="0" rtlCol="0" anchor="ctr"/>
          <a:lstStyle/>
          <a:p>
            <a:pPr indent="0" marL="0">
              <a:buNone/>
            </a:pPr>
            <a:r>
              <a:rPr lang="en-US" sz="1300" dirty="0">
                <a:solidFill>
                  <a:srgbClr val="4D4D4D"/>
                </a:solidFill>
              </a:rPr>
              <a:t>Lucky Rai’s team if an integration is ever required</a:t>
            </a:r>
            <a:endParaRPr lang="en-US" sz="1300" dirty="0"/>
          </a:p>
        </p:txBody>
      </p:sp>
      <p:sp>
        <p:nvSpPr>
          <p:cNvPr id="26" name="Shape 24"/>
          <p:cNvSpPr/>
          <p:nvPr/>
        </p:nvSpPr>
        <p:spPr>
          <a:xfrm>
            <a:off x="502920" y="5349240"/>
            <a:ext cx="11183112" cy="0"/>
          </a:xfrm>
          <a:prstGeom prst="line">
            <a:avLst/>
          </a:prstGeom>
          <a:noFill/>
          <a:ln w="9525">
            <a:solidFill>
              <a:srgbClr val="8C8C8C"/>
            </a:solidFill>
            <a:prstDash val="sysDot"/>
          </a:ln>
        </p:spPr>
      </p:sp>
      <p:sp>
        <p:nvSpPr>
          <p:cNvPr id="27" name="Text 25"/>
          <p:cNvSpPr txBox="1"/>
          <p:nvPr/>
        </p:nvSpPr>
        <p:spPr>
          <a:xfrm>
            <a:off x="502920" y="5715000"/>
            <a:ext cx="11185855" cy="365760"/>
          </a:xfrm>
          <a:prstGeom prst="rect">
            <a:avLst/>
          </a:prstGeom>
          <a:noFill/>
          <a:ln/>
        </p:spPr>
        <p:txBody>
          <a:bodyPr wrap="square" lIns="0" tIns="0" rIns="0" bIns="0" rtlCol="0" anchor="t"/>
          <a:lstStyle/>
          <a:p>
            <a:pPr indent="0" marL="0">
              <a:buNone/>
            </a:pPr>
            <a:r>
              <a:rPr lang="en-US" sz="1500" b="1" dirty="0">
                <a:solidFill>
                  <a:schemeClr val="tx1"/>
                </a:solidFill>
              </a:rPr>
              <a:t>Goal: one platform for simple classes (free or paid, in person or online) and multi-day conferences with session management.</a:t>
            </a:r>
            <a:endParaRPr lang="en-US" sz="15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One Salesforce event app for classes, events and conferences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An event app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Website and My MH app</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Sign-up on Sitecore pages and inside the existing My Memorial Hermann app</a:t>
            </a:r>
            <a:endParaRPr lang="en-US" sz="1400" dirty="0"/>
          </a:p>
          <a:p>
            <a:pPr marL="342900" indent="-342900">
              <a:spcAft>
                <a:spcPts val="600"/>
              </a:spcAft>
              <a:buSzPct val="100000"/>
              <a:buChar char="•"/>
            </a:pPr>
            <a:r>
              <a:rPr lang="en-US" sz="1400" dirty="0">
                <a:solidFill>
                  <a:srgbClr val="BFBFBF"/>
                </a:solidFill>
              </a:rPr>
              <a:t>Secure hosted checkout</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Authorize.net</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from sign-up to follow-up for classes and conferences, replacing the home-built class tool and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My MH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Conferences follow the same flow, adding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One registration flow for website and app</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Search by topic, location, date, format and price. Seats left and waitlists update live.</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My Memorial Hermann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A Classes &amp; Events entry in the app people already use. No new app to download [Epic setup to confirm].</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every class from one Salesforce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Example: 100,000 people click Register for a class with 30 seats</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or My Memorial Hermann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Gateway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or Authorize.net)</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Gateway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gateway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Gateway choice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OPTION A</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Keep both</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for classes, Authorize.net for conferences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OPTION B</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Consolidate on one</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One gateway for every event; simpler reconciliation</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Two phases, about 24 weeks to both platforms live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  ·  Discover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Walkthrough of the current build, requirements, data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4-14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and events: registration, payments, journeys, check-in. Home-built tool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15-24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25+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12 two-week sprints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659636" cy="256032"/>
          </a:xfrm>
          <a:prstGeom prst="rect">
            <a:avLst/>
          </a:prstGeom>
          <a:noFill/>
          <a:ln/>
        </p:spPr>
        <p:txBody>
          <a:bodyPr wrap="square" lIns="0" tIns="0" rIns="0" bIns="0" rtlCol="0" anchor="ctr"/>
          <a:lstStyle/>
          <a:p>
            <a:pPr indent="0" marL="0">
              <a:buNone/>
            </a:pPr>
            <a:r>
              <a:rPr lang="en-US" sz="1100" b="1" dirty="0">
                <a:solidFill>
                  <a:srgbClr val="007C8C"/>
                </a:solidFill>
              </a:rPr>
              <a:t>Discover and design</a:t>
            </a:r>
            <a:endParaRPr lang="en-US" sz="1100" dirty="0"/>
          </a:p>
        </p:txBody>
      </p:sp>
      <p:sp>
        <p:nvSpPr>
          <p:cNvPr id="6" name="Shape 4"/>
          <p:cNvSpPr/>
          <p:nvPr/>
        </p:nvSpPr>
        <p:spPr>
          <a:xfrm>
            <a:off x="2866644" y="1737360"/>
            <a:ext cx="292608" cy="146304"/>
          </a:xfrm>
          <a:prstGeom prst="roundRect">
            <a:avLst>
              <a:gd name="adj" fmla="val 50000"/>
            </a:avLst>
          </a:prstGeom>
          <a:solidFill>
            <a:srgbClr val="D9B200"/>
          </a:solidFill>
          <a:ln w="12700">
            <a:solidFill>
              <a:srgbClr val="D9B200"/>
            </a:solidFill>
            <a:prstDash val="solid"/>
          </a:ln>
        </p:spPr>
      </p:sp>
      <p:sp>
        <p:nvSpPr>
          <p:cNvPr id="7" name="Text 5"/>
          <p:cNvSpPr txBox="1"/>
          <p:nvPr/>
        </p:nvSpPr>
        <p:spPr>
          <a:xfrm>
            <a:off x="3250692" y="1682496"/>
            <a:ext cx="2359152" cy="256032"/>
          </a:xfrm>
          <a:prstGeom prst="rect">
            <a:avLst/>
          </a:prstGeom>
          <a:noFill/>
          <a:ln/>
        </p:spPr>
        <p:txBody>
          <a:bodyPr wrap="square" lIns="0" tIns="0" rIns="0" bIns="0" rtlCol="0" anchor="ctr"/>
          <a:lstStyle/>
          <a:p>
            <a:pPr indent="0" marL="0">
              <a:buNone/>
            </a:pPr>
            <a:r>
              <a:rPr lang="en-US" sz="1100" b="1" dirty="0">
                <a:solidFill>
                  <a:srgbClr val="7A6100"/>
                </a:solidFill>
              </a:rPr>
              <a:t>Phase 1 · Classes and events</a:t>
            </a:r>
            <a:endParaRPr lang="en-US" sz="1100" dirty="0"/>
          </a:p>
        </p:txBody>
      </p:sp>
      <p:sp>
        <p:nvSpPr>
          <p:cNvPr id="8" name="Shape 6"/>
          <p:cNvSpPr/>
          <p:nvPr/>
        </p:nvSpPr>
        <p:spPr>
          <a:xfrm>
            <a:off x="5929884" y="1737360"/>
            <a:ext cx="292608" cy="146304"/>
          </a:xfrm>
          <a:prstGeom prst="roundRect">
            <a:avLst>
              <a:gd name="adj" fmla="val 50000"/>
            </a:avLst>
          </a:prstGeom>
          <a:solidFill>
            <a:srgbClr val="FF0068"/>
          </a:solidFill>
          <a:ln w="12700">
            <a:solidFill>
              <a:srgbClr val="FF0068"/>
            </a:solidFill>
            <a:prstDash val="solid"/>
          </a:ln>
        </p:spPr>
      </p:sp>
      <p:sp>
        <p:nvSpPr>
          <p:cNvPr id="9" name="Text 7"/>
          <p:cNvSpPr txBox="1"/>
          <p:nvPr/>
        </p:nvSpPr>
        <p:spPr>
          <a:xfrm>
            <a:off x="6313932" y="1682496"/>
            <a:ext cx="2980944" cy="256032"/>
          </a:xfrm>
          <a:prstGeom prst="rect">
            <a:avLst/>
          </a:prstGeom>
          <a:noFill/>
          <a:ln/>
        </p:spPr>
        <p:txBody>
          <a:bodyPr wrap="square" lIns="0" tIns="0" rIns="0" bIns="0" rtlCol="0" anchor="ctr"/>
          <a:lstStyle/>
          <a:p>
            <a:pPr indent="0" marL="0">
              <a:buNone/>
            </a:pPr>
            <a:r>
              <a:rPr lang="en-US" sz="1100" b="1" dirty="0">
                <a:solidFill>
                  <a:srgbClr val="C8005A"/>
                </a:solidFill>
              </a:rPr>
              <a:t>Phase 2 · Conferences and engagement</a:t>
            </a:r>
            <a:endParaRPr lang="en-US" sz="1100" dirty="0"/>
          </a:p>
        </p:txBody>
      </p:sp>
      <p:sp>
        <p:nvSpPr>
          <p:cNvPr id="10" name="Shape 8"/>
          <p:cNvSpPr/>
          <p:nvPr/>
        </p:nvSpPr>
        <p:spPr>
          <a:xfrm>
            <a:off x="9905695" y="1728216"/>
            <a:ext cx="164592" cy="164592"/>
          </a:xfrm>
          <a:prstGeom prst="diamond">
            <a:avLst/>
          </a:prstGeom>
          <a:solidFill>
            <a:srgbClr val="000000"/>
          </a:solidFill>
          <a:ln w="12700">
            <a:solidFill>
              <a:srgbClr val="000000"/>
            </a:solidFill>
            <a:prstDash val="solid"/>
          </a:ln>
        </p:spPr>
      </p:sp>
      <p:sp>
        <p:nvSpPr>
          <p:cNvPr id="11" name="Text 9"/>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2" name="sprint-1"/>
          <p:cNvSpPr/>
          <p:nvPr/>
        </p:nvSpPr>
        <p:spPr>
          <a:xfrm>
            <a:off x="502920" y="2103120"/>
            <a:ext cx="1757629" cy="1901952"/>
          </a:xfrm>
          <a:prstGeom prst="roundRect">
            <a:avLst>
              <a:gd name="adj" fmla="val 5202"/>
            </a:avLst>
          </a:prstGeom>
          <a:solidFill>
            <a:srgbClr val="F2F2F2"/>
          </a:solidFill>
          <a:ln w="22225">
            <a:solidFill>
              <a:srgbClr val="00A9C0"/>
            </a:solidFill>
            <a:prstDash val="solid"/>
          </a:ln>
        </p:spPr>
      </p:sp>
      <p:sp>
        <p:nvSpPr>
          <p:cNvPr id="13" name="Text 11"/>
          <p:cNvSpPr txBox="1"/>
          <p:nvPr/>
        </p:nvSpPr>
        <p:spPr>
          <a:xfrm>
            <a:off x="640080" y="2221992"/>
            <a:ext cx="1483309"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1</a:t>
            </a:r>
            <a:endParaRPr lang="en-US" sz="1100" dirty="0"/>
          </a:p>
        </p:txBody>
      </p:sp>
      <p:sp>
        <p:nvSpPr>
          <p:cNvPr id="14" name="Text 12"/>
          <p:cNvSpPr txBox="1"/>
          <p:nvPr/>
        </p:nvSpPr>
        <p:spPr>
          <a:xfrm>
            <a:off x="640080"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1-2</a:t>
            </a:r>
            <a:endParaRPr lang="en-US" sz="1000" dirty="0"/>
          </a:p>
        </p:txBody>
      </p:sp>
      <p:sp>
        <p:nvSpPr>
          <p:cNvPr id="15" name="Text 13"/>
          <p:cNvSpPr txBox="1"/>
          <p:nvPr/>
        </p:nvSpPr>
        <p:spPr>
          <a:xfrm>
            <a:off x="640080"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Walkthrough, requirements, data model</a:t>
            </a:r>
            <a:endParaRPr lang="en-US" sz="1100" dirty="0"/>
          </a:p>
        </p:txBody>
      </p:sp>
      <p:sp>
        <p:nvSpPr>
          <p:cNvPr id="16" name="Shape 14"/>
          <p:cNvSpPr/>
          <p:nvPr/>
        </p:nvSpPr>
        <p:spPr>
          <a:xfrm>
            <a:off x="640080" y="3383280"/>
            <a:ext cx="1483309" cy="0"/>
          </a:xfrm>
          <a:prstGeom prst="line">
            <a:avLst/>
          </a:prstGeom>
          <a:noFill/>
          <a:ln w="9525">
            <a:solidFill>
              <a:srgbClr val="D0D0D6"/>
            </a:solidFill>
            <a:prstDash val="solid"/>
          </a:ln>
        </p:spPr>
      </p:sp>
      <p:sp>
        <p:nvSpPr>
          <p:cNvPr id="17" name="Shape 15"/>
          <p:cNvSpPr/>
          <p:nvPr/>
        </p:nvSpPr>
        <p:spPr>
          <a:xfrm>
            <a:off x="640080" y="3520440"/>
            <a:ext cx="155448" cy="155448"/>
          </a:xfrm>
          <a:prstGeom prst="diamond">
            <a:avLst/>
          </a:prstGeom>
          <a:solidFill>
            <a:srgbClr val="000000"/>
          </a:solidFill>
          <a:ln w="12700">
            <a:solidFill>
              <a:srgbClr val="000000"/>
            </a:solidFill>
            <a:prstDash val="solid"/>
          </a:ln>
        </p:spPr>
      </p:sp>
      <p:sp>
        <p:nvSpPr>
          <p:cNvPr id="18" name="Text 16"/>
          <p:cNvSpPr txBox="1"/>
          <p:nvPr/>
        </p:nvSpPr>
        <p:spPr>
          <a:xfrm>
            <a:off x="886968"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Design sign-off</a:t>
            </a:r>
            <a:endParaRPr lang="en-US" sz="1050" dirty="0"/>
          </a:p>
        </p:txBody>
      </p:sp>
      <p:sp>
        <p:nvSpPr>
          <p:cNvPr id="19" name="sprint-2"/>
          <p:cNvSpPr/>
          <p:nvPr/>
        </p:nvSpPr>
        <p:spPr>
          <a:xfrm>
            <a:off x="2388565" y="2103120"/>
            <a:ext cx="1757629" cy="1901952"/>
          </a:xfrm>
          <a:prstGeom prst="roundRect">
            <a:avLst>
              <a:gd name="adj" fmla="val 5202"/>
            </a:avLst>
          </a:prstGeom>
          <a:solidFill>
            <a:srgbClr val="F2F2F2"/>
          </a:solidFill>
          <a:ln w="22225">
            <a:solidFill>
              <a:srgbClr val="00A9C0"/>
            </a:solidFill>
            <a:prstDash val="solid"/>
          </a:ln>
        </p:spPr>
      </p:sp>
      <p:sp>
        <p:nvSpPr>
          <p:cNvPr id="20" name="Text 18"/>
          <p:cNvSpPr txBox="1"/>
          <p:nvPr/>
        </p:nvSpPr>
        <p:spPr>
          <a:xfrm>
            <a:off x="2525725" y="2221992"/>
            <a:ext cx="1483309"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2</a:t>
            </a:r>
            <a:endParaRPr lang="en-US" sz="1100" dirty="0"/>
          </a:p>
        </p:txBody>
      </p:sp>
      <p:sp>
        <p:nvSpPr>
          <p:cNvPr id="21" name="Text 19"/>
          <p:cNvSpPr txBox="1"/>
          <p:nvPr/>
        </p:nvSpPr>
        <p:spPr>
          <a:xfrm>
            <a:off x="2525725"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3-4</a:t>
            </a:r>
            <a:endParaRPr lang="en-US" sz="1000" dirty="0"/>
          </a:p>
        </p:txBody>
      </p:sp>
      <p:sp>
        <p:nvSpPr>
          <p:cNvPr id="22" name="Text 20"/>
          <p:cNvSpPr txBox="1"/>
          <p:nvPr/>
        </p:nvSpPr>
        <p:spPr>
          <a:xfrm>
            <a:off x="2525725"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Environments, CI/CD, security baseline, backlog</a:t>
            </a:r>
            <a:endParaRPr lang="en-US" sz="1100" dirty="0"/>
          </a:p>
        </p:txBody>
      </p:sp>
      <p:sp>
        <p:nvSpPr>
          <p:cNvPr id="23" name="Shape 21"/>
          <p:cNvSpPr/>
          <p:nvPr/>
        </p:nvSpPr>
        <p:spPr>
          <a:xfrm>
            <a:off x="2525725" y="3383280"/>
            <a:ext cx="1483309" cy="0"/>
          </a:xfrm>
          <a:prstGeom prst="line">
            <a:avLst/>
          </a:prstGeom>
          <a:noFill/>
          <a:ln w="9525">
            <a:solidFill>
              <a:srgbClr val="D0D0D6"/>
            </a:solidFill>
            <a:prstDash val="solid"/>
          </a:ln>
        </p:spPr>
      </p:sp>
      <p:sp>
        <p:nvSpPr>
          <p:cNvPr id="24" name="Shape 22"/>
          <p:cNvSpPr/>
          <p:nvPr/>
        </p:nvSpPr>
        <p:spPr>
          <a:xfrm>
            <a:off x="2525725" y="3520440"/>
            <a:ext cx="155448" cy="155448"/>
          </a:xfrm>
          <a:prstGeom prst="diamond">
            <a:avLst/>
          </a:prstGeom>
          <a:solidFill>
            <a:srgbClr val="000000"/>
          </a:solidFill>
          <a:ln w="12700">
            <a:solidFill>
              <a:srgbClr val="000000"/>
            </a:solidFill>
            <a:prstDash val="solid"/>
          </a:ln>
        </p:spPr>
      </p:sp>
      <p:sp>
        <p:nvSpPr>
          <p:cNvPr id="25" name="Text 23"/>
          <p:cNvSpPr txBox="1"/>
          <p:nvPr/>
        </p:nvSpPr>
        <p:spPr>
          <a:xfrm>
            <a:off x="2772613"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Architecture approved</a:t>
            </a:r>
            <a:endParaRPr lang="en-US" sz="1050" dirty="0"/>
          </a:p>
        </p:txBody>
      </p:sp>
      <p:sp>
        <p:nvSpPr>
          <p:cNvPr id="26" name="sprint-3"/>
          <p:cNvSpPr/>
          <p:nvPr/>
        </p:nvSpPr>
        <p:spPr>
          <a:xfrm>
            <a:off x="4274210" y="2103120"/>
            <a:ext cx="1757629" cy="1901952"/>
          </a:xfrm>
          <a:prstGeom prst="roundRect">
            <a:avLst>
              <a:gd name="adj" fmla="val 5202"/>
            </a:avLst>
          </a:prstGeom>
          <a:solidFill>
            <a:srgbClr val="F2F2F2"/>
          </a:solidFill>
          <a:ln w="22225">
            <a:solidFill>
              <a:srgbClr val="D9B200"/>
            </a:solidFill>
            <a:prstDash val="solid"/>
          </a:ln>
        </p:spPr>
      </p:sp>
      <p:sp>
        <p:nvSpPr>
          <p:cNvPr id="27" name="Text 25"/>
          <p:cNvSpPr txBox="1"/>
          <p:nvPr/>
        </p:nvSpPr>
        <p:spPr>
          <a:xfrm>
            <a:off x="4411370"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3</a:t>
            </a:r>
            <a:endParaRPr lang="en-US" sz="1100" dirty="0"/>
          </a:p>
        </p:txBody>
      </p:sp>
      <p:sp>
        <p:nvSpPr>
          <p:cNvPr id="28" name="Text 26"/>
          <p:cNvSpPr txBox="1"/>
          <p:nvPr/>
        </p:nvSpPr>
        <p:spPr>
          <a:xfrm>
            <a:off x="4411370"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5-6</a:t>
            </a:r>
            <a:endParaRPr lang="en-US" sz="1000" dirty="0"/>
          </a:p>
        </p:txBody>
      </p:sp>
      <p:sp>
        <p:nvSpPr>
          <p:cNvPr id="29" name="Text 27"/>
          <p:cNvSpPr txBox="1"/>
          <p:nvPr/>
        </p:nvSpPr>
        <p:spPr>
          <a:xfrm>
            <a:off x="4411370"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Event catalog and class listings on Sitecore</a:t>
            </a:r>
            <a:endParaRPr lang="en-US" sz="1100" dirty="0"/>
          </a:p>
        </p:txBody>
      </p:sp>
      <p:sp>
        <p:nvSpPr>
          <p:cNvPr id="30" name="Shape 28"/>
          <p:cNvSpPr/>
          <p:nvPr/>
        </p:nvSpPr>
        <p:spPr>
          <a:xfrm>
            <a:off x="4411370" y="3383280"/>
            <a:ext cx="1483309" cy="0"/>
          </a:xfrm>
          <a:prstGeom prst="line">
            <a:avLst/>
          </a:prstGeom>
          <a:noFill/>
          <a:ln w="9525">
            <a:solidFill>
              <a:srgbClr val="D0D0D6"/>
            </a:solidFill>
            <a:prstDash val="solid"/>
          </a:ln>
        </p:spPr>
      </p:sp>
      <p:sp>
        <p:nvSpPr>
          <p:cNvPr id="31" name="Shape 29"/>
          <p:cNvSpPr/>
          <p:nvPr/>
        </p:nvSpPr>
        <p:spPr>
          <a:xfrm>
            <a:off x="4411370" y="3520440"/>
            <a:ext cx="155448" cy="155448"/>
          </a:xfrm>
          <a:prstGeom prst="diamond">
            <a:avLst/>
          </a:prstGeom>
          <a:solidFill>
            <a:srgbClr val="000000"/>
          </a:solidFill>
          <a:ln w="12700">
            <a:solidFill>
              <a:srgbClr val="000000"/>
            </a:solidFill>
            <a:prstDash val="solid"/>
          </a:ln>
        </p:spPr>
      </p:sp>
      <p:sp>
        <p:nvSpPr>
          <p:cNvPr id="32" name="Text 30"/>
          <p:cNvSpPr txBox="1"/>
          <p:nvPr/>
        </p:nvSpPr>
        <p:spPr>
          <a:xfrm>
            <a:off x="4658258"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Classes browsable in test</a:t>
            </a:r>
            <a:endParaRPr lang="en-US" sz="1050" dirty="0"/>
          </a:p>
        </p:txBody>
      </p:sp>
      <p:sp>
        <p:nvSpPr>
          <p:cNvPr id="33" name="sprint-4"/>
          <p:cNvSpPr/>
          <p:nvPr/>
        </p:nvSpPr>
        <p:spPr>
          <a:xfrm>
            <a:off x="6159856" y="2103120"/>
            <a:ext cx="1757629" cy="1901952"/>
          </a:xfrm>
          <a:prstGeom prst="roundRect">
            <a:avLst>
              <a:gd name="adj" fmla="val 5202"/>
            </a:avLst>
          </a:prstGeom>
          <a:solidFill>
            <a:srgbClr val="F2F2F2"/>
          </a:solidFill>
          <a:ln w="22225">
            <a:solidFill>
              <a:srgbClr val="D9B200"/>
            </a:solidFill>
            <a:prstDash val="solid"/>
          </a:ln>
        </p:spPr>
      </p:sp>
      <p:sp>
        <p:nvSpPr>
          <p:cNvPr id="34" name="Text 32"/>
          <p:cNvSpPr txBox="1"/>
          <p:nvPr/>
        </p:nvSpPr>
        <p:spPr>
          <a:xfrm>
            <a:off x="6297016"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4</a:t>
            </a:r>
            <a:endParaRPr lang="en-US" sz="1100" dirty="0"/>
          </a:p>
        </p:txBody>
      </p:sp>
      <p:sp>
        <p:nvSpPr>
          <p:cNvPr id="35" name="Text 33"/>
          <p:cNvSpPr txBox="1"/>
          <p:nvPr/>
        </p:nvSpPr>
        <p:spPr>
          <a:xfrm>
            <a:off x="6297016"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7-8</a:t>
            </a:r>
            <a:endParaRPr lang="en-US" sz="1000" dirty="0"/>
          </a:p>
        </p:txBody>
      </p:sp>
      <p:sp>
        <p:nvSpPr>
          <p:cNvPr id="36" name="Text 34"/>
          <p:cNvSpPr txBox="1"/>
          <p:nvPr/>
        </p:nvSpPr>
        <p:spPr>
          <a:xfrm>
            <a:off x="6297016"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Registration, seat holds, waitlist</a:t>
            </a:r>
            <a:endParaRPr lang="en-US" sz="1100" dirty="0"/>
          </a:p>
        </p:txBody>
      </p:sp>
      <p:sp>
        <p:nvSpPr>
          <p:cNvPr id="37" name="Shape 35"/>
          <p:cNvSpPr/>
          <p:nvPr/>
        </p:nvSpPr>
        <p:spPr>
          <a:xfrm>
            <a:off x="6297016" y="3383280"/>
            <a:ext cx="1483309" cy="0"/>
          </a:xfrm>
          <a:prstGeom prst="line">
            <a:avLst/>
          </a:prstGeom>
          <a:noFill/>
          <a:ln w="9525">
            <a:solidFill>
              <a:srgbClr val="D0D0D6"/>
            </a:solidFill>
            <a:prstDash val="solid"/>
          </a:ln>
        </p:spPr>
      </p:sp>
      <p:sp>
        <p:nvSpPr>
          <p:cNvPr id="38" name="Shape 36"/>
          <p:cNvSpPr/>
          <p:nvPr/>
        </p:nvSpPr>
        <p:spPr>
          <a:xfrm>
            <a:off x="6297016" y="3520440"/>
            <a:ext cx="155448" cy="155448"/>
          </a:xfrm>
          <a:prstGeom prst="diamond">
            <a:avLst/>
          </a:prstGeom>
          <a:solidFill>
            <a:srgbClr val="000000"/>
          </a:solidFill>
          <a:ln w="12700">
            <a:solidFill>
              <a:srgbClr val="000000"/>
            </a:solidFill>
            <a:prstDash val="solid"/>
          </a:ln>
        </p:spPr>
      </p:sp>
      <p:sp>
        <p:nvSpPr>
          <p:cNvPr id="39" name="Text 37"/>
          <p:cNvSpPr txBox="1"/>
          <p:nvPr/>
        </p:nvSpPr>
        <p:spPr>
          <a:xfrm>
            <a:off x="6543904"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Registration demo</a:t>
            </a:r>
            <a:endParaRPr lang="en-US" sz="1050" dirty="0"/>
          </a:p>
        </p:txBody>
      </p:sp>
      <p:sp>
        <p:nvSpPr>
          <p:cNvPr id="40" name="sprint-5"/>
          <p:cNvSpPr/>
          <p:nvPr/>
        </p:nvSpPr>
        <p:spPr>
          <a:xfrm>
            <a:off x="8045501" y="2103120"/>
            <a:ext cx="1757629" cy="1901952"/>
          </a:xfrm>
          <a:prstGeom prst="roundRect">
            <a:avLst>
              <a:gd name="adj" fmla="val 5202"/>
            </a:avLst>
          </a:prstGeom>
          <a:solidFill>
            <a:srgbClr val="F2F2F2"/>
          </a:solidFill>
          <a:ln w="22225">
            <a:solidFill>
              <a:srgbClr val="D9B200"/>
            </a:solidFill>
            <a:prstDash val="solid"/>
          </a:ln>
        </p:spPr>
      </p:sp>
      <p:sp>
        <p:nvSpPr>
          <p:cNvPr id="41" name="Text 39"/>
          <p:cNvSpPr txBox="1"/>
          <p:nvPr/>
        </p:nvSpPr>
        <p:spPr>
          <a:xfrm>
            <a:off x="8182661"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5</a:t>
            </a:r>
            <a:endParaRPr lang="en-US" sz="1100" dirty="0"/>
          </a:p>
        </p:txBody>
      </p:sp>
      <p:sp>
        <p:nvSpPr>
          <p:cNvPr id="42" name="Text 40"/>
          <p:cNvSpPr txBox="1"/>
          <p:nvPr/>
        </p:nvSpPr>
        <p:spPr>
          <a:xfrm>
            <a:off x="8182661"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9-10</a:t>
            </a:r>
            <a:endParaRPr lang="en-US" sz="1000" dirty="0"/>
          </a:p>
        </p:txBody>
      </p:sp>
      <p:sp>
        <p:nvSpPr>
          <p:cNvPr id="43" name="Text 41"/>
          <p:cNvSpPr txBox="1"/>
          <p:nvPr/>
        </p:nvSpPr>
        <p:spPr>
          <a:xfrm>
            <a:off x="8182661"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Chase checkout, refunds, confirmation journeys</a:t>
            </a:r>
            <a:endParaRPr lang="en-US" sz="1100" dirty="0"/>
          </a:p>
        </p:txBody>
      </p:sp>
      <p:sp>
        <p:nvSpPr>
          <p:cNvPr id="44" name="Shape 42"/>
          <p:cNvSpPr/>
          <p:nvPr/>
        </p:nvSpPr>
        <p:spPr>
          <a:xfrm>
            <a:off x="8182661" y="3383280"/>
            <a:ext cx="1483309" cy="0"/>
          </a:xfrm>
          <a:prstGeom prst="line">
            <a:avLst/>
          </a:prstGeom>
          <a:noFill/>
          <a:ln w="9525">
            <a:solidFill>
              <a:srgbClr val="D0D0D6"/>
            </a:solidFill>
            <a:prstDash val="solid"/>
          </a:ln>
        </p:spPr>
      </p:sp>
      <p:sp>
        <p:nvSpPr>
          <p:cNvPr id="45" name="Shape 43"/>
          <p:cNvSpPr/>
          <p:nvPr/>
        </p:nvSpPr>
        <p:spPr>
          <a:xfrm>
            <a:off x="8182661" y="3520440"/>
            <a:ext cx="155448" cy="155448"/>
          </a:xfrm>
          <a:prstGeom prst="diamond">
            <a:avLst/>
          </a:prstGeom>
          <a:solidFill>
            <a:srgbClr val="000000"/>
          </a:solidFill>
          <a:ln w="12700">
            <a:solidFill>
              <a:srgbClr val="000000"/>
            </a:solidFill>
            <a:prstDash val="solid"/>
          </a:ln>
        </p:spPr>
      </p:sp>
      <p:sp>
        <p:nvSpPr>
          <p:cNvPr id="46" name="Text 44"/>
          <p:cNvSpPr txBox="1"/>
          <p:nvPr/>
        </p:nvSpPr>
        <p:spPr>
          <a:xfrm>
            <a:off x="8429549"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Pay and confirm end to end</a:t>
            </a:r>
            <a:endParaRPr lang="en-US" sz="1050" dirty="0"/>
          </a:p>
        </p:txBody>
      </p:sp>
      <p:sp>
        <p:nvSpPr>
          <p:cNvPr id="47" name="sprint-6"/>
          <p:cNvSpPr/>
          <p:nvPr/>
        </p:nvSpPr>
        <p:spPr>
          <a:xfrm>
            <a:off x="9931146" y="2103120"/>
            <a:ext cx="1757629" cy="1901952"/>
          </a:xfrm>
          <a:prstGeom prst="roundRect">
            <a:avLst>
              <a:gd name="adj" fmla="val 5202"/>
            </a:avLst>
          </a:prstGeom>
          <a:solidFill>
            <a:srgbClr val="F2F2F2"/>
          </a:solidFill>
          <a:ln w="22225">
            <a:solidFill>
              <a:srgbClr val="D9B200"/>
            </a:solidFill>
            <a:prstDash val="solid"/>
          </a:ln>
        </p:spPr>
      </p:sp>
      <p:sp>
        <p:nvSpPr>
          <p:cNvPr id="48" name="Text 46"/>
          <p:cNvSpPr txBox="1"/>
          <p:nvPr/>
        </p:nvSpPr>
        <p:spPr>
          <a:xfrm>
            <a:off x="10068306" y="2221992"/>
            <a:ext cx="1483309"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6</a:t>
            </a:r>
            <a:endParaRPr lang="en-US" sz="1100" dirty="0"/>
          </a:p>
        </p:txBody>
      </p:sp>
      <p:sp>
        <p:nvSpPr>
          <p:cNvPr id="49" name="Text 47"/>
          <p:cNvSpPr txBox="1"/>
          <p:nvPr/>
        </p:nvSpPr>
        <p:spPr>
          <a:xfrm>
            <a:off x="10068306" y="2450592"/>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11-12</a:t>
            </a:r>
            <a:endParaRPr lang="en-US" sz="1000" dirty="0"/>
          </a:p>
        </p:txBody>
      </p:sp>
      <p:sp>
        <p:nvSpPr>
          <p:cNvPr id="50" name="Text 48"/>
          <p:cNvSpPr txBox="1"/>
          <p:nvPr/>
        </p:nvSpPr>
        <p:spPr>
          <a:xfrm>
            <a:off x="10068306" y="2706624"/>
            <a:ext cx="1483309" cy="603504"/>
          </a:xfrm>
          <a:prstGeom prst="rect">
            <a:avLst/>
          </a:prstGeom>
          <a:noFill/>
          <a:ln/>
        </p:spPr>
        <p:txBody>
          <a:bodyPr wrap="square" lIns="0" tIns="0" rIns="0" bIns="0" rtlCol="0" anchor="t"/>
          <a:lstStyle/>
          <a:p>
            <a:pPr indent="0" marL="0">
              <a:buNone/>
            </a:pPr>
            <a:r>
              <a:rPr lang="en-US" sz="1100" dirty="0">
                <a:solidFill>
                  <a:srgbClr val="000000"/>
                </a:solidFill>
              </a:rPr>
              <a:t>QR check-in, reporting, My MH app entry, load test</a:t>
            </a:r>
            <a:endParaRPr lang="en-US" sz="1100" dirty="0"/>
          </a:p>
        </p:txBody>
      </p:sp>
      <p:sp>
        <p:nvSpPr>
          <p:cNvPr id="51" name="Shape 49"/>
          <p:cNvSpPr/>
          <p:nvPr/>
        </p:nvSpPr>
        <p:spPr>
          <a:xfrm>
            <a:off x="10068306" y="3383280"/>
            <a:ext cx="1483309" cy="0"/>
          </a:xfrm>
          <a:prstGeom prst="line">
            <a:avLst/>
          </a:prstGeom>
          <a:noFill/>
          <a:ln w="9525">
            <a:solidFill>
              <a:srgbClr val="D0D0D6"/>
            </a:solidFill>
            <a:prstDash val="solid"/>
          </a:ln>
        </p:spPr>
      </p:sp>
      <p:sp>
        <p:nvSpPr>
          <p:cNvPr id="52" name="Shape 50"/>
          <p:cNvSpPr/>
          <p:nvPr/>
        </p:nvSpPr>
        <p:spPr>
          <a:xfrm>
            <a:off x="10068306" y="3520440"/>
            <a:ext cx="155448" cy="155448"/>
          </a:xfrm>
          <a:prstGeom prst="diamond">
            <a:avLst/>
          </a:prstGeom>
          <a:solidFill>
            <a:srgbClr val="000000"/>
          </a:solidFill>
          <a:ln w="12700">
            <a:solidFill>
              <a:srgbClr val="000000"/>
            </a:solidFill>
            <a:prstDash val="solid"/>
          </a:ln>
        </p:spPr>
      </p:sp>
      <p:sp>
        <p:nvSpPr>
          <p:cNvPr id="53" name="Text 51"/>
          <p:cNvSpPr txBox="1"/>
          <p:nvPr/>
        </p:nvSpPr>
        <p:spPr>
          <a:xfrm>
            <a:off x="10315194" y="3456432"/>
            <a:ext cx="1254709" cy="457200"/>
          </a:xfrm>
          <a:prstGeom prst="rect">
            <a:avLst/>
          </a:prstGeom>
          <a:noFill/>
          <a:ln/>
        </p:spPr>
        <p:txBody>
          <a:bodyPr wrap="square" lIns="0" tIns="0" rIns="0" bIns="0" rtlCol="0" anchor="t"/>
          <a:lstStyle/>
          <a:p>
            <a:pPr indent="0" marL="0">
              <a:buNone/>
            </a:pPr>
            <a:r>
              <a:rPr lang="en-US" sz="1050" b="1" dirty="0">
                <a:solidFill>
                  <a:srgbClr val="000000"/>
                </a:solidFill>
              </a:rPr>
              <a:t>User testing starts</a:t>
            </a:r>
            <a:endParaRPr lang="en-US" sz="1050" dirty="0"/>
          </a:p>
        </p:txBody>
      </p:sp>
      <p:sp>
        <p:nvSpPr>
          <p:cNvPr id="54" name="sprint-7"/>
          <p:cNvSpPr/>
          <p:nvPr/>
        </p:nvSpPr>
        <p:spPr>
          <a:xfrm>
            <a:off x="502920" y="4151376"/>
            <a:ext cx="1757629" cy="1901952"/>
          </a:xfrm>
          <a:prstGeom prst="roundRect">
            <a:avLst>
              <a:gd name="adj" fmla="val 5202"/>
            </a:avLst>
          </a:prstGeom>
          <a:solidFill>
            <a:srgbClr val="000000"/>
          </a:solidFill>
          <a:ln w="22225">
            <a:solidFill>
              <a:srgbClr val="D9B200"/>
            </a:solidFill>
            <a:prstDash val="solid"/>
          </a:ln>
        </p:spPr>
      </p:sp>
      <p:sp>
        <p:nvSpPr>
          <p:cNvPr id="55" name="Text 53"/>
          <p:cNvSpPr txBox="1"/>
          <p:nvPr/>
        </p:nvSpPr>
        <p:spPr>
          <a:xfrm>
            <a:off x="640080" y="4270248"/>
            <a:ext cx="1483309" cy="219456"/>
          </a:xfrm>
          <a:prstGeom prst="rect">
            <a:avLst/>
          </a:prstGeom>
          <a:noFill/>
          <a:ln/>
        </p:spPr>
        <p:txBody>
          <a:bodyPr wrap="square" lIns="0" tIns="0" rIns="0" bIns="0" rtlCol="0" anchor="t"/>
          <a:lstStyle/>
          <a:p>
            <a:pPr indent="0" marL="0">
              <a:buNone/>
            </a:pPr>
            <a:r>
              <a:rPr lang="en-US" sz="1100" b="1" spc="200" kern="0" dirty="0">
                <a:solidFill>
                  <a:srgbClr val="D9B200"/>
                </a:solidFill>
              </a:rPr>
              <a:t>SPRINT 7</a:t>
            </a:r>
            <a:endParaRPr lang="en-US" sz="1100" dirty="0"/>
          </a:p>
        </p:txBody>
      </p:sp>
      <p:sp>
        <p:nvSpPr>
          <p:cNvPr id="56" name="Text 54"/>
          <p:cNvSpPr txBox="1"/>
          <p:nvPr/>
        </p:nvSpPr>
        <p:spPr>
          <a:xfrm>
            <a:off x="640080" y="4498848"/>
            <a:ext cx="1483309" cy="201168"/>
          </a:xfrm>
          <a:prstGeom prst="rect">
            <a:avLst/>
          </a:prstGeom>
          <a:noFill/>
          <a:ln/>
        </p:spPr>
        <p:txBody>
          <a:bodyPr wrap="square" lIns="0" tIns="0" rIns="0" bIns="0" rtlCol="0" anchor="t"/>
          <a:lstStyle/>
          <a:p>
            <a:pPr indent="0" marL="0">
              <a:buNone/>
            </a:pPr>
            <a:r>
              <a:rPr lang="en-US" sz="1000" dirty="0">
                <a:solidFill>
                  <a:srgbClr val="D9D9D9"/>
                </a:solidFill>
              </a:rPr>
              <a:t>Weeks 13-14</a:t>
            </a:r>
            <a:endParaRPr lang="en-US" sz="1000" dirty="0"/>
          </a:p>
        </p:txBody>
      </p:sp>
      <p:sp>
        <p:nvSpPr>
          <p:cNvPr id="57" name="Text 55"/>
          <p:cNvSpPr txBox="1"/>
          <p:nvPr/>
        </p:nvSpPr>
        <p:spPr>
          <a:xfrm>
            <a:off x="640080" y="4754880"/>
            <a:ext cx="1483309" cy="603504"/>
          </a:xfrm>
          <a:prstGeom prst="rect">
            <a:avLst/>
          </a:prstGeom>
          <a:noFill/>
          <a:ln/>
        </p:spPr>
        <p:txBody>
          <a:bodyPr wrap="square" lIns="0" tIns="0" rIns="0" bIns="0" rtlCol="0" anchor="t"/>
          <a:lstStyle/>
          <a:p>
            <a:pPr indent="0" marL="0">
              <a:buNone/>
            </a:pPr>
            <a:r>
              <a:rPr lang="en-US" sz="1100" dirty="0">
                <a:solidFill>
                  <a:srgbClr val="FFFFFF"/>
                </a:solidFill>
              </a:rPr>
              <a:t>User testing, move upcoming classes, go-live</a:t>
            </a:r>
            <a:endParaRPr lang="en-US" sz="1100" dirty="0"/>
          </a:p>
        </p:txBody>
      </p:sp>
      <p:sp>
        <p:nvSpPr>
          <p:cNvPr id="58" name="Shape 56"/>
          <p:cNvSpPr/>
          <p:nvPr/>
        </p:nvSpPr>
        <p:spPr>
          <a:xfrm>
            <a:off x="640080" y="5431536"/>
            <a:ext cx="1483309" cy="0"/>
          </a:xfrm>
          <a:prstGeom prst="line">
            <a:avLst/>
          </a:prstGeom>
          <a:noFill/>
          <a:ln w="9525">
            <a:solidFill>
              <a:srgbClr val="555555"/>
            </a:solidFill>
            <a:prstDash val="solid"/>
          </a:ln>
        </p:spPr>
      </p:sp>
      <p:sp>
        <p:nvSpPr>
          <p:cNvPr id="59" name="Shape 57"/>
          <p:cNvSpPr/>
          <p:nvPr/>
        </p:nvSpPr>
        <p:spPr>
          <a:xfrm>
            <a:off x="640080" y="5568696"/>
            <a:ext cx="155448" cy="155448"/>
          </a:xfrm>
          <a:prstGeom prst="diamond">
            <a:avLst/>
          </a:prstGeom>
          <a:solidFill>
            <a:srgbClr val="D9B200"/>
          </a:solidFill>
          <a:ln w="12700">
            <a:solidFill>
              <a:srgbClr val="D9B200"/>
            </a:solidFill>
            <a:prstDash val="solid"/>
          </a:ln>
        </p:spPr>
      </p:sp>
      <p:sp>
        <p:nvSpPr>
          <p:cNvPr id="60" name="Text 58"/>
          <p:cNvSpPr txBox="1"/>
          <p:nvPr/>
        </p:nvSpPr>
        <p:spPr>
          <a:xfrm>
            <a:off x="886968" y="5504688"/>
            <a:ext cx="1254709" cy="457200"/>
          </a:xfrm>
          <a:prstGeom prst="rect">
            <a:avLst/>
          </a:prstGeom>
          <a:noFill/>
          <a:ln/>
        </p:spPr>
        <p:txBody>
          <a:bodyPr wrap="square" lIns="0" tIns="0" rIns="0" bIns="0" rtlCol="0" anchor="t"/>
          <a:lstStyle/>
          <a:p>
            <a:pPr indent="0" marL="0">
              <a:buNone/>
            </a:pPr>
            <a:r>
              <a:rPr lang="en-US" sz="1050" b="1" dirty="0">
                <a:solidFill>
                  <a:srgbClr val="FFFFFF"/>
                </a:solidFill>
              </a:rPr>
              <a:t>Phase 1 live</a:t>
            </a:r>
            <a:endParaRPr lang="en-US" sz="1050" dirty="0"/>
          </a:p>
        </p:txBody>
      </p:sp>
      <p:sp>
        <p:nvSpPr>
          <p:cNvPr id="61" name="sprint-8"/>
          <p:cNvSpPr/>
          <p:nvPr/>
        </p:nvSpPr>
        <p:spPr>
          <a:xfrm>
            <a:off x="2388565" y="4151376"/>
            <a:ext cx="1757629" cy="1901952"/>
          </a:xfrm>
          <a:prstGeom prst="roundRect">
            <a:avLst>
              <a:gd name="adj" fmla="val 5202"/>
            </a:avLst>
          </a:prstGeom>
          <a:solidFill>
            <a:srgbClr val="F2F2F2"/>
          </a:solidFill>
          <a:ln w="22225">
            <a:solidFill>
              <a:srgbClr val="FF0068"/>
            </a:solidFill>
            <a:prstDash val="solid"/>
          </a:ln>
        </p:spPr>
      </p:sp>
      <p:sp>
        <p:nvSpPr>
          <p:cNvPr id="62" name="Text 60"/>
          <p:cNvSpPr txBox="1"/>
          <p:nvPr/>
        </p:nvSpPr>
        <p:spPr>
          <a:xfrm>
            <a:off x="2525725"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8</a:t>
            </a:r>
            <a:endParaRPr lang="en-US" sz="1100" dirty="0"/>
          </a:p>
        </p:txBody>
      </p:sp>
      <p:sp>
        <p:nvSpPr>
          <p:cNvPr id="63" name="Text 61"/>
          <p:cNvSpPr txBox="1"/>
          <p:nvPr/>
        </p:nvSpPr>
        <p:spPr>
          <a:xfrm>
            <a:off x="2525725"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15-16</a:t>
            </a:r>
            <a:endParaRPr lang="en-US" sz="1000" dirty="0"/>
          </a:p>
        </p:txBody>
      </p:sp>
      <p:sp>
        <p:nvSpPr>
          <p:cNvPr id="64" name="Text 62"/>
          <p:cNvSpPr txBox="1"/>
          <p:nvPr/>
        </p:nvSpPr>
        <p:spPr>
          <a:xfrm>
            <a:off x="2525725"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Sessions, tracks, rooms and speakers</a:t>
            </a:r>
            <a:endParaRPr lang="en-US" sz="1100" dirty="0"/>
          </a:p>
        </p:txBody>
      </p:sp>
      <p:sp>
        <p:nvSpPr>
          <p:cNvPr id="65" name="Shape 63"/>
          <p:cNvSpPr/>
          <p:nvPr/>
        </p:nvSpPr>
        <p:spPr>
          <a:xfrm>
            <a:off x="2525725" y="5431536"/>
            <a:ext cx="1483309" cy="0"/>
          </a:xfrm>
          <a:prstGeom prst="line">
            <a:avLst/>
          </a:prstGeom>
          <a:noFill/>
          <a:ln w="9525">
            <a:solidFill>
              <a:srgbClr val="D0D0D6"/>
            </a:solidFill>
            <a:prstDash val="solid"/>
          </a:ln>
        </p:spPr>
      </p:sp>
      <p:sp>
        <p:nvSpPr>
          <p:cNvPr id="66" name="Shape 64"/>
          <p:cNvSpPr/>
          <p:nvPr/>
        </p:nvSpPr>
        <p:spPr>
          <a:xfrm>
            <a:off x="2525725" y="5568696"/>
            <a:ext cx="155448" cy="155448"/>
          </a:xfrm>
          <a:prstGeom prst="diamond">
            <a:avLst/>
          </a:prstGeom>
          <a:solidFill>
            <a:srgbClr val="000000"/>
          </a:solidFill>
          <a:ln w="12700">
            <a:solidFill>
              <a:srgbClr val="000000"/>
            </a:solidFill>
            <a:prstDash val="solid"/>
          </a:ln>
        </p:spPr>
      </p:sp>
      <p:sp>
        <p:nvSpPr>
          <p:cNvPr id="67" name="Text 65"/>
          <p:cNvSpPr txBox="1"/>
          <p:nvPr/>
        </p:nvSpPr>
        <p:spPr>
          <a:xfrm>
            <a:off x="2772613"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Conference build demo</a:t>
            </a:r>
            <a:endParaRPr lang="en-US" sz="1050" dirty="0"/>
          </a:p>
        </p:txBody>
      </p:sp>
      <p:sp>
        <p:nvSpPr>
          <p:cNvPr id="68" name="sprint-9"/>
          <p:cNvSpPr/>
          <p:nvPr/>
        </p:nvSpPr>
        <p:spPr>
          <a:xfrm>
            <a:off x="4274210" y="4151376"/>
            <a:ext cx="1757629" cy="1901952"/>
          </a:xfrm>
          <a:prstGeom prst="roundRect">
            <a:avLst>
              <a:gd name="adj" fmla="val 5202"/>
            </a:avLst>
          </a:prstGeom>
          <a:solidFill>
            <a:srgbClr val="F2F2F2"/>
          </a:solidFill>
          <a:ln w="22225">
            <a:solidFill>
              <a:srgbClr val="FF0068"/>
            </a:solidFill>
            <a:prstDash val="solid"/>
          </a:ln>
        </p:spPr>
      </p:sp>
      <p:sp>
        <p:nvSpPr>
          <p:cNvPr id="69" name="Text 67"/>
          <p:cNvSpPr txBox="1"/>
          <p:nvPr/>
        </p:nvSpPr>
        <p:spPr>
          <a:xfrm>
            <a:off x="4411370"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9</a:t>
            </a:r>
            <a:endParaRPr lang="en-US" sz="1100" dirty="0"/>
          </a:p>
        </p:txBody>
      </p:sp>
      <p:sp>
        <p:nvSpPr>
          <p:cNvPr id="70" name="Text 68"/>
          <p:cNvSpPr txBox="1"/>
          <p:nvPr/>
        </p:nvSpPr>
        <p:spPr>
          <a:xfrm>
            <a:off x="4411370"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17-18</a:t>
            </a:r>
            <a:endParaRPr lang="en-US" sz="1000" dirty="0"/>
          </a:p>
        </p:txBody>
      </p:sp>
      <p:sp>
        <p:nvSpPr>
          <p:cNvPr id="71" name="Text 69"/>
          <p:cNvSpPr txBox="1"/>
          <p:nvPr/>
        </p:nvSpPr>
        <p:spPr>
          <a:xfrm>
            <a:off x="4411370"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My Agenda portal, ticket types, Authorize.net</a:t>
            </a:r>
            <a:endParaRPr lang="en-US" sz="1100" dirty="0"/>
          </a:p>
        </p:txBody>
      </p:sp>
      <p:sp>
        <p:nvSpPr>
          <p:cNvPr id="72" name="Shape 70"/>
          <p:cNvSpPr/>
          <p:nvPr/>
        </p:nvSpPr>
        <p:spPr>
          <a:xfrm>
            <a:off x="4411370" y="5431536"/>
            <a:ext cx="1483309" cy="0"/>
          </a:xfrm>
          <a:prstGeom prst="line">
            <a:avLst/>
          </a:prstGeom>
          <a:noFill/>
          <a:ln w="9525">
            <a:solidFill>
              <a:srgbClr val="D0D0D6"/>
            </a:solidFill>
            <a:prstDash val="solid"/>
          </a:ln>
        </p:spPr>
      </p:sp>
      <p:sp>
        <p:nvSpPr>
          <p:cNvPr id="73" name="Shape 71"/>
          <p:cNvSpPr/>
          <p:nvPr/>
        </p:nvSpPr>
        <p:spPr>
          <a:xfrm>
            <a:off x="4411370" y="5568696"/>
            <a:ext cx="155448" cy="155448"/>
          </a:xfrm>
          <a:prstGeom prst="diamond">
            <a:avLst/>
          </a:prstGeom>
          <a:solidFill>
            <a:srgbClr val="000000"/>
          </a:solidFill>
          <a:ln w="12700">
            <a:solidFill>
              <a:srgbClr val="000000"/>
            </a:solidFill>
            <a:prstDash val="solid"/>
          </a:ln>
        </p:spPr>
      </p:sp>
      <p:sp>
        <p:nvSpPr>
          <p:cNvPr id="74" name="Text 72"/>
          <p:cNvSpPr txBox="1"/>
          <p:nvPr/>
        </p:nvSpPr>
        <p:spPr>
          <a:xfrm>
            <a:off x="4658258"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Attendee portal demo</a:t>
            </a:r>
            <a:endParaRPr lang="en-US" sz="1050" dirty="0"/>
          </a:p>
        </p:txBody>
      </p:sp>
      <p:sp>
        <p:nvSpPr>
          <p:cNvPr id="75" name="sprint-10"/>
          <p:cNvSpPr/>
          <p:nvPr/>
        </p:nvSpPr>
        <p:spPr>
          <a:xfrm>
            <a:off x="6159856" y="4151376"/>
            <a:ext cx="1757629" cy="1901952"/>
          </a:xfrm>
          <a:prstGeom prst="roundRect">
            <a:avLst>
              <a:gd name="adj" fmla="val 5202"/>
            </a:avLst>
          </a:prstGeom>
          <a:solidFill>
            <a:srgbClr val="F2F2F2"/>
          </a:solidFill>
          <a:ln w="22225">
            <a:solidFill>
              <a:srgbClr val="FF0068"/>
            </a:solidFill>
            <a:prstDash val="solid"/>
          </a:ln>
        </p:spPr>
      </p:sp>
      <p:sp>
        <p:nvSpPr>
          <p:cNvPr id="76" name="Text 74"/>
          <p:cNvSpPr txBox="1"/>
          <p:nvPr/>
        </p:nvSpPr>
        <p:spPr>
          <a:xfrm>
            <a:off x="6297016"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10</a:t>
            </a:r>
            <a:endParaRPr lang="en-US" sz="1100" dirty="0"/>
          </a:p>
        </p:txBody>
      </p:sp>
      <p:sp>
        <p:nvSpPr>
          <p:cNvPr id="77" name="Text 75"/>
          <p:cNvSpPr txBox="1"/>
          <p:nvPr/>
        </p:nvSpPr>
        <p:spPr>
          <a:xfrm>
            <a:off x="6297016"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19-20</a:t>
            </a:r>
            <a:endParaRPr lang="en-US" sz="1000" dirty="0"/>
          </a:p>
        </p:txBody>
      </p:sp>
      <p:sp>
        <p:nvSpPr>
          <p:cNvPr id="78" name="Text 76"/>
          <p:cNvSpPr txBox="1"/>
          <p:nvPr/>
        </p:nvSpPr>
        <p:spPr>
          <a:xfrm>
            <a:off x="6297016"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Badges, CME [to confirm], PEI journeys</a:t>
            </a:r>
            <a:endParaRPr lang="en-US" sz="1100" dirty="0"/>
          </a:p>
        </p:txBody>
      </p:sp>
      <p:sp>
        <p:nvSpPr>
          <p:cNvPr id="79" name="Shape 77"/>
          <p:cNvSpPr/>
          <p:nvPr/>
        </p:nvSpPr>
        <p:spPr>
          <a:xfrm>
            <a:off x="6297016" y="5431536"/>
            <a:ext cx="1483309" cy="0"/>
          </a:xfrm>
          <a:prstGeom prst="line">
            <a:avLst/>
          </a:prstGeom>
          <a:noFill/>
          <a:ln w="9525">
            <a:solidFill>
              <a:srgbClr val="D0D0D6"/>
            </a:solidFill>
            <a:prstDash val="solid"/>
          </a:ln>
        </p:spPr>
      </p:sp>
      <p:sp>
        <p:nvSpPr>
          <p:cNvPr id="80" name="Shape 78"/>
          <p:cNvSpPr/>
          <p:nvPr/>
        </p:nvSpPr>
        <p:spPr>
          <a:xfrm>
            <a:off x="6297016" y="5568696"/>
            <a:ext cx="155448" cy="155448"/>
          </a:xfrm>
          <a:prstGeom prst="diamond">
            <a:avLst/>
          </a:prstGeom>
          <a:solidFill>
            <a:srgbClr val="000000"/>
          </a:solidFill>
          <a:ln w="12700">
            <a:solidFill>
              <a:srgbClr val="000000"/>
            </a:solidFill>
            <a:prstDash val="solid"/>
          </a:ln>
        </p:spPr>
      </p:sp>
      <p:sp>
        <p:nvSpPr>
          <p:cNvPr id="81" name="Text 79"/>
          <p:cNvSpPr txBox="1"/>
          <p:nvPr/>
        </p:nvSpPr>
        <p:spPr>
          <a:xfrm>
            <a:off x="6543904"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Engagement journeys pilot</a:t>
            </a:r>
            <a:endParaRPr lang="en-US" sz="1050" dirty="0"/>
          </a:p>
        </p:txBody>
      </p:sp>
      <p:sp>
        <p:nvSpPr>
          <p:cNvPr id="82" name="sprint-11"/>
          <p:cNvSpPr/>
          <p:nvPr/>
        </p:nvSpPr>
        <p:spPr>
          <a:xfrm>
            <a:off x="8045501" y="4151376"/>
            <a:ext cx="1757629" cy="1901952"/>
          </a:xfrm>
          <a:prstGeom prst="roundRect">
            <a:avLst>
              <a:gd name="adj" fmla="val 5202"/>
            </a:avLst>
          </a:prstGeom>
          <a:solidFill>
            <a:srgbClr val="F2F2F2"/>
          </a:solidFill>
          <a:ln w="22225">
            <a:solidFill>
              <a:srgbClr val="FF0068"/>
            </a:solidFill>
            <a:prstDash val="solid"/>
          </a:ln>
        </p:spPr>
      </p:sp>
      <p:sp>
        <p:nvSpPr>
          <p:cNvPr id="83" name="Text 81"/>
          <p:cNvSpPr txBox="1"/>
          <p:nvPr/>
        </p:nvSpPr>
        <p:spPr>
          <a:xfrm>
            <a:off x="8182661" y="4270248"/>
            <a:ext cx="1483309"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11</a:t>
            </a:r>
            <a:endParaRPr lang="en-US" sz="1100" dirty="0"/>
          </a:p>
        </p:txBody>
      </p:sp>
      <p:sp>
        <p:nvSpPr>
          <p:cNvPr id="84" name="Text 82"/>
          <p:cNvSpPr txBox="1"/>
          <p:nvPr/>
        </p:nvSpPr>
        <p:spPr>
          <a:xfrm>
            <a:off x="8182661" y="4498848"/>
            <a:ext cx="1483309" cy="201168"/>
          </a:xfrm>
          <a:prstGeom prst="rect">
            <a:avLst/>
          </a:prstGeom>
          <a:noFill/>
          <a:ln/>
        </p:spPr>
        <p:txBody>
          <a:bodyPr wrap="square" lIns="0" tIns="0" rIns="0" bIns="0" rtlCol="0" anchor="t"/>
          <a:lstStyle/>
          <a:p>
            <a:pPr indent="0" marL="0">
              <a:buNone/>
            </a:pPr>
            <a:r>
              <a:rPr lang="en-US" sz="1000" dirty="0">
                <a:solidFill>
                  <a:srgbClr val="4D4D4D"/>
                </a:solidFill>
              </a:rPr>
              <a:t>Weeks 21-22</a:t>
            </a:r>
            <a:endParaRPr lang="en-US" sz="1000" dirty="0"/>
          </a:p>
        </p:txBody>
      </p:sp>
      <p:sp>
        <p:nvSpPr>
          <p:cNvPr id="85" name="Text 83"/>
          <p:cNvSpPr txBox="1"/>
          <p:nvPr/>
        </p:nvSpPr>
        <p:spPr>
          <a:xfrm>
            <a:off x="8182661" y="4754880"/>
            <a:ext cx="1483309" cy="603504"/>
          </a:xfrm>
          <a:prstGeom prst="rect">
            <a:avLst/>
          </a:prstGeom>
          <a:noFill/>
          <a:ln/>
        </p:spPr>
        <p:txBody>
          <a:bodyPr wrap="square" lIns="0" tIns="0" rIns="0" bIns="0" rtlCol="0" anchor="t"/>
          <a:lstStyle/>
          <a:p>
            <a:pPr indent="0" marL="0">
              <a:buNone/>
            </a:pPr>
            <a:r>
              <a:rPr lang="en-US" sz="1100" dirty="0">
                <a:solidFill>
                  <a:srgbClr val="000000"/>
                </a:solidFill>
              </a:rPr>
              <a:t>Certain data migration, load test, user testing</a:t>
            </a:r>
            <a:endParaRPr lang="en-US" sz="1100" dirty="0"/>
          </a:p>
        </p:txBody>
      </p:sp>
      <p:sp>
        <p:nvSpPr>
          <p:cNvPr id="86" name="Shape 84"/>
          <p:cNvSpPr/>
          <p:nvPr/>
        </p:nvSpPr>
        <p:spPr>
          <a:xfrm>
            <a:off x="8182661" y="5431536"/>
            <a:ext cx="1483309" cy="0"/>
          </a:xfrm>
          <a:prstGeom prst="line">
            <a:avLst/>
          </a:prstGeom>
          <a:noFill/>
          <a:ln w="9525">
            <a:solidFill>
              <a:srgbClr val="D0D0D6"/>
            </a:solidFill>
            <a:prstDash val="solid"/>
          </a:ln>
        </p:spPr>
      </p:sp>
      <p:sp>
        <p:nvSpPr>
          <p:cNvPr id="87" name="Shape 85"/>
          <p:cNvSpPr/>
          <p:nvPr/>
        </p:nvSpPr>
        <p:spPr>
          <a:xfrm>
            <a:off x="8182661" y="5568696"/>
            <a:ext cx="155448" cy="155448"/>
          </a:xfrm>
          <a:prstGeom prst="diamond">
            <a:avLst/>
          </a:prstGeom>
          <a:solidFill>
            <a:srgbClr val="000000"/>
          </a:solidFill>
          <a:ln w="12700">
            <a:solidFill>
              <a:srgbClr val="000000"/>
            </a:solidFill>
            <a:prstDash val="solid"/>
          </a:ln>
        </p:spPr>
      </p:sp>
      <p:sp>
        <p:nvSpPr>
          <p:cNvPr id="88" name="Text 86"/>
          <p:cNvSpPr txBox="1"/>
          <p:nvPr/>
        </p:nvSpPr>
        <p:spPr>
          <a:xfrm>
            <a:off x="8429549" y="5504688"/>
            <a:ext cx="1254709" cy="457200"/>
          </a:xfrm>
          <a:prstGeom prst="rect">
            <a:avLst/>
          </a:prstGeom>
          <a:noFill/>
          <a:ln/>
        </p:spPr>
        <p:txBody>
          <a:bodyPr wrap="square" lIns="0" tIns="0" rIns="0" bIns="0" rtlCol="0" anchor="t"/>
          <a:lstStyle/>
          <a:p>
            <a:pPr indent="0" marL="0">
              <a:buNone/>
            </a:pPr>
            <a:r>
              <a:rPr lang="en-US" sz="1050" b="1" dirty="0">
                <a:solidFill>
                  <a:srgbClr val="000000"/>
                </a:solidFill>
              </a:rPr>
              <a:t>Testing sign-off</a:t>
            </a:r>
            <a:endParaRPr lang="en-US" sz="1050" dirty="0"/>
          </a:p>
        </p:txBody>
      </p:sp>
      <p:sp>
        <p:nvSpPr>
          <p:cNvPr id="89" name="sprint-12"/>
          <p:cNvSpPr/>
          <p:nvPr/>
        </p:nvSpPr>
        <p:spPr>
          <a:xfrm>
            <a:off x="9931146" y="4151376"/>
            <a:ext cx="1757629" cy="1901952"/>
          </a:xfrm>
          <a:prstGeom prst="roundRect">
            <a:avLst>
              <a:gd name="adj" fmla="val 5202"/>
            </a:avLst>
          </a:prstGeom>
          <a:solidFill>
            <a:srgbClr val="000000"/>
          </a:solidFill>
          <a:ln w="22225">
            <a:solidFill>
              <a:srgbClr val="FF0068"/>
            </a:solidFill>
            <a:prstDash val="solid"/>
          </a:ln>
        </p:spPr>
      </p:sp>
      <p:sp>
        <p:nvSpPr>
          <p:cNvPr id="90" name="Text 88"/>
          <p:cNvSpPr txBox="1"/>
          <p:nvPr/>
        </p:nvSpPr>
        <p:spPr>
          <a:xfrm>
            <a:off x="10068306" y="4270248"/>
            <a:ext cx="1483309" cy="219456"/>
          </a:xfrm>
          <a:prstGeom prst="rect">
            <a:avLst/>
          </a:prstGeom>
          <a:noFill/>
          <a:ln/>
        </p:spPr>
        <p:txBody>
          <a:bodyPr wrap="square" lIns="0" tIns="0" rIns="0" bIns="0" rtlCol="0" anchor="t"/>
          <a:lstStyle/>
          <a:p>
            <a:pPr indent="0" marL="0">
              <a:buNone/>
            </a:pPr>
            <a:r>
              <a:rPr lang="en-US" sz="1100" b="1" spc="200" kern="0" dirty="0">
                <a:solidFill>
                  <a:srgbClr val="FF0068"/>
                </a:solidFill>
              </a:rPr>
              <a:t>SPRINT 12</a:t>
            </a:r>
            <a:endParaRPr lang="en-US" sz="1100" dirty="0"/>
          </a:p>
        </p:txBody>
      </p:sp>
      <p:sp>
        <p:nvSpPr>
          <p:cNvPr id="91" name="Text 89"/>
          <p:cNvSpPr txBox="1"/>
          <p:nvPr/>
        </p:nvSpPr>
        <p:spPr>
          <a:xfrm>
            <a:off x="10068306" y="4498848"/>
            <a:ext cx="1483309" cy="201168"/>
          </a:xfrm>
          <a:prstGeom prst="rect">
            <a:avLst/>
          </a:prstGeom>
          <a:noFill/>
          <a:ln/>
        </p:spPr>
        <p:txBody>
          <a:bodyPr wrap="square" lIns="0" tIns="0" rIns="0" bIns="0" rtlCol="0" anchor="t"/>
          <a:lstStyle/>
          <a:p>
            <a:pPr indent="0" marL="0">
              <a:buNone/>
            </a:pPr>
            <a:r>
              <a:rPr lang="en-US" sz="1000" dirty="0">
                <a:solidFill>
                  <a:srgbClr val="D9D9D9"/>
                </a:solidFill>
              </a:rPr>
              <a:t>Weeks 23-24</a:t>
            </a:r>
            <a:endParaRPr lang="en-US" sz="1000" dirty="0"/>
          </a:p>
        </p:txBody>
      </p:sp>
      <p:sp>
        <p:nvSpPr>
          <p:cNvPr id="92" name="Text 90"/>
          <p:cNvSpPr txBox="1"/>
          <p:nvPr/>
        </p:nvSpPr>
        <p:spPr>
          <a:xfrm>
            <a:off x="10068306" y="4754880"/>
            <a:ext cx="1483309" cy="603504"/>
          </a:xfrm>
          <a:prstGeom prst="rect">
            <a:avLst/>
          </a:prstGeom>
          <a:noFill/>
          <a:ln/>
        </p:spPr>
        <p:txBody>
          <a:bodyPr wrap="square" lIns="0" tIns="0" rIns="0" bIns="0" rtlCol="0" anchor="t"/>
          <a:lstStyle/>
          <a:p>
            <a:pPr indent="0" marL="0">
              <a:buNone/>
            </a:pPr>
            <a:r>
              <a:rPr lang="en-US" sz="1100" dirty="0">
                <a:solidFill>
                  <a:srgbClr val="FFFFFF"/>
                </a:solidFill>
              </a:rPr>
              <a:t>Go-live, hypercare, knowledge transfer</a:t>
            </a:r>
            <a:endParaRPr lang="en-US" sz="1100" dirty="0"/>
          </a:p>
        </p:txBody>
      </p:sp>
      <p:sp>
        <p:nvSpPr>
          <p:cNvPr id="93" name="Shape 91"/>
          <p:cNvSpPr/>
          <p:nvPr/>
        </p:nvSpPr>
        <p:spPr>
          <a:xfrm>
            <a:off x="10068306" y="5431536"/>
            <a:ext cx="1483309" cy="0"/>
          </a:xfrm>
          <a:prstGeom prst="line">
            <a:avLst/>
          </a:prstGeom>
          <a:noFill/>
          <a:ln w="9525">
            <a:solidFill>
              <a:srgbClr val="555555"/>
            </a:solidFill>
            <a:prstDash val="solid"/>
          </a:ln>
        </p:spPr>
      </p:sp>
      <p:sp>
        <p:nvSpPr>
          <p:cNvPr id="94" name="Shape 92"/>
          <p:cNvSpPr/>
          <p:nvPr/>
        </p:nvSpPr>
        <p:spPr>
          <a:xfrm>
            <a:off x="10068306" y="5568696"/>
            <a:ext cx="155448" cy="155448"/>
          </a:xfrm>
          <a:prstGeom prst="diamond">
            <a:avLst/>
          </a:prstGeom>
          <a:solidFill>
            <a:srgbClr val="FF0068"/>
          </a:solidFill>
          <a:ln w="12700">
            <a:solidFill>
              <a:srgbClr val="FF0068"/>
            </a:solidFill>
            <a:prstDash val="solid"/>
          </a:ln>
        </p:spPr>
      </p:sp>
      <p:sp>
        <p:nvSpPr>
          <p:cNvPr id="95" name="Text 93"/>
          <p:cNvSpPr txBox="1"/>
          <p:nvPr/>
        </p:nvSpPr>
        <p:spPr>
          <a:xfrm>
            <a:off x="10315194" y="5504688"/>
            <a:ext cx="1254709" cy="457200"/>
          </a:xfrm>
          <a:prstGeom prst="rect">
            <a:avLst/>
          </a:prstGeom>
          <a:noFill/>
          <a:ln/>
        </p:spPr>
        <p:txBody>
          <a:bodyPr wrap="square" lIns="0" tIns="0" rIns="0" bIns="0" rtlCol="0" anchor="t"/>
          <a:lstStyle/>
          <a:p>
            <a:pPr indent="0" marL="0">
              <a:buNone/>
            </a:pPr>
            <a:r>
              <a:rPr lang="en-US" sz="1050" b="1" dirty="0">
                <a:solidFill>
                  <a:srgbClr val="FFFFFF"/>
                </a:solidFill>
              </a:rPr>
              <a:t>Phase 2 live, Certain retired</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five-person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3</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Scrum Master or 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Salesforce Developers + 1 Marketing Cloud Developer</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integrations, journeys and PEIs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5 people  ·  12 sprints  ·  24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100584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and events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1-14</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Registration and payments</a:t>
            </a:r>
            <a:endParaRPr lang="en-US" sz="1400" dirty="0"/>
          </a:p>
          <a:p>
            <a:pPr marL="342900" indent="-342900">
              <a:spcAft>
                <a:spcPts val="600"/>
              </a:spcAft>
              <a:buSzPct val="100000"/>
              <a:buChar char="•"/>
            </a:pPr>
            <a:r>
              <a:rPr lang="en-US" sz="1400" dirty="0">
                <a:solidFill>
                  <a:srgbClr val="4D4D4D"/>
                </a:solidFill>
              </a:rPr>
              <a:t>Marketing Cloud reminders</a:t>
            </a:r>
            <a:endParaRPr lang="en-US" sz="1400" dirty="0"/>
          </a:p>
          <a:p>
            <a:pPr marL="342900" indent="-342900">
              <a:spcAft>
                <a:spcPts val="600"/>
              </a:spcAft>
              <a:buSzPct val="100000"/>
              <a:buChar char="•"/>
            </a:pPr>
            <a:r>
              <a:rPr lang="en-US" sz="1400" dirty="0">
                <a:solidFill>
                  <a:srgbClr val="4D4D4D"/>
                </a:solidFill>
              </a:rPr>
              <a:t>QR check-in and reporting</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15-24</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1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download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25+</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Fixed-scope delivery by the five-person pod across 12 sprints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Text 3"/>
          <p:cNvSpPr txBox="1"/>
          <p:nvPr/>
        </p:nvSpPr>
        <p:spPr>
          <a:xfrm>
            <a:off x="822960" y="2103120"/>
            <a:ext cx="356616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6" name="Text 4"/>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$700,000</a:t>
            </a:r>
            <a:endParaRPr lang="en-US" sz="3000" dirty="0"/>
          </a:p>
        </p:txBody>
      </p:sp>
      <p:sp>
        <p:nvSpPr>
          <p:cNvPr id="7" name="Shape 5"/>
          <p:cNvSpPr/>
          <p:nvPr/>
        </p:nvSpPr>
        <p:spPr>
          <a:xfrm>
            <a:off x="822960" y="3108960"/>
            <a:ext cx="3566160" cy="0"/>
          </a:xfrm>
          <a:prstGeom prst="line">
            <a:avLst/>
          </a:prstGeom>
          <a:noFill/>
          <a:ln w="9525">
            <a:solidFill>
              <a:srgbClr val="444444"/>
            </a:solidFill>
            <a:prstDash val="solid"/>
          </a:ln>
        </p:spPr>
      </p:sp>
      <p:sp>
        <p:nvSpPr>
          <p:cNvPr id="8" name="Text 6"/>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9" name="Text 7"/>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$350,000</a:t>
            </a:r>
            <a:endParaRPr lang="en-US" sz="5400" dirty="0"/>
          </a:p>
        </p:txBody>
      </p:sp>
      <p:sp>
        <p:nvSpPr>
          <p:cNvPr id="10" name="Shape 8"/>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1" name="Text 9"/>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2" name="Text 10"/>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$350,000 on the full program</a:t>
            </a:r>
            <a:endParaRPr lang="en-US" sz="1200" dirty="0"/>
          </a:p>
        </p:txBody>
      </p:sp>
      <p:sp>
        <p:nvSpPr>
          <p:cNvPr id="13" name="Text 11"/>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4" name="Text 12"/>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Sprints</a:t>
            </a:r>
            <a:endParaRPr lang="en-US" sz="1200" dirty="0"/>
          </a:p>
        </p:txBody>
      </p:sp>
      <p:sp>
        <p:nvSpPr>
          <p:cNvPr id="15" name="Text 13"/>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6" name="Text 14"/>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7" name="Shape 15"/>
          <p:cNvSpPr/>
          <p:nvPr/>
        </p:nvSpPr>
        <p:spPr>
          <a:xfrm>
            <a:off x="5074920" y="2112264"/>
            <a:ext cx="6611112" cy="0"/>
          </a:xfrm>
          <a:prstGeom prst="line">
            <a:avLst/>
          </a:prstGeom>
          <a:noFill/>
          <a:ln w="15875">
            <a:solidFill>
              <a:srgbClr val="000000"/>
            </a:solidFill>
            <a:prstDash val="solid"/>
          </a:ln>
        </p:spPr>
      </p:sp>
      <p:sp>
        <p:nvSpPr>
          <p:cNvPr id="18" name="Text 16"/>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Classes and events</a:t>
            </a:r>
            <a:endParaRPr lang="en-US" sz="1200" dirty="0"/>
          </a:p>
        </p:txBody>
      </p:sp>
      <p:sp>
        <p:nvSpPr>
          <p:cNvPr id="19" name="Text 17"/>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1-7</a:t>
            </a:r>
            <a:endParaRPr lang="en-US" sz="1200" dirty="0"/>
          </a:p>
        </p:txBody>
      </p:sp>
      <p:sp>
        <p:nvSpPr>
          <p:cNvPr id="20" name="Text 18"/>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$410,000</a:t>
            </a:r>
            <a:endParaRPr lang="en-US" sz="1200" dirty="0"/>
          </a:p>
        </p:txBody>
      </p:sp>
      <p:sp>
        <p:nvSpPr>
          <p:cNvPr id="21" name="Text 19"/>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$205,000</a:t>
            </a:r>
            <a:endParaRPr lang="en-US" sz="1200" dirty="0"/>
          </a:p>
        </p:txBody>
      </p:sp>
      <p:sp>
        <p:nvSpPr>
          <p:cNvPr id="22" name="Shape 20"/>
          <p:cNvSpPr/>
          <p:nvPr/>
        </p:nvSpPr>
        <p:spPr>
          <a:xfrm>
            <a:off x="5074920" y="2569464"/>
            <a:ext cx="6611112" cy="0"/>
          </a:xfrm>
          <a:prstGeom prst="line">
            <a:avLst/>
          </a:prstGeom>
          <a:noFill/>
          <a:ln w="9525">
            <a:solidFill>
              <a:srgbClr val="A0A0A8"/>
            </a:solidFill>
            <a:prstDash val="sysDot"/>
          </a:ln>
        </p:spPr>
      </p:sp>
      <p:sp>
        <p:nvSpPr>
          <p:cNvPr id="23" name="Text 21"/>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Conferences and engagement</a:t>
            </a:r>
            <a:endParaRPr lang="en-US" sz="1200" dirty="0"/>
          </a:p>
        </p:txBody>
      </p:sp>
      <p:sp>
        <p:nvSpPr>
          <p:cNvPr id="24" name="Text 22"/>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8-12</a:t>
            </a:r>
            <a:endParaRPr lang="en-US" sz="1200" dirty="0"/>
          </a:p>
        </p:txBody>
      </p:sp>
      <p:sp>
        <p:nvSpPr>
          <p:cNvPr id="25" name="Text 23"/>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$290,000</a:t>
            </a:r>
            <a:endParaRPr lang="en-US" sz="1200" dirty="0"/>
          </a:p>
        </p:txBody>
      </p:sp>
      <p:sp>
        <p:nvSpPr>
          <p:cNvPr id="26" name="Text 24"/>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$145,000</a:t>
            </a:r>
            <a:endParaRPr lang="en-US" sz="1200" dirty="0"/>
          </a:p>
        </p:txBody>
      </p:sp>
      <p:sp>
        <p:nvSpPr>
          <p:cNvPr id="27" name="Shape 25"/>
          <p:cNvSpPr/>
          <p:nvPr/>
        </p:nvSpPr>
        <p:spPr>
          <a:xfrm>
            <a:off x="5074920" y="3026664"/>
            <a:ext cx="6611112" cy="0"/>
          </a:xfrm>
          <a:prstGeom prst="line">
            <a:avLst/>
          </a:prstGeom>
          <a:noFill/>
          <a:ln w="15875">
            <a:solidFill>
              <a:srgbClr val="000000"/>
            </a:solidFill>
            <a:prstDash val="solid"/>
          </a:ln>
        </p:spPr>
      </p:sp>
      <p:sp>
        <p:nvSpPr>
          <p:cNvPr id="28" name="Text 26"/>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29" name="Text 27"/>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12 sprints</a:t>
            </a:r>
            <a:endParaRPr lang="en-US" sz="1200" dirty="0"/>
          </a:p>
        </p:txBody>
      </p:sp>
      <p:sp>
        <p:nvSpPr>
          <p:cNvPr id="30" name="Text 28"/>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$700,000</a:t>
            </a:r>
            <a:endParaRPr lang="en-US" sz="1200" dirty="0"/>
          </a:p>
        </p:txBody>
      </p:sp>
      <p:sp>
        <p:nvSpPr>
          <p:cNvPr id="31" name="Text 29"/>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$350,000</a:t>
            </a:r>
            <a:endParaRPr lang="en-US" sz="1200" dirty="0"/>
          </a:p>
        </p:txBody>
      </p:sp>
      <p:sp>
        <p:nvSpPr>
          <p:cNvPr id="32" name="Shape 30"/>
          <p:cNvSpPr/>
          <p:nvPr/>
        </p:nvSpPr>
        <p:spPr>
          <a:xfrm>
            <a:off x="5074920" y="3483864"/>
            <a:ext cx="6611112" cy="0"/>
          </a:xfrm>
          <a:prstGeom prst="line">
            <a:avLst/>
          </a:prstGeom>
          <a:noFill/>
          <a:ln w="9525">
            <a:solidFill>
              <a:srgbClr val="A0A0A8"/>
            </a:solidFill>
            <a:prstDash val="sysDot"/>
          </a:ln>
        </p:spPr>
      </p:sp>
      <p:sp>
        <p:nvSpPr>
          <p:cNvPr id="33" name="Text 31"/>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4" name="Text 32"/>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five-person pod for 24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5" name="Text 33"/>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6" name="Text 34"/>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 (Shield, Agentforce, Data Cloud)</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7" name="Text 35"/>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Indicative pricing, billed at sprint milestones. Final commercials confirmed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the current class solution with Lucky Rai’s team</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how registration opens inside the My Memorial Hermann app</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Agree the payment approach: keep both gateways or consolidate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2026-10-15T11:24:39Z</dcterms:created>
  <dcterms:modified xsi:type="dcterms:W3CDTF">2026-10-15T11:24:39Z</dcterms:modified>
</cp:coreProperties>
</file>