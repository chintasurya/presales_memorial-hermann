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82" r:id="rId17"/>
    <p:sldId id="283" r:id="rId18"/>
    <p:sldId id="271" r:id="rId19"/>
    <p:sldId id="272" r:id="rId20"/>
    <p:sldId id="273" r:id="rId21"/>
    <p:sldId id="274" r:id="rId22"/>
    <p:sldId id="275" r:id="rId23"/>
    <p:sldId id="276" r:id="rId24"/>
    <p:sldId id="277" r:id="rId25"/>
    <p:sldId id="278" r:id="rId26"/>
    <p:sldId id="279" r:id="rId27"/>
    <p:sldId id="285" r:id="rId28"/>
    <p:sldId id="280" r:id="rId29"/>
    <p:sldId id="281" r:id="rId3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BBF1ABC1-159D-F461-FDE9-32051E32F79D}">
          <p14:sldIdLst>
            <p14:sldId id="256"/>
            <p14:sldId id="257"/>
            <p14:sldId id="258"/>
          </p14:sldIdLst>
        </p14:section>
        <p14:section name="The solution" id="{54B3C046-CCFB-9A45-13A4-9363B7EFFC88}">
          <p14:sldIdLst>
            <p14:sldId id="259"/>
            <p14:sldId id="260"/>
            <p14:sldId id="261"/>
            <p14:sldId id="262"/>
            <p14:sldId id="263"/>
            <p14:sldId id="264"/>
            <p14:sldId id="265"/>
            <p14:sldId id="266"/>
            <p14:sldId id="267"/>
            <p14:sldId id="268"/>
          </p14:sldIdLst>
        </p14:section>
        <p14:section name="Delivery plan" id="{FFD33B23-E400-7169-7B3D-2B6763C70132}">
          <p14:sldIdLst>
            <p14:sldId id="269"/>
            <p14:sldId id="270"/>
            <p14:sldId id="282"/>
            <p14:sldId id="283"/>
            <p14:sldId id="271"/>
          </p14:sldIdLst>
        </p14:section>
        <p14:section name="Beyond the event" id="{21898343-8E27-6F12-2BA9-AE34F8481233}">
          <p14:sldIdLst>
            <p14:sldId id="272"/>
            <p14:sldId id="273"/>
            <p14:sldId id="274"/>
            <p14:sldId id="275"/>
            <p14:sldId id="276"/>
            <p14:sldId id="277"/>
          </p14:sldIdLst>
        </p14:section>
        <p14:section name="Roadmap and next steps" id="{1E055A5B-D0FD-8D8F-78E4-AF12201F910B}">
          <p14:sldIdLst>
            <p14:sldId id="278"/>
            <p14:sldId id="279"/>
            <p14:sldId id="285"/>
            <p14:sldId id="280"/>
            <p14:sldId id="281"/>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0" d="100"/>
          <a:sy n="90" d="100"/>
        </p:scale>
        <p:origin x="370"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498247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Thank Kevin for the detailed answers. Today: how we solve the event registration problem on the Salesforce platform they already own, how we deliver it, and how the registration data can grow engagement and the network.</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is the whole solution on one page, in the order a registrant experiences it. Register: website or the existing My Memorial Hermann app, with a seat held while they pay. Pay: the gateway hosts the card page; we receive only a token. Confirm: Salesforce records the registration and Marketing Cloud sends confirmation and reminders. Attend: QR check-in. Engage: patient engagement initiatives. Grow: staff see demand and add sessions. It replaces both the home-built class tool and Certain.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Concept screens, sample data. One registration flow serves the Sitecore website and the existing My Memorial Hermann app (Epic MyChart), so nothing is built twice. How it appears in the app (menu link or SMART on FHIR launch) is confirmed with Lucky Rai’s team.</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is a standard Salesforce Lightning app, so their in-house Salesforce admins can own it after launch.</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Conferences use the same app and data as classes, so attendees, payments and reporting stay in one place. CME requirements to be confirmed with Kevin.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 popular class can draw far more interest than seats. The platform answers every click within seconds, never oversells, never charges someone who did not get a seat, and keeps everyone who missed out on a waitlist or interest list. When demand passes a threshold, staff add a session in one click and the people waiting get first access. Numbers are an example; caps and thresholds are set per event.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Step by step for a busy event. The waiting room admits people fairly, seat holds are atomic so a seat is never sold twice, writes to Salesforce are queued and idempotent so nothing is lost or duplicated, and everyone who misses a seat lands on the waitlist or interest list.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Two messages. First, card numbers never touch Memorial Hermann or Salesforce systems: the gateway hosts the payment page and returns a token. Second, registrant and patient data is protected in layers from the edge to governance. Shield licensing, BAA coverage and PCI level to be confirmed with Memorial Hermann IT and finance.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card is typed directly into the gateway page; the registration service only creates the session and receives a signed webhook with a token. Salesforce stores the token reference, last 4 digits, amount and status. Gateway choice is Memorial Hermann finance's decision; both are supported.</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Phase 1 replaces the home-built class registration around week 14. Phase 2 replaces Certain around week 24; time it to land before the Certain renewal. Engagement work can start as soon as Phase 1 is live.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Two-week sprints, each closing with a demo and a milestone Memorial Hermann signs off. Sprints 1 and 2 cover discovery and design, sprints 3 to 7 deliver classes and events (live at week 14), and sprints 8 to 12 deliver conferences and the first engagement journeys (live at week 24, Certain retired). Sprint scope is refined after the current-state walkthrough.</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16</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31477483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 small, dedicated pod: one Scrum Master or Project Manager leading delivery, one QA engineer embedded in every sprint, and a build team of two Salesforce developers and one Marketing Cloud developer. Memorial Hermann provides a product owner and an Epic and app contact.</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17</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81610475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Same team and same app across both phases, so Phase 2 builds on Phase 1 rather than starting over.</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is the upsell. The event platform captures first-party data about what each person is interested in. Marketing Cloud journeys turn that into patient engagement initiatives that lead to app adoption and booked visits.</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Every class feeds one Marketing Cloud journey: confirmation, reminder, then four patient engagement initiatives (thank you and survey, next class, app adoption, find a doctor). The journey exits when the person books a visit or downloads the app.</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Examples to show the idea. We would pick two or three service lines with Kevin’s team to start.</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My Memorial Hermann is their existing Epic-based patient app (scheduling, results, messaging). App users register in the app; people who register on the website get a tracked download link at every touchpoint. No new app is built.</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We set baselines during discovery from the current tools, then report these in a Salesforce dashboard.</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Future plan. AI agents use Agentforce and are licensed separately; we would scope them after the core platform is live.</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Pricing is for an offshore delivery model. Standard program value is $700,000. As a strategic partner, Memorial Hermann receives a 50% partnership credit applied upfront, for an investment of $350,000. Billing follows sprint milestones. Licenses and third-party fees are outside this price.</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27</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75832866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Ask Kevin to set up the walkthrough with Lucky Rai’s team. Items 2 to 7 let us firm up the timeline and estimate.</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Thank you. Open for questions.</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IG 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914400" y="2514600"/>
            <a:ext cx="10362895" cy="1554480"/>
          </a:xfrm>
          <a:prstGeom prst="rect">
            <a:avLst/>
          </a:prstGeom>
          <a:noFill/>
          <a:ln/>
        </p:spPr>
        <p:txBody>
          <a:bodyPr wrap="square" rtlCol="0"/>
          <a:lstStyle>
            <a:lvl1pPr marL="0" indent="0" algn="ctr">
              <a:buNone/>
              <a:defRPr lang="en-US" sz="4400" kern="0" spc="600" dirty="0">
                <a:solidFill>
                  <a:schemeClr val="bg1"/>
                </a:solidFill>
                <a:latin typeface="Trenda IG Text Light" pitchFamily="34" charset="0"/>
                <a:ea typeface="Trenda IG Text Light" pitchFamily="34" charset="-122"/>
                <a:cs typeface="Trenda IG Text Light" pitchFamily="34" charset="-120"/>
              </a:defRPr>
            </a:lvl1pPr>
          </a:lstStyle>
          <a:p>
            <a:pPr marL="0" indent="0" algn="ctr">
              <a:buNone/>
            </a:pPr>
            <a:endParaRPr lang="en-US" sz="4400"/>
          </a:p>
        </p:txBody>
      </p:sp>
      <p:sp>
        <p:nvSpPr>
          <p:cNvPr id="3" name="Text 0"/>
          <p:cNvSpPr>
            <a:spLocks noGrp="1"/>
          </p:cNvSpPr>
          <p:nvPr>
            <p:ph type="body" idx="101" hasCustomPrompt="1"/>
          </p:nvPr>
        </p:nvSpPr>
        <p:spPr>
          <a:xfrm>
            <a:off x="914400" y="4160520"/>
            <a:ext cx="10362895" cy="457200"/>
          </a:xfrm>
          <a:prstGeom prst="rect">
            <a:avLst/>
          </a:prstGeom>
          <a:noFill/>
          <a:ln/>
        </p:spPr>
        <p:txBody>
          <a:bodyPr wrap="square" rtlCol="0"/>
          <a:lstStyle>
            <a:lvl1pPr marL="0" indent="0" algn="ctr">
              <a:buNone/>
              <a:defRPr lang="en-US" sz="1800" dirty="0">
                <a:solidFill>
                  <a:schemeClr val="bg1"/>
                </a:solidFill>
              </a:defRPr>
            </a:lvl1pPr>
          </a:lstStyle>
          <a:p>
            <a:pPr marL="0" indent="0" algn="ctr">
              <a:buNone/>
            </a:pPr>
            <a:endParaRPr lang="en-US" sz="180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IG Agenda">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02920" y="219456"/>
            <a:ext cx="7315200" cy="228600"/>
          </a:xfrm>
          <a:prstGeom prst="rect">
            <a:avLst/>
          </a:prstGeom>
          <a:noFill/>
          <a:ln/>
        </p:spPr>
        <p:txBody>
          <a:bodyPr wrap="square" lIns="0" tIns="0" rIns="0" bIns="0" rtlCol="0" anchor="ctr"/>
          <a:lstStyle/>
          <a:p>
            <a:pPr marL="0" indent="0">
              <a:buNone/>
            </a:pPr>
            <a:r>
              <a:rPr lang="en-US" sz="800" b="1" kern="0" spc="300">
                <a:solidFill>
                  <a:schemeClr val="bg1"/>
                </a:solidFill>
              </a:rPr>
              <a:t>MEMORIAL HERMANN  ·  EVENT PLATFORM</a:t>
            </a:r>
            <a:endParaRPr lang="en-US" sz="800"/>
          </a:p>
        </p:txBody>
      </p:sp>
      <p:sp>
        <p:nvSpPr>
          <p:cNvPr id="3" name="Text 1"/>
          <p:cNvSpPr>
            <a:spLocks noGrp="1"/>
          </p:cNvSpPr>
          <p:nvPr>
            <p:ph type="title" idx="101" hasCustomPrompt="1"/>
          </p:nvPr>
        </p:nvSpPr>
        <p:spPr>
          <a:xfrm>
            <a:off x="502920" y="658368"/>
            <a:ext cx="11185855" cy="822960"/>
          </a:xfrm>
          <a:prstGeom prst="rect">
            <a:avLst/>
          </a:prstGeom>
          <a:noFill/>
          <a:ln/>
        </p:spPr>
        <p:txBody>
          <a:bodyPr wrap="square" rtlCol="0"/>
          <a:lstStyle>
            <a:lvl1pPr marL="0" indent="0" algn="l">
              <a:buNone/>
              <a:defRPr lang="en-US" sz="3200" b="1" dirty="0">
                <a:solidFill>
                  <a:schemeClr val="bg1"/>
                </a:solidFill>
              </a:defRPr>
            </a:lvl1pPr>
          </a:lstStyle>
          <a:p>
            <a:pPr marL="0" indent="0" algn="l">
              <a:buNone/>
            </a:pPr>
            <a:endParaRPr lang="en-US" sz="3200"/>
          </a:p>
        </p:txBody>
      </p:sp>
      <p:sp>
        <p:nvSpPr>
          <p:cNvPr id="25" name="Slide Number Placeholder 0"/>
          <p:cNvSpPr>
            <a:spLocks noGrp="1"/>
          </p:cNvSpPr>
          <p:nvPr>
            <p:ph type="sldNum" sz="quarter" idx="4294967295"/>
          </p:nvPr>
        </p:nvSpPr>
        <p:spPr>
          <a:xfrm>
            <a:off x="11292840" y="6336792"/>
            <a:ext cx="457200" cy="22860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bg1"/>
                </a:solidFill>
              </a:defRPr>
            </a:lvl1pPr>
          </a:lstStyle>
          <a:p>
            <a:pPr algn="r"/>
            <a:fld id="{F7021451-1387-4CA6-816F-3879F97B5CBC}" type="slidenum">
              <a:rPr lang="en-US" b="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IG Section Blu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914400" y="2743200"/>
            <a:ext cx="10362895" cy="1005840"/>
          </a:xfrm>
          <a:prstGeom prst="rect">
            <a:avLst/>
          </a:prstGeom>
          <a:noFill/>
          <a:ln/>
        </p:spPr>
        <p:txBody>
          <a:bodyPr wrap="square" rtlCol="0"/>
          <a:lstStyle>
            <a:lvl1pPr marL="0" indent="0" algn="ctr">
              <a:buNone/>
              <a:defRPr lang="en-US" sz="4400" kern="0" spc="600" dirty="0">
                <a:solidFill>
                  <a:schemeClr val="bg1"/>
                </a:solidFill>
                <a:latin typeface="Trenda IG Text Light" pitchFamily="34" charset="0"/>
                <a:ea typeface="Trenda IG Text Light" pitchFamily="34" charset="-122"/>
                <a:cs typeface="Trenda IG Text Light" pitchFamily="34" charset="-120"/>
              </a:defRPr>
            </a:lvl1pPr>
          </a:lstStyle>
          <a:p>
            <a:pPr marL="0" indent="0" algn="ctr">
              <a:buNone/>
            </a:pPr>
            <a:endParaRPr lang="en-US" sz="4400"/>
          </a:p>
        </p:txBody>
      </p:sp>
      <p:sp>
        <p:nvSpPr>
          <p:cNvPr id="3" name="Text 0"/>
          <p:cNvSpPr>
            <a:spLocks noGrp="1"/>
          </p:cNvSpPr>
          <p:nvPr>
            <p:ph type="body" idx="101" hasCustomPrompt="1"/>
          </p:nvPr>
        </p:nvSpPr>
        <p:spPr>
          <a:xfrm>
            <a:off x="1371600" y="3840480"/>
            <a:ext cx="9448495" cy="548640"/>
          </a:xfrm>
          <a:prstGeom prst="rect">
            <a:avLst/>
          </a:prstGeom>
          <a:noFill/>
          <a:ln/>
        </p:spPr>
        <p:txBody>
          <a:bodyPr wrap="square" rtlCol="0"/>
          <a:lstStyle>
            <a:lvl1pPr marL="0" indent="0" algn="ctr">
              <a:buNone/>
              <a:defRPr lang="en-US" sz="1800" dirty="0">
                <a:solidFill>
                  <a:schemeClr val="bg1"/>
                </a:solidFill>
              </a:defRPr>
            </a:lvl1pPr>
          </a:lstStyle>
          <a:p>
            <a:pPr marL="0" indent="0" algn="ctr">
              <a:buNone/>
            </a:pPr>
            <a:endParaRPr lang="en-US" sz="180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IG Section Magenta">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914400" y="2743200"/>
            <a:ext cx="10362895" cy="1005840"/>
          </a:xfrm>
          <a:prstGeom prst="rect">
            <a:avLst/>
          </a:prstGeom>
          <a:noFill/>
          <a:ln/>
        </p:spPr>
        <p:txBody>
          <a:bodyPr wrap="square" rtlCol="0"/>
          <a:lstStyle>
            <a:lvl1pPr marL="0" indent="0" algn="ctr">
              <a:buNone/>
              <a:defRPr lang="en-US" sz="4400" kern="0" spc="600" dirty="0">
                <a:solidFill>
                  <a:schemeClr val="bg1"/>
                </a:solidFill>
                <a:latin typeface="Trenda IG Text Light" pitchFamily="34" charset="0"/>
                <a:ea typeface="Trenda IG Text Light" pitchFamily="34" charset="-122"/>
                <a:cs typeface="Trenda IG Text Light" pitchFamily="34" charset="-120"/>
              </a:defRPr>
            </a:lvl1pPr>
          </a:lstStyle>
          <a:p>
            <a:pPr marL="0" indent="0" algn="ctr">
              <a:buNone/>
            </a:pPr>
            <a:endParaRPr lang="en-US" sz="4400"/>
          </a:p>
        </p:txBody>
      </p:sp>
      <p:sp>
        <p:nvSpPr>
          <p:cNvPr id="3" name="Text 0"/>
          <p:cNvSpPr>
            <a:spLocks noGrp="1"/>
          </p:cNvSpPr>
          <p:nvPr>
            <p:ph type="body" idx="101" hasCustomPrompt="1"/>
          </p:nvPr>
        </p:nvSpPr>
        <p:spPr>
          <a:xfrm>
            <a:off x="1371600" y="3840480"/>
            <a:ext cx="9448495" cy="548640"/>
          </a:xfrm>
          <a:prstGeom prst="rect">
            <a:avLst/>
          </a:prstGeom>
          <a:noFill/>
          <a:ln/>
        </p:spPr>
        <p:txBody>
          <a:bodyPr wrap="square" rtlCol="0"/>
          <a:lstStyle>
            <a:lvl1pPr marL="0" indent="0" algn="ctr">
              <a:buNone/>
              <a:defRPr lang="en-US" sz="1800" dirty="0">
                <a:solidFill>
                  <a:schemeClr val="bg1"/>
                </a:solidFill>
              </a:defRPr>
            </a:lvl1pPr>
          </a:lstStyle>
          <a:p>
            <a:pPr marL="0" indent="0" algn="ctr">
              <a:buNone/>
            </a:pPr>
            <a:endParaRPr lang="en-US" sz="180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IG Section Go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914400" y="2743200"/>
            <a:ext cx="10362895" cy="1005840"/>
          </a:xfrm>
          <a:prstGeom prst="rect">
            <a:avLst/>
          </a:prstGeom>
          <a:noFill/>
          <a:ln/>
        </p:spPr>
        <p:txBody>
          <a:bodyPr wrap="square" rtlCol="0"/>
          <a:lstStyle>
            <a:lvl1pPr marL="0" indent="0" algn="ctr">
              <a:buNone/>
              <a:defRPr lang="en-US" sz="4400" kern="0" spc="600" dirty="0">
                <a:solidFill>
                  <a:schemeClr val="bg1"/>
                </a:solidFill>
                <a:latin typeface="Trenda IG Text Light" pitchFamily="34" charset="0"/>
                <a:ea typeface="Trenda IG Text Light" pitchFamily="34" charset="-122"/>
                <a:cs typeface="Trenda IG Text Light" pitchFamily="34" charset="-120"/>
              </a:defRPr>
            </a:lvl1pPr>
          </a:lstStyle>
          <a:p>
            <a:pPr marL="0" indent="0" algn="ctr">
              <a:buNone/>
            </a:pPr>
            <a:endParaRPr lang="en-US" sz="4400"/>
          </a:p>
        </p:txBody>
      </p:sp>
      <p:sp>
        <p:nvSpPr>
          <p:cNvPr id="3" name="Text 0"/>
          <p:cNvSpPr>
            <a:spLocks noGrp="1"/>
          </p:cNvSpPr>
          <p:nvPr>
            <p:ph type="body" idx="101" hasCustomPrompt="1"/>
          </p:nvPr>
        </p:nvSpPr>
        <p:spPr>
          <a:xfrm>
            <a:off x="1371600" y="3840480"/>
            <a:ext cx="9448495" cy="548640"/>
          </a:xfrm>
          <a:prstGeom prst="rect">
            <a:avLst/>
          </a:prstGeom>
          <a:noFill/>
          <a:ln/>
        </p:spPr>
        <p:txBody>
          <a:bodyPr wrap="square" rtlCol="0"/>
          <a:lstStyle>
            <a:lvl1pPr marL="0" indent="0" algn="ctr">
              <a:buNone/>
              <a:defRPr lang="en-US" sz="1800" dirty="0">
                <a:solidFill>
                  <a:schemeClr val="bg1"/>
                </a:solidFill>
              </a:defRPr>
            </a:lvl1pPr>
          </a:lstStyle>
          <a:p>
            <a:pPr marL="0" indent="0" algn="ctr">
              <a:buNone/>
            </a:pPr>
            <a:endParaRPr lang="en-US" sz="180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IG Dar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02920" y="219456"/>
            <a:ext cx="7315200" cy="228600"/>
          </a:xfrm>
          <a:prstGeom prst="rect">
            <a:avLst/>
          </a:prstGeom>
          <a:noFill/>
          <a:ln/>
        </p:spPr>
        <p:txBody>
          <a:bodyPr wrap="square" lIns="0" tIns="0" rIns="0" bIns="0" rtlCol="0" anchor="ctr"/>
          <a:lstStyle/>
          <a:p>
            <a:pPr marL="0" indent="0">
              <a:buNone/>
            </a:pPr>
            <a:r>
              <a:rPr lang="en-US" sz="800" b="1" kern="0" spc="300">
                <a:solidFill>
                  <a:schemeClr val="bg1"/>
                </a:solidFill>
              </a:rPr>
              <a:t>MEMORIAL HERMANN  ·  EVENT PLATFORM</a:t>
            </a:r>
            <a:endParaRPr lang="en-US" sz="800"/>
          </a:p>
        </p:txBody>
      </p:sp>
      <p:sp>
        <p:nvSpPr>
          <p:cNvPr id="3" name="Text 1"/>
          <p:cNvSpPr>
            <a:spLocks noGrp="1"/>
          </p:cNvSpPr>
          <p:nvPr>
            <p:ph type="title" idx="101" hasCustomPrompt="1"/>
          </p:nvPr>
        </p:nvSpPr>
        <p:spPr>
          <a:xfrm>
            <a:off x="502920" y="658368"/>
            <a:ext cx="11185855" cy="822960"/>
          </a:xfrm>
          <a:prstGeom prst="rect">
            <a:avLst/>
          </a:prstGeom>
          <a:noFill/>
          <a:ln/>
        </p:spPr>
        <p:txBody>
          <a:bodyPr wrap="square" rtlCol="0"/>
          <a:lstStyle>
            <a:lvl1pPr marL="0" indent="0" algn="l">
              <a:buNone/>
              <a:defRPr lang="en-US" sz="3200" b="1" dirty="0">
                <a:solidFill>
                  <a:schemeClr val="bg1"/>
                </a:solidFill>
              </a:defRPr>
            </a:lvl1pPr>
          </a:lstStyle>
          <a:p>
            <a:pPr marL="0" indent="0" algn="l">
              <a:buNone/>
            </a:pPr>
            <a:endParaRPr lang="en-US" sz="3200"/>
          </a:p>
        </p:txBody>
      </p:sp>
      <p:sp>
        <p:nvSpPr>
          <p:cNvPr id="25" name="Slide Number Placeholder 0"/>
          <p:cNvSpPr>
            <a:spLocks noGrp="1"/>
          </p:cNvSpPr>
          <p:nvPr>
            <p:ph type="sldNum" sz="quarter" idx="4294967295"/>
          </p:nvPr>
        </p:nvSpPr>
        <p:spPr>
          <a:xfrm>
            <a:off x="11292840" y="6336792"/>
            <a:ext cx="457200" cy="22860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bg1"/>
                </a:solidFill>
              </a:defRPr>
            </a:lvl1pPr>
          </a:lstStyle>
          <a:p>
            <a:pPr algn="r"/>
            <a:fld id="{F7021451-1387-4CA6-816F-3879F97B5CBC}" type="slidenum">
              <a:rPr lang="en-US" b="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IG Ligh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02920" y="219456"/>
            <a:ext cx="7315200" cy="228600"/>
          </a:xfrm>
          <a:prstGeom prst="rect">
            <a:avLst/>
          </a:prstGeom>
          <a:noFill/>
          <a:ln/>
        </p:spPr>
        <p:txBody>
          <a:bodyPr wrap="square" lIns="0" tIns="0" rIns="0" bIns="0" rtlCol="0" anchor="ctr"/>
          <a:lstStyle/>
          <a:p>
            <a:pPr marL="0" indent="0">
              <a:buNone/>
            </a:pPr>
            <a:r>
              <a:rPr lang="en-US" sz="800" b="1" kern="0" spc="300">
                <a:solidFill>
                  <a:schemeClr val="tx1"/>
                </a:solidFill>
              </a:rPr>
              <a:t>MEMORIAL HERMANN  ·  EVENT PLATFORM</a:t>
            </a:r>
            <a:endParaRPr lang="en-US" sz="800"/>
          </a:p>
        </p:txBody>
      </p:sp>
      <p:sp>
        <p:nvSpPr>
          <p:cNvPr id="3" name="Text 1"/>
          <p:cNvSpPr>
            <a:spLocks noGrp="1"/>
          </p:cNvSpPr>
          <p:nvPr>
            <p:ph type="title" idx="101" hasCustomPrompt="1"/>
          </p:nvPr>
        </p:nvSpPr>
        <p:spPr>
          <a:xfrm>
            <a:off x="502920" y="658368"/>
            <a:ext cx="11185855" cy="822960"/>
          </a:xfrm>
          <a:prstGeom prst="rect">
            <a:avLst/>
          </a:prstGeom>
          <a:noFill/>
          <a:ln/>
        </p:spPr>
        <p:txBody>
          <a:bodyPr wrap="square" rtlCol="0"/>
          <a:lstStyle>
            <a:lvl1pPr marL="0" indent="0" algn="l">
              <a:buNone/>
              <a:defRPr lang="en-US" sz="3200" b="1" dirty="0">
                <a:solidFill>
                  <a:schemeClr val="tx1"/>
                </a:solidFill>
              </a:defRPr>
            </a:lvl1pPr>
          </a:lstStyle>
          <a:p>
            <a:pPr marL="0" indent="0" algn="l">
              <a:buNone/>
            </a:pPr>
            <a:endParaRPr lang="en-US" sz="3200"/>
          </a:p>
        </p:txBody>
      </p:sp>
      <p:sp>
        <p:nvSpPr>
          <p:cNvPr id="25" name="Slide Number Placeholder 0"/>
          <p:cNvSpPr>
            <a:spLocks noGrp="1"/>
          </p:cNvSpPr>
          <p:nvPr>
            <p:ph type="sldNum" sz="quarter" idx="4294967295"/>
          </p:nvPr>
        </p:nvSpPr>
        <p:spPr>
          <a:xfrm>
            <a:off x="11292840" y="6336792"/>
            <a:ext cx="457200" cy="22860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tx1"/>
                </a:solidFill>
              </a:defRPr>
            </a:lvl1pPr>
          </a:lstStyle>
          <a:p>
            <a:pPr algn="r"/>
            <a:fld id="{F7021451-1387-4CA6-816F-3879F97B5CBC}" type="slidenum">
              <a:rPr lang="en-US" b="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IG Spectrum">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02920" y="219456"/>
            <a:ext cx="7315200" cy="228600"/>
          </a:xfrm>
          <a:prstGeom prst="rect">
            <a:avLst/>
          </a:prstGeom>
          <a:noFill/>
          <a:ln/>
        </p:spPr>
        <p:txBody>
          <a:bodyPr wrap="square" lIns="0" tIns="0" rIns="0" bIns="0" rtlCol="0" anchor="ctr"/>
          <a:lstStyle/>
          <a:p>
            <a:pPr marL="0" indent="0">
              <a:buNone/>
            </a:pPr>
            <a:r>
              <a:rPr lang="en-US" sz="800" b="1" kern="0" spc="300">
                <a:solidFill>
                  <a:schemeClr val="bg1"/>
                </a:solidFill>
              </a:rPr>
              <a:t>MEMORIAL HERMANN  ·  EVENT PLATFORM</a:t>
            </a:r>
            <a:endParaRPr lang="en-US" sz="800"/>
          </a:p>
        </p:txBody>
      </p:sp>
      <p:sp>
        <p:nvSpPr>
          <p:cNvPr id="3" name="Text 1"/>
          <p:cNvSpPr>
            <a:spLocks noGrp="1"/>
          </p:cNvSpPr>
          <p:nvPr>
            <p:ph type="title" idx="101" hasCustomPrompt="1"/>
          </p:nvPr>
        </p:nvSpPr>
        <p:spPr>
          <a:xfrm>
            <a:off x="502920" y="658368"/>
            <a:ext cx="11185855" cy="822960"/>
          </a:xfrm>
          <a:prstGeom prst="rect">
            <a:avLst/>
          </a:prstGeom>
          <a:noFill/>
          <a:ln/>
        </p:spPr>
        <p:txBody>
          <a:bodyPr wrap="square" rtlCol="0"/>
          <a:lstStyle>
            <a:lvl1pPr marL="0" indent="0" algn="l">
              <a:buNone/>
              <a:defRPr lang="en-US" sz="3200" b="1" dirty="0">
                <a:solidFill>
                  <a:schemeClr val="bg1"/>
                </a:solidFill>
              </a:defRPr>
            </a:lvl1pPr>
          </a:lstStyle>
          <a:p>
            <a:pPr marL="0" indent="0" algn="l">
              <a:buNone/>
            </a:pPr>
            <a:endParaRPr lang="en-US" sz="3200"/>
          </a:p>
        </p:txBody>
      </p:sp>
      <p:sp>
        <p:nvSpPr>
          <p:cNvPr id="25" name="Slide Number Placeholder 0"/>
          <p:cNvSpPr>
            <a:spLocks noGrp="1"/>
          </p:cNvSpPr>
          <p:nvPr>
            <p:ph type="sldNum" sz="quarter" idx="4294967295"/>
          </p:nvPr>
        </p:nvSpPr>
        <p:spPr>
          <a:xfrm>
            <a:off x="11292840" y="6336792"/>
            <a:ext cx="457200" cy="22860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bg1"/>
                </a:solidFill>
              </a:defRPr>
            </a:lvl1pPr>
          </a:lstStyle>
          <a:p>
            <a:pPr algn="r"/>
            <a:fld id="{F7021451-1387-4CA6-816F-3879F97B5CBC}" type="slidenum">
              <a:rPr lang="en-US" b="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IG Closing">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92840" y="6336792"/>
            <a:ext cx="457200" cy="22860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bg1"/>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8.xml"/><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notesSlide" Target="../notesSlides/notesSlide10.xml"/><Relationship Id="rId1" Type="http://schemas.openxmlformats.org/officeDocument/2006/relationships/slideLayout" Target="../slideLayouts/slideLayout7.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image" Target="../media/image20.png"/><Relationship Id="rId7" Type="http://schemas.openxmlformats.org/officeDocument/2006/relationships/image" Target="../media/image24.png"/><Relationship Id="rId2" Type="http://schemas.openxmlformats.org/officeDocument/2006/relationships/notesSlide" Target="../notesSlides/notesSlide12.xml"/><Relationship Id="rId1" Type="http://schemas.openxmlformats.org/officeDocument/2006/relationships/slideLayout" Target="../slideLayouts/slideLayout8.xml"/><Relationship Id="rId6" Type="http://schemas.openxmlformats.org/officeDocument/2006/relationships/image" Target="../media/image23.png"/><Relationship Id="rId11" Type="http://schemas.openxmlformats.org/officeDocument/2006/relationships/image" Target="../media/image28.png"/><Relationship Id="rId5" Type="http://schemas.openxmlformats.org/officeDocument/2006/relationships/image" Target="../media/image22.png"/><Relationship Id="rId10" Type="http://schemas.openxmlformats.org/officeDocument/2006/relationships/image" Target="../media/image27.png"/><Relationship Id="rId4" Type="http://schemas.openxmlformats.org/officeDocument/2006/relationships/image" Target="../media/image21.png"/><Relationship Id="rId9" Type="http://schemas.openxmlformats.org/officeDocument/2006/relationships/image" Target="../media/image26.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7.xml"/><Relationship Id="rId1" Type="http://schemas.openxmlformats.org/officeDocument/2006/relationships/slideLayout" Target="../slideLayouts/slideLayout8.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1.xml"/><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8.xml"/></Relationships>
</file>

<file path=ppt/slides/_rels/slide26.xml.rels><?xml version="1.0" encoding="UTF-8" standalone="yes"?>
<Relationships xmlns="http://schemas.openxmlformats.org/package/2006/relationships"><Relationship Id="rId8" Type="http://schemas.openxmlformats.org/officeDocument/2006/relationships/image" Target="../media/image40.png"/><Relationship Id="rId13" Type="http://schemas.openxmlformats.org/officeDocument/2006/relationships/image" Target="../media/image45.png"/><Relationship Id="rId3" Type="http://schemas.openxmlformats.org/officeDocument/2006/relationships/image" Target="../media/image35.png"/><Relationship Id="rId7" Type="http://schemas.openxmlformats.org/officeDocument/2006/relationships/image" Target="../media/image39.png"/><Relationship Id="rId12" Type="http://schemas.openxmlformats.org/officeDocument/2006/relationships/image" Target="../media/image44.png"/><Relationship Id="rId2" Type="http://schemas.openxmlformats.org/officeDocument/2006/relationships/notesSlide" Target="../notesSlides/notesSlide26.xml"/><Relationship Id="rId1" Type="http://schemas.openxmlformats.org/officeDocument/2006/relationships/slideLayout" Target="../slideLayouts/slideLayout7.xml"/><Relationship Id="rId6" Type="http://schemas.openxmlformats.org/officeDocument/2006/relationships/image" Target="../media/image38.png"/><Relationship Id="rId11" Type="http://schemas.openxmlformats.org/officeDocument/2006/relationships/image" Target="../media/image43.png"/><Relationship Id="rId5" Type="http://schemas.openxmlformats.org/officeDocument/2006/relationships/image" Target="../media/image37.png"/><Relationship Id="rId15" Type="http://schemas.openxmlformats.org/officeDocument/2006/relationships/image" Target="../media/image47.png"/><Relationship Id="rId10" Type="http://schemas.openxmlformats.org/officeDocument/2006/relationships/image" Target="../media/image42.png"/><Relationship Id="rId4" Type="http://schemas.openxmlformats.org/officeDocument/2006/relationships/image" Target="../media/image36.png"/><Relationship Id="rId9" Type="http://schemas.openxmlformats.org/officeDocument/2006/relationships/image" Target="../media/image41.png"/><Relationship Id="rId14" Type="http://schemas.openxmlformats.org/officeDocument/2006/relationships/image" Target="../media/image46.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8.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914400" y="2514600"/>
            <a:ext cx="10362895" cy="1554480"/>
          </a:xfrm>
          <a:prstGeom prst="rect">
            <a:avLst/>
          </a:prstGeom>
          <a:noFill/>
          <a:ln/>
        </p:spPr>
        <p:txBody>
          <a:bodyPr wrap="square" lIns="0" tIns="0" rIns="0" bIns="0" rtlCol="0" anchor="ctr"/>
          <a:lstStyle/>
          <a:p>
            <a:pPr marL="0" indent="0" algn="ctr">
              <a:buNone/>
            </a:pPr>
            <a:r>
              <a:rPr lang="en-US" sz="4400" kern="0" spc="600">
                <a:solidFill>
                  <a:schemeClr val="bg1"/>
                </a:solidFill>
                <a:latin typeface="Trenda IG Text Light" pitchFamily="34" charset="0"/>
                <a:ea typeface="Trenda IG Text Light" pitchFamily="34" charset="-122"/>
                <a:cs typeface="Trenda IG Text Light" pitchFamily="34" charset="-120"/>
              </a:rPr>
              <a:t>ONE EVENT PLATFORM ON SALESFORCE</a:t>
            </a:r>
            <a:endParaRPr lang="en-US" sz="4400"/>
          </a:p>
        </p:txBody>
      </p:sp>
      <p:sp>
        <p:nvSpPr>
          <p:cNvPr id="3" name="Text 0"/>
          <p:cNvSpPr>
            <a:spLocks noGrp="1"/>
          </p:cNvSpPr>
          <p:nvPr>
            <p:ph type="body" idx="101" hasCustomPrompt="1"/>
          </p:nvPr>
        </p:nvSpPr>
        <p:spPr>
          <a:xfrm>
            <a:off x="914400" y="4160520"/>
            <a:ext cx="10362895" cy="457200"/>
          </a:xfrm>
          <a:prstGeom prst="rect">
            <a:avLst/>
          </a:prstGeom>
          <a:noFill/>
          <a:ln/>
        </p:spPr>
        <p:txBody>
          <a:bodyPr wrap="square" lIns="0" tIns="0" rIns="0" bIns="0" rtlCol="0"/>
          <a:lstStyle/>
          <a:p>
            <a:pPr marL="0" indent="0" algn="ctr">
              <a:buNone/>
            </a:pPr>
            <a:r>
              <a:rPr lang="en-US" sz="1800">
                <a:solidFill>
                  <a:schemeClr val="bg1"/>
                </a:solidFill>
              </a:rPr>
              <a:t>Memorial Hermann Health System  ×  Insight Global</a:t>
            </a:r>
            <a:endParaRPr lang="en-US" sz="1800"/>
          </a:p>
        </p:txBody>
      </p:sp>
      <p:sp>
        <p:nvSpPr>
          <p:cNvPr id="4" name="Text 2"/>
          <p:cNvSpPr txBox="1"/>
          <p:nvPr/>
        </p:nvSpPr>
        <p:spPr>
          <a:xfrm>
            <a:off x="914400" y="4709160"/>
            <a:ext cx="10362895" cy="274320"/>
          </a:xfrm>
          <a:prstGeom prst="rect">
            <a:avLst/>
          </a:prstGeom>
          <a:noFill/>
          <a:ln/>
        </p:spPr>
        <p:txBody>
          <a:bodyPr wrap="square" lIns="0" tIns="0" rIns="0" bIns="0" rtlCol="0" anchor="t"/>
          <a:lstStyle/>
          <a:p>
            <a:pPr marL="0" indent="0" algn="ctr">
              <a:buNone/>
            </a:pPr>
            <a:r>
              <a:rPr lang="en-US" sz="1100" kern="0" spc="400">
                <a:solidFill>
                  <a:schemeClr val="bg1"/>
                </a:solidFill>
              </a:rPr>
              <a:t>CLASSES  ·  EVENTS  ·  CONFERENCES  ·  ENGAGEMENT</a:t>
            </a:r>
            <a:endParaRPr lang="en-US" sz="1100"/>
          </a:p>
        </p:txBody>
      </p:sp>
      <p:sp>
        <p:nvSpPr>
          <p:cNvPr id="5" name="Text 3"/>
          <p:cNvSpPr txBox="1"/>
          <p:nvPr/>
        </p:nvSpPr>
        <p:spPr>
          <a:xfrm>
            <a:off x="914400" y="6172200"/>
            <a:ext cx="10362895" cy="274320"/>
          </a:xfrm>
          <a:prstGeom prst="rect">
            <a:avLst/>
          </a:prstGeom>
          <a:noFill/>
          <a:ln/>
        </p:spPr>
        <p:txBody>
          <a:bodyPr wrap="square" lIns="0" tIns="0" rIns="0" bIns="0" rtlCol="0" anchor="t"/>
          <a:lstStyle/>
          <a:p>
            <a:pPr marL="0" indent="0" algn="ctr">
              <a:buNone/>
            </a:pPr>
            <a:r>
              <a:rPr lang="en-US" sz="1100" b="1" kern="0" spc="500">
                <a:solidFill>
                  <a:schemeClr val="bg1"/>
                </a:solidFill>
              </a:rPr>
              <a:t>OCTOBER 2026</a:t>
            </a:r>
            <a:endParaRPr lang="en-US" sz="11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02920" y="658368"/>
            <a:ext cx="11185855" cy="822960"/>
          </a:xfrm>
          <a:prstGeom prst="rect">
            <a:avLst/>
          </a:prstGeom>
          <a:noFill/>
          <a:ln/>
        </p:spPr>
        <p:txBody>
          <a:bodyPr wrap="square" lIns="0" tIns="0" rIns="0" bIns="0" rtlCol="0" anchor="t"/>
          <a:lstStyle/>
          <a:p>
            <a:pPr marL="0" indent="0" algn="l">
              <a:buNone/>
            </a:pPr>
            <a:r>
              <a:rPr lang="en-US" sz="3200" b="1">
                <a:solidFill>
                  <a:schemeClr val="bg1"/>
                </a:solidFill>
              </a:rPr>
              <a:t>Agenda</a:t>
            </a:r>
            <a:endParaRPr lang="en-US" sz="3200"/>
          </a:p>
        </p:txBody>
      </p:sp>
      <p:sp>
        <p:nvSpPr>
          <p:cNvPr id="3" name="circle-1"/>
          <p:cNvSpPr/>
          <p:nvPr/>
        </p:nvSpPr>
        <p:spPr>
          <a:xfrm>
            <a:off x="548640" y="2011680"/>
            <a:ext cx="420624" cy="420624"/>
          </a:xfrm>
          <a:prstGeom prst="ellipse">
            <a:avLst/>
          </a:prstGeom>
          <a:ln w="15875">
            <a:solidFill>
              <a:schemeClr val="bg1"/>
            </a:solidFill>
            <a:prstDash val="solid"/>
          </a:ln>
        </p:spPr>
        <p:txBody>
          <a:bodyPr/>
          <a:lstStyle/>
          <a:p>
            <a:endParaRPr lang="en-IN"/>
          </a:p>
        </p:txBody>
      </p:sp>
      <p:sp>
        <p:nvSpPr>
          <p:cNvPr id="4" name="Text 2"/>
          <p:cNvSpPr txBox="1"/>
          <p:nvPr/>
        </p:nvSpPr>
        <p:spPr>
          <a:xfrm>
            <a:off x="548640" y="2011680"/>
            <a:ext cx="420624" cy="420624"/>
          </a:xfrm>
          <a:prstGeom prst="rect">
            <a:avLst/>
          </a:prstGeom>
          <a:noFill/>
          <a:ln/>
        </p:spPr>
        <p:txBody>
          <a:bodyPr wrap="square" lIns="0" tIns="0" rIns="0" bIns="0" rtlCol="0" anchor="ctr"/>
          <a:lstStyle/>
          <a:p>
            <a:pPr marL="0" indent="0" algn="ctr">
              <a:buNone/>
            </a:pPr>
            <a:r>
              <a:rPr lang="en-US" sz="1400">
                <a:solidFill>
                  <a:schemeClr val="bg1"/>
                </a:solidFill>
              </a:rPr>
              <a:t>1</a:t>
            </a:r>
            <a:endParaRPr lang="en-US" sz="1400"/>
          </a:p>
        </p:txBody>
      </p:sp>
      <p:sp>
        <p:nvSpPr>
          <p:cNvPr id="5" name="Text 3"/>
          <p:cNvSpPr txBox="1"/>
          <p:nvPr/>
        </p:nvSpPr>
        <p:spPr>
          <a:xfrm>
            <a:off x="1188720" y="2011680"/>
            <a:ext cx="4754880" cy="420624"/>
          </a:xfrm>
          <a:prstGeom prst="rect">
            <a:avLst/>
          </a:prstGeom>
          <a:noFill/>
          <a:ln/>
        </p:spPr>
        <p:txBody>
          <a:bodyPr wrap="square" lIns="0" tIns="0" rIns="0" bIns="0" rtlCol="0" anchor="ctr"/>
          <a:lstStyle/>
          <a:p>
            <a:pPr marL="0" indent="0">
              <a:buNone/>
            </a:pPr>
            <a:r>
              <a:rPr lang="en-US" sz="2200">
                <a:solidFill>
                  <a:schemeClr val="bg1"/>
                </a:solidFill>
                <a:latin typeface="Trenda IG Text Light" pitchFamily="34" charset="0"/>
              </a:rPr>
              <a:t>Business opportunity</a:t>
            </a:r>
            <a:endParaRPr lang="en-US" sz="2200"/>
          </a:p>
        </p:txBody>
      </p:sp>
      <p:sp>
        <p:nvSpPr>
          <p:cNvPr id="6" name="circle-2"/>
          <p:cNvSpPr/>
          <p:nvPr/>
        </p:nvSpPr>
        <p:spPr>
          <a:xfrm>
            <a:off x="548640" y="2880360"/>
            <a:ext cx="420624" cy="420624"/>
          </a:xfrm>
          <a:prstGeom prst="ellipse">
            <a:avLst/>
          </a:prstGeom>
          <a:ln w="15875">
            <a:solidFill>
              <a:schemeClr val="bg1"/>
            </a:solidFill>
            <a:prstDash val="solid"/>
          </a:ln>
        </p:spPr>
        <p:txBody>
          <a:bodyPr/>
          <a:lstStyle/>
          <a:p>
            <a:endParaRPr lang="en-IN"/>
          </a:p>
        </p:txBody>
      </p:sp>
      <p:sp>
        <p:nvSpPr>
          <p:cNvPr id="7" name="Text 5"/>
          <p:cNvSpPr txBox="1"/>
          <p:nvPr/>
        </p:nvSpPr>
        <p:spPr>
          <a:xfrm>
            <a:off x="548640" y="2880360"/>
            <a:ext cx="420624" cy="420624"/>
          </a:xfrm>
          <a:prstGeom prst="rect">
            <a:avLst/>
          </a:prstGeom>
          <a:noFill/>
          <a:ln/>
        </p:spPr>
        <p:txBody>
          <a:bodyPr wrap="square" lIns="0" tIns="0" rIns="0" bIns="0" rtlCol="0" anchor="ctr"/>
          <a:lstStyle/>
          <a:p>
            <a:pPr marL="0" indent="0" algn="ctr">
              <a:buNone/>
            </a:pPr>
            <a:r>
              <a:rPr lang="en-US" sz="1400">
                <a:solidFill>
                  <a:schemeClr val="bg1"/>
                </a:solidFill>
              </a:rPr>
              <a:t>2</a:t>
            </a:r>
            <a:endParaRPr lang="en-US" sz="1400"/>
          </a:p>
        </p:txBody>
      </p:sp>
      <p:sp>
        <p:nvSpPr>
          <p:cNvPr id="8" name="Text 6"/>
          <p:cNvSpPr txBox="1"/>
          <p:nvPr/>
        </p:nvSpPr>
        <p:spPr>
          <a:xfrm>
            <a:off x="1188720" y="2880360"/>
            <a:ext cx="4754880" cy="420624"/>
          </a:xfrm>
          <a:prstGeom prst="rect">
            <a:avLst/>
          </a:prstGeom>
          <a:noFill/>
          <a:ln/>
        </p:spPr>
        <p:txBody>
          <a:bodyPr wrap="square" lIns="0" tIns="0" rIns="0" bIns="0" rtlCol="0" anchor="ctr"/>
          <a:lstStyle/>
          <a:p>
            <a:pPr marL="0" indent="0">
              <a:buNone/>
            </a:pPr>
            <a:r>
              <a:rPr lang="en-US" sz="2200">
                <a:solidFill>
                  <a:schemeClr val="bg1"/>
                </a:solidFill>
                <a:latin typeface="Trenda IG Text Light" pitchFamily="34" charset="0"/>
                <a:ea typeface="Trenda IG Text Light" pitchFamily="34" charset="-122"/>
                <a:cs typeface="Trenda IG Text Light" pitchFamily="34" charset="-120"/>
              </a:rPr>
              <a:t>The solution and design</a:t>
            </a:r>
            <a:endParaRPr lang="en-US" sz="2200"/>
          </a:p>
        </p:txBody>
      </p:sp>
      <p:sp>
        <p:nvSpPr>
          <p:cNvPr id="9" name="circle-3"/>
          <p:cNvSpPr/>
          <p:nvPr/>
        </p:nvSpPr>
        <p:spPr>
          <a:xfrm>
            <a:off x="548640" y="3749040"/>
            <a:ext cx="420624" cy="420624"/>
          </a:xfrm>
          <a:prstGeom prst="ellipse">
            <a:avLst/>
          </a:prstGeom>
          <a:ln w="15875">
            <a:solidFill>
              <a:schemeClr val="bg1"/>
            </a:solidFill>
            <a:prstDash val="solid"/>
          </a:ln>
        </p:spPr>
        <p:txBody>
          <a:bodyPr/>
          <a:lstStyle/>
          <a:p>
            <a:endParaRPr lang="en-IN"/>
          </a:p>
        </p:txBody>
      </p:sp>
      <p:sp>
        <p:nvSpPr>
          <p:cNvPr id="10" name="Text 8"/>
          <p:cNvSpPr txBox="1"/>
          <p:nvPr/>
        </p:nvSpPr>
        <p:spPr>
          <a:xfrm>
            <a:off x="548640" y="3749040"/>
            <a:ext cx="420624" cy="420624"/>
          </a:xfrm>
          <a:prstGeom prst="rect">
            <a:avLst/>
          </a:prstGeom>
          <a:noFill/>
          <a:ln/>
        </p:spPr>
        <p:txBody>
          <a:bodyPr wrap="square" lIns="0" tIns="0" rIns="0" bIns="0" rtlCol="0" anchor="ctr"/>
          <a:lstStyle/>
          <a:p>
            <a:pPr marL="0" indent="0" algn="ctr">
              <a:buNone/>
            </a:pPr>
            <a:r>
              <a:rPr lang="en-US" sz="1400">
                <a:solidFill>
                  <a:schemeClr val="bg1"/>
                </a:solidFill>
              </a:rPr>
              <a:t>3</a:t>
            </a:r>
            <a:endParaRPr lang="en-US" sz="1400"/>
          </a:p>
        </p:txBody>
      </p:sp>
      <p:sp>
        <p:nvSpPr>
          <p:cNvPr id="11" name="Text 9"/>
          <p:cNvSpPr txBox="1"/>
          <p:nvPr/>
        </p:nvSpPr>
        <p:spPr>
          <a:xfrm>
            <a:off x="1188720" y="3749040"/>
            <a:ext cx="4754880" cy="420624"/>
          </a:xfrm>
          <a:prstGeom prst="rect">
            <a:avLst/>
          </a:prstGeom>
          <a:noFill/>
          <a:ln/>
        </p:spPr>
        <p:txBody>
          <a:bodyPr wrap="square" lIns="0" tIns="0" rIns="0" bIns="0" rtlCol="0" anchor="ctr"/>
          <a:lstStyle/>
          <a:p>
            <a:pPr marL="0" indent="0">
              <a:buNone/>
            </a:pPr>
            <a:r>
              <a:rPr lang="en-US" sz="2200">
                <a:solidFill>
                  <a:schemeClr val="bg1"/>
                </a:solidFill>
                <a:latin typeface="Trenda IG Text Light" pitchFamily="34" charset="0"/>
                <a:ea typeface="Trenda IG Text Light" pitchFamily="34" charset="-122"/>
                <a:cs typeface="Trenda IG Text Light" pitchFamily="34" charset="-120"/>
              </a:rPr>
              <a:t>Payments and data security</a:t>
            </a:r>
            <a:endParaRPr lang="en-US" sz="2200"/>
          </a:p>
        </p:txBody>
      </p:sp>
      <p:sp>
        <p:nvSpPr>
          <p:cNvPr id="12" name="circle-4"/>
          <p:cNvSpPr/>
          <p:nvPr/>
        </p:nvSpPr>
        <p:spPr>
          <a:xfrm>
            <a:off x="6309360" y="2011680"/>
            <a:ext cx="420624" cy="420624"/>
          </a:xfrm>
          <a:prstGeom prst="ellipse">
            <a:avLst/>
          </a:prstGeom>
          <a:ln w="15875">
            <a:solidFill>
              <a:schemeClr val="bg1"/>
            </a:solidFill>
            <a:prstDash val="solid"/>
          </a:ln>
        </p:spPr>
        <p:txBody>
          <a:bodyPr/>
          <a:lstStyle/>
          <a:p>
            <a:endParaRPr lang="en-IN"/>
          </a:p>
        </p:txBody>
      </p:sp>
      <p:sp>
        <p:nvSpPr>
          <p:cNvPr id="13" name="Text 11"/>
          <p:cNvSpPr txBox="1"/>
          <p:nvPr/>
        </p:nvSpPr>
        <p:spPr>
          <a:xfrm>
            <a:off x="6309360" y="2011680"/>
            <a:ext cx="420624" cy="420624"/>
          </a:xfrm>
          <a:prstGeom prst="rect">
            <a:avLst/>
          </a:prstGeom>
          <a:noFill/>
          <a:ln/>
        </p:spPr>
        <p:txBody>
          <a:bodyPr wrap="square" lIns="0" tIns="0" rIns="0" bIns="0" rtlCol="0" anchor="ctr"/>
          <a:lstStyle/>
          <a:p>
            <a:pPr marL="0" indent="0" algn="ctr">
              <a:buNone/>
            </a:pPr>
            <a:r>
              <a:rPr lang="en-US" sz="1400">
                <a:solidFill>
                  <a:schemeClr val="bg1"/>
                </a:solidFill>
              </a:rPr>
              <a:t>4</a:t>
            </a:r>
            <a:endParaRPr lang="en-US" sz="1400"/>
          </a:p>
        </p:txBody>
      </p:sp>
      <p:sp>
        <p:nvSpPr>
          <p:cNvPr id="14" name="Text 12"/>
          <p:cNvSpPr txBox="1"/>
          <p:nvPr/>
        </p:nvSpPr>
        <p:spPr>
          <a:xfrm>
            <a:off x="6949440" y="2011680"/>
            <a:ext cx="4754880" cy="420624"/>
          </a:xfrm>
          <a:prstGeom prst="rect">
            <a:avLst/>
          </a:prstGeom>
          <a:noFill/>
          <a:ln/>
        </p:spPr>
        <p:txBody>
          <a:bodyPr wrap="square" lIns="0" tIns="0" rIns="0" bIns="0" rtlCol="0" anchor="ctr"/>
          <a:lstStyle/>
          <a:p>
            <a:pPr marL="0" indent="0">
              <a:buNone/>
            </a:pPr>
            <a:r>
              <a:rPr lang="en-US" sz="2200">
                <a:solidFill>
                  <a:schemeClr val="bg1"/>
                </a:solidFill>
                <a:latin typeface="Trenda IG Text Light" pitchFamily="34" charset="0"/>
                <a:ea typeface="Trenda IG Text Light" pitchFamily="34" charset="-122"/>
                <a:cs typeface="Trenda IG Text Light" pitchFamily="34" charset="-120"/>
              </a:rPr>
              <a:t>Delivery timeline</a:t>
            </a:r>
            <a:endParaRPr lang="en-US" sz="2200"/>
          </a:p>
        </p:txBody>
      </p:sp>
      <p:sp>
        <p:nvSpPr>
          <p:cNvPr id="15" name="circle-5"/>
          <p:cNvSpPr/>
          <p:nvPr/>
        </p:nvSpPr>
        <p:spPr>
          <a:xfrm>
            <a:off x="6309360" y="2880360"/>
            <a:ext cx="420624" cy="420624"/>
          </a:xfrm>
          <a:prstGeom prst="ellipse">
            <a:avLst/>
          </a:prstGeom>
          <a:ln w="15875">
            <a:solidFill>
              <a:schemeClr val="bg1"/>
            </a:solidFill>
            <a:prstDash val="solid"/>
          </a:ln>
        </p:spPr>
        <p:txBody>
          <a:bodyPr/>
          <a:lstStyle/>
          <a:p>
            <a:endParaRPr lang="en-IN"/>
          </a:p>
        </p:txBody>
      </p:sp>
      <p:sp>
        <p:nvSpPr>
          <p:cNvPr id="16" name="Text 14"/>
          <p:cNvSpPr txBox="1"/>
          <p:nvPr/>
        </p:nvSpPr>
        <p:spPr>
          <a:xfrm>
            <a:off x="6309360" y="2880360"/>
            <a:ext cx="420624" cy="420624"/>
          </a:xfrm>
          <a:prstGeom prst="rect">
            <a:avLst/>
          </a:prstGeom>
          <a:noFill/>
          <a:ln/>
        </p:spPr>
        <p:txBody>
          <a:bodyPr wrap="square" lIns="0" tIns="0" rIns="0" bIns="0" rtlCol="0" anchor="ctr"/>
          <a:lstStyle/>
          <a:p>
            <a:pPr marL="0" indent="0" algn="ctr">
              <a:buNone/>
            </a:pPr>
            <a:r>
              <a:rPr lang="en-US" sz="1400">
                <a:solidFill>
                  <a:schemeClr val="bg1"/>
                </a:solidFill>
              </a:rPr>
              <a:t>5</a:t>
            </a:r>
            <a:endParaRPr lang="en-US" sz="1400"/>
          </a:p>
        </p:txBody>
      </p:sp>
      <p:sp>
        <p:nvSpPr>
          <p:cNvPr id="17" name="Text 15"/>
          <p:cNvSpPr txBox="1"/>
          <p:nvPr/>
        </p:nvSpPr>
        <p:spPr>
          <a:xfrm>
            <a:off x="6949440" y="2880360"/>
            <a:ext cx="4754880" cy="420624"/>
          </a:xfrm>
          <a:prstGeom prst="rect">
            <a:avLst/>
          </a:prstGeom>
          <a:noFill/>
          <a:ln/>
        </p:spPr>
        <p:txBody>
          <a:bodyPr wrap="square" lIns="0" tIns="0" rIns="0" bIns="0" rtlCol="0" anchor="ctr"/>
          <a:lstStyle/>
          <a:p>
            <a:pPr marL="0" indent="0">
              <a:buNone/>
            </a:pPr>
            <a:r>
              <a:rPr lang="en-US" sz="2200">
                <a:solidFill>
                  <a:schemeClr val="bg1"/>
                </a:solidFill>
                <a:latin typeface="Trenda IG Text Light" pitchFamily="34" charset="0"/>
                <a:ea typeface="Trenda IG Text Light" pitchFamily="34" charset="-122"/>
                <a:cs typeface="Trenda IG Text Light" pitchFamily="34" charset="-120"/>
              </a:rPr>
              <a:t>Beyond the event</a:t>
            </a:r>
            <a:endParaRPr lang="en-US" sz="2200"/>
          </a:p>
        </p:txBody>
      </p:sp>
      <p:sp>
        <p:nvSpPr>
          <p:cNvPr id="18" name="circle-6"/>
          <p:cNvSpPr/>
          <p:nvPr/>
        </p:nvSpPr>
        <p:spPr>
          <a:xfrm>
            <a:off x="6309360" y="3749040"/>
            <a:ext cx="420624" cy="420624"/>
          </a:xfrm>
          <a:prstGeom prst="ellipse">
            <a:avLst/>
          </a:prstGeom>
          <a:ln w="15875">
            <a:solidFill>
              <a:schemeClr val="bg1"/>
            </a:solidFill>
            <a:prstDash val="solid"/>
          </a:ln>
        </p:spPr>
        <p:txBody>
          <a:bodyPr/>
          <a:lstStyle/>
          <a:p>
            <a:endParaRPr lang="en-IN"/>
          </a:p>
        </p:txBody>
      </p:sp>
      <p:sp>
        <p:nvSpPr>
          <p:cNvPr id="19" name="Text 17"/>
          <p:cNvSpPr txBox="1"/>
          <p:nvPr/>
        </p:nvSpPr>
        <p:spPr>
          <a:xfrm>
            <a:off x="6309360" y="3749040"/>
            <a:ext cx="420624" cy="420624"/>
          </a:xfrm>
          <a:prstGeom prst="rect">
            <a:avLst/>
          </a:prstGeom>
          <a:noFill/>
          <a:ln/>
        </p:spPr>
        <p:txBody>
          <a:bodyPr wrap="square" lIns="0" tIns="0" rIns="0" bIns="0" rtlCol="0" anchor="ctr"/>
          <a:lstStyle/>
          <a:p>
            <a:pPr marL="0" indent="0" algn="ctr">
              <a:buNone/>
            </a:pPr>
            <a:r>
              <a:rPr lang="en-US" sz="1400">
                <a:solidFill>
                  <a:schemeClr val="bg1"/>
                </a:solidFill>
              </a:rPr>
              <a:t>6</a:t>
            </a:r>
            <a:endParaRPr lang="en-US" sz="1400"/>
          </a:p>
        </p:txBody>
      </p:sp>
      <p:sp>
        <p:nvSpPr>
          <p:cNvPr id="20" name="Text 18"/>
          <p:cNvSpPr txBox="1"/>
          <p:nvPr/>
        </p:nvSpPr>
        <p:spPr>
          <a:xfrm>
            <a:off x="6949440" y="3749040"/>
            <a:ext cx="4754880" cy="420624"/>
          </a:xfrm>
          <a:prstGeom prst="rect">
            <a:avLst/>
          </a:prstGeom>
          <a:noFill/>
          <a:ln/>
        </p:spPr>
        <p:txBody>
          <a:bodyPr wrap="square" lIns="0" tIns="0" rIns="0" bIns="0" rtlCol="0" anchor="ctr"/>
          <a:lstStyle/>
          <a:p>
            <a:pPr marL="0" indent="0">
              <a:buNone/>
            </a:pPr>
            <a:r>
              <a:rPr lang="en-US" sz="2200">
                <a:solidFill>
                  <a:schemeClr val="bg1"/>
                </a:solidFill>
                <a:latin typeface="Trenda IG Text Light" pitchFamily="34" charset="0"/>
                <a:ea typeface="Trenda IG Text Light" pitchFamily="34" charset="-122"/>
                <a:cs typeface="Trenda IG Text Light" pitchFamily="34" charset="-120"/>
              </a:rPr>
              <a:t>Roadmap and next steps</a:t>
            </a:r>
            <a:endParaRPr lang="en-US" sz="2200"/>
          </a:p>
        </p:txBody>
      </p:sp>
      <p:sp>
        <p:nvSpPr>
          <p:cNvPr id="25" name="Slide Number Placeholder 0"/>
          <p:cNvSpPr>
            <a:spLocks noGrp="1"/>
          </p:cNvSpPr>
          <p:nvPr>
            <p:ph type="sldNum" sz="quarter" idx="4294967295"/>
          </p:nvPr>
        </p:nvSpPr>
        <p:spPr>
          <a:xfrm>
            <a:off x="11292840" y="6336792"/>
            <a:ext cx="457200" cy="22860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bg1"/>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02920" y="658368"/>
            <a:ext cx="11185855" cy="822960"/>
          </a:xfrm>
          <a:prstGeom prst="rect">
            <a:avLst/>
          </a:prstGeom>
          <a:noFill/>
          <a:ln/>
        </p:spPr>
        <p:txBody>
          <a:bodyPr wrap="square" lIns="0" tIns="0" rIns="0" bIns="0" rtlCol="0" anchor="t"/>
          <a:lstStyle/>
          <a:p>
            <a:pPr marL="0" indent="0" algn="l">
              <a:buNone/>
            </a:pPr>
            <a:r>
              <a:rPr lang="en-US"/>
              <a:t>Business Opportunity</a:t>
            </a:r>
            <a:endParaRPr lang="en-US" sz="3200"/>
          </a:p>
        </p:txBody>
      </p:sp>
      <p:sp>
        <p:nvSpPr>
          <p:cNvPr id="3" name="Text 1"/>
          <p:cNvSpPr txBox="1"/>
          <p:nvPr/>
        </p:nvSpPr>
        <p:spPr>
          <a:xfrm>
            <a:off x="576072" y="1600200"/>
            <a:ext cx="2231136" cy="384048"/>
          </a:xfrm>
          <a:prstGeom prst="rect">
            <a:avLst/>
          </a:prstGeom>
          <a:noFill/>
          <a:ln/>
        </p:spPr>
        <p:txBody>
          <a:bodyPr wrap="square" lIns="0" tIns="0" rIns="0" bIns="0" rtlCol="0" anchor="b"/>
          <a:lstStyle/>
          <a:p>
            <a:pPr marL="0" indent="0">
              <a:buNone/>
            </a:pPr>
            <a:r>
              <a:rPr lang="en-US" sz="1500" b="1">
                <a:solidFill>
                  <a:schemeClr val="tx1"/>
                </a:solidFill>
              </a:rPr>
              <a:t>Area</a:t>
            </a:r>
            <a:endParaRPr lang="en-US" sz="1500"/>
          </a:p>
        </p:txBody>
      </p:sp>
      <p:sp>
        <p:nvSpPr>
          <p:cNvPr id="4" name="Text 2"/>
          <p:cNvSpPr txBox="1"/>
          <p:nvPr/>
        </p:nvSpPr>
        <p:spPr>
          <a:xfrm>
            <a:off x="2953512" y="1600200"/>
            <a:ext cx="4334256" cy="384048"/>
          </a:xfrm>
          <a:prstGeom prst="rect">
            <a:avLst/>
          </a:prstGeom>
          <a:noFill/>
          <a:ln/>
        </p:spPr>
        <p:txBody>
          <a:bodyPr wrap="square" lIns="0" tIns="0" rIns="0" bIns="0" rtlCol="0" anchor="b"/>
          <a:lstStyle/>
          <a:p>
            <a:pPr marL="0" indent="0">
              <a:buNone/>
            </a:pPr>
            <a:r>
              <a:rPr lang="en-US" sz="1500" b="1">
                <a:solidFill>
                  <a:schemeClr val="tx1"/>
                </a:solidFill>
              </a:rPr>
              <a:t>Today</a:t>
            </a:r>
            <a:endParaRPr lang="en-US" sz="1500"/>
          </a:p>
        </p:txBody>
      </p:sp>
      <p:sp>
        <p:nvSpPr>
          <p:cNvPr id="5" name="Text 3"/>
          <p:cNvSpPr txBox="1"/>
          <p:nvPr/>
        </p:nvSpPr>
        <p:spPr>
          <a:xfrm>
            <a:off x="7434072" y="1600200"/>
            <a:ext cx="4178808" cy="384048"/>
          </a:xfrm>
          <a:prstGeom prst="rect">
            <a:avLst/>
          </a:prstGeom>
          <a:noFill/>
          <a:ln/>
        </p:spPr>
        <p:txBody>
          <a:bodyPr wrap="square" lIns="0" tIns="0" rIns="0" bIns="0" rtlCol="0" anchor="b"/>
          <a:lstStyle/>
          <a:p>
            <a:pPr marL="0" indent="0">
              <a:buNone/>
            </a:pPr>
            <a:r>
              <a:rPr lang="en-US" sz="1500" b="1">
                <a:solidFill>
                  <a:schemeClr val="tx1"/>
                </a:solidFill>
              </a:rPr>
              <a:t>With one platform</a:t>
            </a:r>
            <a:endParaRPr lang="en-US" sz="1500"/>
          </a:p>
        </p:txBody>
      </p:sp>
      <p:sp>
        <p:nvSpPr>
          <p:cNvPr id="6" name="Shape 4"/>
          <p:cNvSpPr/>
          <p:nvPr/>
        </p:nvSpPr>
        <p:spPr>
          <a:xfrm>
            <a:off x="502920" y="2057400"/>
            <a:ext cx="11183112" cy="0"/>
          </a:xfrm>
          <a:prstGeom prst="line">
            <a:avLst/>
          </a:prstGeom>
          <a:noFill/>
          <a:ln w="19050">
            <a:solidFill>
              <a:schemeClr val="tx1"/>
            </a:solidFill>
            <a:prstDash val="solid"/>
          </a:ln>
        </p:spPr>
        <p:txBody>
          <a:bodyPr/>
          <a:lstStyle/>
          <a:p>
            <a:endParaRPr lang="en-IN"/>
          </a:p>
        </p:txBody>
      </p:sp>
      <p:sp>
        <p:nvSpPr>
          <p:cNvPr id="7" name="Text 5"/>
          <p:cNvSpPr txBox="1"/>
          <p:nvPr/>
        </p:nvSpPr>
        <p:spPr>
          <a:xfrm>
            <a:off x="576072" y="2130552"/>
            <a:ext cx="2231136" cy="548640"/>
          </a:xfrm>
          <a:prstGeom prst="rect">
            <a:avLst/>
          </a:prstGeom>
          <a:noFill/>
          <a:ln/>
        </p:spPr>
        <p:txBody>
          <a:bodyPr wrap="square" lIns="0" tIns="0" rIns="0" bIns="0" rtlCol="0" anchor="ctr"/>
          <a:lstStyle/>
          <a:p>
            <a:pPr marL="0" indent="0">
              <a:buNone/>
            </a:pPr>
            <a:r>
              <a:rPr lang="en-US" sz="1300" b="1">
                <a:solidFill>
                  <a:schemeClr val="tx1"/>
                </a:solidFill>
              </a:rPr>
              <a:t>Classes and events</a:t>
            </a:r>
            <a:endParaRPr lang="en-US" sz="1300"/>
          </a:p>
        </p:txBody>
      </p:sp>
      <p:sp>
        <p:nvSpPr>
          <p:cNvPr id="8" name="Text 6"/>
          <p:cNvSpPr txBox="1"/>
          <p:nvPr/>
        </p:nvSpPr>
        <p:spPr>
          <a:xfrm>
            <a:off x="2953512" y="2130552"/>
            <a:ext cx="4334256" cy="548640"/>
          </a:xfrm>
          <a:prstGeom prst="rect">
            <a:avLst/>
          </a:prstGeom>
          <a:noFill/>
          <a:ln/>
        </p:spPr>
        <p:txBody>
          <a:bodyPr wrap="square" lIns="0" tIns="0" rIns="0" bIns="0" rtlCol="0" anchor="ctr"/>
          <a:lstStyle/>
          <a:p>
            <a:pPr marL="0" indent="0">
              <a:buNone/>
            </a:pPr>
            <a:r>
              <a:rPr lang="en-US" sz="1300">
                <a:solidFill>
                  <a:srgbClr val="4D4D4D"/>
                </a:solidFill>
              </a:rPr>
              <a:t>Home-built on Salesforce + Sitecore; payments through Chase</a:t>
            </a:r>
            <a:endParaRPr lang="en-US" sz="1300"/>
          </a:p>
        </p:txBody>
      </p:sp>
      <p:sp>
        <p:nvSpPr>
          <p:cNvPr id="9" name="Text 7"/>
          <p:cNvSpPr txBox="1"/>
          <p:nvPr/>
        </p:nvSpPr>
        <p:spPr>
          <a:xfrm>
            <a:off x="7434072" y="2130552"/>
            <a:ext cx="4178808" cy="548640"/>
          </a:xfrm>
          <a:prstGeom prst="rect">
            <a:avLst/>
          </a:prstGeom>
          <a:noFill/>
          <a:ln/>
        </p:spPr>
        <p:txBody>
          <a:bodyPr wrap="square" lIns="0" tIns="0" rIns="0" bIns="0" rtlCol="0" anchor="ctr"/>
          <a:lstStyle/>
          <a:p>
            <a:pPr marL="0" indent="0">
              <a:buNone/>
            </a:pPr>
            <a:r>
              <a:rPr lang="en-US" sz="1300">
                <a:solidFill>
                  <a:srgbClr val="4D4D4D"/>
                </a:solidFill>
              </a:rPr>
              <a:t>One Salesforce event app for every class, tour and seminar</a:t>
            </a:r>
            <a:endParaRPr lang="en-US" sz="1300"/>
          </a:p>
        </p:txBody>
      </p:sp>
      <p:sp>
        <p:nvSpPr>
          <p:cNvPr id="10" name="Shape 8"/>
          <p:cNvSpPr/>
          <p:nvPr/>
        </p:nvSpPr>
        <p:spPr>
          <a:xfrm>
            <a:off x="502920" y="2715768"/>
            <a:ext cx="11183112" cy="0"/>
          </a:xfrm>
          <a:prstGeom prst="line">
            <a:avLst/>
          </a:prstGeom>
          <a:noFill/>
          <a:ln w="9525">
            <a:solidFill>
              <a:srgbClr val="8C8C8C"/>
            </a:solidFill>
            <a:prstDash val="sysDot"/>
          </a:ln>
        </p:spPr>
        <p:txBody>
          <a:bodyPr/>
          <a:lstStyle/>
          <a:p>
            <a:endParaRPr lang="en-IN"/>
          </a:p>
        </p:txBody>
      </p:sp>
      <p:sp>
        <p:nvSpPr>
          <p:cNvPr id="11" name="Text 9"/>
          <p:cNvSpPr txBox="1"/>
          <p:nvPr/>
        </p:nvSpPr>
        <p:spPr>
          <a:xfrm>
            <a:off x="576072" y="2788920"/>
            <a:ext cx="2231136" cy="548640"/>
          </a:xfrm>
          <a:prstGeom prst="rect">
            <a:avLst/>
          </a:prstGeom>
          <a:noFill/>
          <a:ln/>
        </p:spPr>
        <p:txBody>
          <a:bodyPr wrap="square" lIns="0" tIns="0" rIns="0" bIns="0" rtlCol="0" anchor="ctr"/>
          <a:lstStyle/>
          <a:p>
            <a:pPr marL="0" indent="0">
              <a:buNone/>
            </a:pPr>
            <a:r>
              <a:rPr lang="en-US" sz="1300" b="1">
                <a:solidFill>
                  <a:schemeClr val="tx1"/>
                </a:solidFill>
              </a:rPr>
              <a:t>Conferences</a:t>
            </a:r>
            <a:endParaRPr lang="en-US" sz="1300"/>
          </a:p>
        </p:txBody>
      </p:sp>
      <p:sp>
        <p:nvSpPr>
          <p:cNvPr id="12" name="Text 10"/>
          <p:cNvSpPr txBox="1"/>
          <p:nvPr/>
        </p:nvSpPr>
        <p:spPr>
          <a:xfrm>
            <a:off x="2953512" y="2788920"/>
            <a:ext cx="4334256" cy="548640"/>
          </a:xfrm>
          <a:prstGeom prst="rect">
            <a:avLst/>
          </a:prstGeom>
          <a:noFill/>
          <a:ln/>
        </p:spPr>
        <p:txBody>
          <a:bodyPr wrap="square" lIns="0" tIns="0" rIns="0" bIns="0" rtlCol="0" anchor="ctr"/>
          <a:lstStyle/>
          <a:p>
            <a:pPr marL="0" indent="0">
              <a:buNone/>
            </a:pPr>
            <a:r>
              <a:rPr lang="en-US" sz="1300">
                <a:solidFill>
                  <a:srgbClr val="4D4D4D"/>
                </a:solidFill>
              </a:rPr>
              <a:t>Certain for 1 to 2 multi-day events a year; Authorize.net</a:t>
            </a:r>
            <a:endParaRPr lang="en-US" sz="1300"/>
          </a:p>
        </p:txBody>
      </p:sp>
      <p:sp>
        <p:nvSpPr>
          <p:cNvPr id="13" name="Text 11"/>
          <p:cNvSpPr txBox="1"/>
          <p:nvPr/>
        </p:nvSpPr>
        <p:spPr>
          <a:xfrm>
            <a:off x="7434072" y="2788920"/>
            <a:ext cx="4178808" cy="548640"/>
          </a:xfrm>
          <a:prstGeom prst="rect">
            <a:avLst/>
          </a:prstGeom>
          <a:noFill/>
          <a:ln/>
        </p:spPr>
        <p:txBody>
          <a:bodyPr wrap="square" lIns="0" tIns="0" rIns="0" bIns="0" rtlCol="0" anchor="ctr"/>
          <a:lstStyle/>
          <a:p>
            <a:pPr marL="0" indent="0">
              <a:buNone/>
            </a:pPr>
            <a:r>
              <a:rPr lang="en-US" sz="1300">
                <a:solidFill>
                  <a:srgbClr val="4D4D4D"/>
                </a:solidFill>
              </a:rPr>
              <a:t>Same app with sessions, tracks and speakers; Certain retired</a:t>
            </a:r>
            <a:endParaRPr lang="en-US" sz="1300"/>
          </a:p>
        </p:txBody>
      </p:sp>
      <p:sp>
        <p:nvSpPr>
          <p:cNvPr id="14" name="Shape 12"/>
          <p:cNvSpPr/>
          <p:nvPr/>
        </p:nvSpPr>
        <p:spPr>
          <a:xfrm>
            <a:off x="502920" y="3374136"/>
            <a:ext cx="11183112" cy="0"/>
          </a:xfrm>
          <a:prstGeom prst="line">
            <a:avLst/>
          </a:prstGeom>
          <a:noFill/>
          <a:ln w="9525">
            <a:solidFill>
              <a:srgbClr val="8C8C8C"/>
            </a:solidFill>
            <a:prstDash val="sysDot"/>
          </a:ln>
        </p:spPr>
        <p:txBody>
          <a:bodyPr/>
          <a:lstStyle/>
          <a:p>
            <a:endParaRPr lang="en-IN"/>
          </a:p>
        </p:txBody>
      </p:sp>
      <p:sp>
        <p:nvSpPr>
          <p:cNvPr id="15" name="Text 13"/>
          <p:cNvSpPr txBox="1"/>
          <p:nvPr/>
        </p:nvSpPr>
        <p:spPr>
          <a:xfrm>
            <a:off x="576072" y="3447288"/>
            <a:ext cx="2231136" cy="548640"/>
          </a:xfrm>
          <a:prstGeom prst="rect">
            <a:avLst/>
          </a:prstGeom>
          <a:noFill/>
          <a:ln/>
        </p:spPr>
        <p:txBody>
          <a:bodyPr wrap="square" lIns="0" tIns="0" rIns="0" bIns="0" rtlCol="0" anchor="ctr"/>
          <a:lstStyle/>
          <a:p>
            <a:pPr marL="0" indent="0">
              <a:buNone/>
            </a:pPr>
            <a:r>
              <a:rPr lang="en-US" sz="1300" b="1">
                <a:solidFill>
                  <a:schemeClr val="tx1"/>
                </a:solidFill>
              </a:rPr>
              <a:t>Who registers</a:t>
            </a:r>
            <a:endParaRPr lang="en-US" sz="1300"/>
          </a:p>
        </p:txBody>
      </p:sp>
      <p:sp>
        <p:nvSpPr>
          <p:cNvPr id="16" name="Text 14"/>
          <p:cNvSpPr txBox="1"/>
          <p:nvPr/>
        </p:nvSpPr>
        <p:spPr>
          <a:xfrm>
            <a:off x="2953512" y="3447288"/>
            <a:ext cx="4334256" cy="548640"/>
          </a:xfrm>
          <a:prstGeom prst="rect">
            <a:avLst/>
          </a:prstGeom>
          <a:noFill/>
          <a:ln/>
        </p:spPr>
        <p:txBody>
          <a:bodyPr wrap="square" lIns="0" tIns="0" rIns="0" bIns="0" rtlCol="0" anchor="ctr"/>
          <a:lstStyle/>
          <a:p>
            <a:pPr marL="0" indent="0">
              <a:buNone/>
            </a:pPr>
            <a:r>
              <a:rPr lang="en-US" sz="1300">
                <a:solidFill>
                  <a:srgbClr val="4D4D4D"/>
                </a:solidFill>
              </a:rPr>
              <a:t>Consumers, caregivers and providers</a:t>
            </a:r>
            <a:endParaRPr lang="en-US" sz="1300"/>
          </a:p>
        </p:txBody>
      </p:sp>
      <p:sp>
        <p:nvSpPr>
          <p:cNvPr id="17" name="Text 15"/>
          <p:cNvSpPr txBox="1"/>
          <p:nvPr/>
        </p:nvSpPr>
        <p:spPr>
          <a:xfrm>
            <a:off x="7434072" y="3447288"/>
            <a:ext cx="4178808" cy="548640"/>
          </a:xfrm>
          <a:prstGeom prst="rect">
            <a:avLst/>
          </a:prstGeom>
          <a:noFill/>
          <a:ln/>
        </p:spPr>
        <p:txBody>
          <a:bodyPr wrap="square" lIns="0" tIns="0" rIns="0" bIns="0" rtlCol="0" anchor="ctr"/>
          <a:lstStyle/>
          <a:p>
            <a:pPr marL="0" indent="0">
              <a:buNone/>
            </a:pPr>
            <a:r>
              <a:rPr lang="en-US" sz="1300">
                <a:solidFill>
                  <a:srgbClr val="4D4D4D"/>
                </a:solidFill>
              </a:rPr>
              <a:t>One profile per person, matched to Health Cloud</a:t>
            </a:r>
            <a:endParaRPr lang="en-US" sz="1300"/>
          </a:p>
        </p:txBody>
      </p:sp>
      <p:sp>
        <p:nvSpPr>
          <p:cNvPr id="18" name="Shape 16"/>
          <p:cNvSpPr/>
          <p:nvPr/>
        </p:nvSpPr>
        <p:spPr>
          <a:xfrm>
            <a:off x="502920" y="4032504"/>
            <a:ext cx="11183112" cy="0"/>
          </a:xfrm>
          <a:prstGeom prst="line">
            <a:avLst/>
          </a:prstGeom>
          <a:noFill/>
          <a:ln w="9525">
            <a:solidFill>
              <a:srgbClr val="8C8C8C"/>
            </a:solidFill>
            <a:prstDash val="sysDot"/>
          </a:ln>
        </p:spPr>
        <p:txBody>
          <a:bodyPr/>
          <a:lstStyle/>
          <a:p>
            <a:endParaRPr lang="en-IN"/>
          </a:p>
        </p:txBody>
      </p:sp>
      <p:sp>
        <p:nvSpPr>
          <p:cNvPr id="19" name="Text 17"/>
          <p:cNvSpPr txBox="1"/>
          <p:nvPr/>
        </p:nvSpPr>
        <p:spPr>
          <a:xfrm>
            <a:off x="576072" y="4105656"/>
            <a:ext cx="2231136" cy="548640"/>
          </a:xfrm>
          <a:prstGeom prst="rect">
            <a:avLst/>
          </a:prstGeom>
          <a:noFill/>
          <a:ln/>
        </p:spPr>
        <p:txBody>
          <a:bodyPr wrap="square" lIns="0" tIns="0" rIns="0" bIns="0" rtlCol="0" anchor="ctr"/>
          <a:lstStyle/>
          <a:p>
            <a:pPr marL="0" indent="0">
              <a:buNone/>
            </a:pPr>
            <a:r>
              <a:rPr lang="en-US" sz="1300" b="1">
                <a:solidFill>
                  <a:schemeClr val="tx1"/>
                </a:solidFill>
              </a:rPr>
              <a:t>Platform</a:t>
            </a:r>
            <a:endParaRPr lang="en-US" sz="1300"/>
          </a:p>
        </p:txBody>
      </p:sp>
      <p:sp>
        <p:nvSpPr>
          <p:cNvPr id="20" name="Text 18"/>
          <p:cNvSpPr txBox="1"/>
          <p:nvPr/>
        </p:nvSpPr>
        <p:spPr>
          <a:xfrm>
            <a:off x="2953512" y="4105656"/>
            <a:ext cx="4334256" cy="548640"/>
          </a:xfrm>
          <a:prstGeom prst="rect">
            <a:avLst/>
          </a:prstGeom>
          <a:noFill/>
          <a:ln/>
        </p:spPr>
        <p:txBody>
          <a:bodyPr wrap="square" lIns="0" tIns="0" rIns="0" bIns="0" rtlCol="0" anchor="ctr"/>
          <a:lstStyle/>
          <a:p>
            <a:pPr marL="0" indent="0">
              <a:buNone/>
            </a:pPr>
            <a:r>
              <a:rPr lang="en-US" sz="1300">
                <a:solidFill>
                  <a:srgbClr val="4D4D4D"/>
                </a:solidFill>
              </a:rPr>
              <a:t>Health Cloud and Marketing Cloud</a:t>
            </a:r>
            <a:endParaRPr lang="en-US" sz="1300"/>
          </a:p>
        </p:txBody>
      </p:sp>
      <p:sp>
        <p:nvSpPr>
          <p:cNvPr id="21" name="Text 19"/>
          <p:cNvSpPr txBox="1"/>
          <p:nvPr/>
        </p:nvSpPr>
        <p:spPr>
          <a:xfrm>
            <a:off x="7434072" y="4105656"/>
            <a:ext cx="4178808" cy="548640"/>
          </a:xfrm>
          <a:prstGeom prst="rect">
            <a:avLst/>
          </a:prstGeom>
          <a:noFill/>
          <a:ln/>
        </p:spPr>
        <p:txBody>
          <a:bodyPr wrap="square" lIns="0" tIns="0" rIns="0" bIns="0" rtlCol="0" anchor="ctr"/>
          <a:lstStyle/>
          <a:p>
            <a:pPr marL="0" indent="0">
              <a:buNone/>
            </a:pPr>
            <a:r>
              <a:rPr lang="en-US" sz="1300">
                <a:solidFill>
                  <a:srgbClr val="4D4D4D"/>
                </a:solidFill>
              </a:rPr>
              <a:t>Built on what Memorial Hermann already owns</a:t>
            </a:r>
            <a:endParaRPr lang="en-US" sz="1300"/>
          </a:p>
        </p:txBody>
      </p:sp>
      <p:sp>
        <p:nvSpPr>
          <p:cNvPr id="22" name="Shape 20"/>
          <p:cNvSpPr/>
          <p:nvPr/>
        </p:nvSpPr>
        <p:spPr>
          <a:xfrm>
            <a:off x="502920" y="4690872"/>
            <a:ext cx="11183112" cy="0"/>
          </a:xfrm>
          <a:prstGeom prst="line">
            <a:avLst/>
          </a:prstGeom>
          <a:noFill/>
          <a:ln w="9525">
            <a:solidFill>
              <a:srgbClr val="8C8C8C"/>
            </a:solidFill>
            <a:prstDash val="sysDot"/>
          </a:ln>
        </p:spPr>
        <p:txBody>
          <a:bodyPr/>
          <a:lstStyle/>
          <a:p>
            <a:endParaRPr lang="en-IN"/>
          </a:p>
        </p:txBody>
      </p:sp>
      <p:sp>
        <p:nvSpPr>
          <p:cNvPr id="23" name="Text 21"/>
          <p:cNvSpPr txBox="1"/>
          <p:nvPr/>
        </p:nvSpPr>
        <p:spPr>
          <a:xfrm>
            <a:off x="576072" y="4764024"/>
            <a:ext cx="2231136" cy="548640"/>
          </a:xfrm>
          <a:prstGeom prst="rect">
            <a:avLst/>
          </a:prstGeom>
          <a:noFill/>
          <a:ln/>
        </p:spPr>
        <p:txBody>
          <a:bodyPr wrap="square" lIns="0" tIns="0" rIns="0" bIns="0" rtlCol="0" anchor="ctr"/>
          <a:lstStyle/>
          <a:p>
            <a:pPr marL="0" indent="0">
              <a:buNone/>
            </a:pPr>
            <a:r>
              <a:rPr lang="en-US" sz="1300" b="1">
                <a:solidFill>
                  <a:schemeClr val="tx1"/>
                </a:solidFill>
              </a:rPr>
              <a:t>Epic</a:t>
            </a:r>
            <a:endParaRPr lang="en-US" sz="1300"/>
          </a:p>
        </p:txBody>
      </p:sp>
      <p:sp>
        <p:nvSpPr>
          <p:cNvPr id="24" name="Text 22"/>
          <p:cNvSpPr txBox="1"/>
          <p:nvPr/>
        </p:nvSpPr>
        <p:spPr>
          <a:xfrm>
            <a:off x="2953512" y="4764024"/>
            <a:ext cx="4334256" cy="548640"/>
          </a:xfrm>
          <a:prstGeom prst="rect">
            <a:avLst/>
          </a:prstGeom>
          <a:noFill/>
          <a:ln/>
        </p:spPr>
        <p:txBody>
          <a:bodyPr wrap="square" lIns="0" tIns="0" rIns="0" bIns="0" rtlCol="0" anchor="ctr"/>
          <a:lstStyle/>
          <a:p>
            <a:pPr marL="0" indent="0">
              <a:buNone/>
            </a:pPr>
            <a:r>
              <a:rPr lang="en-US" sz="1300">
                <a:solidFill>
                  <a:srgbClr val="4D4D4D"/>
                </a:solidFill>
              </a:rPr>
              <a:t>Not needed for this use case</a:t>
            </a:r>
            <a:endParaRPr lang="en-US" sz="1300"/>
          </a:p>
        </p:txBody>
      </p:sp>
      <p:sp>
        <p:nvSpPr>
          <p:cNvPr id="25" name="Text 23"/>
          <p:cNvSpPr txBox="1"/>
          <p:nvPr/>
        </p:nvSpPr>
        <p:spPr>
          <a:xfrm>
            <a:off x="7434072" y="4764024"/>
            <a:ext cx="4178808" cy="548640"/>
          </a:xfrm>
          <a:prstGeom prst="rect">
            <a:avLst/>
          </a:prstGeom>
          <a:noFill/>
          <a:ln/>
        </p:spPr>
        <p:txBody>
          <a:bodyPr wrap="square" lIns="0" tIns="0" rIns="0" bIns="0" rtlCol="0" anchor="ctr"/>
          <a:lstStyle/>
          <a:p>
            <a:pPr marL="0" indent="0">
              <a:buNone/>
            </a:pPr>
            <a:r>
              <a:rPr lang="en-US" sz="1300">
                <a:solidFill>
                  <a:srgbClr val="4D4D4D"/>
                </a:solidFill>
              </a:rPr>
              <a:t>Lucky Rai’s team if an integration is ever required</a:t>
            </a:r>
            <a:endParaRPr lang="en-US" sz="1300"/>
          </a:p>
        </p:txBody>
      </p:sp>
      <p:sp>
        <p:nvSpPr>
          <p:cNvPr id="26" name="Shape 24"/>
          <p:cNvSpPr/>
          <p:nvPr/>
        </p:nvSpPr>
        <p:spPr>
          <a:xfrm>
            <a:off x="502920" y="5349240"/>
            <a:ext cx="11183112" cy="0"/>
          </a:xfrm>
          <a:prstGeom prst="line">
            <a:avLst/>
          </a:prstGeom>
          <a:noFill/>
          <a:ln w="9525">
            <a:solidFill>
              <a:srgbClr val="8C8C8C"/>
            </a:solidFill>
            <a:prstDash val="sysDot"/>
          </a:ln>
        </p:spPr>
        <p:txBody>
          <a:bodyPr/>
          <a:lstStyle/>
          <a:p>
            <a:endParaRPr lang="en-IN"/>
          </a:p>
        </p:txBody>
      </p:sp>
      <p:sp>
        <p:nvSpPr>
          <p:cNvPr id="27" name="Text 25"/>
          <p:cNvSpPr txBox="1"/>
          <p:nvPr/>
        </p:nvSpPr>
        <p:spPr>
          <a:xfrm>
            <a:off x="502920" y="5715000"/>
            <a:ext cx="11185855" cy="365760"/>
          </a:xfrm>
          <a:prstGeom prst="rect">
            <a:avLst/>
          </a:prstGeom>
          <a:noFill/>
          <a:ln/>
        </p:spPr>
        <p:txBody>
          <a:bodyPr wrap="square" lIns="0" tIns="0" rIns="0" bIns="0" rtlCol="0" anchor="t"/>
          <a:lstStyle/>
          <a:p>
            <a:pPr marL="0" indent="0">
              <a:buNone/>
            </a:pPr>
            <a:r>
              <a:rPr lang="en-US" sz="1500" b="1">
                <a:solidFill>
                  <a:schemeClr val="tx1"/>
                </a:solidFill>
              </a:rPr>
              <a:t>Goal: one platform for simple classes (free or paid, in person or online) and multi-day conferences with session management.</a:t>
            </a:r>
            <a:endParaRPr lang="en-US" sz="1500"/>
          </a:p>
        </p:txBody>
      </p:sp>
      <p:sp>
        <p:nvSpPr>
          <p:cNvPr id="28" name="Slide Number Placeholder 0"/>
          <p:cNvSpPr>
            <a:spLocks noGrp="1"/>
          </p:cNvSpPr>
          <p:nvPr>
            <p:ph type="sldNum" sz="quarter" idx="4294967295"/>
          </p:nvPr>
        </p:nvSpPr>
        <p:spPr>
          <a:xfrm>
            <a:off x="11292840" y="6336792"/>
            <a:ext cx="457200" cy="22860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tx1"/>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914400" y="2743200"/>
            <a:ext cx="10362895" cy="1005840"/>
          </a:xfrm>
          <a:prstGeom prst="rect">
            <a:avLst/>
          </a:prstGeom>
          <a:noFill/>
          <a:ln/>
        </p:spPr>
        <p:txBody>
          <a:bodyPr wrap="square" lIns="0" tIns="0" rIns="0" bIns="0" rtlCol="0" anchor="ctr"/>
          <a:lstStyle/>
          <a:p>
            <a:pPr marL="0" indent="0" algn="ctr">
              <a:buNone/>
            </a:pPr>
            <a:r>
              <a:rPr lang="en-US" sz="4400" kern="0" spc="600">
                <a:solidFill>
                  <a:schemeClr val="bg1"/>
                </a:solidFill>
                <a:latin typeface="Trenda IG Text Light" pitchFamily="34" charset="0"/>
                <a:ea typeface="Trenda IG Text Light" pitchFamily="34" charset="-122"/>
                <a:cs typeface="Trenda IG Text Light" pitchFamily="34" charset="-120"/>
              </a:rPr>
              <a:t>01  THE SOLUTION</a:t>
            </a:r>
            <a:endParaRPr lang="en-US" sz="4400"/>
          </a:p>
        </p:txBody>
      </p:sp>
      <p:sp>
        <p:nvSpPr>
          <p:cNvPr id="3" name="Text 0"/>
          <p:cNvSpPr>
            <a:spLocks noGrp="1"/>
          </p:cNvSpPr>
          <p:nvPr>
            <p:ph type="body" idx="101" hasCustomPrompt="1"/>
          </p:nvPr>
        </p:nvSpPr>
        <p:spPr>
          <a:xfrm>
            <a:off x="1371600" y="3840480"/>
            <a:ext cx="9448495" cy="548640"/>
          </a:xfrm>
          <a:prstGeom prst="rect">
            <a:avLst/>
          </a:prstGeom>
          <a:noFill/>
          <a:ln/>
        </p:spPr>
        <p:txBody>
          <a:bodyPr wrap="square" lIns="0" tIns="0" rIns="0" bIns="0" rtlCol="0"/>
          <a:lstStyle/>
          <a:p>
            <a:pPr marL="0" indent="0" algn="ctr">
              <a:buNone/>
            </a:pPr>
            <a:r>
              <a:rPr lang="en-US" sz="1800">
                <a:solidFill>
                  <a:schemeClr val="bg1"/>
                </a:solidFill>
              </a:rPr>
              <a:t>One Salesforce event app for classes, events and conferences</a:t>
            </a:r>
            <a:endParaRPr lang="en-US" sz="18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02920" y="658368"/>
            <a:ext cx="11185855" cy="822960"/>
          </a:xfrm>
          <a:prstGeom prst="rect">
            <a:avLst/>
          </a:prstGeom>
          <a:noFill/>
          <a:ln/>
        </p:spPr>
        <p:txBody>
          <a:bodyPr wrap="square" lIns="0" tIns="0" rIns="0" bIns="0" rtlCol="0" anchor="t"/>
          <a:lstStyle/>
          <a:p>
            <a:pPr marL="0" indent="0" algn="l">
              <a:buNone/>
            </a:pPr>
            <a:r>
              <a:rPr lang="en-US" sz="3200" b="1">
                <a:solidFill>
                  <a:schemeClr val="bg1"/>
                </a:solidFill>
              </a:rPr>
              <a:t>An event app inside your Salesforce org</a:t>
            </a:r>
            <a:endParaRPr lang="en-US" sz="3200"/>
          </a:p>
        </p:txBody>
      </p:sp>
      <p:sp>
        <p:nvSpPr>
          <p:cNvPr id="3" name="circle-1"/>
          <p:cNvSpPr/>
          <p:nvPr/>
        </p:nvSpPr>
        <p:spPr>
          <a:xfrm>
            <a:off x="502920" y="1691640"/>
            <a:ext cx="420624" cy="420624"/>
          </a:xfrm>
          <a:prstGeom prst="ellipse">
            <a:avLst/>
          </a:prstGeom>
          <a:ln w="15875">
            <a:solidFill>
              <a:schemeClr val="bg1"/>
            </a:solidFill>
            <a:prstDash val="solid"/>
          </a:ln>
        </p:spPr>
        <p:txBody>
          <a:bodyPr/>
          <a:lstStyle/>
          <a:p>
            <a:endParaRPr lang="en-IN"/>
          </a:p>
        </p:txBody>
      </p:sp>
      <p:sp>
        <p:nvSpPr>
          <p:cNvPr id="4" name="Text 2"/>
          <p:cNvSpPr txBox="1"/>
          <p:nvPr/>
        </p:nvSpPr>
        <p:spPr>
          <a:xfrm>
            <a:off x="502920" y="1691640"/>
            <a:ext cx="420624" cy="420624"/>
          </a:xfrm>
          <a:prstGeom prst="rect">
            <a:avLst/>
          </a:prstGeom>
          <a:noFill/>
          <a:ln/>
        </p:spPr>
        <p:txBody>
          <a:bodyPr wrap="square" lIns="0" tIns="0" rIns="0" bIns="0" rtlCol="0" anchor="ctr"/>
          <a:lstStyle/>
          <a:p>
            <a:pPr marL="0" indent="0" algn="ctr">
              <a:buNone/>
            </a:pPr>
            <a:r>
              <a:rPr lang="en-US" sz="1400">
                <a:solidFill>
                  <a:schemeClr val="bg1"/>
                </a:solidFill>
              </a:rPr>
              <a:t>1</a:t>
            </a:r>
            <a:endParaRPr lang="en-US" sz="1400"/>
          </a:p>
        </p:txBody>
      </p:sp>
      <p:sp>
        <p:nvSpPr>
          <p:cNvPr id="5" name="Text 3"/>
          <p:cNvSpPr txBox="1"/>
          <p:nvPr/>
        </p:nvSpPr>
        <p:spPr>
          <a:xfrm>
            <a:off x="502920" y="2286000"/>
            <a:ext cx="3291840" cy="411480"/>
          </a:xfrm>
          <a:prstGeom prst="rect">
            <a:avLst/>
          </a:prstGeom>
          <a:noFill/>
          <a:ln/>
        </p:spPr>
        <p:txBody>
          <a:bodyPr wrap="square" lIns="0" tIns="0" rIns="0" bIns="0" rtlCol="0" anchor="t"/>
          <a:lstStyle/>
          <a:p>
            <a:pPr marL="0" indent="0">
              <a:buNone/>
            </a:pPr>
            <a:r>
              <a:rPr lang="en-US" sz="2400" b="1">
                <a:solidFill>
                  <a:schemeClr val="bg1"/>
                </a:solidFill>
              </a:rPr>
              <a:t>Register</a:t>
            </a:r>
            <a:endParaRPr lang="en-US" sz="2400"/>
          </a:p>
        </p:txBody>
      </p:sp>
      <p:sp>
        <p:nvSpPr>
          <p:cNvPr id="6" name="Text 4"/>
          <p:cNvSpPr txBox="1"/>
          <p:nvPr/>
        </p:nvSpPr>
        <p:spPr>
          <a:xfrm>
            <a:off x="502920" y="2724912"/>
            <a:ext cx="3291840" cy="320040"/>
          </a:xfrm>
          <a:prstGeom prst="rect">
            <a:avLst/>
          </a:prstGeom>
          <a:noFill/>
          <a:ln/>
        </p:spPr>
        <p:txBody>
          <a:bodyPr wrap="square" lIns="0" tIns="0" rIns="0" bIns="0" rtlCol="0" anchor="t"/>
          <a:lstStyle/>
          <a:p>
            <a:pPr marL="0" indent="0">
              <a:buNone/>
            </a:pPr>
            <a:r>
              <a:rPr lang="en-US" sz="1500">
                <a:solidFill>
                  <a:schemeClr val="accent1"/>
                </a:solidFill>
              </a:rPr>
              <a:t>Website and My MH app</a:t>
            </a:r>
            <a:endParaRPr lang="en-US" sz="1500"/>
          </a:p>
        </p:txBody>
      </p:sp>
      <p:sp>
        <p:nvSpPr>
          <p:cNvPr id="7" name="Text 5"/>
          <p:cNvSpPr txBox="1"/>
          <p:nvPr/>
        </p:nvSpPr>
        <p:spPr>
          <a:xfrm>
            <a:off x="502920" y="3154680"/>
            <a:ext cx="3291840" cy="1737360"/>
          </a:xfrm>
          <a:prstGeom prst="rect">
            <a:avLst/>
          </a:prstGeom>
          <a:noFill/>
          <a:ln/>
        </p:spPr>
        <p:txBody>
          <a:bodyPr wrap="square" lIns="0" tIns="0" rIns="0" bIns="0" rtlCol="0" anchor="t"/>
          <a:lstStyle/>
          <a:p>
            <a:pPr marL="342900" indent="-342900">
              <a:spcAft>
                <a:spcPts val="600"/>
              </a:spcAft>
              <a:buSzPct val="100000"/>
              <a:buChar char="•"/>
            </a:pPr>
            <a:r>
              <a:rPr lang="en-US" sz="1400">
                <a:solidFill>
                  <a:srgbClr val="BFBFBF"/>
                </a:solidFill>
              </a:rPr>
              <a:t>Sign-up on Sitecore pages and inside the existing My Memorial Hermann app</a:t>
            </a:r>
            <a:endParaRPr lang="en-US" sz="1400"/>
          </a:p>
          <a:p>
            <a:pPr marL="342900" indent="-342900">
              <a:spcAft>
                <a:spcPts val="600"/>
              </a:spcAft>
              <a:buSzPct val="100000"/>
              <a:buChar char="•"/>
            </a:pPr>
            <a:r>
              <a:rPr lang="en-US" sz="1400">
                <a:solidFill>
                  <a:srgbClr val="BFBFBF"/>
                </a:solidFill>
              </a:rPr>
              <a:t>Secure hosted checkout</a:t>
            </a:r>
            <a:endParaRPr lang="en-US" sz="1400"/>
          </a:p>
          <a:p>
            <a:pPr marL="342900" indent="-342900">
              <a:spcAft>
                <a:spcPts val="600"/>
              </a:spcAft>
              <a:buSzPct val="100000"/>
              <a:buChar char="•"/>
            </a:pPr>
            <a:r>
              <a:rPr lang="en-US" sz="1400">
                <a:solidFill>
                  <a:srgbClr val="BFBFBF"/>
                </a:solidFill>
              </a:rPr>
              <a:t>“My Agenda” portal for conferences</a:t>
            </a:r>
            <a:endParaRPr lang="en-US" sz="1400"/>
          </a:p>
        </p:txBody>
      </p:sp>
      <p:sp>
        <p:nvSpPr>
          <p:cNvPr id="8" name="Shape 6"/>
          <p:cNvSpPr/>
          <p:nvPr/>
        </p:nvSpPr>
        <p:spPr>
          <a:xfrm>
            <a:off x="3813048" y="1901952"/>
            <a:ext cx="411480" cy="0"/>
          </a:xfrm>
          <a:prstGeom prst="line">
            <a:avLst/>
          </a:prstGeom>
          <a:noFill/>
          <a:ln w="15875">
            <a:solidFill>
              <a:schemeClr val="bg1"/>
            </a:solidFill>
            <a:prstDash val="solid"/>
            <a:tailEnd type="triangle"/>
          </a:ln>
        </p:spPr>
        <p:txBody>
          <a:bodyPr/>
          <a:lstStyle/>
          <a:p>
            <a:endParaRPr lang="en-IN"/>
          </a:p>
        </p:txBody>
      </p:sp>
      <p:sp>
        <p:nvSpPr>
          <p:cNvPr id="9" name="circle-2"/>
          <p:cNvSpPr/>
          <p:nvPr/>
        </p:nvSpPr>
        <p:spPr>
          <a:xfrm>
            <a:off x="4343400" y="1691640"/>
            <a:ext cx="420624" cy="420624"/>
          </a:xfrm>
          <a:prstGeom prst="ellipse">
            <a:avLst/>
          </a:prstGeom>
          <a:ln w="15875">
            <a:solidFill>
              <a:schemeClr val="bg1"/>
            </a:solidFill>
            <a:prstDash val="solid"/>
          </a:ln>
        </p:spPr>
        <p:txBody>
          <a:bodyPr/>
          <a:lstStyle/>
          <a:p>
            <a:endParaRPr lang="en-IN"/>
          </a:p>
        </p:txBody>
      </p:sp>
      <p:sp>
        <p:nvSpPr>
          <p:cNvPr id="10" name="Text 8"/>
          <p:cNvSpPr txBox="1"/>
          <p:nvPr/>
        </p:nvSpPr>
        <p:spPr>
          <a:xfrm>
            <a:off x="4343400" y="1691640"/>
            <a:ext cx="420624" cy="420624"/>
          </a:xfrm>
          <a:prstGeom prst="rect">
            <a:avLst/>
          </a:prstGeom>
          <a:noFill/>
          <a:ln/>
        </p:spPr>
        <p:txBody>
          <a:bodyPr wrap="square" lIns="0" tIns="0" rIns="0" bIns="0" rtlCol="0" anchor="ctr"/>
          <a:lstStyle/>
          <a:p>
            <a:pPr marL="0" indent="0" algn="ctr">
              <a:buNone/>
            </a:pPr>
            <a:r>
              <a:rPr lang="en-US" sz="1400">
                <a:solidFill>
                  <a:schemeClr val="bg1"/>
                </a:solidFill>
              </a:rPr>
              <a:t>2</a:t>
            </a:r>
            <a:endParaRPr lang="en-US" sz="1400"/>
          </a:p>
        </p:txBody>
      </p:sp>
      <p:sp>
        <p:nvSpPr>
          <p:cNvPr id="11" name="Text 9"/>
          <p:cNvSpPr txBox="1"/>
          <p:nvPr/>
        </p:nvSpPr>
        <p:spPr>
          <a:xfrm>
            <a:off x="4343400" y="2286000"/>
            <a:ext cx="3291840" cy="411480"/>
          </a:xfrm>
          <a:prstGeom prst="rect">
            <a:avLst/>
          </a:prstGeom>
          <a:noFill/>
          <a:ln/>
        </p:spPr>
        <p:txBody>
          <a:bodyPr wrap="square" lIns="0" tIns="0" rIns="0" bIns="0" rtlCol="0" anchor="t"/>
          <a:lstStyle/>
          <a:p>
            <a:pPr marL="0" indent="0">
              <a:buNone/>
            </a:pPr>
            <a:r>
              <a:rPr lang="en-US" sz="2400" b="1">
                <a:solidFill>
                  <a:schemeClr val="bg1"/>
                </a:solidFill>
              </a:rPr>
              <a:t>Manage</a:t>
            </a:r>
            <a:endParaRPr lang="en-US" sz="2400"/>
          </a:p>
        </p:txBody>
      </p:sp>
      <p:sp>
        <p:nvSpPr>
          <p:cNvPr id="12" name="Text 10"/>
          <p:cNvSpPr txBox="1"/>
          <p:nvPr/>
        </p:nvSpPr>
        <p:spPr>
          <a:xfrm>
            <a:off x="4343400" y="2724912"/>
            <a:ext cx="3291840" cy="320040"/>
          </a:xfrm>
          <a:prstGeom prst="rect">
            <a:avLst/>
          </a:prstGeom>
          <a:noFill/>
          <a:ln/>
        </p:spPr>
        <p:txBody>
          <a:bodyPr wrap="square" lIns="0" tIns="0" rIns="0" bIns="0" rtlCol="0" anchor="t"/>
          <a:lstStyle/>
          <a:p>
            <a:pPr marL="0" indent="0">
              <a:buNone/>
            </a:pPr>
            <a:r>
              <a:rPr lang="en-US" sz="1500">
                <a:solidFill>
                  <a:schemeClr val="accent2"/>
                </a:solidFill>
              </a:rPr>
              <a:t>Event app in Salesforce</a:t>
            </a:r>
            <a:endParaRPr lang="en-US" sz="1500"/>
          </a:p>
        </p:txBody>
      </p:sp>
      <p:sp>
        <p:nvSpPr>
          <p:cNvPr id="13" name="Text 11"/>
          <p:cNvSpPr txBox="1"/>
          <p:nvPr/>
        </p:nvSpPr>
        <p:spPr>
          <a:xfrm>
            <a:off x="4343400" y="3154680"/>
            <a:ext cx="3291840" cy="1737360"/>
          </a:xfrm>
          <a:prstGeom prst="rect">
            <a:avLst/>
          </a:prstGeom>
          <a:noFill/>
          <a:ln/>
        </p:spPr>
        <p:txBody>
          <a:bodyPr wrap="square" lIns="0" tIns="0" rIns="0" bIns="0" rtlCol="0" anchor="t"/>
          <a:lstStyle/>
          <a:p>
            <a:pPr marL="342900" indent="-342900">
              <a:spcAft>
                <a:spcPts val="600"/>
              </a:spcAft>
              <a:buSzPct val="100000"/>
              <a:buChar char="•"/>
            </a:pPr>
            <a:r>
              <a:rPr lang="en-US" sz="1400">
                <a:solidFill>
                  <a:srgbClr val="BFBFBF"/>
                </a:solidFill>
              </a:rPr>
              <a:t>Classes, series, sessions, speakers</a:t>
            </a:r>
            <a:endParaRPr lang="en-US" sz="1400"/>
          </a:p>
          <a:p>
            <a:pPr marL="342900" indent="-342900">
              <a:spcAft>
                <a:spcPts val="600"/>
              </a:spcAft>
              <a:buSzPct val="100000"/>
              <a:buChar char="•"/>
            </a:pPr>
            <a:r>
              <a:rPr lang="en-US" sz="1400">
                <a:solidFill>
                  <a:srgbClr val="BFBFBF"/>
                </a:solidFill>
              </a:rPr>
              <a:t>Capacity, waitlists, refunds</a:t>
            </a:r>
            <a:endParaRPr lang="en-US" sz="1400"/>
          </a:p>
          <a:p>
            <a:pPr marL="342900" indent="-342900">
              <a:spcAft>
                <a:spcPts val="600"/>
              </a:spcAft>
              <a:buSzPct val="100000"/>
              <a:buChar char="•"/>
            </a:pPr>
            <a:r>
              <a:rPr lang="en-US" sz="1400">
                <a:solidFill>
                  <a:srgbClr val="BFBFBF"/>
                </a:solidFill>
              </a:rPr>
              <a:t>QR check-in and reporting</a:t>
            </a:r>
            <a:endParaRPr lang="en-US" sz="1400"/>
          </a:p>
          <a:p>
            <a:pPr marL="342900" indent="-342900">
              <a:spcAft>
                <a:spcPts val="600"/>
              </a:spcAft>
              <a:buSzPct val="100000"/>
              <a:buChar char="•"/>
            </a:pPr>
            <a:r>
              <a:rPr lang="en-US" sz="1400">
                <a:solidFill>
                  <a:srgbClr val="BFBFBF"/>
                </a:solidFill>
              </a:rPr>
              <a:t>Registrants matched to Health Cloud</a:t>
            </a:r>
            <a:endParaRPr lang="en-US" sz="1400"/>
          </a:p>
        </p:txBody>
      </p:sp>
      <p:sp>
        <p:nvSpPr>
          <p:cNvPr id="14" name="Shape 12"/>
          <p:cNvSpPr/>
          <p:nvPr/>
        </p:nvSpPr>
        <p:spPr>
          <a:xfrm>
            <a:off x="7653528" y="1901952"/>
            <a:ext cx="411480" cy="0"/>
          </a:xfrm>
          <a:prstGeom prst="line">
            <a:avLst/>
          </a:prstGeom>
          <a:noFill/>
          <a:ln w="15875">
            <a:solidFill>
              <a:schemeClr val="bg1"/>
            </a:solidFill>
            <a:prstDash val="solid"/>
            <a:tailEnd type="triangle"/>
          </a:ln>
        </p:spPr>
        <p:txBody>
          <a:bodyPr/>
          <a:lstStyle/>
          <a:p>
            <a:endParaRPr lang="en-IN"/>
          </a:p>
        </p:txBody>
      </p:sp>
      <p:sp>
        <p:nvSpPr>
          <p:cNvPr id="15" name="circle-3"/>
          <p:cNvSpPr/>
          <p:nvPr/>
        </p:nvSpPr>
        <p:spPr>
          <a:xfrm>
            <a:off x="8183880" y="1691640"/>
            <a:ext cx="420624" cy="420624"/>
          </a:xfrm>
          <a:prstGeom prst="ellipse">
            <a:avLst/>
          </a:prstGeom>
          <a:ln w="15875">
            <a:solidFill>
              <a:schemeClr val="bg1"/>
            </a:solidFill>
            <a:prstDash val="solid"/>
          </a:ln>
        </p:spPr>
        <p:txBody>
          <a:bodyPr/>
          <a:lstStyle/>
          <a:p>
            <a:endParaRPr lang="en-IN"/>
          </a:p>
        </p:txBody>
      </p:sp>
      <p:sp>
        <p:nvSpPr>
          <p:cNvPr id="16" name="Text 14"/>
          <p:cNvSpPr txBox="1"/>
          <p:nvPr/>
        </p:nvSpPr>
        <p:spPr>
          <a:xfrm>
            <a:off x="8183880" y="1691640"/>
            <a:ext cx="420624" cy="420624"/>
          </a:xfrm>
          <a:prstGeom prst="rect">
            <a:avLst/>
          </a:prstGeom>
          <a:noFill/>
          <a:ln/>
        </p:spPr>
        <p:txBody>
          <a:bodyPr wrap="square" lIns="0" tIns="0" rIns="0" bIns="0" rtlCol="0" anchor="ctr"/>
          <a:lstStyle/>
          <a:p>
            <a:pPr marL="0" indent="0" algn="ctr">
              <a:buNone/>
            </a:pPr>
            <a:r>
              <a:rPr lang="en-US" sz="1400">
                <a:solidFill>
                  <a:schemeClr val="bg1"/>
                </a:solidFill>
              </a:rPr>
              <a:t>3</a:t>
            </a:r>
            <a:endParaRPr lang="en-US" sz="1400"/>
          </a:p>
        </p:txBody>
      </p:sp>
      <p:sp>
        <p:nvSpPr>
          <p:cNvPr id="17" name="Text 15"/>
          <p:cNvSpPr txBox="1"/>
          <p:nvPr/>
        </p:nvSpPr>
        <p:spPr>
          <a:xfrm>
            <a:off x="8183880" y="2286000"/>
            <a:ext cx="3291840" cy="411480"/>
          </a:xfrm>
          <a:prstGeom prst="rect">
            <a:avLst/>
          </a:prstGeom>
          <a:noFill/>
          <a:ln/>
        </p:spPr>
        <p:txBody>
          <a:bodyPr wrap="square" lIns="0" tIns="0" rIns="0" bIns="0" rtlCol="0" anchor="t"/>
          <a:lstStyle/>
          <a:p>
            <a:pPr marL="0" indent="0">
              <a:buNone/>
            </a:pPr>
            <a:r>
              <a:rPr lang="en-US" sz="2400" b="1">
                <a:solidFill>
                  <a:schemeClr val="bg1"/>
                </a:solidFill>
              </a:rPr>
              <a:t>Engage</a:t>
            </a:r>
            <a:endParaRPr lang="en-US" sz="2400"/>
          </a:p>
        </p:txBody>
      </p:sp>
      <p:sp>
        <p:nvSpPr>
          <p:cNvPr id="18" name="Text 16"/>
          <p:cNvSpPr txBox="1"/>
          <p:nvPr/>
        </p:nvSpPr>
        <p:spPr>
          <a:xfrm>
            <a:off x="8183880" y="2724912"/>
            <a:ext cx="3291840" cy="320040"/>
          </a:xfrm>
          <a:prstGeom prst="rect">
            <a:avLst/>
          </a:prstGeom>
          <a:noFill/>
          <a:ln/>
        </p:spPr>
        <p:txBody>
          <a:bodyPr wrap="square" lIns="0" tIns="0" rIns="0" bIns="0" rtlCol="0" anchor="t"/>
          <a:lstStyle/>
          <a:p>
            <a:pPr marL="0" indent="0">
              <a:buNone/>
            </a:pPr>
            <a:r>
              <a:rPr lang="en-US" sz="1500">
                <a:solidFill>
                  <a:schemeClr val="accent3"/>
                </a:solidFill>
              </a:rPr>
              <a:t>Marketing Cloud journeys</a:t>
            </a:r>
            <a:endParaRPr lang="en-US" sz="1500"/>
          </a:p>
        </p:txBody>
      </p:sp>
      <p:sp>
        <p:nvSpPr>
          <p:cNvPr id="19" name="Text 17"/>
          <p:cNvSpPr txBox="1"/>
          <p:nvPr/>
        </p:nvSpPr>
        <p:spPr>
          <a:xfrm>
            <a:off x="8183880" y="3154680"/>
            <a:ext cx="3291840" cy="1737360"/>
          </a:xfrm>
          <a:prstGeom prst="rect">
            <a:avLst/>
          </a:prstGeom>
          <a:noFill/>
          <a:ln/>
        </p:spPr>
        <p:txBody>
          <a:bodyPr wrap="square" lIns="0" tIns="0" rIns="0" bIns="0" rtlCol="0" anchor="t"/>
          <a:lstStyle/>
          <a:p>
            <a:pPr marL="342900" indent="-342900">
              <a:spcAft>
                <a:spcPts val="600"/>
              </a:spcAft>
              <a:buSzPct val="100000"/>
              <a:buChar char="•"/>
            </a:pPr>
            <a:r>
              <a:rPr lang="en-US" sz="1400">
                <a:solidFill>
                  <a:srgbClr val="BFBFBF"/>
                </a:solidFill>
              </a:rPr>
              <a:t>Confirmations and reminders</a:t>
            </a:r>
            <a:endParaRPr lang="en-US" sz="1400"/>
          </a:p>
          <a:p>
            <a:pPr marL="342900" indent="-342900">
              <a:spcAft>
                <a:spcPts val="600"/>
              </a:spcAft>
              <a:buSzPct val="100000"/>
              <a:buChar char="•"/>
            </a:pPr>
            <a:r>
              <a:rPr lang="en-US" sz="1400">
                <a:solidFill>
                  <a:srgbClr val="BFBFBF"/>
                </a:solidFill>
              </a:rPr>
              <a:t>Calendar invites and virtual links</a:t>
            </a:r>
            <a:endParaRPr lang="en-US" sz="1400"/>
          </a:p>
          <a:p>
            <a:pPr marL="342900" indent="-342900">
              <a:spcAft>
                <a:spcPts val="600"/>
              </a:spcAft>
              <a:buSzPct val="100000"/>
              <a:buChar char="•"/>
            </a:pPr>
            <a:r>
              <a:rPr lang="en-US" sz="1400">
                <a:solidFill>
                  <a:srgbClr val="BFBFBF"/>
                </a:solidFill>
              </a:rPr>
              <a:t>Patient engagement initiatives (PEIs)</a:t>
            </a:r>
            <a:endParaRPr lang="en-US" sz="1400"/>
          </a:p>
        </p:txBody>
      </p:sp>
      <p:sp>
        <p:nvSpPr>
          <p:cNvPr id="20" name="Text 18"/>
          <p:cNvSpPr txBox="1"/>
          <p:nvPr/>
        </p:nvSpPr>
        <p:spPr>
          <a:xfrm>
            <a:off x="502920" y="5138928"/>
            <a:ext cx="1828800" cy="274320"/>
          </a:xfrm>
          <a:prstGeom prst="rect">
            <a:avLst/>
          </a:prstGeom>
          <a:noFill/>
          <a:ln/>
        </p:spPr>
        <p:txBody>
          <a:bodyPr wrap="square" lIns="0" tIns="0" rIns="0" bIns="0" rtlCol="0" anchor="t"/>
          <a:lstStyle/>
          <a:p>
            <a:pPr marL="0" indent="0">
              <a:buNone/>
            </a:pPr>
            <a:r>
              <a:rPr lang="en-US" sz="1000" b="1" kern="0" spc="300">
                <a:solidFill>
                  <a:schemeClr val="bg1"/>
                </a:solidFill>
              </a:rPr>
              <a:t>CONNECTS TO</a:t>
            </a:r>
            <a:endParaRPr lang="en-US" sz="1000"/>
          </a:p>
        </p:txBody>
      </p:sp>
      <p:sp>
        <p:nvSpPr>
          <p:cNvPr id="21" name="Shape 19"/>
          <p:cNvSpPr/>
          <p:nvPr/>
        </p:nvSpPr>
        <p:spPr>
          <a:xfrm>
            <a:off x="502920" y="5486400"/>
            <a:ext cx="1691640" cy="384048"/>
          </a:xfrm>
          <a:prstGeom prst="roundRect">
            <a:avLst>
              <a:gd name="adj" fmla="val 50000"/>
            </a:avLst>
          </a:prstGeom>
          <a:ln w="19050">
            <a:solidFill>
              <a:schemeClr val="accent1"/>
            </a:solidFill>
            <a:prstDash val="solid"/>
          </a:ln>
        </p:spPr>
        <p:txBody>
          <a:bodyPr/>
          <a:lstStyle/>
          <a:p>
            <a:endParaRPr lang="en-IN"/>
          </a:p>
        </p:txBody>
      </p:sp>
      <p:sp>
        <p:nvSpPr>
          <p:cNvPr id="22" name="Text 20"/>
          <p:cNvSpPr txBox="1"/>
          <p:nvPr/>
        </p:nvSpPr>
        <p:spPr>
          <a:xfrm>
            <a:off x="502920" y="5486400"/>
            <a:ext cx="1691640" cy="384048"/>
          </a:xfrm>
          <a:prstGeom prst="rect">
            <a:avLst/>
          </a:prstGeom>
          <a:noFill/>
          <a:ln/>
        </p:spPr>
        <p:txBody>
          <a:bodyPr wrap="square" lIns="0" tIns="0" rIns="0" bIns="0" rtlCol="0" anchor="ctr"/>
          <a:lstStyle/>
          <a:p>
            <a:pPr marL="0" indent="0" algn="ctr">
              <a:buNone/>
            </a:pPr>
            <a:r>
              <a:rPr lang="en-US" sz="1300" b="1">
                <a:solidFill>
                  <a:schemeClr val="bg1"/>
                </a:solidFill>
              </a:rPr>
              <a:t>Chase</a:t>
            </a:r>
            <a:endParaRPr lang="en-US" sz="1300"/>
          </a:p>
        </p:txBody>
      </p:sp>
      <p:sp>
        <p:nvSpPr>
          <p:cNvPr id="23" name="Shape 21"/>
          <p:cNvSpPr/>
          <p:nvPr/>
        </p:nvSpPr>
        <p:spPr>
          <a:xfrm>
            <a:off x="2377440" y="5486400"/>
            <a:ext cx="1691640" cy="384048"/>
          </a:xfrm>
          <a:prstGeom prst="roundRect">
            <a:avLst>
              <a:gd name="adj" fmla="val 50000"/>
            </a:avLst>
          </a:prstGeom>
          <a:ln w="19050">
            <a:solidFill>
              <a:schemeClr val="accent2"/>
            </a:solidFill>
            <a:prstDash val="solid"/>
          </a:ln>
        </p:spPr>
        <p:txBody>
          <a:bodyPr/>
          <a:lstStyle/>
          <a:p>
            <a:endParaRPr lang="en-IN"/>
          </a:p>
        </p:txBody>
      </p:sp>
      <p:sp>
        <p:nvSpPr>
          <p:cNvPr id="24" name="Text 22"/>
          <p:cNvSpPr txBox="1"/>
          <p:nvPr/>
        </p:nvSpPr>
        <p:spPr>
          <a:xfrm>
            <a:off x="2377440" y="5486400"/>
            <a:ext cx="1691640" cy="384048"/>
          </a:xfrm>
          <a:prstGeom prst="rect">
            <a:avLst/>
          </a:prstGeom>
          <a:noFill/>
          <a:ln/>
        </p:spPr>
        <p:txBody>
          <a:bodyPr wrap="square" lIns="0" tIns="0" rIns="0" bIns="0" rtlCol="0" anchor="ctr"/>
          <a:lstStyle/>
          <a:p>
            <a:pPr marL="0" indent="0" algn="ctr">
              <a:buNone/>
            </a:pPr>
            <a:r>
              <a:rPr lang="en-US" sz="1300" b="1">
                <a:solidFill>
                  <a:schemeClr val="bg1"/>
                </a:solidFill>
              </a:rPr>
              <a:t>Authorize.net</a:t>
            </a:r>
            <a:endParaRPr lang="en-US" sz="1300"/>
          </a:p>
        </p:txBody>
      </p:sp>
      <p:sp>
        <p:nvSpPr>
          <p:cNvPr id="25" name="Shape 23"/>
          <p:cNvSpPr/>
          <p:nvPr/>
        </p:nvSpPr>
        <p:spPr>
          <a:xfrm>
            <a:off x="4251960" y="5486400"/>
            <a:ext cx="1691640" cy="384048"/>
          </a:xfrm>
          <a:prstGeom prst="roundRect">
            <a:avLst>
              <a:gd name="adj" fmla="val 50000"/>
            </a:avLst>
          </a:prstGeom>
          <a:ln w="19050">
            <a:solidFill>
              <a:schemeClr val="accent3"/>
            </a:solidFill>
            <a:prstDash val="solid"/>
          </a:ln>
        </p:spPr>
        <p:txBody>
          <a:bodyPr/>
          <a:lstStyle/>
          <a:p>
            <a:endParaRPr lang="en-IN"/>
          </a:p>
        </p:txBody>
      </p:sp>
      <p:sp>
        <p:nvSpPr>
          <p:cNvPr id="26" name="Text 24"/>
          <p:cNvSpPr txBox="1"/>
          <p:nvPr/>
        </p:nvSpPr>
        <p:spPr>
          <a:xfrm>
            <a:off x="4251960" y="5486400"/>
            <a:ext cx="1691640" cy="384048"/>
          </a:xfrm>
          <a:prstGeom prst="rect">
            <a:avLst/>
          </a:prstGeom>
          <a:noFill/>
          <a:ln/>
        </p:spPr>
        <p:txBody>
          <a:bodyPr wrap="square" lIns="0" tIns="0" rIns="0" bIns="0" rtlCol="0" anchor="ctr"/>
          <a:lstStyle/>
          <a:p>
            <a:pPr marL="0" indent="0" algn="ctr">
              <a:buNone/>
            </a:pPr>
            <a:r>
              <a:rPr lang="en-US" sz="1300" b="1">
                <a:solidFill>
                  <a:schemeClr val="bg1"/>
                </a:solidFill>
              </a:rPr>
              <a:t>Sitecore</a:t>
            </a:r>
            <a:endParaRPr lang="en-US" sz="1300"/>
          </a:p>
        </p:txBody>
      </p:sp>
      <p:sp>
        <p:nvSpPr>
          <p:cNvPr id="27" name="Shape 25"/>
          <p:cNvSpPr/>
          <p:nvPr/>
        </p:nvSpPr>
        <p:spPr>
          <a:xfrm>
            <a:off x="6126480" y="5486400"/>
            <a:ext cx="1691640" cy="384048"/>
          </a:xfrm>
          <a:prstGeom prst="roundRect">
            <a:avLst>
              <a:gd name="adj" fmla="val 50000"/>
            </a:avLst>
          </a:prstGeom>
          <a:ln w="19050">
            <a:solidFill>
              <a:schemeClr val="accent1"/>
            </a:solidFill>
            <a:prstDash val="solid"/>
          </a:ln>
        </p:spPr>
        <p:txBody>
          <a:bodyPr/>
          <a:lstStyle/>
          <a:p>
            <a:endParaRPr lang="en-IN"/>
          </a:p>
        </p:txBody>
      </p:sp>
      <p:sp>
        <p:nvSpPr>
          <p:cNvPr id="28" name="Text 26"/>
          <p:cNvSpPr txBox="1"/>
          <p:nvPr/>
        </p:nvSpPr>
        <p:spPr>
          <a:xfrm>
            <a:off x="6126480" y="5486400"/>
            <a:ext cx="1691640" cy="384048"/>
          </a:xfrm>
          <a:prstGeom prst="rect">
            <a:avLst/>
          </a:prstGeom>
          <a:noFill/>
          <a:ln/>
        </p:spPr>
        <p:txBody>
          <a:bodyPr wrap="square" lIns="0" tIns="0" rIns="0" bIns="0" rtlCol="0" anchor="ctr"/>
          <a:lstStyle/>
          <a:p>
            <a:pPr marL="0" indent="0" algn="ctr">
              <a:buNone/>
            </a:pPr>
            <a:r>
              <a:rPr lang="en-US" sz="1300" b="1">
                <a:solidFill>
                  <a:schemeClr val="bg1"/>
                </a:solidFill>
              </a:rPr>
              <a:t>Zoom / Teams</a:t>
            </a:r>
            <a:endParaRPr lang="en-US" sz="1300"/>
          </a:p>
        </p:txBody>
      </p:sp>
      <p:sp>
        <p:nvSpPr>
          <p:cNvPr id="29" name="Shape 27"/>
          <p:cNvSpPr/>
          <p:nvPr/>
        </p:nvSpPr>
        <p:spPr>
          <a:xfrm>
            <a:off x="8001000" y="5486400"/>
            <a:ext cx="1691640" cy="384048"/>
          </a:xfrm>
          <a:prstGeom prst="roundRect">
            <a:avLst>
              <a:gd name="adj" fmla="val 50000"/>
            </a:avLst>
          </a:prstGeom>
          <a:ln w="19050">
            <a:solidFill>
              <a:schemeClr val="accent2"/>
            </a:solidFill>
            <a:prstDash val="solid"/>
          </a:ln>
        </p:spPr>
        <p:txBody>
          <a:bodyPr/>
          <a:lstStyle/>
          <a:p>
            <a:endParaRPr lang="en-IN"/>
          </a:p>
        </p:txBody>
      </p:sp>
      <p:sp>
        <p:nvSpPr>
          <p:cNvPr id="30" name="Text 28"/>
          <p:cNvSpPr txBox="1"/>
          <p:nvPr/>
        </p:nvSpPr>
        <p:spPr>
          <a:xfrm>
            <a:off x="8001000" y="5486400"/>
            <a:ext cx="1691640" cy="384048"/>
          </a:xfrm>
          <a:prstGeom prst="rect">
            <a:avLst/>
          </a:prstGeom>
          <a:noFill/>
          <a:ln/>
        </p:spPr>
        <p:txBody>
          <a:bodyPr wrap="square" lIns="0" tIns="0" rIns="0" bIns="0" rtlCol="0" anchor="ctr"/>
          <a:lstStyle/>
          <a:p>
            <a:pPr marL="0" indent="0" algn="ctr">
              <a:buNone/>
            </a:pPr>
            <a:r>
              <a:rPr lang="en-US" sz="1300" b="1">
                <a:solidFill>
                  <a:schemeClr val="bg1"/>
                </a:solidFill>
              </a:rPr>
              <a:t>Health Cloud</a:t>
            </a:r>
            <a:endParaRPr lang="en-US" sz="1300"/>
          </a:p>
        </p:txBody>
      </p:sp>
      <p:sp>
        <p:nvSpPr>
          <p:cNvPr id="31" name="Shape 29"/>
          <p:cNvSpPr/>
          <p:nvPr/>
        </p:nvSpPr>
        <p:spPr>
          <a:xfrm>
            <a:off x="9875520" y="5486400"/>
            <a:ext cx="1691640" cy="384048"/>
          </a:xfrm>
          <a:prstGeom prst="roundRect">
            <a:avLst>
              <a:gd name="adj" fmla="val 50000"/>
            </a:avLst>
          </a:prstGeom>
          <a:ln w="19050">
            <a:solidFill>
              <a:schemeClr val="accent3"/>
            </a:solidFill>
            <a:prstDash val="solid"/>
          </a:ln>
        </p:spPr>
        <p:txBody>
          <a:bodyPr/>
          <a:lstStyle/>
          <a:p>
            <a:endParaRPr lang="en-IN"/>
          </a:p>
        </p:txBody>
      </p:sp>
      <p:sp>
        <p:nvSpPr>
          <p:cNvPr id="32" name="Text 30"/>
          <p:cNvSpPr txBox="1"/>
          <p:nvPr/>
        </p:nvSpPr>
        <p:spPr>
          <a:xfrm>
            <a:off x="9875520" y="5486400"/>
            <a:ext cx="1691640" cy="384048"/>
          </a:xfrm>
          <a:prstGeom prst="rect">
            <a:avLst/>
          </a:prstGeom>
          <a:noFill/>
          <a:ln/>
        </p:spPr>
        <p:txBody>
          <a:bodyPr wrap="square" lIns="0" tIns="0" rIns="0" bIns="0" rtlCol="0" anchor="ctr"/>
          <a:lstStyle/>
          <a:p>
            <a:pPr marL="0" indent="0" algn="ctr">
              <a:buNone/>
            </a:pPr>
            <a:r>
              <a:rPr lang="en-US" sz="1300" b="1">
                <a:solidFill>
                  <a:schemeClr val="bg1"/>
                </a:solidFill>
              </a:rPr>
              <a:t>Marketing Cloud</a:t>
            </a:r>
            <a:endParaRPr lang="en-US" sz="1300"/>
          </a:p>
        </p:txBody>
      </p:sp>
      <p:sp>
        <p:nvSpPr>
          <p:cNvPr id="33" name="Text 31"/>
          <p:cNvSpPr txBox="1"/>
          <p:nvPr/>
        </p:nvSpPr>
        <p:spPr>
          <a:xfrm>
            <a:off x="502920" y="5989320"/>
            <a:ext cx="11185855" cy="274320"/>
          </a:xfrm>
          <a:prstGeom prst="rect">
            <a:avLst/>
          </a:prstGeom>
          <a:noFill/>
          <a:ln/>
        </p:spPr>
        <p:txBody>
          <a:bodyPr wrap="square" lIns="0" tIns="0" rIns="0" bIns="0" rtlCol="0" anchor="t"/>
          <a:lstStyle/>
          <a:p>
            <a:pPr marL="0" indent="0">
              <a:buNone/>
            </a:pPr>
            <a:r>
              <a:rPr lang="en-US" sz="1100" i="1">
                <a:solidFill>
                  <a:schemeClr val="accent1"/>
                </a:solidFill>
              </a:rPr>
              <a:t>Reliable, secure and scalable by design: waiting room and seat holds for busy events, encrypted data, full audit trail.</a:t>
            </a:r>
            <a:endParaRPr lang="en-US" sz="1100"/>
          </a:p>
        </p:txBody>
      </p:sp>
      <p:sp>
        <p:nvSpPr>
          <p:cNvPr id="34" name="Slide Number Placeholder 0"/>
          <p:cNvSpPr>
            <a:spLocks noGrp="1"/>
          </p:cNvSpPr>
          <p:nvPr>
            <p:ph type="sldNum" sz="quarter" idx="4294967295"/>
          </p:nvPr>
        </p:nvSpPr>
        <p:spPr>
          <a:xfrm>
            <a:off x="11292840" y="6336792"/>
            <a:ext cx="457200" cy="22860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bg1"/>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02920" y="658368"/>
            <a:ext cx="11185855" cy="822960"/>
          </a:xfrm>
          <a:prstGeom prst="rect">
            <a:avLst/>
          </a:prstGeom>
          <a:noFill/>
          <a:ln/>
        </p:spPr>
        <p:txBody>
          <a:bodyPr wrap="square" lIns="0" tIns="0" rIns="0" bIns="0" rtlCol="0" anchor="t"/>
          <a:lstStyle/>
          <a:p>
            <a:pPr marL="0" indent="0" algn="l">
              <a:buNone/>
            </a:pPr>
            <a:r>
              <a:rPr lang="en-US" sz="3200" b="1">
                <a:solidFill>
                  <a:schemeClr val="tx1"/>
                </a:solidFill>
              </a:rPr>
              <a:t>Overall solution design</a:t>
            </a:r>
            <a:endParaRPr lang="en-US" sz="3200"/>
          </a:p>
        </p:txBody>
      </p:sp>
      <p:sp>
        <p:nvSpPr>
          <p:cNvPr id="3" name="Text 1"/>
          <p:cNvSpPr txBox="1"/>
          <p:nvPr/>
        </p:nvSpPr>
        <p:spPr>
          <a:xfrm>
            <a:off x="502920" y="1298448"/>
            <a:ext cx="10972800" cy="292608"/>
          </a:xfrm>
          <a:prstGeom prst="rect">
            <a:avLst/>
          </a:prstGeom>
          <a:noFill/>
          <a:ln/>
        </p:spPr>
        <p:txBody>
          <a:bodyPr wrap="square" lIns="0" tIns="0" rIns="0" bIns="0" rtlCol="0" anchor="t"/>
          <a:lstStyle/>
          <a:p>
            <a:pPr marL="0" indent="0">
              <a:buNone/>
            </a:pPr>
            <a:r>
              <a:rPr lang="en-US" sz="1400">
                <a:solidFill>
                  <a:srgbClr val="4D4D4D"/>
                </a:solidFill>
              </a:rPr>
              <a:t>One flow from sign-up to follow-up for classes and conferences, replacing the home-built class tool and Certain</a:t>
            </a:r>
            <a:endParaRPr lang="en-US" sz="1400"/>
          </a:p>
        </p:txBody>
      </p:sp>
      <p:sp>
        <p:nvSpPr>
          <p:cNvPr id="4" name="participant-p"/>
          <p:cNvSpPr/>
          <p:nvPr/>
        </p:nvSpPr>
        <p:spPr>
          <a:xfrm>
            <a:off x="1472184" y="1755648"/>
            <a:ext cx="1357623" cy="475488"/>
          </a:xfrm>
          <a:prstGeom prst="roundRect">
            <a:avLst>
              <a:gd name="adj" fmla="val 15385"/>
            </a:avLst>
          </a:prstGeom>
          <a:solidFill>
            <a:srgbClr val="F2F2F2"/>
          </a:solidFill>
          <a:ln w="15875">
            <a:solidFill>
              <a:srgbClr val="B8B8C0"/>
            </a:solidFill>
            <a:prstDash val="solid"/>
          </a:ln>
        </p:spPr>
        <p:txBody>
          <a:bodyPr/>
          <a:lstStyle/>
          <a:p>
            <a:endParaRPr lang="en-IN"/>
          </a:p>
        </p:txBody>
      </p:sp>
      <p:sp>
        <p:nvSpPr>
          <p:cNvPr id="5" name="Text 3"/>
          <p:cNvSpPr txBox="1"/>
          <p:nvPr/>
        </p:nvSpPr>
        <p:spPr>
          <a:xfrm>
            <a:off x="1508760" y="1755648"/>
            <a:ext cx="1284471" cy="475488"/>
          </a:xfrm>
          <a:prstGeom prst="rect">
            <a:avLst/>
          </a:prstGeom>
          <a:noFill/>
          <a:ln/>
        </p:spPr>
        <p:txBody>
          <a:bodyPr wrap="square" lIns="0" tIns="0" rIns="0" bIns="0" rtlCol="0" anchor="ctr"/>
          <a:lstStyle/>
          <a:p>
            <a:pPr marL="0" indent="0" algn="ctr">
              <a:buNone/>
            </a:pPr>
            <a:r>
              <a:rPr lang="en-US" sz="1050" b="1">
                <a:solidFill>
                  <a:srgbClr val="000000"/>
                </a:solidFill>
              </a:rPr>
              <a:t>Registrant</a:t>
            </a:r>
            <a:endParaRPr lang="en-US" sz="1050"/>
          </a:p>
        </p:txBody>
      </p:sp>
      <p:sp>
        <p:nvSpPr>
          <p:cNvPr id="6" name="Shape 4"/>
          <p:cNvSpPr/>
          <p:nvPr/>
        </p:nvSpPr>
        <p:spPr>
          <a:xfrm>
            <a:off x="2150995" y="2231136"/>
            <a:ext cx="0" cy="3822192"/>
          </a:xfrm>
          <a:prstGeom prst="line">
            <a:avLst/>
          </a:prstGeom>
          <a:noFill/>
          <a:ln w="12700">
            <a:solidFill>
              <a:srgbClr val="B0B0B8"/>
            </a:solidFill>
            <a:prstDash val="dash"/>
          </a:ln>
        </p:spPr>
        <p:txBody>
          <a:bodyPr/>
          <a:lstStyle/>
          <a:p>
            <a:endParaRPr lang="en-IN"/>
          </a:p>
        </p:txBody>
      </p:sp>
      <p:sp>
        <p:nvSpPr>
          <p:cNvPr id="7" name="participant-ch"/>
          <p:cNvSpPr/>
          <p:nvPr/>
        </p:nvSpPr>
        <p:spPr>
          <a:xfrm>
            <a:off x="2939535" y="1755648"/>
            <a:ext cx="1357623" cy="475488"/>
          </a:xfrm>
          <a:prstGeom prst="roundRect">
            <a:avLst>
              <a:gd name="adj" fmla="val 15385"/>
            </a:avLst>
          </a:prstGeom>
          <a:solidFill>
            <a:srgbClr val="F2F2F2"/>
          </a:solidFill>
          <a:ln w="22225">
            <a:solidFill>
              <a:srgbClr val="00A9C0"/>
            </a:solidFill>
            <a:prstDash val="solid"/>
          </a:ln>
        </p:spPr>
        <p:txBody>
          <a:bodyPr/>
          <a:lstStyle/>
          <a:p>
            <a:endParaRPr lang="en-IN"/>
          </a:p>
        </p:txBody>
      </p:sp>
      <p:sp>
        <p:nvSpPr>
          <p:cNvPr id="8" name="Text 6"/>
          <p:cNvSpPr txBox="1"/>
          <p:nvPr/>
        </p:nvSpPr>
        <p:spPr>
          <a:xfrm>
            <a:off x="2976111" y="1755648"/>
            <a:ext cx="1284471" cy="475488"/>
          </a:xfrm>
          <a:prstGeom prst="rect">
            <a:avLst/>
          </a:prstGeom>
          <a:noFill/>
          <a:ln/>
        </p:spPr>
        <p:txBody>
          <a:bodyPr wrap="square" lIns="0" tIns="0" rIns="0" bIns="0" rtlCol="0" anchor="ctr"/>
          <a:lstStyle/>
          <a:p>
            <a:pPr marL="0" indent="0" algn="ctr">
              <a:buNone/>
            </a:pPr>
            <a:r>
              <a:rPr lang="en-US" sz="1050" b="1">
                <a:solidFill>
                  <a:srgbClr val="000000"/>
                </a:solidFill>
              </a:rPr>
              <a:t>Website or My MH app</a:t>
            </a:r>
            <a:endParaRPr lang="en-US" sz="1050"/>
          </a:p>
        </p:txBody>
      </p:sp>
      <p:sp>
        <p:nvSpPr>
          <p:cNvPr id="9" name="Shape 7"/>
          <p:cNvSpPr/>
          <p:nvPr/>
        </p:nvSpPr>
        <p:spPr>
          <a:xfrm>
            <a:off x="3618346" y="2231136"/>
            <a:ext cx="0" cy="3822192"/>
          </a:xfrm>
          <a:prstGeom prst="line">
            <a:avLst/>
          </a:prstGeom>
          <a:noFill/>
          <a:ln w="12700">
            <a:solidFill>
              <a:srgbClr val="B0B0B8"/>
            </a:solidFill>
            <a:prstDash val="dash"/>
          </a:ln>
        </p:spPr>
        <p:txBody>
          <a:bodyPr/>
          <a:lstStyle/>
          <a:p>
            <a:endParaRPr lang="en-IN"/>
          </a:p>
        </p:txBody>
      </p:sp>
      <p:sp>
        <p:nvSpPr>
          <p:cNvPr id="10" name="participant-reg"/>
          <p:cNvSpPr/>
          <p:nvPr/>
        </p:nvSpPr>
        <p:spPr>
          <a:xfrm>
            <a:off x="4406885" y="1755648"/>
            <a:ext cx="1357623" cy="475488"/>
          </a:xfrm>
          <a:prstGeom prst="roundRect">
            <a:avLst>
              <a:gd name="adj" fmla="val 15385"/>
            </a:avLst>
          </a:prstGeom>
          <a:solidFill>
            <a:srgbClr val="F2F2F2"/>
          </a:solidFill>
          <a:ln w="22225">
            <a:solidFill>
              <a:srgbClr val="D9B200"/>
            </a:solidFill>
            <a:prstDash val="solid"/>
          </a:ln>
        </p:spPr>
        <p:txBody>
          <a:bodyPr/>
          <a:lstStyle/>
          <a:p>
            <a:endParaRPr lang="en-IN"/>
          </a:p>
        </p:txBody>
      </p:sp>
      <p:sp>
        <p:nvSpPr>
          <p:cNvPr id="11" name="Text 9"/>
          <p:cNvSpPr txBox="1"/>
          <p:nvPr/>
        </p:nvSpPr>
        <p:spPr>
          <a:xfrm>
            <a:off x="4443461" y="1755648"/>
            <a:ext cx="1284471" cy="475488"/>
          </a:xfrm>
          <a:prstGeom prst="rect">
            <a:avLst/>
          </a:prstGeom>
          <a:noFill/>
          <a:ln/>
        </p:spPr>
        <p:txBody>
          <a:bodyPr wrap="square" lIns="0" tIns="0" rIns="0" bIns="0" rtlCol="0" anchor="ctr"/>
          <a:lstStyle/>
          <a:p>
            <a:pPr marL="0" indent="0" algn="ctr">
              <a:buNone/>
            </a:pPr>
            <a:r>
              <a:rPr lang="en-US" sz="1050" b="1">
                <a:solidFill>
                  <a:srgbClr val="000000"/>
                </a:solidFill>
              </a:rPr>
              <a:t>Registration service</a:t>
            </a:r>
            <a:endParaRPr lang="en-US" sz="1050"/>
          </a:p>
        </p:txBody>
      </p:sp>
      <p:sp>
        <p:nvSpPr>
          <p:cNvPr id="12" name="Shape 10"/>
          <p:cNvSpPr/>
          <p:nvPr/>
        </p:nvSpPr>
        <p:spPr>
          <a:xfrm>
            <a:off x="5085697" y="2231136"/>
            <a:ext cx="0" cy="3822192"/>
          </a:xfrm>
          <a:prstGeom prst="line">
            <a:avLst/>
          </a:prstGeom>
          <a:noFill/>
          <a:ln w="12700">
            <a:solidFill>
              <a:srgbClr val="B0B0B8"/>
            </a:solidFill>
            <a:prstDash val="dash"/>
          </a:ln>
        </p:spPr>
        <p:txBody>
          <a:bodyPr/>
          <a:lstStyle/>
          <a:p>
            <a:endParaRPr lang="en-IN"/>
          </a:p>
        </p:txBody>
      </p:sp>
      <p:sp>
        <p:nvSpPr>
          <p:cNvPr id="13" name="participant-pay"/>
          <p:cNvSpPr/>
          <p:nvPr/>
        </p:nvSpPr>
        <p:spPr>
          <a:xfrm>
            <a:off x="5874236" y="1755648"/>
            <a:ext cx="1357623" cy="475488"/>
          </a:xfrm>
          <a:prstGeom prst="roundRect">
            <a:avLst>
              <a:gd name="adj" fmla="val 15385"/>
            </a:avLst>
          </a:prstGeom>
          <a:solidFill>
            <a:srgbClr val="F2F2F2"/>
          </a:solidFill>
          <a:ln w="15875">
            <a:solidFill>
              <a:srgbClr val="B8B8C0"/>
            </a:solidFill>
            <a:prstDash val="solid"/>
          </a:ln>
        </p:spPr>
        <p:txBody>
          <a:bodyPr/>
          <a:lstStyle/>
          <a:p>
            <a:endParaRPr lang="en-IN"/>
          </a:p>
        </p:txBody>
      </p:sp>
      <p:sp>
        <p:nvSpPr>
          <p:cNvPr id="14" name="Text 12"/>
          <p:cNvSpPr txBox="1"/>
          <p:nvPr/>
        </p:nvSpPr>
        <p:spPr>
          <a:xfrm>
            <a:off x="5910812" y="1755648"/>
            <a:ext cx="1284471" cy="475488"/>
          </a:xfrm>
          <a:prstGeom prst="rect">
            <a:avLst/>
          </a:prstGeom>
          <a:noFill/>
          <a:ln/>
        </p:spPr>
        <p:txBody>
          <a:bodyPr wrap="square" lIns="0" tIns="0" rIns="0" bIns="0" rtlCol="0" anchor="ctr"/>
          <a:lstStyle/>
          <a:p>
            <a:pPr marL="0" indent="0" algn="ctr">
              <a:buNone/>
            </a:pPr>
            <a:r>
              <a:rPr lang="en-US" sz="1050" b="1">
                <a:solidFill>
                  <a:srgbClr val="000000"/>
                </a:solidFill>
              </a:rPr>
              <a:t>Payment gateway</a:t>
            </a:r>
            <a:endParaRPr lang="en-US" sz="1050"/>
          </a:p>
        </p:txBody>
      </p:sp>
      <p:sp>
        <p:nvSpPr>
          <p:cNvPr id="15" name="Shape 13"/>
          <p:cNvSpPr/>
          <p:nvPr/>
        </p:nvSpPr>
        <p:spPr>
          <a:xfrm>
            <a:off x="6553048" y="2231136"/>
            <a:ext cx="0" cy="3822192"/>
          </a:xfrm>
          <a:prstGeom prst="line">
            <a:avLst/>
          </a:prstGeom>
          <a:noFill/>
          <a:ln w="12700">
            <a:solidFill>
              <a:srgbClr val="B0B0B8"/>
            </a:solidFill>
            <a:prstDash val="dash"/>
          </a:ln>
        </p:spPr>
        <p:txBody>
          <a:bodyPr/>
          <a:lstStyle/>
          <a:p>
            <a:endParaRPr lang="en-IN"/>
          </a:p>
        </p:txBody>
      </p:sp>
      <p:sp>
        <p:nvSpPr>
          <p:cNvPr id="16" name="participant-sf"/>
          <p:cNvSpPr/>
          <p:nvPr/>
        </p:nvSpPr>
        <p:spPr>
          <a:xfrm>
            <a:off x="7341587" y="1755648"/>
            <a:ext cx="1357623" cy="475488"/>
          </a:xfrm>
          <a:prstGeom prst="roundRect">
            <a:avLst>
              <a:gd name="adj" fmla="val 15385"/>
            </a:avLst>
          </a:prstGeom>
          <a:solidFill>
            <a:srgbClr val="F2F2F2"/>
          </a:solidFill>
          <a:ln w="22225">
            <a:solidFill>
              <a:srgbClr val="00A9C0"/>
            </a:solidFill>
            <a:prstDash val="solid"/>
          </a:ln>
        </p:spPr>
        <p:txBody>
          <a:bodyPr/>
          <a:lstStyle/>
          <a:p>
            <a:endParaRPr lang="en-IN"/>
          </a:p>
        </p:txBody>
      </p:sp>
      <p:sp>
        <p:nvSpPr>
          <p:cNvPr id="17" name="Text 15"/>
          <p:cNvSpPr txBox="1"/>
          <p:nvPr/>
        </p:nvSpPr>
        <p:spPr>
          <a:xfrm>
            <a:off x="7378163" y="1755648"/>
            <a:ext cx="1284471" cy="475488"/>
          </a:xfrm>
          <a:prstGeom prst="rect">
            <a:avLst/>
          </a:prstGeom>
          <a:noFill/>
          <a:ln/>
        </p:spPr>
        <p:txBody>
          <a:bodyPr wrap="square" lIns="0" tIns="0" rIns="0" bIns="0" rtlCol="0" anchor="ctr"/>
          <a:lstStyle/>
          <a:p>
            <a:pPr marL="0" indent="0" algn="ctr">
              <a:buNone/>
            </a:pPr>
            <a:r>
              <a:rPr lang="en-US" sz="1050" b="1">
                <a:solidFill>
                  <a:srgbClr val="000000"/>
                </a:solidFill>
              </a:rPr>
              <a:t>Salesforce event app</a:t>
            </a:r>
            <a:endParaRPr lang="en-US" sz="1050"/>
          </a:p>
        </p:txBody>
      </p:sp>
      <p:sp>
        <p:nvSpPr>
          <p:cNvPr id="18" name="Shape 16"/>
          <p:cNvSpPr/>
          <p:nvPr/>
        </p:nvSpPr>
        <p:spPr>
          <a:xfrm>
            <a:off x="8020398" y="2231136"/>
            <a:ext cx="0" cy="3822192"/>
          </a:xfrm>
          <a:prstGeom prst="line">
            <a:avLst/>
          </a:prstGeom>
          <a:noFill/>
          <a:ln w="12700">
            <a:solidFill>
              <a:srgbClr val="B0B0B8"/>
            </a:solidFill>
            <a:prstDash val="dash"/>
          </a:ln>
        </p:spPr>
        <p:txBody>
          <a:bodyPr/>
          <a:lstStyle/>
          <a:p>
            <a:endParaRPr lang="en-IN"/>
          </a:p>
        </p:txBody>
      </p:sp>
      <p:sp>
        <p:nvSpPr>
          <p:cNvPr id="19" name="participant-mc"/>
          <p:cNvSpPr/>
          <p:nvPr/>
        </p:nvSpPr>
        <p:spPr>
          <a:xfrm>
            <a:off x="8808938" y="1755648"/>
            <a:ext cx="1357623" cy="475488"/>
          </a:xfrm>
          <a:prstGeom prst="roundRect">
            <a:avLst>
              <a:gd name="adj" fmla="val 15385"/>
            </a:avLst>
          </a:prstGeom>
          <a:solidFill>
            <a:srgbClr val="F2F2F2"/>
          </a:solidFill>
          <a:ln w="22225">
            <a:solidFill>
              <a:srgbClr val="FF0068"/>
            </a:solidFill>
            <a:prstDash val="solid"/>
          </a:ln>
        </p:spPr>
        <p:txBody>
          <a:bodyPr/>
          <a:lstStyle/>
          <a:p>
            <a:endParaRPr lang="en-IN"/>
          </a:p>
        </p:txBody>
      </p:sp>
      <p:sp>
        <p:nvSpPr>
          <p:cNvPr id="20" name="Text 18"/>
          <p:cNvSpPr txBox="1"/>
          <p:nvPr/>
        </p:nvSpPr>
        <p:spPr>
          <a:xfrm>
            <a:off x="8845514" y="1755648"/>
            <a:ext cx="1284471" cy="475488"/>
          </a:xfrm>
          <a:prstGeom prst="rect">
            <a:avLst/>
          </a:prstGeom>
          <a:noFill/>
          <a:ln/>
        </p:spPr>
        <p:txBody>
          <a:bodyPr wrap="square" lIns="0" tIns="0" rIns="0" bIns="0" rtlCol="0" anchor="ctr"/>
          <a:lstStyle/>
          <a:p>
            <a:pPr marL="0" indent="0" algn="ctr">
              <a:buNone/>
            </a:pPr>
            <a:r>
              <a:rPr lang="en-US" sz="1050" b="1">
                <a:solidFill>
                  <a:srgbClr val="000000"/>
                </a:solidFill>
              </a:rPr>
              <a:t>Marketing Cloud</a:t>
            </a:r>
            <a:endParaRPr lang="en-US" sz="1050"/>
          </a:p>
        </p:txBody>
      </p:sp>
      <p:sp>
        <p:nvSpPr>
          <p:cNvPr id="21" name="Shape 19"/>
          <p:cNvSpPr/>
          <p:nvPr/>
        </p:nvSpPr>
        <p:spPr>
          <a:xfrm>
            <a:off x="9487749" y="2231136"/>
            <a:ext cx="0" cy="3822192"/>
          </a:xfrm>
          <a:prstGeom prst="line">
            <a:avLst/>
          </a:prstGeom>
          <a:noFill/>
          <a:ln w="12700">
            <a:solidFill>
              <a:srgbClr val="B0B0B8"/>
            </a:solidFill>
            <a:prstDash val="dash"/>
          </a:ln>
        </p:spPr>
        <p:txBody>
          <a:bodyPr/>
          <a:lstStyle/>
          <a:p>
            <a:endParaRPr lang="en-IN"/>
          </a:p>
        </p:txBody>
      </p:sp>
      <p:sp>
        <p:nvSpPr>
          <p:cNvPr id="22" name="participant-st"/>
          <p:cNvSpPr/>
          <p:nvPr/>
        </p:nvSpPr>
        <p:spPr>
          <a:xfrm>
            <a:off x="10276288" y="1755648"/>
            <a:ext cx="1357623" cy="475488"/>
          </a:xfrm>
          <a:prstGeom prst="roundRect">
            <a:avLst>
              <a:gd name="adj" fmla="val 15385"/>
            </a:avLst>
          </a:prstGeom>
          <a:solidFill>
            <a:srgbClr val="F2F2F2"/>
          </a:solidFill>
          <a:ln w="15875">
            <a:solidFill>
              <a:srgbClr val="B8B8C0"/>
            </a:solidFill>
            <a:prstDash val="solid"/>
          </a:ln>
        </p:spPr>
        <p:txBody>
          <a:bodyPr/>
          <a:lstStyle/>
          <a:p>
            <a:endParaRPr lang="en-IN"/>
          </a:p>
        </p:txBody>
      </p:sp>
      <p:sp>
        <p:nvSpPr>
          <p:cNvPr id="23" name="Text 21"/>
          <p:cNvSpPr txBox="1"/>
          <p:nvPr/>
        </p:nvSpPr>
        <p:spPr>
          <a:xfrm>
            <a:off x="10312864" y="1755648"/>
            <a:ext cx="1284471" cy="475488"/>
          </a:xfrm>
          <a:prstGeom prst="rect">
            <a:avLst/>
          </a:prstGeom>
          <a:noFill/>
          <a:ln/>
        </p:spPr>
        <p:txBody>
          <a:bodyPr wrap="square" lIns="0" tIns="0" rIns="0" bIns="0" rtlCol="0" anchor="ctr"/>
          <a:lstStyle/>
          <a:p>
            <a:pPr marL="0" indent="0" algn="ctr">
              <a:buNone/>
            </a:pPr>
            <a:r>
              <a:rPr lang="en-US" sz="1050" b="1">
                <a:solidFill>
                  <a:srgbClr val="000000"/>
                </a:solidFill>
              </a:rPr>
              <a:t>Event staff</a:t>
            </a:r>
            <a:endParaRPr lang="en-US" sz="1050"/>
          </a:p>
        </p:txBody>
      </p:sp>
      <p:sp>
        <p:nvSpPr>
          <p:cNvPr id="24" name="Shape 22"/>
          <p:cNvSpPr/>
          <p:nvPr/>
        </p:nvSpPr>
        <p:spPr>
          <a:xfrm>
            <a:off x="10955100" y="2231136"/>
            <a:ext cx="0" cy="3822192"/>
          </a:xfrm>
          <a:prstGeom prst="line">
            <a:avLst/>
          </a:prstGeom>
          <a:noFill/>
          <a:ln w="12700">
            <a:solidFill>
              <a:srgbClr val="B0B0B8"/>
            </a:solidFill>
            <a:prstDash val="dash"/>
          </a:ln>
        </p:spPr>
        <p:txBody>
          <a:bodyPr/>
          <a:lstStyle/>
          <a:p>
            <a:endParaRPr lang="en-IN"/>
          </a:p>
        </p:txBody>
      </p:sp>
      <p:sp>
        <p:nvSpPr>
          <p:cNvPr id="25" name="Text 23"/>
          <p:cNvSpPr txBox="1"/>
          <p:nvPr/>
        </p:nvSpPr>
        <p:spPr>
          <a:xfrm>
            <a:off x="502920" y="2377440"/>
            <a:ext cx="868680" cy="228600"/>
          </a:xfrm>
          <a:prstGeom prst="rect">
            <a:avLst/>
          </a:prstGeom>
          <a:noFill/>
          <a:ln/>
        </p:spPr>
        <p:txBody>
          <a:bodyPr wrap="square" lIns="0" tIns="0" rIns="0" bIns="0" rtlCol="0" anchor="t"/>
          <a:lstStyle/>
          <a:p>
            <a:pPr marL="0" indent="0">
              <a:buNone/>
            </a:pPr>
            <a:r>
              <a:rPr lang="en-US" sz="950" b="1" kern="0" spc="200">
                <a:solidFill>
                  <a:srgbClr val="007C8C"/>
                </a:solidFill>
              </a:rPr>
              <a:t>REGISTER</a:t>
            </a:r>
            <a:endParaRPr lang="en-US" sz="950"/>
          </a:p>
        </p:txBody>
      </p:sp>
      <p:sp>
        <p:nvSpPr>
          <p:cNvPr id="26" name="Shape 24"/>
          <p:cNvSpPr/>
          <p:nvPr/>
        </p:nvSpPr>
        <p:spPr>
          <a:xfrm>
            <a:off x="2150995" y="2511983"/>
            <a:ext cx="1467351" cy="0"/>
          </a:xfrm>
          <a:prstGeom prst="line">
            <a:avLst/>
          </a:prstGeom>
          <a:noFill/>
          <a:ln w="15875">
            <a:solidFill>
              <a:srgbClr val="1A1A1A"/>
            </a:solidFill>
            <a:prstDash val="solid"/>
            <a:tailEnd type="triangle"/>
          </a:ln>
        </p:spPr>
        <p:txBody>
          <a:bodyPr/>
          <a:lstStyle/>
          <a:p>
            <a:endParaRPr lang="en-IN"/>
          </a:p>
        </p:txBody>
      </p:sp>
      <p:sp>
        <p:nvSpPr>
          <p:cNvPr id="27" name="Shape 25"/>
          <p:cNvSpPr/>
          <p:nvPr/>
        </p:nvSpPr>
        <p:spPr>
          <a:xfrm>
            <a:off x="2050411" y="2411399"/>
            <a:ext cx="201168" cy="201168"/>
          </a:xfrm>
          <a:prstGeom prst="ellipse">
            <a:avLst/>
          </a:prstGeom>
          <a:solidFill>
            <a:srgbClr val="00A9C0"/>
          </a:solidFill>
          <a:ln w="12700">
            <a:solidFill>
              <a:srgbClr val="00A9C0"/>
            </a:solidFill>
            <a:prstDash val="solid"/>
          </a:ln>
        </p:spPr>
        <p:txBody>
          <a:bodyPr/>
          <a:lstStyle/>
          <a:p>
            <a:endParaRPr lang="en-IN"/>
          </a:p>
        </p:txBody>
      </p:sp>
      <p:sp>
        <p:nvSpPr>
          <p:cNvPr id="28" name="Text 26"/>
          <p:cNvSpPr txBox="1"/>
          <p:nvPr/>
        </p:nvSpPr>
        <p:spPr>
          <a:xfrm>
            <a:off x="2050411" y="2411399"/>
            <a:ext cx="201168" cy="201168"/>
          </a:xfrm>
          <a:prstGeom prst="rect">
            <a:avLst/>
          </a:prstGeom>
          <a:noFill/>
          <a:ln/>
        </p:spPr>
        <p:txBody>
          <a:bodyPr wrap="square" lIns="0" tIns="0" rIns="0" bIns="0" rtlCol="0" anchor="ctr"/>
          <a:lstStyle/>
          <a:p>
            <a:pPr marL="0" indent="0" algn="ctr">
              <a:buNone/>
            </a:pPr>
            <a:r>
              <a:rPr lang="en-US" sz="800" b="1">
                <a:solidFill>
                  <a:srgbClr val="000000"/>
                </a:solidFill>
              </a:rPr>
              <a:t>1</a:t>
            </a:r>
            <a:endParaRPr lang="en-US" sz="800"/>
          </a:p>
        </p:txBody>
      </p:sp>
      <p:sp>
        <p:nvSpPr>
          <p:cNvPr id="29" name="Text 27"/>
          <p:cNvSpPr txBox="1"/>
          <p:nvPr/>
        </p:nvSpPr>
        <p:spPr>
          <a:xfrm>
            <a:off x="2297299" y="2265095"/>
            <a:ext cx="1987906" cy="219456"/>
          </a:xfrm>
          <a:prstGeom prst="rect">
            <a:avLst/>
          </a:prstGeom>
          <a:noFill/>
          <a:ln/>
        </p:spPr>
        <p:txBody>
          <a:bodyPr wrap="square" lIns="0" tIns="0" rIns="0" bIns="0" rtlCol="0" anchor="b"/>
          <a:lstStyle/>
          <a:p>
            <a:pPr marL="0" indent="0" algn="ctr">
              <a:buNone/>
            </a:pPr>
            <a:r>
              <a:rPr lang="en-US" sz="1000">
                <a:solidFill>
                  <a:srgbClr val="000000"/>
                </a:solidFill>
              </a:rPr>
              <a:t>Find a class or conference</a:t>
            </a:r>
            <a:endParaRPr lang="en-US" sz="1000"/>
          </a:p>
        </p:txBody>
      </p:sp>
      <p:sp>
        <p:nvSpPr>
          <p:cNvPr id="30" name="Shape 28"/>
          <p:cNvSpPr/>
          <p:nvPr/>
        </p:nvSpPr>
        <p:spPr>
          <a:xfrm>
            <a:off x="3618346" y="2798964"/>
            <a:ext cx="1467351" cy="0"/>
          </a:xfrm>
          <a:prstGeom prst="line">
            <a:avLst/>
          </a:prstGeom>
          <a:noFill/>
          <a:ln w="15875">
            <a:solidFill>
              <a:srgbClr val="1A1A1A"/>
            </a:solidFill>
            <a:prstDash val="solid"/>
            <a:tailEnd type="triangle"/>
          </a:ln>
        </p:spPr>
        <p:txBody>
          <a:bodyPr/>
          <a:lstStyle/>
          <a:p>
            <a:endParaRPr lang="en-IN"/>
          </a:p>
        </p:txBody>
      </p:sp>
      <p:sp>
        <p:nvSpPr>
          <p:cNvPr id="31" name="Shape 29"/>
          <p:cNvSpPr/>
          <p:nvPr/>
        </p:nvSpPr>
        <p:spPr>
          <a:xfrm>
            <a:off x="3517762" y="2698380"/>
            <a:ext cx="201168" cy="201168"/>
          </a:xfrm>
          <a:prstGeom prst="ellipse">
            <a:avLst/>
          </a:prstGeom>
          <a:solidFill>
            <a:srgbClr val="00A9C0"/>
          </a:solidFill>
          <a:ln w="12700">
            <a:solidFill>
              <a:srgbClr val="00A9C0"/>
            </a:solidFill>
            <a:prstDash val="solid"/>
          </a:ln>
        </p:spPr>
        <p:txBody>
          <a:bodyPr/>
          <a:lstStyle/>
          <a:p>
            <a:endParaRPr lang="en-IN"/>
          </a:p>
        </p:txBody>
      </p:sp>
      <p:sp>
        <p:nvSpPr>
          <p:cNvPr id="32" name="Text 30"/>
          <p:cNvSpPr txBox="1"/>
          <p:nvPr/>
        </p:nvSpPr>
        <p:spPr>
          <a:xfrm>
            <a:off x="3517762" y="2698380"/>
            <a:ext cx="201168" cy="201168"/>
          </a:xfrm>
          <a:prstGeom prst="rect">
            <a:avLst/>
          </a:prstGeom>
          <a:noFill/>
          <a:ln/>
        </p:spPr>
        <p:txBody>
          <a:bodyPr wrap="square" lIns="0" tIns="0" rIns="0" bIns="0" rtlCol="0" anchor="ctr"/>
          <a:lstStyle/>
          <a:p>
            <a:pPr marL="0" indent="0" algn="ctr">
              <a:buNone/>
            </a:pPr>
            <a:r>
              <a:rPr lang="en-US" sz="800" b="1">
                <a:solidFill>
                  <a:srgbClr val="000000"/>
                </a:solidFill>
              </a:rPr>
              <a:t>2</a:t>
            </a:r>
            <a:endParaRPr lang="en-US" sz="800"/>
          </a:p>
        </p:txBody>
      </p:sp>
      <p:sp>
        <p:nvSpPr>
          <p:cNvPr id="33" name="Text 31"/>
          <p:cNvSpPr txBox="1"/>
          <p:nvPr/>
        </p:nvSpPr>
        <p:spPr>
          <a:xfrm>
            <a:off x="3764650" y="2552076"/>
            <a:ext cx="1852574" cy="219456"/>
          </a:xfrm>
          <a:prstGeom prst="rect">
            <a:avLst/>
          </a:prstGeom>
          <a:noFill/>
          <a:ln/>
        </p:spPr>
        <p:txBody>
          <a:bodyPr wrap="square" lIns="0" tIns="0" rIns="0" bIns="0" rtlCol="0" anchor="b"/>
          <a:lstStyle/>
          <a:p>
            <a:pPr marL="0" indent="0" algn="ctr">
              <a:buNone/>
            </a:pPr>
            <a:r>
              <a:rPr lang="en-US" sz="1000">
                <a:solidFill>
                  <a:srgbClr val="000000"/>
                </a:solidFill>
              </a:rPr>
              <a:t>Register and hold a seat</a:t>
            </a:r>
            <a:endParaRPr lang="en-US" sz="1000"/>
          </a:p>
        </p:txBody>
      </p:sp>
      <p:sp>
        <p:nvSpPr>
          <p:cNvPr id="34" name="Shape 32"/>
          <p:cNvSpPr/>
          <p:nvPr/>
        </p:nvSpPr>
        <p:spPr>
          <a:xfrm>
            <a:off x="2150995" y="3085945"/>
            <a:ext cx="2934701" cy="0"/>
          </a:xfrm>
          <a:prstGeom prst="line">
            <a:avLst/>
          </a:prstGeom>
          <a:noFill/>
          <a:ln w="15875">
            <a:solidFill>
              <a:srgbClr val="6B7280"/>
            </a:solidFill>
            <a:prstDash val="dash"/>
            <a:headEnd type="triangle"/>
          </a:ln>
        </p:spPr>
        <p:txBody>
          <a:bodyPr/>
          <a:lstStyle/>
          <a:p>
            <a:endParaRPr lang="en-IN"/>
          </a:p>
        </p:txBody>
      </p:sp>
      <p:sp>
        <p:nvSpPr>
          <p:cNvPr id="35" name="Shape 33"/>
          <p:cNvSpPr/>
          <p:nvPr/>
        </p:nvSpPr>
        <p:spPr>
          <a:xfrm>
            <a:off x="4985113" y="2985361"/>
            <a:ext cx="201168" cy="201168"/>
          </a:xfrm>
          <a:prstGeom prst="ellipse">
            <a:avLst/>
          </a:prstGeom>
          <a:solidFill>
            <a:srgbClr val="00A9C0"/>
          </a:solidFill>
          <a:ln w="12700">
            <a:solidFill>
              <a:srgbClr val="00A9C0"/>
            </a:solidFill>
            <a:prstDash val="solid"/>
          </a:ln>
        </p:spPr>
        <p:txBody>
          <a:bodyPr/>
          <a:lstStyle/>
          <a:p>
            <a:endParaRPr lang="en-IN"/>
          </a:p>
        </p:txBody>
      </p:sp>
      <p:sp>
        <p:nvSpPr>
          <p:cNvPr id="36" name="Text 34"/>
          <p:cNvSpPr txBox="1"/>
          <p:nvPr/>
        </p:nvSpPr>
        <p:spPr>
          <a:xfrm>
            <a:off x="4985113" y="2985361"/>
            <a:ext cx="201168" cy="201168"/>
          </a:xfrm>
          <a:prstGeom prst="rect">
            <a:avLst/>
          </a:prstGeom>
          <a:noFill/>
          <a:ln/>
        </p:spPr>
        <p:txBody>
          <a:bodyPr wrap="square" lIns="0" tIns="0" rIns="0" bIns="0" rtlCol="0" anchor="ctr"/>
          <a:lstStyle/>
          <a:p>
            <a:pPr marL="0" indent="0" algn="ctr">
              <a:buNone/>
            </a:pPr>
            <a:r>
              <a:rPr lang="en-US" sz="800" b="1">
                <a:solidFill>
                  <a:srgbClr val="000000"/>
                </a:solidFill>
              </a:rPr>
              <a:t>3</a:t>
            </a:r>
            <a:endParaRPr lang="en-US" sz="800"/>
          </a:p>
        </p:txBody>
      </p:sp>
      <p:sp>
        <p:nvSpPr>
          <p:cNvPr id="37" name="Text 35"/>
          <p:cNvSpPr txBox="1"/>
          <p:nvPr/>
        </p:nvSpPr>
        <p:spPr>
          <a:xfrm>
            <a:off x="2187571" y="2839057"/>
            <a:ext cx="2751821" cy="219456"/>
          </a:xfrm>
          <a:prstGeom prst="rect">
            <a:avLst/>
          </a:prstGeom>
          <a:noFill/>
          <a:ln/>
        </p:spPr>
        <p:txBody>
          <a:bodyPr wrap="square" lIns="0" tIns="0" rIns="0" bIns="0" rtlCol="0" anchor="b"/>
          <a:lstStyle/>
          <a:p>
            <a:pPr marL="0" indent="0" algn="ctr">
              <a:buNone/>
            </a:pPr>
            <a:r>
              <a:rPr lang="en-US" sz="1000">
                <a:solidFill>
                  <a:srgbClr val="4D4D4D"/>
                </a:solidFill>
              </a:rPr>
              <a:t>Seat held for 10 minutes</a:t>
            </a:r>
            <a:endParaRPr lang="en-US" sz="1000"/>
          </a:p>
        </p:txBody>
      </p:sp>
      <p:sp>
        <p:nvSpPr>
          <p:cNvPr id="38" name="Shape 36"/>
          <p:cNvSpPr/>
          <p:nvPr/>
        </p:nvSpPr>
        <p:spPr>
          <a:xfrm>
            <a:off x="502920" y="3183519"/>
            <a:ext cx="11141835" cy="0"/>
          </a:xfrm>
          <a:prstGeom prst="line">
            <a:avLst/>
          </a:prstGeom>
          <a:noFill/>
          <a:ln w="9525">
            <a:solidFill>
              <a:srgbClr val="D4D4DA"/>
            </a:solidFill>
            <a:prstDash val="sysDot"/>
          </a:ln>
        </p:spPr>
        <p:txBody>
          <a:bodyPr/>
          <a:lstStyle/>
          <a:p>
            <a:endParaRPr lang="en-IN"/>
          </a:p>
        </p:txBody>
      </p:sp>
      <p:sp>
        <p:nvSpPr>
          <p:cNvPr id="39" name="Text 37"/>
          <p:cNvSpPr txBox="1"/>
          <p:nvPr/>
        </p:nvSpPr>
        <p:spPr>
          <a:xfrm>
            <a:off x="502920" y="3238383"/>
            <a:ext cx="868680" cy="228600"/>
          </a:xfrm>
          <a:prstGeom prst="rect">
            <a:avLst/>
          </a:prstGeom>
          <a:noFill/>
          <a:ln/>
        </p:spPr>
        <p:txBody>
          <a:bodyPr wrap="square" lIns="0" tIns="0" rIns="0" bIns="0" rtlCol="0" anchor="t"/>
          <a:lstStyle/>
          <a:p>
            <a:pPr marL="0" indent="0">
              <a:buNone/>
            </a:pPr>
            <a:r>
              <a:rPr lang="en-US" sz="950" b="1" kern="0" spc="200">
                <a:solidFill>
                  <a:srgbClr val="007C8C"/>
                </a:solidFill>
              </a:rPr>
              <a:t>PAY</a:t>
            </a:r>
            <a:endParaRPr lang="en-US" sz="950"/>
          </a:p>
        </p:txBody>
      </p:sp>
      <p:sp>
        <p:nvSpPr>
          <p:cNvPr id="40" name="Shape 38"/>
          <p:cNvSpPr/>
          <p:nvPr/>
        </p:nvSpPr>
        <p:spPr>
          <a:xfrm>
            <a:off x="2150995" y="3372926"/>
            <a:ext cx="4402052" cy="0"/>
          </a:xfrm>
          <a:prstGeom prst="line">
            <a:avLst/>
          </a:prstGeom>
          <a:noFill/>
          <a:ln w="15875">
            <a:solidFill>
              <a:srgbClr val="1A1A1A"/>
            </a:solidFill>
            <a:prstDash val="solid"/>
            <a:tailEnd type="triangle"/>
          </a:ln>
        </p:spPr>
        <p:txBody>
          <a:bodyPr/>
          <a:lstStyle/>
          <a:p>
            <a:endParaRPr lang="en-IN"/>
          </a:p>
        </p:txBody>
      </p:sp>
      <p:sp>
        <p:nvSpPr>
          <p:cNvPr id="41" name="Shape 39"/>
          <p:cNvSpPr/>
          <p:nvPr/>
        </p:nvSpPr>
        <p:spPr>
          <a:xfrm>
            <a:off x="2050411" y="3272342"/>
            <a:ext cx="201168" cy="201168"/>
          </a:xfrm>
          <a:prstGeom prst="ellipse">
            <a:avLst/>
          </a:prstGeom>
          <a:solidFill>
            <a:srgbClr val="00A9C0"/>
          </a:solidFill>
          <a:ln w="12700">
            <a:solidFill>
              <a:srgbClr val="00A9C0"/>
            </a:solidFill>
            <a:prstDash val="solid"/>
          </a:ln>
        </p:spPr>
        <p:txBody>
          <a:bodyPr/>
          <a:lstStyle/>
          <a:p>
            <a:endParaRPr lang="en-IN"/>
          </a:p>
        </p:txBody>
      </p:sp>
      <p:sp>
        <p:nvSpPr>
          <p:cNvPr id="42" name="Text 40"/>
          <p:cNvSpPr txBox="1"/>
          <p:nvPr/>
        </p:nvSpPr>
        <p:spPr>
          <a:xfrm>
            <a:off x="2050411" y="3272342"/>
            <a:ext cx="201168" cy="201168"/>
          </a:xfrm>
          <a:prstGeom prst="rect">
            <a:avLst/>
          </a:prstGeom>
          <a:noFill/>
          <a:ln/>
        </p:spPr>
        <p:txBody>
          <a:bodyPr wrap="square" lIns="0" tIns="0" rIns="0" bIns="0" rtlCol="0" anchor="ctr"/>
          <a:lstStyle/>
          <a:p>
            <a:pPr marL="0" indent="0" algn="ctr">
              <a:buNone/>
            </a:pPr>
            <a:r>
              <a:rPr lang="en-US" sz="800" b="1">
                <a:solidFill>
                  <a:srgbClr val="000000"/>
                </a:solidFill>
              </a:rPr>
              <a:t>4</a:t>
            </a:r>
            <a:endParaRPr lang="en-US" sz="800"/>
          </a:p>
        </p:txBody>
      </p:sp>
      <p:sp>
        <p:nvSpPr>
          <p:cNvPr id="43" name="Text 41"/>
          <p:cNvSpPr txBox="1"/>
          <p:nvPr/>
        </p:nvSpPr>
        <p:spPr>
          <a:xfrm>
            <a:off x="2297299" y="3126038"/>
            <a:ext cx="4219172" cy="219456"/>
          </a:xfrm>
          <a:prstGeom prst="rect">
            <a:avLst/>
          </a:prstGeom>
          <a:noFill/>
          <a:ln/>
        </p:spPr>
        <p:txBody>
          <a:bodyPr wrap="square" lIns="0" tIns="0" rIns="0" bIns="0" rtlCol="0" anchor="b"/>
          <a:lstStyle/>
          <a:p>
            <a:pPr marL="0" indent="0" algn="ctr">
              <a:buNone/>
            </a:pPr>
            <a:r>
              <a:rPr lang="en-US" sz="1000">
                <a:solidFill>
                  <a:srgbClr val="000000"/>
                </a:solidFill>
              </a:rPr>
              <a:t>Pay on hosted page (free events skip this)</a:t>
            </a:r>
            <a:endParaRPr lang="en-US" sz="1000"/>
          </a:p>
        </p:txBody>
      </p:sp>
      <p:sp>
        <p:nvSpPr>
          <p:cNvPr id="44" name="Shape 42"/>
          <p:cNvSpPr/>
          <p:nvPr/>
        </p:nvSpPr>
        <p:spPr>
          <a:xfrm>
            <a:off x="5085697" y="3659907"/>
            <a:ext cx="1467351" cy="0"/>
          </a:xfrm>
          <a:prstGeom prst="line">
            <a:avLst/>
          </a:prstGeom>
          <a:noFill/>
          <a:ln w="15875">
            <a:solidFill>
              <a:srgbClr val="6B7280"/>
            </a:solidFill>
            <a:prstDash val="dash"/>
            <a:headEnd type="triangle"/>
          </a:ln>
        </p:spPr>
        <p:txBody>
          <a:bodyPr/>
          <a:lstStyle/>
          <a:p>
            <a:endParaRPr lang="en-IN"/>
          </a:p>
        </p:txBody>
      </p:sp>
      <p:sp>
        <p:nvSpPr>
          <p:cNvPr id="45" name="Shape 43"/>
          <p:cNvSpPr/>
          <p:nvPr/>
        </p:nvSpPr>
        <p:spPr>
          <a:xfrm>
            <a:off x="6452464" y="3559323"/>
            <a:ext cx="201168" cy="201168"/>
          </a:xfrm>
          <a:prstGeom prst="ellipse">
            <a:avLst/>
          </a:prstGeom>
          <a:solidFill>
            <a:srgbClr val="00A9C0"/>
          </a:solidFill>
          <a:ln w="12700">
            <a:solidFill>
              <a:srgbClr val="00A9C0"/>
            </a:solidFill>
            <a:prstDash val="solid"/>
          </a:ln>
        </p:spPr>
        <p:txBody>
          <a:bodyPr/>
          <a:lstStyle/>
          <a:p>
            <a:endParaRPr lang="en-IN"/>
          </a:p>
        </p:txBody>
      </p:sp>
      <p:sp>
        <p:nvSpPr>
          <p:cNvPr id="46" name="Text 44"/>
          <p:cNvSpPr txBox="1"/>
          <p:nvPr/>
        </p:nvSpPr>
        <p:spPr>
          <a:xfrm>
            <a:off x="6452464" y="3559323"/>
            <a:ext cx="201168" cy="201168"/>
          </a:xfrm>
          <a:prstGeom prst="rect">
            <a:avLst/>
          </a:prstGeom>
          <a:noFill/>
          <a:ln/>
        </p:spPr>
        <p:txBody>
          <a:bodyPr wrap="square" lIns="0" tIns="0" rIns="0" bIns="0" rtlCol="0" anchor="ctr"/>
          <a:lstStyle/>
          <a:p>
            <a:pPr marL="0" indent="0" algn="ctr">
              <a:buNone/>
            </a:pPr>
            <a:r>
              <a:rPr lang="en-US" sz="800" b="1">
                <a:solidFill>
                  <a:srgbClr val="000000"/>
                </a:solidFill>
              </a:rPr>
              <a:t>5</a:t>
            </a:r>
            <a:endParaRPr lang="en-US" sz="800"/>
          </a:p>
        </p:txBody>
      </p:sp>
      <p:sp>
        <p:nvSpPr>
          <p:cNvPr id="47" name="Text 45"/>
          <p:cNvSpPr txBox="1"/>
          <p:nvPr/>
        </p:nvSpPr>
        <p:spPr>
          <a:xfrm>
            <a:off x="4418838" y="3413019"/>
            <a:ext cx="1987906" cy="219456"/>
          </a:xfrm>
          <a:prstGeom prst="rect">
            <a:avLst/>
          </a:prstGeom>
          <a:noFill/>
          <a:ln/>
        </p:spPr>
        <p:txBody>
          <a:bodyPr wrap="square" lIns="0" tIns="0" rIns="0" bIns="0" rtlCol="0" anchor="b"/>
          <a:lstStyle/>
          <a:p>
            <a:pPr marL="0" indent="0" algn="ctr">
              <a:buNone/>
            </a:pPr>
            <a:r>
              <a:rPr lang="en-US" sz="1000">
                <a:solidFill>
                  <a:srgbClr val="4D4D4D"/>
                </a:solidFill>
              </a:rPr>
              <a:t>Signed webhook, token only</a:t>
            </a:r>
            <a:endParaRPr lang="en-US" sz="1000"/>
          </a:p>
        </p:txBody>
      </p:sp>
      <p:sp>
        <p:nvSpPr>
          <p:cNvPr id="48" name="Shape 46"/>
          <p:cNvSpPr/>
          <p:nvPr/>
        </p:nvSpPr>
        <p:spPr>
          <a:xfrm>
            <a:off x="5085697" y="3946888"/>
            <a:ext cx="2934701" cy="0"/>
          </a:xfrm>
          <a:prstGeom prst="line">
            <a:avLst/>
          </a:prstGeom>
          <a:noFill/>
          <a:ln w="15875">
            <a:solidFill>
              <a:srgbClr val="1A1A1A"/>
            </a:solidFill>
            <a:prstDash val="solid"/>
            <a:tailEnd type="triangle"/>
          </a:ln>
        </p:spPr>
        <p:txBody>
          <a:bodyPr/>
          <a:lstStyle/>
          <a:p>
            <a:endParaRPr lang="en-IN"/>
          </a:p>
        </p:txBody>
      </p:sp>
      <p:sp>
        <p:nvSpPr>
          <p:cNvPr id="49" name="Shape 47"/>
          <p:cNvSpPr/>
          <p:nvPr/>
        </p:nvSpPr>
        <p:spPr>
          <a:xfrm>
            <a:off x="4985113" y="3846304"/>
            <a:ext cx="201168" cy="201168"/>
          </a:xfrm>
          <a:prstGeom prst="ellipse">
            <a:avLst/>
          </a:prstGeom>
          <a:solidFill>
            <a:srgbClr val="00A9C0"/>
          </a:solidFill>
          <a:ln w="12700">
            <a:solidFill>
              <a:srgbClr val="00A9C0"/>
            </a:solidFill>
            <a:prstDash val="solid"/>
          </a:ln>
        </p:spPr>
        <p:txBody>
          <a:bodyPr/>
          <a:lstStyle/>
          <a:p>
            <a:endParaRPr lang="en-IN"/>
          </a:p>
        </p:txBody>
      </p:sp>
      <p:sp>
        <p:nvSpPr>
          <p:cNvPr id="50" name="Text 48"/>
          <p:cNvSpPr txBox="1"/>
          <p:nvPr/>
        </p:nvSpPr>
        <p:spPr>
          <a:xfrm>
            <a:off x="4985113" y="3846304"/>
            <a:ext cx="201168" cy="201168"/>
          </a:xfrm>
          <a:prstGeom prst="rect">
            <a:avLst/>
          </a:prstGeom>
          <a:noFill/>
          <a:ln/>
        </p:spPr>
        <p:txBody>
          <a:bodyPr wrap="square" lIns="0" tIns="0" rIns="0" bIns="0" rtlCol="0" anchor="ctr"/>
          <a:lstStyle/>
          <a:p>
            <a:pPr marL="0" indent="0" algn="ctr">
              <a:buNone/>
            </a:pPr>
            <a:r>
              <a:rPr lang="en-US" sz="800" b="1">
                <a:solidFill>
                  <a:srgbClr val="000000"/>
                </a:solidFill>
              </a:rPr>
              <a:t>6</a:t>
            </a:r>
            <a:endParaRPr lang="en-US" sz="800"/>
          </a:p>
        </p:txBody>
      </p:sp>
      <p:sp>
        <p:nvSpPr>
          <p:cNvPr id="51" name="Text 49"/>
          <p:cNvSpPr txBox="1"/>
          <p:nvPr/>
        </p:nvSpPr>
        <p:spPr>
          <a:xfrm>
            <a:off x="5232001" y="3700000"/>
            <a:ext cx="2935224" cy="219456"/>
          </a:xfrm>
          <a:prstGeom prst="rect">
            <a:avLst/>
          </a:prstGeom>
          <a:noFill/>
          <a:ln/>
        </p:spPr>
        <p:txBody>
          <a:bodyPr wrap="square" lIns="0" tIns="0" rIns="0" bIns="0" rtlCol="0" anchor="b"/>
          <a:lstStyle/>
          <a:p>
            <a:pPr marL="0" indent="0" algn="ctr">
              <a:buNone/>
            </a:pPr>
            <a:r>
              <a:rPr lang="en-US" sz="1000">
                <a:solidFill>
                  <a:srgbClr val="000000"/>
                </a:solidFill>
              </a:rPr>
              <a:t>Create registration (queued, idempotent)</a:t>
            </a:r>
            <a:endParaRPr lang="en-US" sz="1000"/>
          </a:p>
        </p:txBody>
      </p:sp>
      <p:sp>
        <p:nvSpPr>
          <p:cNvPr id="52" name="Shape 50"/>
          <p:cNvSpPr/>
          <p:nvPr/>
        </p:nvSpPr>
        <p:spPr>
          <a:xfrm>
            <a:off x="502920" y="4044462"/>
            <a:ext cx="11141835" cy="0"/>
          </a:xfrm>
          <a:prstGeom prst="line">
            <a:avLst/>
          </a:prstGeom>
          <a:noFill/>
          <a:ln w="9525">
            <a:solidFill>
              <a:srgbClr val="D4D4DA"/>
            </a:solidFill>
            <a:prstDash val="sysDot"/>
          </a:ln>
        </p:spPr>
        <p:txBody>
          <a:bodyPr/>
          <a:lstStyle/>
          <a:p>
            <a:endParaRPr lang="en-IN"/>
          </a:p>
        </p:txBody>
      </p:sp>
      <p:sp>
        <p:nvSpPr>
          <p:cNvPr id="53" name="Text 51"/>
          <p:cNvSpPr txBox="1"/>
          <p:nvPr/>
        </p:nvSpPr>
        <p:spPr>
          <a:xfrm>
            <a:off x="502920" y="4099326"/>
            <a:ext cx="868680" cy="228600"/>
          </a:xfrm>
          <a:prstGeom prst="rect">
            <a:avLst/>
          </a:prstGeom>
          <a:noFill/>
          <a:ln/>
        </p:spPr>
        <p:txBody>
          <a:bodyPr wrap="square" lIns="0" tIns="0" rIns="0" bIns="0" rtlCol="0" anchor="t"/>
          <a:lstStyle/>
          <a:p>
            <a:pPr marL="0" indent="0">
              <a:buNone/>
            </a:pPr>
            <a:r>
              <a:rPr lang="en-US" sz="950" b="1" kern="0" spc="200">
                <a:solidFill>
                  <a:srgbClr val="007C8C"/>
                </a:solidFill>
              </a:rPr>
              <a:t>CONFIRM</a:t>
            </a:r>
            <a:endParaRPr lang="en-US" sz="950"/>
          </a:p>
        </p:txBody>
      </p:sp>
      <p:sp>
        <p:nvSpPr>
          <p:cNvPr id="54" name="Shape 52"/>
          <p:cNvSpPr/>
          <p:nvPr/>
        </p:nvSpPr>
        <p:spPr>
          <a:xfrm>
            <a:off x="8020398" y="4233869"/>
            <a:ext cx="1467351" cy="0"/>
          </a:xfrm>
          <a:prstGeom prst="line">
            <a:avLst/>
          </a:prstGeom>
          <a:noFill/>
          <a:ln w="15875">
            <a:solidFill>
              <a:srgbClr val="1A1A1A"/>
            </a:solidFill>
            <a:prstDash val="solid"/>
            <a:tailEnd type="triangle"/>
          </a:ln>
        </p:spPr>
        <p:txBody>
          <a:bodyPr/>
          <a:lstStyle/>
          <a:p>
            <a:endParaRPr lang="en-IN"/>
          </a:p>
        </p:txBody>
      </p:sp>
      <p:sp>
        <p:nvSpPr>
          <p:cNvPr id="55" name="Shape 53"/>
          <p:cNvSpPr/>
          <p:nvPr/>
        </p:nvSpPr>
        <p:spPr>
          <a:xfrm>
            <a:off x="7919814" y="4133285"/>
            <a:ext cx="201168" cy="201168"/>
          </a:xfrm>
          <a:prstGeom prst="ellipse">
            <a:avLst/>
          </a:prstGeom>
          <a:solidFill>
            <a:srgbClr val="00A9C0"/>
          </a:solidFill>
          <a:ln w="12700">
            <a:solidFill>
              <a:srgbClr val="00A9C0"/>
            </a:solidFill>
            <a:prstDash val="solid"/>
          </a:ln>
        </p:spPr>
        <p:txBody>
          <a:bodyPr/>
          <a:lstStyle/>
          <a:p>
            <a:endParaRPr lang="en-IN"/>
          </a:p>
        </p:txBody>
      </p:sp>
      <p:sp>
        <p:nvSpPr>
          <p:cNvPr id="56" name="Text 54"/>
          <p:cNvSpPr txBox="1"/>
          <p:nvPr/>
        </p:nvSpPr>
        <p:spPr>
          <a:xfrm>
            <a:off x="7919814" y="4133285"/>
            <a:ext cx="201168" cy="201168"/>
          </a:xfrm>
          <a:prstGeom prst="rect">
            <a:avLst/>
          </a:prstGeom>
          <a:noFill/>
          <a:ln/>
        </p:spPr>
        <p:txBody>
          <a:bodyPr wrap="square" lIns="0" tIns="0" rIns="0" bIns="0" rtlCol="0" anchor="ctr"/>
          <a:lstStyle/>
          <a:p>
            <a:pPr marL="0" indent="0" algn="ctr">
              <a:buNone/>
            </a:pPr>
            <a:r>
              <a:rPr lang="en-US" sz="800" b="1">
                <a:solidFill>
                  <a:srgbClr val="000000"/>
                </a:solidFill>
              </a:rPr>
              <a:t>7</a:t>
            </a:r>
            <a:endParaRPr lang="en-US" sz="800"/>
          </a:p>
        </p:txBody>
      </p:sp>
      <p:sp>
        <p:nvSpPr>
          <p:cNvPr id="57" name="Text 55"/>
          <p:cNvSpPr txBox="1"/>
          <p:nvPr/>
        </p:nvSpPr>
        <p:spPr>
          <a:xfrm>
            <a:off x="8166702" y="3986981"/>
            <a:ext cx="1446581" cy="219456"/>
          </a:xfrm>
          <a:prstGeom prst="rect">
            <a:avLst/>
          </a:prstGeom>
          <a:noFill/>
          <a:ln/>
        </p:spPr>
        <p:txBody>
          <a:bodyPr wrap="square" lIns="0" tIns="0" rIns="0" bIns="0" rtlCol="0" anchor="b"/>
          <a:lstStyle/>
          <a:p>
            <a:pPr marL="0" indent="0" algn="ctr">
              <a:buNone/>
            </a:pPr>
            <a:r>
              <a:rPr lang="en-US" sz="1000">
                <a:solidFill>
                  <a:srgbClr val="000000"/>
                </a:solidFill>
              </a:rPr>
              <a:t>Registration event</a:t>
            </a:r>
            <a:endParaRPr lang="en-US" sz="1000"/>
          </a:p>
        </p:txBody>
      </p:sp>
      <p:sp>
        <p:nvSpPr>
          <p:cNvPr id="58" name="Shape 56"/>
          <p:cNvSpPr/>
          <p:nvPr/>
        </p:nvSpPr>
        <p:spPr>
          <a:xfrm>
            <a:off x="2150995" y="4520850"/>
            <a:ext cx="7336754" cy="0"/>
          </a:xfrm>
          <a:prstGeom prst="line">
            <a:avLst/>
          </a:prstGeom>
          <a:noFill/>
          <a:ln w="15875">
            <a:solidFill>
              <a:srgbClr val="6B7280"/>
            </a:solidFill>
            <a:prstDash val="dash"/>
            <a:headEnd type="triangle"/>
          </a:ln>
        </p:spPr>
        <p:txBody>
          <a:bodyPr/>
          <a:lstStyle/>
          <a:p>
            <a:endParaRPr lang="en-IN"/>
          </a:p>
        </p:txBody>
      </p:sp>
      <p:sp>
        <p:nvSpPr>
          <p:cNvPr id="59" name="Shape 57"/>
          <p:cNvSpPr/>
          <p:nvPr/>
        </p:nvSpPr>
        <p:spPr>
          <a:xfrm>
            <a:off x="9387165" y="4420266"/>
            <a:ext cx="201168" cy="201168"/>
          </a:xfrm>
          <a:prstGeom prst="ellipse">
            <a:avLst/>
          </a:prstGeom>
          <a:solidFill>
            <a:srgbClr val="00A9C0"/>
          </a:solidFill>
          <a:ln w="12700">
            <a:solidFill>
              <a:srgbClr val="00A9C0"/>
            </a:solidFill>
            <a:prstDash val="solid"/>
          </a:ln>
        </p:spPr>
        <p:txBody>
          <a:bodyPr/>
          <a:lstStyle/>
          <a:p>
            <a:endParaRPr lang="en-IN"/>
          </a:p>
        </p:txBody>
      </p:sp>
      <p:sp>
        <p:nvSpPr>
          <p:cNvPr id="60" name="Text 58"/>
          <p:cNvSpPr txBox="1"/>
          <p:nvPr/>
        </p:nvSpPr>
        <p:spPr>
          <a:xfrm>
            <a:off x="9387165" y="4420266"/>
            <a:ext cx="201168" cy="201168"/>
          </a:xfrm>
          <a:prstGeom prst="rect">
            <a:avLst/>
          </a:prstGeom>
          <a:noFill/>
          <a:ln/>
        </p:spPr>
        <p:txBody>
          <a:bodyPr wrap="square" lIns="0" tIns="0" rIns="0" bIns="0" rtlCol="0" anchor="ctr"/>
          <a:lstStyle/>
          <a:p>
            <a:pPr marL="0" indent="0" algn="ctr">
              <a:buNone/>
            </a:pPr>
            <a:r>
              <a:rPr lang="en-US" sz="800" b="1">
                <a:solidFill>
                  <a:srgbClr val="000000"/>
                </a:solidFill>
              </a:rPr>
              <a:t>8</a:t>
            </a:r>
            <a:endParaRPr lang="en-US" sz="800"/>
          </a:p>
        </p:txBody>
      </p:sp>
      <p:sp>
        <p:nvSpPr>
          <p:cNvPr id="61" name="Text 59"/>
          <p:cNvSpPr txBox="1"/>
          <p:nvPr/>
        </p:nvSpPr>
        <p:spPr>
          <a:xfrm>
            <a:off x="2187571" y="4273962"/>
            <a:ext cx="7153874" cy="219456"/>
          </a:xfrm>
          <a:prstGeom prst="rect">
            <a:avLst/>
          </a:prstGeom>
          <a:noFill/>
          <a:ln/>
        </p:spPr>
        <p:txBody>
          <a:bodyPr wrap="square" lIns="0" tIns="0" rIns="0" bIns="0" rtlCol="0" anchor="b"/>
          <a:lstStyle/>
          <a:p>
            <a:pPr marL="0" indent="0" algn="ctr">
              <a:buNone/>
            </a:pPr>
            <a:r>
              <a:rPr lang="en-US" sz="1000">
                <a:solidFill>
                  <a:srgbClr val="4D4D4D"/>
                </a:solidFill>
              </a:rPr>
              <a:t>Confirmation, QR code, calendar invite, reminders</a:t>
            </a:r>
            <a:endParaRPr lang="en-US" sz="1000"/>
          </a:p>
        </p:txBody>
      </p:sp>
      <p:sp>
        <p:nvSpPr>
          <p:cNvPr id="62" name="Shape 60"/>
          <p:cNvSpPr/>
          <p:nvPr/>
        </p:nvSpPr>
        <p:spPr>
          <a:xfrm>
            <a:off x="502920" y="4618423"/>
            <a:ext cx="11141835" cy="0"/>
          </a:xfrm>
          <a:prstGeom prst="line">
            <a:avLst/>
          </a:prstGeom>
          <a:noFill/>
          <a:ln w="9525">
            <a:solidFill>
              <a:srgbClr val="D4D4DA"/>
            </a:solidFill>
            <a:prstDash val="sysDot"/>
          </a:ln>
        </p:spPr>
        <p:txBody>
          <a:bodyPr/>
          <a:lstStyle/>
          <a:p>
            <a:endParaRPr lang="en-IN"/>
          </a:p>
        </p:txBody>
      </p:sp>
      <p:sp>
        <p:nvSpPr>
          <p:cNvPr id="63" name="Text 61"/>
          <p:cNvSpPr txBox="1"/>
          <p:nvPr/>
        </p:nvSpPr>
        <p:spPr>
          <a:xfrm>
            <a:off x="502920" y="4673287"/>
            <a:ext cx="868680" cy="228600"/>
          </a:xfrm>
          <a:prstGeom prst="rect">
            <a:avLst/>
          </a:prstGeom>
          <a:noFill/>
          <a:ln/>
        </p:spPr>
        <p:txBody>
          <a:bodyPr wrap="square" lIns="0" tIns="0" rIns="0" bIns="0" rtlCol="0" anchor="t"/>
          <a:lstStyle/>
          <a:p>
            <a:pPr marL="0" indent="0">
              <a:buNone/>
            </a:pPr>
            <a:r>
              <a:rPr lang="en-US" sz="950" b="1" kern="0" spc="200">
                <a:solidFill>
                  <a:srgbClr val="007C8C"/>
                </a:solidFill>
              </a:rPr>
              <a:t>ATTEND</a:t>
            </a:r>
            <a:endParaRPr lang="en-US" sz="950"/>
          </a:p>
        </p:txBody>
      </p:sp>
      <p:sp>
        <p:nvSpPr>
          <p:cNvPr id="64" name="Shape 62"/>
          <p:cNvSpPr/>
          <p:nvPr/>
        </p:nvSpPr>
        <p:spPr>
          <a:xfrm>
            <a:off x="8020398" y="4807831"/>
            <a:ext cx="2934701" cy="0"/>
          </a:xfrm>
          <a:prstGeom prst="line">
            <a:avLst/>
          </a:prstGeom>
          <a:noFill/>
          <a:ln w="15875">
            <a:solidFill>
              <a:srgbClr val="1A1A1A"/>
            </a:solidFill>
            <a:prstDash val="solid"/>
            <a:headEnd type="triangle"/>
          </a:ln>
        </p:spPr>
        <p:txBody>
          <a:bodyPr/>
          <a:lstStyle/>
          <a:p>
            <a:endParaRPr lang="en-IN"/>
          </a:p>
        </p:txBody>
      </p:sp>
      <p:sp>
        <p:nvSpPr>
          <p:cNvPr id="65" name="Shape 63"/>
          <p:cNvSpPr/>
          <p:nvPr/>
        </p:nvSpPr>
        <p:spPr>
          <a:xfrm>
            <a:off x="10854516" y="4707247"/>
            <a:ext cx="201168" cy="201168"/>
          </a:xfrm>
          <a:prstGeom prst="ellipse">
            <a:avLst/>
          </a:prstGeom>
          <a:solidFill>
            <a:srgbClr val="00A9C0"/>
          </a:solidFill>
          <a:ln w="12700">
            <a:solidFill>
              <a:srgbClr val="00A9C0"/>
            </a:solidFill>
            <a:prstDash val="solid"/>
          </a:ln>
        </p:spPr>
        <p:txBody>
          <a:bodyPr/>
          <a:lstStyle/>
          <a:p>
            <a:endParaRPr lang="en-IN"/>
          </a:p>
        </p:txBody>
      </p:sp>
      <p:sp>
        <p:nvSpPr>
          <p:cNvPr id="66" name="Text 64"/>
          <p:cNvSpPr txBox="1"/>
          <p:nvPr/>
        </p:nvSpPr>
        <p:spPr>
          <a:xfrm>
            <a:off x="10854516" y="4707247"/>
            <a:ext cx="201168" cy="201168"/>
          </a:xfrm>
          <a:prstGeom prst="rect">
            <a:avLst/>
          </a:prstGeom>
          <a:noFill/>
          <a:ln/>
        </p:spPr>
        <p:txBody>
          <a:bodyPr wrap="square" lIns="0" tIns="0" rIns="0" bIns="0" rtlCol="0" anchor="ctr"/>
          <a:lstStyle/>
          <a:p>
            <a:pPr marL="0" indent="0" algn="ctr">
              <a:buNone/>
            </a:pPr>
            <a:r>
              <a:rPr lang="en-US" sz="800" b="1">
                <a:solidFill>
                  <a:srgbClr val="000000"/>
                </a:solidFill>
              </a:rPr>
              <a:t>9</a:t>
            </a:r>
            <a:endParaRPr lang="en-US" sz="800"/>
          </a:p>
        </p:txBody>
      </p:sp>
      <p:sp>
        <p:nvSpPr>
          <p:cNvPr id="67" name="Text 65"/>
          <p:cNvSpPr txBox="1"/>
          <p:nvPr/>
        </p:nvSpPr>
        <p:spPr>
          <a:xfrm>
            <a:off x="8056974" y="4560943"/>
            <a:ext cx="2751821" cy="219456"/>
          </a:xfrm>
          <a:prstGeom prst="rect">
            <a:avLst/>
          </a:prstGeom>
          <a:noFill/>
          <a:ln/>
        </p:spPr>
        <p:txBody>
          <a:bodyPr wrap="square" lIns="0" tIns="0" rIns="0" bIns="0" rtlCol="0" anchor="b"/>
          <a:lstStyle/>
          <a:p>
            <a:pPr marL="0" indent="0" algn="ctr">
              <a:buNone/>
            </a:pPr>
            <a:r>
              <a:rPr lang="en-US" sz="1000">
                <a:solidFill>
                  <a:srgbClr val="000000"/>
                </a:solidFill>
              </a:rPr>
              <a:t>QR check-in at the door</a:t>
            </a:r>
            <a:endParaRPr lang="en-US" sz="1000"/>
          </a:p>
        </p:txBody>
      </p:sp>
      <p:sp>
        <p:nvSpPr>
          <p:cNvPr id="68" name="Shape 66"/>
          <p:cNvSpPr/>
          <p:nvPr/>
        </p:nvSpPr>
        <p:spPr>
          <a:xfrm>
            <a:off x="502920" y="4905404"/>
            <a:ext cx="11141835" cy="0"/>
          </a:xfrm>
          <a:prstGeom prst="line">
            <a:avLst/>
          </a:prstGeom>
          <a:noFill/>
          <a:ln w="9525">
            <a:solidFill>
              <a:srgbClr val="D4D4DA"/>
            </a:solidFill>
            <a:prstDash val="sysDot"/>
          </a:ln>
        </p:spPr>
        <p:txBody>
          <a:bodyPr/>
          <a:lstStyle/>
          <a:p>
            <a:endParaRPr lang="en-IN"/>
          </a:p>
        </p:txBody>
      </p:sp>
      <p:sp>
        <p:nvSpPr>
          <p:cNvPr id="69" name="Text 67"/>
          <p:cNvSpPr txBox="1"/>
          <p:nvPr/>
        </p:nvSpPr>
        <p:spPr>
          <a:xfrm>
            <a:off x="502920" y="4960268"/>
            <a:ext cx="868680" cy="228600"/>
          </a:xfrm>
          <a:prstGeom prst="rect">
            <a:avLst/>
          </a:prstGeom>
          <a:noFill/>
          <a:ln/>
        </p:spPr>
        <p:txBody>
          <a:bodyPr wrap="square" lIns="0" tIns="0" rIns="0" bIns="0" rtlCol="0" anchor="t"/>
          <a:lstStyle/>
          <a:p>
            <a:pPr marL="0" indent="0">
              <a:buNone/>
            </a:pPr>
            <a:r>
              <a:rPr lang="en-US" sz="950" b="1" kern="0" spc="200">
                <a:solidFill>
                  <a:srgbClr val="007C8C"/>
                </a:solidFill>
              </a:rPr>
              <a:t>ENGAGE</a:t>
            </a:r>
            <a:endParaRPr lang="en-US" sz="950"/>
          </a:p>
        </p:txBody>
      </p:sp>
      <p:sp>
        <p:nvSpPr>
          <p:cNvPr id="70" name="Shape 68"/>
          <p:cNvSpPr/>
          <p:nvPr/>
        </p:nvSpPr>
        <p:spPr>
          <a:xfrm>
            <a:off x="8020398" y="5094812"/>
            <a:ext cx="1467351" cy="0"/>
          </a:xfrm>
          <a:prstGeom prst="line">
            <a:avLst/>
          </a:prstGeom>
          <a:noFill/>
          <a:ln w="15875">
            <a:solidFill>
              <a:srgbClr val="1A1A1A"/>
            </a:solidFill>
            <a:prstDash val="solid"/>
            <a:tailEnd type="triangle"/>
          </a:ln>
        </p:spPr>
        <p:txBody>
          <a:bodyPr/>
          <a:lstStyle/>
          <a:p>
            <a:endParaRPr lang="en-IN"/>
          </a:p>
        </p:txBody>
      </p:sp>
      <p:sp>
        <p:nvSpPr>
          <p:cNvPr id="71" name="Shape 69"/>
          <p:cNvSpPr/>
          <p:nvPr/>
        </p:nvSpPr>
        <p:spPr>
          <a:xfrm>
            <a:off x="7919814" y="4994228"/>
            <a:ext cx="201168" cy="201168"/>
          </a:xfrm>
          <a:prstGeom prst="ellipse">
            <a:avLst/>
          </a:prstGeom>
          <a:solidFill>
            <a:srgbClr val="00A9C0"/>
          </a:solidFill>
          <a:ln w="12700">
            <a:solidFill>
              <a:srgbClr val="00A9C0"/>
            </a:solidFill>
            <a:prstDash val="solid"/>
          </a:ln>
        </p:spPr>
        <p:txBody>
          <a:bodyPr/>
          <a:lstStyle/>
          <a:p>
            <a:endParaRPr lang="en-IN"/>
          </a:p>
        </p:txBody>
      </p:sp>
      <p:sp>
        <p:nvSpPr>
          <p:cNvPr id="72" name="Text 70"/>
          <p:cNvSpPr txBox="1"/>
          <p:nvPr/>
        </p:nvSpPr>
        <p:spPr>
          <a:xfrm>
            <a:off x="7919814" y="4994228"/>
            <a:ext cx="201168" cy="201168"/>
          </a:xfrm>
          <a:prstGeom prst="rect">
            <a:avLst/>
          </a:prstGeom>
          <a:noFill/>
          <a:ln/>
        </p:spPr>
        <p:txBody>
          <a:bodyPr wrap="square" lIns="0" tIns="0" rIns="0" bIns="0" rtlCol="0" anchor="ctr"/>
          <a:lstStyle/>
          <a:p>
            <a:pPr marL="0" indent="0" algn="ctr">
              <a:buNone/>
            </a:pPr>
            <a:r>
              <a:rPr lang="en-US" sz="800" b="1">
                <a:solidFill>
                  <a:srgbClr val="000000"/>
                </a:solidFill>
              </a:rPr>
              <a:t>10</a:t>
            </a:r>
            <a:endParaRPr lang="en-US" sz="800"/>
          </a:p>
        </p:txBody>
      </p:sp>
      <p:sp>
        <p:nvSpPr>
          <p:cNvPr id="73" name="Text 71"/>
          <p:cNvSpPr txBox="1"/>
          <p:nvPr/>
        </p:nvSpPr>
        <p:spPr>
          <a:xfrm>
            <a:off x="8166702" y="4847924"/>
            <a:ext cx="1852574" cy="219456"/>
          </a:xfrm>
          <a:prstGeom prst="rect">
            <a:avLst/>
          </a:prstGeom>
          <a:noFill/>
          <a:ln/>
        </p:spPr>
        <p:txBody>
          <a:bodyPr wrap="square" lIns="0" tIns="0" rIns="0" bIns="0" rtlCol="0" anchor="b"/>
          <a:lstStyle/>
          <a:p>
            <a:pPr marL="0" indent="0" algn="ctr">
              <a:buNone/>
            </a:pPr>
            <a:r>
              <a:rPr lang="en-US" sz="1000">
                <a:solidFill>
                  <a:srgbClr val="000000"/>
                </a:solidFill>
              </a:rPr>
              <a:t>Attendance and interests</a:t>
            </a:r>
            <a:endParaRPr lang="en-US" sz="1000"/>
          </a:p>
        </p:txBody>
      </p:sp>
      <p:sp>
        <p:nvSpPr>
          <p:cNvPr id="74" name="Shape 72"/>
          <p:cNvSpPr/>
          <p:nvPr/>
        </p:nvSpPr>
        <p:spPr>
          <a:xfrm>
            <a:off x="2150995" y="5381793"/>
            <a:ext cx="7336754" cy="0"/>
          </a:xfrm>
          <a:prstGeom prst="line">
            <a:avLst/>
          </a:prstGeom>
          <a:noFill/>
          <a:ln w="15875">
            <a:solidFill>
              <a:srgbClr val="6B7280"/>
            </a:solidFill>
            <a:prstDash val="dash"/>
            <a:headEnd type="triangle"/>
          </a:ln>
        </p:spPr>
        <p:txBody>
          <a:bodyPr/>
          <a:lstStyle/>
          <a:p>
            <a:endParaRPr lang="en-IN"/>
          </a:p>
        </p:txBody>
      </p:sp>
      <p:sp>
        <p:nvSpPr>
          <p:cNvPr id="75" name="Shape 73"/>
          <p:cNvSpPr/>
          <p:nvPr/>
        </p:nvSpPr>
        <p:spPr>
          <a:xfrm>
            <a:off x="9387165" y="5281209"/>
            <a:ext cx="201168" cy="201168"/>
          </a:xfrm>
          <a:prstGeom prst="ellipse">
            <a:avLst/>
          </a:prstGeom>
          <a:solidFill>
            <a:srgbClr val="00A9C0"/>
          </a:solidFill>
          <a:ln w="12700">
            <a:solidFill>
              <a:srgbClr val="00A9C0"/>
            </a:solidFill>
            <a:prstDash val="solid"/>
          </a:ln>
        </p:spPr>
        <p:txBody>
          <a:bodyPr/>
          <a:lstStyle/>
          <a:p>
            <a:endParaRPr lang="en-IN"/>
          </a:p>
        </p:txBody>
      </p:sp>
      <p:sp>
        <p:nvSpPr>
          <p:cNvPr id="76" name="Text 74"/>
          <p:cNvSpPr txBox="1"/>
          <p:nvPr/>
        </p:nvSpPr>
        <p:spPr>
          <a:xfrm>
            <a:off x="9387165" y="5281209"/>
            <a:ext cx="201168" cy="201168"/>
          </a:xfrm>
          <a:prstGeom prst="rect">
            <a:avLst/>
          </a:prstGeom>
          <a:noFill/>
          <a:ln/>
        </p:spPr>
        <p:txBody>
          <a:bodyPr wrap="square" lIns="0" tIns="0" rIns="0" bIns="0" rtlCol="0" anchor="ctr"/>
          <a:lstStyle/>
          <a:p>
            <a:pPr marL="0" indent="0" algn="ctr">
              <a:buNone/>
            </a:pPr>
            <a:r>
              <a:rPr lang="en-US" sz="800" b="1">
                <a:solidFill>
                  <a:srgbClr val="000000"/>
                </a:solidFill>
              </a:rPr>
              <a:t>11</a:t>
            </a:r>
            <a:endParaRPr lang="en-US" sz="800"/>
          </a:p>
        </p:txBody>
      </p:sp>
      <p:sp>
        <p:nvSpPr>
          <p:cNvPr id="77" name="Text 75"/>
          <p:cNvSpPr txBox="1"/>
          <p:nvPr/>
        </p:nvSpPr>
        <p:spPr>
          <a:xfrm>
            <a:off x="2187571" y="5134905"/>
            <a:ext cx="7153874" cy="219456"/>
          </a:xfrm>
          <a:prstGeom prst="rect">
            <a:avLst/>
          </a:prstGeom>
          <a:noFill/>
          <a:ln/>
        </p:spPr>
        <p:txBody>
          <a:bodyPr wrap="square" lIns="0" tIns="0" rIns="0" bIns="0" rtlCol="0" anchor="b"/>
          <a:lstStyle/>
          <a:p>
            <a:pPr marL="0" indent="0" algn="ctr">
              <a:buNone/>
            </a:pPr>
            <a:r>
              <a:rPr lang="en-US" sz="1000">
                <a:solidFill>
                  <a:srgbClr val="4D4D4D"/>
                </a:solidFill>
              </a:rPr>
              <a:t>PEIs: thank you, next class, app, find a doctor</a:t>
            </a:r>
            <a:endParaRPr lang="en-US" sz="1000"/>
          </a:p>
        </p:txBody>
      </p:sp>
      <p:sp>
        <p:nvSpPr>
          <p:cNvPr id="78" name="Shape 76"/>
          <p:cNvSpPr/>
          <p:nvPr/>
        </p:nvSpPr>
        <p:spPr>
          <a:xfrm>
            <a:off x="502920" y="5479366"/>
            <a:ext cx="11141835" cy="0"/>
          </a:xfrm>
          <a:prstGeom prst="line">
            <a:avLst/>
          </a:prstGeom>
          <a:noFill/>
          <a:ln w="9525">
            <a:solidFill>
              <a:srgbClr val="D4D4DA"/>
            </a:solidFill>
            <a:prstDash val="sysDot"/>
          </a:ln>
        </p:spPr>
        <p:txBody>
          <a:bodyPr/>
          <a:lstStyle/>
          <a:p>
            <a:endParaRPr lang="en-IN"/>
          </a:p>
        </p:txBody>
      </p:sp>
      <p:sp>
        <p:nvSpPr>
          <p:cNvPr id="79" name="Text 77"/>
          <p:cNvSpPr txBox="1"/>
          <p:nvPr/>
        </p:nvSpPr>
        <p:spPr>
          <a:xfrm>
            <a:off x="502920" y="5534230"/>
            <a:ext cx="868680" cy="228600"/>
          </a:xfrm>
          <a:prstGeom prst="rect">
            <a:avLst/>
          </a:prstGeom>
          <a:noFill/>
          <a:ln/>
        </p:spPr>
        <p:txBody>
          <a:bodyPr wrap="square" lIns="0" tIns="0" rIns="0" bIns="0" rtlCol="0" anchor="t"/>
          <a:lstStyle/>
          <a:p>
            <a:pPr marL="0" indent="0">
              <a:buNone/>
            </a:pPr>
            <a:r>
              <a:rPr lang="en-US" sz="950" b="1" kern="0" spc="200">
                <a:solidFill>
                  <a:srgbClr val="007C8C"/>
                </a:solidFill>
              </a:rPr>
              <a:t>GROW</a:t>
            </a:r>
            <a:endParaRPr lang="en-US" sz="950"/>
          </a:p>
        </p:txBody>
      </p:sp>
      <p:sp>
        <p:nvSpPr>
          <p:cNvPr id="80" name="Shape 78"/>
          <p:cNvSpPr/>
          <p:nvPr/>
        </p:nvSpPr>
        <p:spPr>
          <a:xfrm>
            <a:off x="8020398" y="5668774"/>
            <a:ext cx="2934701" cy="0"/>
          </a:xfrm>
          <a:prstGeom prst="line">
            <a:avLst/>
          </a:prstGeom>
          <a:noFill/>
          <a:ln w="15875">
            <a:solidFill>
              <a:srgbClr val="6B7280"/>
            </a:solidFill>
            <a:prstDash val="dash"/>
            <a:tailEnd type="triangle"/>
          </a:ln>
        </p:spPr>
        <p:txBody>
          <a:bodyPr/>
          <a:lstStyle/>
          <a:p>
            <a:endParaRPr lang="en-IN"/>
          </a:p>
        </p:txBody>
      </p:sp>
      <p:sp>
        <p:nvSpPr>
          <p:cNvPr id="81" name="Shape 79"/>
          <p:cNvSpPr/>
          <p:nvPr/>
        </p:nvSpPr>
        <p:spPr>
          <a:xfrm>
            <a:off x="7919814" y="5568190"/>
            <a:ext cx="201168" cy="201168"/>
          </a:xfrm>
          <a:prstGeom prst="ellipse">
            <a:avLst/>
          </a:prstGeom>
          <a:solidFill>
            <a:srgbClr val="00A9C0"/>
          </a:solidFill>
          <a:ln w="12700">
            <a:solidFill>
              <a:srgbClr val="00A9C0"/>
            </a:solidFill>
            <a:prstDash val="solid"/>
          </a:ln>
        </p:spPr>
        <p:txBody>
          <a:bodyPr/>
          <a:lstStyle/>
          <a:p>
            <a:endParaRPr lang="en-IN"/>
          </a:p>
        </p:txBody>
      </p:sp>
      <p:sp>
        <p:nvSpPr>
          <p:cNvPr id="82" name="Text 80"/>
          <p:cNvSpPr txBox="1"/>
          <p:nvPr/>
        </p:nvSpPr>
        <p:spPr>
          <a:xfrm>
            <a:off x="7919814" y="5568190"/>
            <a:ext cx="201168" cy="201168"/>
          </a:xfrm>
          <a:prstGeom prst="rect">
            <a:avLst/>
          </a:prstGeom>
          <a:noFill/>
          <a:ln/>
        </p:spPr>
        <p:txBody>
          <a:bodyPr wrap="square" lIns="0" tIns="0" rIns="0" bIns="0" rtlCol="0" anchor="ctr"/>
          <a:lstStyle/>
          <a:p>
            <a:pPr marL="0" indent="0" algn="ctr">
              <a:buNone/>
            </a:pPr>
            <a:r>
              <a:rPr lang="en-US" sz="800" b="1">
                <a:solidFill>
                  <a:srgbClr val="000000"/>
                </a:solidFill>
              </a:rPr>
              <a:t>12</a:t>
            </a:r>
            <a:endParaRPr lang="en-US" sz="800"/>
          </a:p>
        </p:txBody>
      </p:sp>
      <p:sp>
        <p:nvSpPr>
          <p:cNvPr id="83" name="Text 81"/>
          <p:cNvSpPr txBox="1"/>
          <p:nvPr/>
        </p:nvSpPr>
        <p:spPr>
          <a:xfrm>
            <a:off x="8166702" y="5421886"/>
            <a:ext cx="2799893" cy="219456"/>
          </a:xfrm>
          <a:prstGeom prst="rect">
            <a:avLst/>
          </a:prstGeom>
          <a:noFill/>
          <a:ln/>
        </p:spPr>
        <p:txBody>
          <a:bodyPr wrap="square" lIns="0" tIns="0" rIns="0" bIns="0" rtlCol="0" anchor="b"/>
          <a:lstStyle/>
          <a:p>
            <a:pPr marL="0" indent="0" algn="ctr">
              <a:buNone/>
            </a:pPr>
            <a:r>
              <a:rPr lang="en-US" sz="1000">
                <a:solidFill>
                  <a:srgbClr val="4D4D4D"/>
                </a:solidFill>
              </a:rPr>
              <a:t>Dashboards, waitlist and demand alerts</a:t>
            </a:r>
            <a:endParaRPr lang="en-US" sz="1000"/>
          </a:p>
        </p:txBody>
      </p:sp>
      <p:sp>
        <p:nvSpPr>
          <p:cNvPr id="84" name="Shape 82"/>
          <p:cNvSpPr/>
          <p:nvPr/>
        </p:nvSpPr>
        <p:spPr>
          <a:xfrm>
            <a:off x="8020398" y="5955754"/>
            <a:ext cx="2934701" cy="0"/>
          </a:xfrm>
          <a:prstGeom prst="line">
            <a:avLst/>
          </a:prstGeom>
          <a:noFill/>
          <a:ln w="15875">
            <a:solidFill>
              <a:srgbClr val="1A1A1A"/>
            </a:solidFill>
            <a:prstDash val="solid"/>
            <a:headEnd type="triangle"/>
          </a:ln>
        </p:spPr>
        <p:txBody>
          <a:bodyPr/>
          <a:lstStyle/>
          <a:p>
            <a:endParaRPr lang="en-IN"/>
          </a:p>
        </p:txBody>
      </p:sp>
      <p:sp>
        <p:nvSpPr>
          <p:cNvPr id="85" name="Shape 83"/>
          <p:cNvSpPr/>
          <p:nvPr/>
        </p:nvSpPr>
        <p:spPr>
          <a:xfrm>
            <a:off x="10854516" y="5855170"/>
            <a:ext cx="201168" cy="201168"/>
          </a:xfrm>
          <a:prstGeom prst="ellipse">
            <a:avLst/>
          </a:prstGeom>
          <a:solidFill>
            <a:srgbClr val="00A9C0"/>
          </a:solidFill>
          <a:ln w="12700">
            <a:solidFill>
              <a:srgbClr val="00A9C0"/>
            </a:solidFill>
            <a:prstDash val="solid"/>
          </a:ln>
        </p:spPr>
        <p:txBody>
          <a:bodyPr/>
          <a:lstStyle/>
          <a:p>
            <a:endParaRPr lang="en-IN"/>
          </a:p>
        </p:txBody>
      </p:sp>
      <p:sp>
        <p:nvSpPr>
          <p:cNvPr id="86" name="Text 84"/>
          <p:cNvSpPr txBox="1"/>
          <p:nvPr/>
        </p:nvSpPr>
        <p:spPr>
          <a:xfrm>
            <a:off x="10854516" y="5855170"/>
            <a:ext cx="201168" cy="201168"/>
          </a:xfrm>
          <a:prstGeom prst="rect">
            <a:avLst/>
          </a:prstGeom>
          <a:noFill/>
          <a:ln/>
        </p:spPr>
        <p:txBody>
          <a:bodyPr wrap="square" lIns="0" tIns="0" rIns="0" bIns="0" rtlCol="0" anchor="ctr"/>
          <a:lstStyle/>
          <a:p>
            <a:pPr marL="0" indent="0" algn="ctr">
              <a:buNone/>
            </a:pPr>
            <a:r>
              <a:rPr lang="en-US" sz="800" b="1">
                <a:solidFill>
                  <a:srgbClr val="000000"/>
                </a:solidFill>
              </a:rPr>
              <a:t>13</a:t>
            </a:r>
            <a:endParaRPr lang="en-US" sz="800"/>
          </a:p>
        </p:txBody>
      </p:sp>
      <p:sp>
        <p:nvSpPr>
          <p:cNvPr id="87" name="Text 85"/>
          <p:cNvSpPr txBox="1"/>
          <p:nvPr/>
        </p:nvSpPr>
        <p:spPr>
          <a:xfrm>
            <a:off x="8056974" y="5708866"/>
            <a:ext cx="2751821" cy="219456"/>
          </a:xfrm>
          <a:prstGeom prst="rect">
            <a:avLst/>
          </a:prstGeom>
          <a:noFill/>
          <a:ln/>
        </p:spPr>
        <p:txBody>
          <a:bodyPr wrap="square" lIns="0" tIns="0" rIns="0" bIns="0" rtlCol="0" anchor="b"/>
          <a:lstStyle/>
          <a:p>
            <a:pPr marL="0" indent="0" algn="ctr">
              <a:buNone/>
            </a:pPr>
            <a:r>
              <a:rPr lang="en-US" sz="1000">
                <a:solidFill>
                  <a:srgbClr val="000000"/>
                </a:solidFill>
              </a:rPr>
              <a:t>Add a session in one click</a:t>
            </a:r>
            <a:endParaRPr lang="en-US" sz="1000"/>
          </a:p>
        </p:txBody>
      </p:sp>
      <p:sp>
        <p:nvSpPr>
          <p:cNvPr id="88" name="Text 86"/>
          <p:cNvSpPr txBox="1"/>
          <p:nvPr/>
        </p:nvSpPr>
        <p:spPr>
          <a:xfrm>
            <a:off x="502920" y="6108192"/>
            <a:ext cx="8229600" cy="237744"/>
          </a:xfrm>
          <a:prstGeom prst="rect">
            <a:avLst/>
          </a:prstGeom>
          <a:noFill/>
          <a:ln/>
        </p:spPr>
        <p:txBody>
          <a:bodyPr wrap="square" lIns="0" tIns="0" rIns="0" bIns="0" rtlCol="0" anchor="t"/>
          <a:lstStyle/>
          <a:p>
            <a:pPr marL="0" indent="0">
              <a:buNone/>
            </a:pPr>
            <a:r>
              <a:rPr lang="en-US" sz="1050" i="1">
                <a:solidFill>
                  <a:srgbClr val="4D4D4D"/>
                </a:solidFill>
              </a:rPr>
              <a:t>Conferences follow the same flow, adding sessions, speakers and My Agenda.</a:t>
            </a:r>
            <a:endParaRPr lang="en-US" sz="1050"/>
          </a:p>
        </p:txBody>
      </p:sp>
      <p:sp>
        <p:nvSpPr>
          <p:cNvPr id="89" name="Slide Number Placeholder 0"/>
          <p:cNvSpPr>
            <a:spLocks noGrp="1"/>
          </p:cNvSpPr>
          <p:nvPr>
            <p:ph type="sldNum" sz="quarter" idx="4294967295"/>
          </p:nvPr>
        </p:nvSpPr>
        <p:spPr>
          <a:xfrm>
            <a:off x="11292840" y="6336792"/>
            <a:ext cx="457200" cy="22860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tx1"/>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02920" y="658368"/>
            <a:ext cx="11185855" cy="822960"/>
          </a:xfrm>
          <a:prstGeom prst="rect">
            <a:avLst/>
          </a:prstGeom>
          <a:noFill/>
          <a:ln/>
        </p:spPr>
        <p:txBody>
          <a:bodyPr wrap="square" lIns="0" tIns="0" rIns="0" bIns="0" rtlCol="0" anchor="t"/>
          <a:lstStyle/>
          <a:p>
            <a:pPr marL="0" indent="0" algn="l">
              <a:buNone/>
            </a:pPr>
            <a:r>
              <a:rPr lang="en-US" sz="3200" b="1">
                <a:solidFill>
                  <a:schemeClr val="tx1"/>
                </a:solidFill>
              </a:rPr>
              <a:t>One registration flow for website and app</a:t>
            </a:r>
            <a:endParaRPr lang="en-US" sz="3200"/>
          </a:p>
        </p:txBody>
      </p:sp>
      <p:pic>
        <p:nvPicPr>
          <p:cNvPr id="3" name="01-web-registration.png" descr="/home/user/presales_memorial-hermann/deck/mockups/png/01-web-registration.png"/>
          <p:cNvPicPr>
            <a:picLocks noChangeAspect="1"/>
          </p:cNvPicPr>
          <p:nvPr/>
        </p:nvPicPr>
        <p:blipFill>
          <a:blip r:embed="rId3"/>
          <a:stretch>
            <a:fillRect/>
          </a:stretch>
        </p:blipFill>
        <p:spPr>
          <a:xfrm>
            <a:off x="502920" y="1691640"/>
            <a:ext cx="5440680" cy="3401568"/>
          </a:xfrm>
          <a:prstGeom prst="rect">
            <a:avLst/>
          </a:prstGeom>
          <a:effectLst>
            <a:outerShdw blurRad="101600" dist="25400" dir="5400000" algn="bl" rotWithShape="0">
              <a:srgbClr val="000000">
                <a:alpha val="25000"/>
              </a:srgbClr>
            </a:outerShdw>
          </a:effectLst>
        </p:spPr>
      </p:pic>
      <p:pic>
        <p:nvPicPr>
          <p:cNvPr id="4" name="02-mobile-flow.png" descr="/home/user/presales_memorial-hermann/deck/mockups/png/02-mobile-flow.png"/>
          <p:cNvPicPr>
            <a:picLocks noChangeAspect="1"/>
          </p:cNvPicPr>
          <p:nvPr/>
        </p:nvPicPr>
        <p:blipFill>
          <a:blip r:embed="rId4"/>
          <a:stretch>
            <a:fillRect/>
          </a:stretch>
        </p:blipFill>
        <p:spPr>
          <a:xfrm>
            <a:off x="6245352" y="1691640"/>
            <a:ext cx="5440680" cy="3401568"/>
          </a:xfrm>
          <a:prstGeom prst="rect">
            <a:avLst/>
          </a:prstGeom>
          <a:effectLst>
            <a:outerShdw blurRad="101600" dist="25400" dir="5400000" algn="bl" rotWithShape="0">
              <a:srgbClr val="000000">
                <a:alpha val="25000"/>
              </a:srgbClr>
            </a:outerShdw>
          </a:effectLst>
        </p:spPr>
      </p:pic>
      <p:sp>
        <p:nvSpPr>
          <p:cNvPr id="5" name="Text 1"/>
          <p:cNvSpPr txBox="1"/>
          <p:nvPr/>
        </p:nvSpPr>
        <p:spPr>
          <a:xfrm>
            <a:off x="502920" y="5257800"/>
            <a:ext cx="5440680" cy="274320"/>
          </a:xfrm>
          <a:prstGeom prst="rect">
            <a:avLst/>
          </a:prstGeom>
          <a:noFill/>
          <a:ln/>
        </p:spPr>
        <p:txBody>
          <a:bodyPr wrap="square" lIns="0" tIns="0" rIns="0" bIns="0" rtlCol="0" anchor="t"/>
          <a:lstStyle/>
          <a:p>
            <a:pPr marL="0" indent="0">
              <a:buNone/>
            </a:pPr>
            <a:r>
              <a:rPr lang="en-US" sz="1500" b="1">
                <a:solidFill>
                  <a:schemeClr val="tx1"/>
                </a:solidFill>
              </a:rPr>
              <a:t>Website</a:t>
            </a:r>
            <a:endParaRPr lang="en-US" sz="1500"/>
          </a:p>
        </p:txBody>
      </p:sp>
      <p:sp>
        <p:nvSpPr>
          <p:cNvPr id="6" name="Text 2"/>
          <p:cNvSpPr txBox="1"/>
          <p:nvPr/>
        </p:nvSpPr>
        <p:spPr>
          <a:xfrm>
            <a:off x="502920" y="5550408"/>
            <a:ext cx="5440680" cy="502920"/>
          </a:xfrm>
          <a:prstGeom prst="rect">
            <a:avLst/>
          </a:prstGeom>
          <a:noFill/>
          <a:ln/>
        </p:spPr>
        <p:txBody>
          <a:bodyPr wrap="square" lIns="0" tIns="0" rIns="0" bIns="0" rtlCol="0" anchor="t"/>
          <a:lstStyle/>
          <a:p>
            <a:pPr marL="0" indent="0">
              <a:buNone/>
            </a:pPr>
            <a:r>
              <a:rPr lang="en-US" sz="1300">
                <a:solidFill>
                  <a:srgbClr val="4D4D4D"/>
                </a:solidFill>
              </a:rPr>
              <a:t>Search by topic, location, date, format and price. Seats left and waitlists update live.</a:t>
            </a:r>
            <a:endParaRPr lang="en-US" sz="1300"/>
          </a:p>
        </p:txBody>
      </p:sp>
      <p:sp>
        <p:nvSpPr>
          <p:cNvPr id="7" name="Text 3"/>
          <p:cNvSpPr txBox="1"/>
          <p:nvPr/>
        </p:nvSpPr>
        <p:spPr>
          <a:xfrm>
            <a:off x="6245352" y="5257800"/>
            <a:ext cx="5440680" cy="274320"/>
          </a:xfrm>
          <a:prstGeom prst="rect">
            <a:avLst/>
          </a:prstGeom>
          <a:noFill/>
          <a:ln/>
        </p:spPr>
        <p:txBody>
          <a:bodyPr wrap="square" lIns="0" tIns="0" rIns="0" bIns="0" rtlCol="0" anchor="t"/>
          <a:lstStyle/>
          <a:p>
            <a:pPr marL="0" indent="0">
              <a:buNone/>
            </a:pPr>
            <a:r>
              <a:rPr lang="en-US" sz="1500" b="1">
                <a:solidFill>
                  <a:schemeClr val="tx1"/>
                </a:solidFill>
              </a:rPr>
              <a:t>Existing My Memorial Hermann app</a:t>
            </a:r>
            <a:endParaRPr lang="en-US" sz="1500"/>
          </a:p>
        </p:txBody>
      </p:sp>
      <p:sp>
        <p:nvSpPr>
          <p:cNvPr id="8" name="Text 4"/>
          <p:cNvSpPr txBox="1"/>
          <p:nvPr/>
        </p:nvSpPr>
        <p:spPr>
          <a:xfrm>
            <a:off x="6245352" y="5550408"/>
            <a:ext cx="5440680" cy="502920"/>
          </a:xfrm>
          <a:prstGeom prst="rect">
            <a:avLst/>
          </a:prstGeom>
          <a:noFill/>
          <a:ln/>
        </p:spPr>
        <p:txBody>
          <a:bodyPr wrap="square" lIns="0" tIns="0" rIns="0" bIns="0" rtlCol="0" anchor="t"/>
          <a:lstStyle/>
          <a:p>
            <a:pPr marL="0" indent="0">
              <a:buNone/>
            </a:pPr>
            <a:r>
              <a:rPr lang="en-US" sz="1300">
                <a:solidFill>
                  <a:srgbClr val="4D4D4D"/>
                </a:solidFill>
              </a:rPr>
              <a:t>A Classes &amp; Events entry in the app people already use. No new app to download [Epic setup to confirm].</a:t>
            </a:r>
            <a:endParaRPr lang="en-US" sz="1300"/>
          </a:p>
        </p:txBody>
      </p:sp>
      <p:sp>
        <p:nvSpPr>
          <p:cNvPr id="25" name="Slide Number Placeholder 0"/>
          <p:cNvSpPr>
            <a:spLocks noGrp="1"/>
          </p:cNvSpPr>
          <p:nvPr>
            <p:ph type="sldNum" sz="quarter" idx="4294967295"/>
          </p:nvPr>
        </p:nvSpPr>
        <p:spPr>
          <a:xfrm>
            <a:off x="11292840" y="6336792"/>
            <a:ext cx="457200" cy="22860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tx1"/>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02920" y="658368"/>
            <a:ext cx="11185855" cy="822960"/>
          </a:xfrm>
          <a:prstGeom prst="rect">
            <a:avLst/>
          </a:prstGeom>
          <a:noFill/>
          <a:ln/>
        </p:spPr>
        <p:txBody>
          <a:bodyPr wrap="square" lIns="0" tIns="0" rIns="0" bIns="0" rtlCol="0" anchor="t"/>
          <a:lstStyle/>
          <a:p>
            <a:pPr marL="0" indent="0" algn="l">
              <a:buNone/>
            </a:pPr>
            <a:r>
              <a:rPr lang="en-US" sz="3200" b="1">
                <a:solidFill>
                  <a:schemeClr val="tx1"/>
                </a:solidFill>
              </a:rPr>
              <a:t>Staff run every class from one Salesforce console</a:t>
            </a:r>
            <a:endParaRPr lang="en-US" sz="3200"/>
          </a:p>
        </p:txBody>
      </p:sp>
      <p:pic>
        <p:nvPicPr>
          <p:cNvPr id="3" name="03-salesforce-console.png" descr="/home/user/presales_memorial-hermann/deck/mockups/png/03-salesforce-console.png"/>
          <p:cNvPicPr>
            <a:picLocks noChangeAspect="1"/>
          </p:cNvPicPr>
          <p:nvPr/>
        </p:nvPicPr>
        <p:blipFill>
          <a:blip r:embed="rId3"/>
          <a:stretch>
            <a:fillRect/>
          </a:stretch>
        </p:blipFill>
        <p:spPr>
          <a:xfrm>
            <a:off x="502920" y="1783080"/>
            <a:ext cx="7863840" cy="3538728"/>
          </a:xfrm>
          <a:prstGeom prst="rect">
            <a:avLst/>
          </a:prstGeom>
          <a:effectLst>
            <a:outerShdw blurRad="101600" dist="25400" dir="5400000" algn="bl" rotWithShape="0">
              <a:srgbClr val="000000">
                <a:alpha val="25000"/>
              </a:srgbClr>
            </a:outerShdw>
          </a:effectLst>
        </p:spPr>
      </p:pic>
      <p:sp>
        <p:nvSpPr>
          <p:cNvPr id="4" name="Text 1"/>
          <p:cNvSpPr txBox="1"/>
          <p:nvPr/>
        </p:nvSpPr>
        <p:spPr>
          <a:xfrm>
            <a:off x="8732520" y="1783080"/>
            <a:ext cx="2971800" cy="365760"/>
          </a:xfrm>
          <a:prstGeom prst="rect">
            <a:avLst/>
          </a:prstGeom>
          <a:noFill/>
          <a:ln/>
        </p:spPr>
        <p:txBody>
          <a:bodyPr wrap="square" lIns="0" tIns="0" rIns="0" bIns="0" rtlCol="0" anchor="t"/>
          <a:lstStyle/>
          <a:p>
            <a:pPr marL="0" indent="0">
              <a:buNone/>
            </a:pPr>
            <a:r>
              <a:rPr lang="en-US" sz="1800" b="1">
                <a:solidFill>
                  <a:schemeClr val="tx1"/>
                </a:solidFill>
              </a:rPr>
              <a:t>What staff can do</a:t>
            </a:r>
            <a:endParaRPr lang="en-US" sz="1800"/>
          </a:p>
        </p:txBody>
      </p:sp>
      <p:sp>
        <p:nvSpPr>
          <p:cNvPr id="5" name="Text 2"/>
          <p:cNvSpPr txBox="1"/>
          <p:nvPr/>
        </p:nvSpPr>
        <p:spPr>
          <a:xfrm>
            <a:off x="8732520" y="2286000"/>
            <a:ext cx="2971800" cy="3108960"/>
          </a:xfrm>
          <a:prstGeom prst="rect">
            <a:avLst/>
          </a:prstGeom>
          <a:noFill/>
          <a:ln/>
        </p:spPr>
        <p:txBody>
          <a:bodyPr wrap="square" lIns="0" tIns="0" rIns="0" bIns="0" rtlCol="0" anchor="t"/>
          <a:lstStyle/>
          <a:p>
            <a:pPr marL="342900" indent="-342900">
              <a:spcAft>
                <a:spcPts val="600"/>
              </a:spcAft>
              <a:buSzPct val="100000"/>
              <a:buChar char="•"/>
            </a:pPr>
            <a:r>
              <a:rPr lang="en-US" sz="1400">
                <a:solidFill>
                  <a:srgbClr val="4D4D4D"/>
                </a:solidFill>
              </a:rPr>
              <a:t>Set up a class once and repeat it as a series</a:t>
            </a:r>
            <a:endParaRPr lang="en-US" sz="1400"/>
          </a:p>
          <a:p>
            <a:pPr marL="342900" indent="-342900">
              <a:spcAft>
                <a:spcPts val="600"/>
              </a:spcAft>
              <a:buSzPct val="100000"/>
              <a:buChar char="•"/>
            </a:pPr>
            <a:r>
              <a:rPr lang="en-US" sz="1400">
                <a:solidFill>
                  <a:srgbClr val="4D4D4D"/>
                </a:solidFill>
              </a:rPr>
              <a:t>Watch capacity and waitlists fill in real time</a:t>
            </a:r>
            <a:endParaRPr lang="en-US" sz="1400"/>
          </a:p>
          <a:p>
            <a:pPr marL="342900" indent="-342900">
              <a:spcAft>
                <a:spcPts val="600"/>
              </a:spcAft>
              <a:buSzPct val="100000"/>
              <a:buChar char="•"/>
            </a:pPr>
            <a:r>
              <a:rPr lang="en-US" sz="1400">
                <a:solidFill>
                  <a:srgbClr val="4D4D4D"/>
                </a:solidFill>
              </a:rPr>
              <a:t>Match registrants to existing Health Cloud records</a:t>
            </a:r>
            <a:endParaRPr lang="en-US" sz="1400"/>
          </a:p>
          <a:p>
            <a:pPr marL="342900" indent="-342900">
              <a:spcAft>
                <a:spcPts val="600"/>
              </a:spcAft>
              <a:buSzPct val="100000"/>
              <a:buChar char="•"/>
            </a:pPr>
            <a:r>
              <a:rPr lang="en-US" sz="1400">
                <a:solidFill>
                  <a:srgbClr val="4D4D4D"/>
                </a:solidFill>
              </a:rPr>
              <a:t>Check people in with a QR scan</a:t>
            </a:r>
            <a:endParaRPr lang="en-US" sz="1400"/>
          </a:p>
          <a:p>
            <a:pPr marL="342900" indent="-342900">
              <a:spcAft>
                <a:spcPts val="600"/>
              </a:spcAft>
              <a:buSzPct val="100000"/>
              <a:buChar char="•"/>
            </a:pPr>
            <a:r>
              <a:rPr lang="en-US" sz="1400">
                <a:solidFill>
                  <a:srgbClr val="4D4D4D"/>
                </a:solidFill>
              </a:rPr>
              <a:t>Email attendees and track revenue</a:t>
            </a:r>
            <a:endParaRPr lang="en-US" sz="1400"/>
          </a:p>
        </p:txBody>
      </p:sp>
      <p:sp>
        <p:nvSpPr>
          <p:cNvPr id="6" name="Text 3"/>
          <p:cNvSpPr txBox="1"/>
          <p:nvPr/>
        </p:nvSpPr>
        <p:spPr>
          <a:xfrm>
            <a:off x="502920" y="5486400"/>
            <a:ext cx="4572000" cy="274320"/>
          </a:xfrm>
          <a:prstGeom prst="rect">
            <a:avLst/>
          </a:prstGeom>
          <a:noFill/>
          <a:ln/>
        </p:spPr>
        <p:txBody>
          <a:bodyPr wrap="square" lIns="0" tIns="0" rIns="0" bIns="0" rtlCol="0" anchor="t"/>
          <a:lstStyle/>
          <a:p>
            <a:pPr marL="0" indent="0">
              <a:buNone/>
            </a:pPr>
            <a:r>
              <a:rPr lang="en-US" sz="1100" i="1">
                <a:solidFill>
                  <a:srgbClr val="4D4D4D"/>
                </a:solidFill>
              </a:rPr>
              <a:t>Concept mockup, sample data</a:t>
            </a:r>
            <a:endParaRPr lang="en-US" sz="1100"/>
          </a:p>
        </p:txBody>
      </p:sp>
      <p:sp>
        <p:nvSpPr>
          <p:cNvPr id="25" name="Slide Number Placeholder 0"/>
          <p:cNvSpPr>
            <a:spLocks noGrp="1"/>
          </p:cNvSpPr>
          <p:nvPr>
            <p:ph type="sldNum" sz="quarter" idx="4294967295"/>
          </p:nvPr>
        </p:nvSpPr>
        <p:spPr>
          <a:xfrm>
            <a:off x="11292840" y="6336792"/>
            <a:ext cx="457200" cy="22860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tx1"/>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02920" y="658368"/>
            <a:ext cx="11185855" cy="822960"/>
          </a:xfrm>
          <a:prstGeom prst="rect">
            <a:avLst/>
          </a:prstGeom>
          <a:noFill/>
          <a:ln/>
        </p:spPr>
        <p:txBody>
          <a:bodyPr wrap="square" lIns="0" tIns="0" rIns="0" bIns="0" rtlCol="0" anchor="t"/>
          <a:lstStyle/>
          <a:p>
            <a:pPr marL="0" indent="0" algn="l">
              <a:buNone/>
            </a:pPr>
            <a:r>
              <a:rPr lang="en-US" sz="3200" b="1">
                <a:solidFill>
                  <a:schemeClr val="tx1"/>
                </a:solidFill>
              </a:rPr>
              <a:t>Conferences with full session management</a:t>
            </a:r>
            <a:endParaRPr lang="en-US" sz="3200"/>
          </a:p>
        </p:txBody>
      </p:sp>
      <p:pic>
        <p:nvPicPr>
          <p:cNvPr id="3" name="04-conference-agenda.png" descr="/home/user/presales_memorial-hermann/deck/mockups/png/04-conference-agenda.png"/>
          <p:cNvPicPr>
            <a:picLocks noChangeAspect="1"/>
          </p:cNvPicPr>
          <p:nvPr/>
        </p:nvPicPr>
        <p:blipFill>
          <a:blip r:embed="rId3"/>
          <a:stretch>
            <a:fillRect/>
          </a:stretch>
        </p:blipFill>
        <p:spPr>
          <a:xfrm>
            <a:off x="502920" y="1691640"/>
            <a:ext cx="6858000" cy="4288536"/>
          </a:xfrm>
          <a:prstGeom prst="rect">
            <a:avLst/>
          </a:prstGeom>
          <a:effectLst>
            <a:outerShdw blurRad="101600" dist="25400" dir="5400000" algn="bl" rotWithShape="0">
              <a:srgbClr val="000000">
                <a:alpha val="25000"/>
              </a:srgbClr>
            </a:outerShdw>
          </a:effectLst>
        </p:spPr>
      </p:pic>
      <p:sp>
        <p:nvSpPr>
          <p:cNvPr id="4" name="Text 1"/>
          <p:cNvSpPr txBox="1"/>
          <p:nvPr/>
        </p:nvSpPr>
        <p:spPr>
          <a:xfrm>
            <a:off x="7772400" y="1691640"/>
            <a:ext cx="3931920" cy="365760"/>
          </a:xfrm>
          <a:prstGeom prst="rect">
            <a:avLst/>
          </a:prstGeom>
          <a:noFill/>
          <a:ln/>
        </p:spPr>
        <p:txBody>
          <a:bodyPr wrap="square" lIns="0" tIns="0" rIns="0" bIns="0" rtlCol="0" anchor="t"/>
          <a:lstStyle/>
          <a:p>
            <a:pPr marL="0" indent="0">
              <a:buNone/>
            </a:pPr>
            <a:r>
              <a:rPr lang="en-US" sz="1800" b="1">
                <a:solidFill>
                  <a:schemeClr val="tx1"/>
                </a:solidFill>
              </a:rPr>
              <a:t>Replaces Certain</a:t>
            </a:r>
            <a:endParaRPr lang="en-US" sz="1800"/>
          </a:p>
        </p:txBody>
      </p:sp>
      <p:sp>
        <p:nvSpPr>
          <p:cNvPr id="5" name="Text 2"/>
          <p:cNvSpPr txBox="1"/>
          <p:nvPr/>
        </p:nvSpPr>
        <p:spPr>
          <a:xfrm>
            <a:off x="7772400" y="2194560"/>
            <a:ext cx="3931920" cy="3291840"/>
          </a:xfrm>
          <a:prstGeom prst="rect">
            <a:avLst/>
          </a:prstGeom>
          <a:noFill/>
          <a:ln/>
        </p:spPr>
        <p:txBody>
          <a:bodyPr wrap="square" lIns="0" tIns="0" rIns="0" bIns="0" rtlCol="0" anchor="t"/>
          <a:lstStyle/>
          <a:p>
            <a:pPr marL="342900" indent="-342900">
              <a:spcAft>
                <a:spcPts val="600"/>
              </a:spcAft>
              <a:buSzPct val="100000"/>
              <a:buChar char="•"/>
            </a:pPr>
            <a:r>
              <a:rPr lang="en-US" sz="1400">
                <a:solidFill>
                  <a:srgbClr val="4D4D4D"/>
                </a:solidFill>
              </a:rPr>
              <a:t>Multi-day agenda with tracks and rooms</a:t>
            </a:r>
            <a:endParaRPr lang="en-US" sz="1400"/>
          </a:p>
          <a:p>
            <a:pPr marL="342900" indent="-342900">
              <a:spcAft>
                <a:spcPts val="600"/>
              </a:spcAft>
              <a:buSzPct val="100000"/>
              <a:buChar char="•"/>
            </a:pPr>
            <a:r>
              <a:rPr lang="en-US" sz="1400">
                <a:solidFill>
                  <a:srgbClr val="4D4D4D"/>
                </a:solidFill>
              </a:rPr>
              <a:t>Attendees build their own “My Agenda”</a:t>
            </a:r>
            <a:endParaRPr lang="en-US" sz="1400"/>
          </a:p>
          <a:p>
            <a:pPr marL="342900" indent="-342900">
              <a:spcAft>
                <a:spcPts val="600"/>
              </a:spcAft>
              <a:buSzPct val="100000"/>
              <a:buChar char="•"/>
            </a:pPr>
            <a:r>
              <a:rPr lang="en-US" sz="1400">
                <a:solidFill>
                  <a:srgbClr val="4D4D4D"/>
                </a:solidFill>
              </a:rPr>
              <a:t>Session capacity and waitlists</a:t>
            </a:r>
            <a:endParaRPr lang="en-US" sz="1400"/>
          </a:p>
          <a:p>
            <a:pPr marL="342900" indent="-342900">
              <a:spcAft>
                <a:spcPts val="600"/>
              </a:spcAft>
              <a:buSzPct val="100000"/>
              <a:buChar char="•"/>
            </a:pPr>
            <a:r>
              <a:rPr lang="en-US" sz="1400">
                <a:solidFill>
                  <a:srgbClr val="4D4D4D"/>
                </a:solidFill>
              </a:rPr>
              <a:t>Speaker profiles and assignments</a:t>
            </a:r>
            <a:endParaRPr lang="en-US" sz="1400"/>
          </a:p>
          <a:p>
            <a:pPr marL="342900" indent="-342900">
              <a:spcAft>
                <a:spcPts val="600"/>
              </a:spcAft>
              <a:buSzPct val="100000"/>
              <a:buChar char="•"/>
            </a:pPr>
            <a:r>
              <a:rPr lang="en-US" sz="1400">
                <a:solidFill>
                  <a:srgbClr val="4D4D4D"/>
                </a:solidFill>
              </a:rPr>
              <a:t>Ticket types for providers and guests</a:t>
            </a:r>
            <a:endParaRPr lang="en-US" sz="1400"/>
          </a:p>
          <a:p>
            <a:pPr marL="342900" indent="-342900">
              <a:spcAft>
                <a:spcPts val="600"/>
              </a:spcAft>
              <a:buSzPct val="100000"/>
              <a:buChar char="•"/>
            </a:pPr>
            <a:r>
              <a:rPr lang="en-US" sz="1400">
                <a:solidFill>
                  <a:srgbClr val="4D4D4D"/>
                </a:solidFill>
              </a:rPr>
              <a:t>Badges and CME credit tracking [to confirm]</a:t>
            </a:r>
            <a:endParaRPr lang="en-US" sz="1400"/>
          </a:p>
        </p:txBody>
      </p:sp>
      <p:sp>
        <p:nvSpPr>
          <p:cNvPr id="25" name="Slide Number Placeholder 0"/>
          <p:cNvSpPr>
            <a:spLocks noGrp="1"/>
          </p:cNvSpPr>
          <p:nvPr>
            <p:ph type="sldNum" sz="quarter" idx="4294967295"/>
          </p:nvPr>
        </p:nvSpPr>
        <p:spPr>
          <a:xfrm>
            <a:off x="11292840" y="6336792"/>
            <a:ext cx="457200" cy="22860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tx1"/>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02920" y="658368"/>
            <a:ext cx="11185855" cy="822960"/>
          </a:xfrm>
          <a:prstGeom prst="rect">
            <a:avLst/>
          </a:prstGeom>
          <a:noFill/>
          <a:ln/>
        </p:spPr>
        <p:txBody>
          <a:bodyPr wrap="square" lIns="0" tIns="0" rIns="0" bIns="0" rtlCol="0" anchor="t"/>
          <a:lstStyle/>
          <a:p>
            <a:pPr marL="0" indent="0" algn="l">
              <a:buNone/>
            </a:pPr>
            <a:r>
              <a:rPr lang="en-US" sz="3200" b="1">
                <a:solidFill>
                  <a:schemeClr val="bg1"/>
                </a:solidFill>
              </a:rPr>
              <a:t>Every seat filled, no interested person lost</a:t>
            </a:r>
            <a:endParaRPr lang="en-US" sz="3200"/>
          </a:p>
        </p:txBody>
      </p:sp>
      <p:sp>
        <p:nvSpPr>
          <p:cNvPr id="3" name="Text 1"/>
          <p:cNvSpPr txBox="1"/>
          <p:nvPr/>
        </p:nvSpPr>
        <p:spPr>
          <a:xfrm>
            <a:off x="502920" y="1325880"/>
            <a:ext cx="8229600" cy="320040"/>
          </a:xfrm>
          <a:prstGeom prst="rect">
            <a:avLst/>
          </a:prstGeom>
          <a:noFill/>
          <a:ln/>
        </p:spPr>
        <p:txBody>
          <a:bodyPr wrap="square" lIns="0" tIns="0" rIns="0" bIns="0" rtlCol="0" anchor="t"/>
          <a:lstStyle/>
          <a:p>
            <a:pPr marL="0" indent="0">
              <a:buNone/>
            </a:pPr>
            <a:r>
              <a:rPr lang="en-US" sz="1400">
                <a:solidFill>
                  <a:srgbClr val="BFBFBF"/>
                </a:solidFill>
              </a:rPr>
              <a:t>Example: 100,000 people click Register for a class with 30 seats</a:t>
            </a:r>
            <a:endParaRPr lang="en-US" sz="1400"/>
          </a:p>
        </p:txBody>
      </p:sp>
      <p:sp>
        <p:nvSpPr>
          <p:cNvPr id="4" name="step-1"/>
          <p:cNvSpPr/>
          <p:nvPr/>
        </p:nvSpPr>
        <p:spPr>
          <a:xfrm>
            <a:off x="502920" y="1874520"/>
            <a:ext cx="2011680" cy="1325880"/>
          </a:xfrm>
          <a:prstGeom prst="roundRect">
            <a:avLst>
              <a:gd name="adj" fmla="val 8276"/>
            </a:avLst>
          </a:prstGeom>
          <a:solidFill>
            <a:srgbClr val="111114"/>
          </a:solidFill>
          <a:ln w="19050">
            <a:solidFill>
              <a:srgbClr val="00D6F2"/>
            </a:solidFill>
            <a:prstDash val="solid"/>
          </a:ln>
        </p:spPr>
        <p:txBody>
          <a:bodyPr/>
          <a:lstStyle/>
          <a:p>
            <a:endParaRPr lang="en-IN"/>
          </a:p>
        </p:txBody>
      </p:sp>
      <p:pic>
        <p:nvPicPr>
          <p:cNvPr id="5" name="Image 0" descr="preencoded.png"/>
          <p:cNvPicPr>
            <a:picLocks noChangeAspect="1"/>
          </p:cNvPicPr>
          <p:nvPr/>
        </p:nvPicPr>
        <p:blipFill>
          <a:blip r:embed="rId3"/>
          <a:stretch>
            <a:fillRect/>
          </a:stretch>
        </p:blipFill>
        <p:spPr>
          <a:xfrm>
            <a:off x="667512" y="2039112"/>
            <a:ext cx="292608" cy="292608"/>
          </a:xfrm>
          <a:prstGeom prst="rect">
            <a:avLst/>
          </a:prstGeom>
        </p:spPr>
      </p:pic>
      <p:sp>
        <p:nvSpPr>
          <p:cNvPr id="6" name="Text 3"/>
          <p:cNvSpPr txBox="1"/>
          <p:nvPr/>
        </p:nvSpPr>
        <p:spPr>
          <a:xfrm>
            <a:off x="2103120" y="2020824"/>
            <a:ext cx="274320" cy="274320"/>
          </a:xfrm>
          <a:prstGeom prst="rect">
            <a:avLst/>
          </a:prstGeom>
          <a:noFill/>
          <a:ln/>
        </p:spPr>
        <p:txBody>
          <a:bodyPr wrap="square" lIns="0" tIns="0" rIns="0" bIns="0" rtlCol="0" anchor="t"/>
          <a:lstStyle/>
          <a:p>
            <a:pPr marL="0" indent="0" algn="r">
              <a:buNone/>
            </a:pPr>
            <a:r>
              <a:rPr lang="en-US" sz="1200">
                <a:solidFill>
                  <a:srgbClr val="BFBFBF"/>
                </a:solidFill>
              </a:rPr>
              <a:t>1</a:t>
            </a:r>
            <a:endParaRPr lang="en-US" sz="1200"/>
          </a:p>
        </p:txBody>
      </p:sp>
      <p:sp>
        <p:nvSpPr>
          <p:cNvPr id="7" name="Text 4"/>
          <p:cNvSpPr txBox="1"/>
          <p:nvPr/>
        </p:nvSpPr>
        <p:spPr>
          <a:xfrm>
            <a:off x="667512" y="2423160"/>
            <a:ext cx="1737360" cy="274320"/>
          </a:xfrm>
          <a:prstGeom prst="rect">
            <a:avLst/>
          </a:prstGeom>
          <a:noFill/>
          <a:ln/>
        </p:spPr>
        <p:txBody>
          <a:bodyPr wrap="square" lIns="0" tIns="0" rIns="0" bIns="0" rtlCol="0" anchor="t"/>
          <a:lstStyle/>
          <a:p>
            <a:pPr marL="0" indent="0">
              <a:buNone/>
            </a:pPr>
            <a:r>
              <a:rPr lang="en-US" sz="1400" b="1">
                <a:solidFill>
                  <a:schemeClr val="bg1"/>
                </a:solidFill>
              </a:rPr>
              <a:t>Edge protection</a:t>
            </a:r>
            <a:endParaRPr lang="en-US" sz="1400"/>
          </a:p>
        </p:txBody>
      </p:sp>
      <p:sp>
        <p:nvSpPr>
          <p:cNvPr id="8" name="Text 5"/>
          <p:cNvSpPr txBox="1"/>
          <p:nvPr/>
        </p:nvSpPr>
        <p:spPr>
          <a:xfrm>
            <a:off x="667512" y="2715768"/>
            <a:ext cx="1737360" cy="457200"/>
          </a:xfrm>
          <a:prstGeom prst="rect">
            <a:avLst/>
          </a:prstGeom>
          <a:noFill/>
          <a:ln/>
        </p:spPr>
        <p:txBody>
          <a:bodyPr wrap="square" lIns="0" tIns="0" rIns="0" bIns="0" rtlCol="0" anchor="t"/>
          <a:lstStyle/>
          <a:p>
            <a:pPr marL="0" indent="0">
              <a:buNone/>
            </a:pPr>
            <a:r>
              <a:rPr lang="en-US" sz="1100">
                <a:solidFill>
                  <a:srgbClr val="BFBFBF"/>
                </a:solidFill>
              </a:rPr>
              <a:t>Cached pages, bot defense, rate limits</a:t>
            </a:r>
            <a:endParaRPr lang="en-US" sz="1100"/>
          </a:p>
        </p:txBody>
      </p:sp>
      <p:sp>
        <p:nvSpPr>
          <p:cNvPr id="9" name="Shape 6"/>
          <p:cNvSpPr/>
          <p:nvPr/>
        </p:nvSpPr>
        <p:spPr>
          <a:xfrm>
            <a:off x="2542032" y="2537460"/>
            <a:ext cx="219456" cy="0"/>
          </a:xfrm>
          <a:prstGeom prst="line">
            <a:avLst/>
          </a:prstGeom>
          <a:noFill/>
          <a:ln w="15875">
            <a:solidFill>
              <a:schemeClr val="bg1"/>
            </a:solidFill>
            <a:prstDash val="solid"/>
            <a:tailEnd type="triangle"/>
          </a:ln>
        </p:spPr>
        <p:txBody>
          <a:bodyPr/>
          <a:lstStyle/>
          <a:p>
            <a:endParaRPr lang="en-IN"/>
          </a:p>
        </p:txBody>
      </p:sp>
      <p:sp>
        <p:nvSpPr>
          <p:cNvPr id="10" name="step-2"/>
          <p:cNvSpPr/>
          <p:nvPr/>
        </p:nvSpPr>
        <p:spPr>
          <a:xfrm>
            <a:off x="2788920" y="1874520"/>
            <a:ext cx="2011680" cy="1325880"/>
          </a:xfrm>
          <a:prstGeom prst="roundRect">
            <a:avLst>
              <a:gd name="adj" fmla="val 8276"/>
            </a:avLst>
          </a:prstGeom>
          <a:solidFill>
            <a:srgbClr val="111114"/>
          </a:solidFill>
          <a:ln w="19050">
            <a:solidFill>
              <a:srgbClr val="FED700"/>
            </a:solidFill>
            <a:prstDash val="solid"/>
          </a:ln>
        </p:spPr>
        <p:txBody>
          <a:bodyPr/>
          <a:lstStyle/>
          <a:p>
            <a:endParaRPr lang="en-IN"/>
          </a:p>
        </p:txBody>
      </p:sp>
      <p:pic>
        <p:nvPicPr>
          <p:cNvPr id="11" name="Image 1" descr="preencoded.png"/>
          <p:cNvPicPr>
            <a:picLocks noChangeAspect="1"/>
          </p:cNvPicPr>
          <p:nvPr/>
        </p:nvPicPr>
        <p:blipFill>
          <a:blip r:embed="rId4"/>
          <a:stretch>
            <a:fillRect/>
          </a:stretch>
        </p:blipFill>
        <p:spPr>
          <a:xfrm>
            <a:off x="2953512" y="2039112"/>
            <a:ext cx="292608" cy="292608"/>
          </a:xfrm>
          <a:prstGeom prst="rect">
            <a:avLst/>
          </a:prstGeom>
        </p:spPr>
      </p:pic>
      <p:sp>
        <p:nvSpPr>
          <p:cNvPr id="12" name="Text 8"/>
          <p:cNvSpPr txBox="1"/>
          <p:nvPr/>
        </p:nvSpPr>
        <p:spPr>
          <a:xfrm>
            <a:off x="4389120" y="2020824"/>
            <a:ext cx="274320" cy="274320"/>
          </a:xfrm>
          <a:prstGeom prst="rect">
            <a:avLst/>
          </a:prstGeom>
          <a:noFill/>
          <a:ln/>
        </p:spPr>
        <p:txBody>
          <a:bodyPr wrap="square" lIns="0" tIns="0" rIns="0" bIns="0" rtlCol="0" anchor="t"/>
          <a:lstStyle/>
          <a:p>
            <a:pPr marL="0" indent="0" algn="r">
              <a:buNone/>
            </a:pPr>
            <a:r>
              <a:rPr lang="en-US" sz="1200">
                <a:solidFill>
                  <a:srgbClr val="BFBFBF"/>
                </a:solidFill>
              </a:rPr>
              <a:t>2</a:t>
            </a:r>
            <a:endParaRPr lang="en-US" sz="1200"/>
          </a:p>
        </p:txBody>
      </p:sp>
      <p:sp>
        <p:nvSpPr>
          <p:cNvPr id="13" name="Text 9"/>
          <p:cNvSpPr txBox="1"/>
          <p:nvPr/>
        </p:nvSpPr>
        <p:spPr>
          <a:xfrm>
            <a:off x="2953512" y="2423160"/>
            <a:ext cx="1737360" cy="274320"/>
          </a:xfrm>
          <a:prstGeom prst="rect">
            <a:avLst/>
          </a:prstGeom>
          <a:noFill/>
          <a:ln/>
        </p:spPr>
        <p:txBody>
          <a:bodyPr wrap="square" lIns="0" tIns="0" rIns="0" bIns="0" rtlCol="0" anchor="t"/>
          <a:lstStyle/>
          <a:p>
            <a:pPr marL="0" indent="0">
              <a:buNone/>
            </a:pPr>
            <a:r>
              <a:rPr lang="en-US" sz="1400" b="1">
                <a:solidFill>
                  <a:schemeClr val="bg1"/>
                </a:solidFill>
              </a:rPr>
              <a:t>Fair waiting room</a:t>
            </a:r>
            <a:endParaRPr lang="en-US" sz="1400"/>
          </a:p>
        </p:txBody>
      </p:sp>
      <p:sp>
        <p:nvSpPr>
          <p:cNvPr id="14" name="Text 10"/>
          <p:cNvSpPr txBox="1"/>
          <p:nvPr/>
        </p:nvSpPr>
        <p:spPr>
          <a:xfrm>
            <a:off x="2953512" y="2715768"/>
            <a:ext cx="1737360" cy="457200"/>
          </a:xfrm>
          <a:prstGeom prst="rect">
            <a:avLst/>
          </a:prstGeom>
          <a:noFill/>
          <a:ln/>
        </p:spPr>
        <p:txBody>
          <a:bodyPr wrap="square" lIns="0" tIns="0" rIns="0" bIns="0" rtlCol="0" anchor="t"/>
          <a:lstStyle/>
          <a:p>
            <a:pPr marL="0" indent="0">
              <a:buNone/>
            </a:pPr>
            <a:r>
              <a:rPr lang="en-US" sz="1100">
                <a:solidFill>
                  <a:srgbClr val="BFBFBF"/>
                </a:solidFill>
              </a:rPr>
              <a:t>Admits people in arrival order</a:t>
            </a:r>
            <a:endParaRPr lang="en-US" sz="1100"/>
          </a:p>
        </p:txBody>
      </p:sp>
      <p:sp>
        <p:nvSpPr>
          <p:cNvPr id="15" name="Shape 11"/>
          <p:cNvSpPr/>
          <p:nvPr/>
        </p:nvSpPr>
        <p:spPr>
          <a:xfrm>
            <a:off x="4828032" y="2537460"/>
            <a:ext cx="219456" cy="0"/>
          </a:xfrm>
          <a:prstGeom prst="line">
            <a:avLst/>
          </a:prstGeom>
          <a:noFill/>
          <a:ln w="15875">
            <a:solidFill>
              <a:schemeClr val="bg1"/>
            </a:solidFill>
            <a:prstDash val="solid"/>
            <a:tailEnd type="triangle"/>
          </a:ln>
        </p:spPr>
        <p:txBody>
          <a:bodyPr/>
          <a:lstStyle/>
          <a:p>
            <a:endParaRPr lang="en-IN"/>
          </a:p>
        </p:txBody>
      </p:sp>
      <p:sp>
        <p:nvSpPr>
          <p:cNvPr id="16" name="step-3"/>
          <p:cNvSpPr/>
          <p:nvPr/>
        </p:nvSpPr>
        <p:spPr>
          <a:xfrm>
            <a:off x="5074920" y="1874520"/>
            <a:ext cx="2011680" cy="1325880"/>
          </a:xfrm>
          <a:prstGeom prst="roundRect">
            <a:avLst>
              <a:gd name="adj" fmla="val 8276"/>
            </a:avLst>
          </a:prstGeom>
          <a:solidFill>
            <a:srgbClr val="111114"/>
          </a:solidFill>
          <a:ln w="19050">
            <a:solidFill>
              <a:srgbClr val="FF0068"/>
            </a:solidFill>
            <a:prstDash val="solid"/>
          </a:ln>
        </p:spPr>
        <p:txBody>
          <a:bodyPr/>
          <a:lstStyle/>
          <a:p>
            <a:endParaRPr lang="en-IN"/>
          </a:p>
        </p:txBody>
      </p:sp>
      <p:pic>
        <p:nvPicPr>
          <p:cNvPr id="17" name="Image 2" descr="preencoded.png"/>
          <p:cNvPicPr>
            <a:picLocks noChangeAspect="1"/>
          </p:cNvPicPr>
          <p:nvPr/>
        </p:nvPicPr>
        <p:blipFill>
          <a:blip r:embed="rId5"/>
          <a:stretch>
            <a:fillRect/>
          </a:stretch>
        </p:blipFill>
        <p:spPr>
          <a:xfrm>
            <a:off x="5239512" y="2039112"/>
            <a:ext cx="292608" cy="292608"/>
          </a:xfrm>
          <a:prstGeom prst="rect">
            <a:avLst/>
          </a:prstGeom>
        </p:spPr>
      </p:pic>
      <p:sp>
        <p:nvSpPr>
          <p:cNvPr id="18" name="Text 13"/>
          <p:cNvSpPr txBox="1"/>
          <p:nvPr/>
        </p:nvSpPr>
        <p:spPr>
          <a:xfrm>
            <a:off x="6675120" y="2020824"/>
            <a:ext cx="274320" cy="274320"/>
          </a:xfrm>
          <a:prstGeom prst="rect">
            <a:avLst/>
          </a:prstGeom>
          <a:noFill/>
          <a:ln/>
        </p:spPr>
        <p:txBody>
          <a:bodyPr wrap="square" lIns="0" tIns="0" rIns="0" bIns="0" rtlCol="0" anchor="t"/>
          <a:lstStyle/>
          <a:p>
            <a:pPr marL="0" indent="0" algn="r">
              <a:buNone/>
            </a:pPr>
            <a:r>
              <a:rPr lang="en-US" sz="1200">
                <a:solidFill>
                  <a:srgbClr val="BFBFBF"/>
                </a:solidFill>
              </a:rPr>
              <a:t>3</a:t>
            </a:r>
            <a:endParaRPr lang="en-US" sz="1200"/>
          </a:p>
        </p:txBody>
      </p:sp>
      <p:sp>
        <p:nvSpPr>
          <p:cNvPr id="19" name="Text 14"/>
          <p:cNvSpPr txBox="1"/>
          <p:nvPr/>
        </p:nvSpPr>
        <p:spPr>
          <a:xfrm>
            <a:off x="5239512" y="2423160"/>
            <a:ext cx="1737360" cy="274320"/>
          </a:xfrm>
          <a:prstGeom prst="rect">
            <a:avLst/>
          </a:prstGeom>
          <a:noFill/>
          <a:ln/>
        </p:spPr>
        <p:txBody>
          <a:bodyPr wrap="square" lIns="0" tIns="0" rIns="0" bIns="0" rtlCol="0" anchor="t"/>
          <a:lstStyle/>
          <a:p>
            <a:pPr marL="0" indent="0">
              <a:buNone/>
            </a:pPr>
            <a:r>
              <a:rPr lang="en-US" sz="1400" b="1">
                <a:solidFill>
                  <a:schemeClr val="bg1"/>
                </a:solidFill>
              </a:rPr>
              <a:t>Seat hold</a:t>
            </a:r>
            <a:endParaRPr lang="en-US" sz="1400"/>
          </a:p>
        </p:txBody>
      </p:sp>
      <p:sp>
        <p:nvSpPr>
          <p:cNvPr id="20" name="Text 15"/>
          <p:cNvSpPr txBox="1"/>
          <p:nvPr/>
        </p:nvSpPr>
        <p:spPr>
          <a:xfrm>
            <a:off x="5239512" y="2715768"/>
            <a:ext cx="1737360" cy="457200"/>
          </a:xfrm>
          <a:prstGeom prst="rect">
            <a:avLst/>
          </a:prstGeom>
          <a:noFill/>
          <a:ln/>
        </p:spPr>
        <p:txBody>
          <a:bodyPr wrap="square" lIns="0" tIns="0" rIns="0" bIns="0" rtlCol="0" anchor="t"/>
          <a:lstStyle/>
          <a:p>
            <a:pPr marL="0" indent="0">
              <a:buNone/>
            </a:pPr>
            <a:r>
              <a:rPr lang="en-US" sz="1100">
                <a:solidFill>
                  <a:srgbClr val="BFBFBF"/>
                </a:solidFill>
              </a:rPr>
              <a:t>10-minute hold; a seat can never be sold twice</a:t>
            </a:r>
            <a:endParaRPr lang="en-US" sz="1100"/>
          </a:p>
        </p:txBody>
      </p:sp>
      <p:sp>
        <p:nvSpPr>
          <p:cNvPr id="21" name="Shape 16"/>
          <p:cNvSpPr/>
          <p:nvPr/>
        </p:nvSpPr>
        <p:spPr>
          <a:xfrm>
            <a:off x="7114032" y="2537460"/>
            <a:ext cx="219456" cy="0"/>
          </a:xfrm>
          <a:prstGeom prst="line">
            <a:avLst/>
          </a:prstGeom>
          <a:noFill/>
          <a:ln w="15875">
            <a:solidFill>
              <a:schemeClr val="bg1"/>
            </a:solidFill>
            <a:prstDash val="solid"/>
            <a:tailEnd type="triangle"/>
          </a:ln>
        </p:spPr>
        <p:txBody>
          <a:bodyPr/>
          <a:lstStyle/>
          <a:p>
            <a:endParaRPr lang="en-IN"/>
          </a:p>
        </p:txBody>
      </p:sp>
      <p:sp>
        <p:nvSpPr>
          <p:cNvPr id="22" name="step-4"/>
          <p:cNvSpPr/>
          <p:nvPr/>
        </p:nvSpPr>
        <p:spPr>
          <a:xfrm>
            <a:off x="7360920" y="1874520"/>
            <a:ext cx="2011680" cy="1325880"/>
          </a:xfrm>
          <a:prstGeom prst="roundRect">
            <a:avLst>
              <a:gd name="adj" fmla="val 8276"/>
            </a:avLst>
          </a:prstGeom>
          <a:solidFill>
            <a:srgbClr val="111114"/>
          </a:solidFill>
          <a:ln w="19050">
            <a:solidFill>
              <a:srgbClr val="FED700"/>
            </a:solidFill>
            <a:prstDash val="solid"/>
          </a:ln>
        </p:spPr>
        <p:txBody>
          <a:bodyPr/>
          <a:lstStyle/>
          <a:p>
            <a:endParaRPr lang="en-IN"/>
          </a:p>
        </p:txBody>
      </p:sp>
      <p:pic>
        <p:nvPicPr>
          <p:cNvPr id="23" name="Image 3" descr="preencoded.png"/>
          <p:cNvPicPr>
            <a:picLocks noChangeAspect="1"/>
          </p:cNvPicPr>
          <p:nvPr/>
        </p:nvPicPr>
        <p:blipFill>
          <a:blip r:embed="rId6"/>
          <a:stretch>
            <a:fillRect/>
          </a:stretch>
        </p:blipFill>
        <p:spPr>
          <a:xfrm>
            <a:off x="7525512" y="2039112"/>
            <a:ext cx="292608" cy="292608"/>
          </a:xfrm>
          <a:prstGeom prst="rect">
            <a:avLst/>
          </a:prstGeom>
        </p:spPr>
      </p:pic>
      <p:sp>
        <p:nvSpPr>
          <p:cNvPr id="24" name="Text 18"/>
          <p:cNvSpPr txBox="1"/>
          <p:nvPr/>
        </p:nvSpPr>
        <p:spPr>
          <a:xfrm>
            <a:off x="8961120" y="2020824"/>
            <a:ext cx="274320" cy="274320"/>
          </a:xfrm>
          <a:prstGeom prst="rect">
            <a:avLst/>
          </a:prstGeom>
          <a:noFill/>
          <a:ln/>
        </p:spPr>
        <p:txBody>
          <a:bodyPr wrap="square" lIns="0" tIns="0" rIns="0" bIns="0" rtlCol="0" anchor="t"/>
          <a:lstStyle/>
          <a:p>
            <a:pPr marL="0" indent="0" algn="r">
              <a:buNone/>
            </a:pPr>
            <a:r>
              <a:rPr lang="en-US" sz="1200">
                <a:solidFill>
                  <a:srgbClr val="BFBFBF"/>
                </a:solidFill>
              </a:rPr>
              <a:t>4</a:t>
            </a:r>
            <a:endParaRPr lang="en-US" sz="1200"/>
          </a:p>
        </p:txBody>
      </p:sp>
      <p:sp>
        <p:nvSpPr>
          <p:cNvPr id="25" name="Text 19"/>
          <p:cNvSpPr txBox="1"/>
          <p:nvPr/>
        </p:nvSpPr>
        <p:spPr>
          <a:xfrm>
            <a:off x="7525512" y="2423160"/>
            <a:ext cx="1737360" cy="274320"/>
          </a:xfrm>
          <a:prstGeom prst="rect">
            <a:avLst/>
          </a:prstGeom>
          <a:noFill/>
          <a:ln/>
        </p:spPr>
        <p:txBody>
          <a:bodyPr wrap="square" lIns="0" tIns="0" rIns="0" bIns="0" rtlCol="0" anchor="t"/>
          <a:lstStyle/>
          <a:p>
            <a:pPr marL="0" indent="0">
              <a:buNone/>
            </a:pPr>
            <a:r>
              <a:rPr lang="en-US" sz="1400" b="1">
                <a:solidFill>
                  <a:schemeClr val="bg1"/>
                </a:solidFill>
              </a:rPr>
              <a:t>Hosted payment</a:t>
            </a:r>
            <a:endParaRPr lang="en-US" sz="1400"/>
          </a:p>
        </p:txBody>
      </p:sp>
      <p:sp>
        <p:nvSpPr>
          <p:cNvPr id="26" name="Text 20"/>
          <p:cNvSpPr txBox="1"/>
          <p:nvPr/>
        </p:nvSpPr>
        <p:spPr>
          <a:xfrm>
            <a:off x="7525512" y="2715768"/>
            <a:ext cx="1737360" cy="457200"/>
          </a:xfrm>
          <a:prstGeom prst="rect">
            <a:avLst/>
          </a:prstGeom>
          <a:noFill/>
          <a:ln/>
        </p:spPr>
        <p:txBody>
          <a:bodyPr wrap="square" lIns="0" tIns="0" rIns="0" bIns="0" rtlCol="0" anchor="t"/>
          <a:lstStyle/>
          <a:p>
            <a:pPr marL="0" indent="0">
              <a:buNone/>
            </a:pPr>
            <a:r>
              <a:rPr lang="en-US" sz="1100">
                <a:solidFill>
                  <a:srgbClr val="BFBFBF"/>
                </a:solidFill>
              </a:rPr>
              <a:t>Paid = confirmed; unpaid seats return</a:t>
            </a:r>
            <a:endParaRPr lang="en-US" sz="1100"/>
          </a:p>
        </p:txBody>
      </p:sp>
      <p:sp>
        <p:nvSpPr>
          <p:cNvPr id="27" name="Shape 21"/>
          <p:cNvSpPr/>
          <p:nvPr/>
        </p:nvSpPr>
        <p:spPr>
          <a:xfrm>
            <a:off x="9400032" y="2537460"/>
            <a:ext cx="219456" cy="0"/>
          </a:xfrm>
          <a:prstGeom prst="line">
            <a:avLst/>
          </a:prstGeom>
          <a:noFill/>
          <a:ln w="15875">
            <a:solidFill>
              <a:schemeClr val="bg1"/>
            </a:solidFill>
            <a:prstDash val="solid"/>
            <a:tailEnd type="triangle"/>
          </a:ln>
        </p:spPr>
        <p:txBody>
          <a:bodyPr/>
          <a:lstStyle/>
          <a:p>
            <a:endParaRPr lang="en-IN"/>
          </a:p>
        </p:txBody>
      </p:sp>
      <p:sp>
        <p:nvSpPr>
          <p:cNvPr id="28" name="step-5"/>
          <p:cNvSpPr/>
          <p:nvPr/>
        </p:nvSpPr>
        <p:spPr>
          <a:xfrm>
            <a:off x="9646920" y="1874520"/>
            <a:ext cx="2011680" cy="1325880"/>
          </a:xfrm>
          <a:prstGeom prst="roundRect">
            <a:avLst>
              <a:gd name="adj" fmla="val 8276"/>
            </a:avLst>
          </a:prstGeom>
          <a:solidFill>
            <a:srgbClr val="111114"/>
          </a:solidFill>
          <a:ln w="19050">
            <a:solidFill>
              <a:srgbClr val="00D6F2"/>
            </a:solidFill>
            <a:prstDash val="solid"/>
          </a:ln>
        </p:spPr>
        <p:txBody>
          <a:bodyPr/>
          <a:lstStyle/>
          <a:p>
            <a:endParaRPr lang="en-IN"/>
          </a:p>
        </p:txBody>
      </p:sp>
      <p:pic>
        <p:nvPicPr>
          <p:cNvPr id="29" name="Image 4" descr="preencoded.png"/>
          <p:cNvPicPr>
            <a:picLocks noChangeAspect="1"/>
          </p:cNvPicPr>
          <p:nvPr/>
        </p:nvPicPr>
        <p:blipFill>
          <a:blip r:embed="rId7"/>
          <a:stretch>
            <a:fillRect/>
          </a:stretch>
        </p:blipFill>
        <p:spPr>
          <a:xfrm>
            <a:off x="9811512" y="2039112"/>
            <a:ext cx="292608" cy="292608"/>
          </a:xfrm>
          <a:prstGeom prst="rect">
            <a:avLst/>
          </a:prstGeom>
        </p:spPr>
      </p:pic>
      <p:sp>
        <p:nvSpPr>
          <p:cNvPr id="30" name="Text 23"/>
          <p:cNvSpPr txBox="1"/>
          <p:nvPr/>
        </p:nvSpPr>
        <p:spPr>
          <a:xfrm>
            <a:off x="11247120" y="2020824"/>
            <a:ext cx="274320" cy="274320"/>
          </a:xfrm>
          <a:prstGeom prst="rect">
            <a:avLst/>
          </a:prstGeom>
          <a:noFill/>
          <a:ln/>
        </p:spPr>
        <p:txBody>
          <a:bodyPr wrap="square" lIns="0" tIns="0" rIns="0" bIns="0" rtlCol="0" anchor="t"/>
          <a:lstStyle/>
          <a:p>
            <a:pPr marL="0" indent="0" algn="r">
              <a:buNone/>
            </a:pPr>
            <a:r>
              <a:rPr lang="en-US" sz="1200">
                <a:solidFill>
                  <a:srgbClr val="BFBFBF"/>
                </a:solidFill>
              </a:rPr>
              <a:t>5</a:t>
            </a:r>
            <a:endParaRPr lang="en-US" sz="1200"/>
          </a:p>
        </p:txBody>
      </p:sp>
      <p:sp>
        <p:nvSpPr>
          <p:cNvPr id="31" name="Text 24"/>
          <p:cNvSpPr txBox="1"/>
          <p:nvPr/>
        </p:nvSpPr>
        <p:spPr>
          <a:xfrm>
            <a:off x="9811512" y="2423160"/>
            <a:ext cx="1737360" cy="274320"/>
          </a:xfrm>
          <a:prstGeom prst="rect">
            <a:avLst/>
          </a:prstGeom>
          <a:noFill/>
          <a:ln/>
        </p:spPr>
        <p:txBody>
          <a:bodyPr wrap="square" lIns="0" tIns="0" rIns="0" bIns="0" rtlCol="0" anchor="t"/>
          <a:lstStyle/>
          <a:p>
            <a:pPr marL="0" indent="0">
              <a:buNone/>
            </a:pPr>
            <a:r>
              <a:rPr lang="en-US" sz="1400" b="1">
                <a:solidFill>
                  <a:schemeClr val="bg1"/>
                </a:solidFill>
              </a:rPr>
              <a:t>Salesforce</a:t>
            </a:r>
            <a:endParaRPr lang="en-US" sz="1400"/>
          </a:p>
        </p:txBody>
      </p:sp>
      <p:sp>
        <p:nvSpPr>
          <p:cNvPr id="32" name="Text 25"/>
          <p:cNvSpPr txBox="1"/>
          <p:nvPr/>
        </p:nvSpPr>
        <p:spPr>
          <a:xfrm>
            <a:off x="9811512" y="2715768"/>
            <a:ext cx="1737360" cy="457200"/>
          </a:xfrm>
          <a:prstGeom prst="rect">
            <a:avLst/>
          </a:prstGeom>
          <a:noFill/>
          <a:ln/>
        </p:spPr>
        <p:txBody>
          <a:bodyPr wrap="square" lIns="0" tIns="0" rIns="0" bIns="0" rtlCol="0" anchor="t"/>
          <a:lstStyle/>
          <a:p>
            <a:pPr marL="0" indent="0">
              <a:buNone/>
            </a:pPr>
            <a:r>
              <a:rPr lang="en-US" sz="1100">
                <a:solidFill>
                  <a:srgbClr val="BFBFBF"/>
                </a:solidFill>
              </a:rPr>
              <a:t>Queued and retried; never lost</a:t>
            </a:r>
            <a:endParaRPr lang="en-US" sz="1100"/>
          </a:p>
        </p:txBody>
      </p:sp>
      <p:sp>
        <p:nvSpPr>
          <p:cNvPr id="33" name="Text 26"/>
          <p:cNvSpPr txBox="1"/>
          <p:nvPr/>
        </p:nvSpPr>
        <p:spPr>
          <a:xfrm>
            <a:off x="502920" y="3520440"/>
            <a:ext cx="5486400" cy="274320"/>
          </a:xfrm>
          <a:prstGeom prst="rect">
            <a:avLst/>
          </a:prstGeom>
          <a:noFill/>
          <a:ln/>
        </p:spPr>
        <p:txBody>
          <a:bodyPr wrap="square" lIns="0" tIns="0" rIns="0" bIns="0" rtlCol="0" anchor="t"/>
          <a:lstStyle/>
          <a:p>
            <a:pPr marL="0" indent="0">
              <a:buNone/>
            </a:pPr>
            <a:r>
              <a:rPr lang="en-US" sz="1000" b="1" kern="0" spc="300">
                <a:solidFill>
                  <a:schemeClr val="bg1"/>
                </a:solidFill>
              </a:rPr>
              <a:t>WHERE EVERY CLICK ENDS UP</a:t>
            </a:r>
            <a:endParaRPr lang="en-US" sz="1000"/>
          </a:p>
        </p:txBody>
      </p:sp>
      <p:sp>
        <p:nvSpPr>
          <p:cNvPr id="34" name="Shape 27"/>
          <p:cNvSpPr/>
          <p:nvPr/>
        </p:nvSpPr>
        <p:spPr>
          <a:xfrm>
            <a:off x="502920" y="3840480"/>
            <a:ext cx="2514600" cy="1783080"/>
          </a:xfrm>
          <a:prstGeom prst="roundRect">
            <a:avLst>
              <a:gd name="adj" fmla="val 6154"/>
            </a:avLst>
          </a:prstGeom>
          <a:solidFill>
            <a:srgbClr val="17171B"/>
          </a:solidFill>
          <a:ln w="12700">
            <a:solidFill>
              <a:srgbClr val="3A3A42"/>
            </a:solidFill>
            <a:prstDash val="solid"/>
          </a:ln>
        </p:spPr>
        <p:txBody>
          <a:bodyPr/>
          <a:lstStyle/>
          <a:p>
            <a:endParaRPr lang="en-IN"/>
          </a:p>
        </p:txBody>
      </p:sp>
      <p:sp>
        <p:nvSpPr>
          <p:cNvPr id="35" name="Text 28"/>
          <p:cNvSpPr txBox="1"/>
          <p:nvPr/>
        </p:nvSpPr>
        <p:spPr>
          <a:xfrm>
            <a:off x="704088" y="3950208"/>
            <a:ext cx="2286000" cy="640080"/>
          </a:xfrm>
          <a:prstGeom prst="rect">
            <a:avLst/>
          </a:prstGeom>
          <a:noFill/>
          <a:ln/>
        </p:spPr>
        <p:txBody>
          <a:bodyPr wrap="square" lIns="0" tIns="0" rIns="0" bIns="0" rtlCol="0" anchor="t"/>
          <a:lstStyle/>
          <a:p>
            <a:pPr marL="0" indent="0">
              <a:buNone/>
            </a:pPr>
            <a:r>
              <a:rPr lang="en-US" sz="3200">
                <a:solidFill>
                  <a:srgbClr val="00D6F2"/>
                </a:solidFill>
                <a:latin typeface="Trenda IG Text Light" pitchFamily="34" charset="0"/>
                <a:ea typeface="Trenda IG Text Light" pitchFamily="34" charset="-122"/>
                <a:cs typeface="Trenda IG Text Light" pitchFamily="34" charset="-120"/>
              </a:rPr>
              <a:t>30</a:t>
            </a:r>
            <a:endParaRPr lang="en-US" sz="3200"/>
          </a:p>
        </p:txBody>
      </p:sp>
      <p:sp>
        <p:nvSpPr>
          <p:cNvPr id="36" name="Text 29"/>
          <p:cNvSpPr txBox="1"/>
          <p:nvPr/>
        </p:nvSpPr>
        <p:spPr>
          <a:xfrm>
            <a:off x="704088" y="4617720"/>
            <a:ext cx="2286000" cy="274320"/>
          </a:xfrm>
          <a:prstGeom prst="rect">
            <a:avLst/>
          </a:prstGeom>
          <a:noFill/>
          <a:ln/>
        </p:spPr>
        <p:txBody>
          <a:bodyPr wrap="square" lIns="0" tIns="0" rIns="0" bIns="0" rtlCol="0" anchor="t"/>
          <a:lstStyle/>
          <a:p>
            <a:pPr marL="0" indent="0">
              <a:buNone/>
            </a:pPr>
            <a:r>
              <a:rPr lang="en-US" sz="1400" b="1">
                <a:solidFill>
                  <a:schemeClr val="bg1"/>
                </a:solidFill>
              </a:rPr>
              <a:t>Confirmed seats</a:t>
            </a:r>
            <a:endParaRPr lang="en-US" sz="1400"/>
          </a:p>
        </p:txBody>
      </p:sp>
      <p:sp>
        <p:nvSpPr>
          <p:cNvPr id="37" name="Text 30"/>
          <p:cNvSpPr txBox="1"/>
          <p:nvPr/>
        </p:nvSpPr>
        <p:spPr>
          <a:xfrm>
            <a:off x="704088" y="4919472"/>
            <a:ext cx="2148840" cy="594360"/>
          </a:xfrm>
          <a:prstGeom prst="rect">
            <a:avLst/>
          </a:prstGeom>
          <a:noFill/>
          <a:ln/>
        </p:spPr>
        <p:txBody>
          <a:bodyPr wrap="square" lIns="0" tIns="0" rIns="0" bIns="0" rtlCol="0" anchor="t"/>
          <a:lstStyle/>
          <a:p>
            <a:pPr marL="0" indent="0">
              <a:buNone/>
            </a:pPr>
            <a:r>
              <a:rPr lang="en-US" sz="1100">
                <a:solidFill>
                  <a:srgbClr val="BFBFBF"/>
                </a:solidFill>
              </a:rPr>
              <a:t>Paid, ticketed, QR check-in sent</a:t>
            </a:r>
            <a:endParaRPr lang="en-US" sz="1100"/>
          </a:p>
        </p:txBody>
      </p:sp>
      <p:sp>
        <p:nvSpPr>
          <p:cNvPr id="38" name="Shape 31"/>
          <p:cNvSpPr/>
          <p:nvPr/>
        </p:nvSpPr>
        <p:spPr>
          <a:xfrm>
            <a:off x="3200400" y="3840480"/>
            <a:ext cx="2514600" cy="1783080"/>
          </a:xfrm>
          <a:prstGeom prst="roundRect">
            <a:avLst>
              <a:gd name="adj" fmla="val 6154"/>
            </a:avLst>
          </a:prstGeom>
          <a:solidFill>
            <a:srgbClr val="17171B"/>
          </a:solidFill>
          <a:ln w="12700">
            <a:solidFill>
              <a:srgbClr val="3A3A42"/>
            </a:solidFill>
            <a:prstDash val="solid"/>
          </a:ln>
        </p:spPr>
        <p:txBody>
          <a:bodyPr/>
          <a:lstStyle/>
          <a:p>
            <a:endParaRPr lang="en-IN"/>
          </a:p>
        </p:txBody>
      </p:sp>
      <p:sp>
        <p:nvSpPr>
          <p:cNvPr id="39" name="Text 32"/>
          <p:cNvSpPr txBox="1"/>
          <p:nvPr/>
        </p:nvSpPr>
        <p:spPr>
          <a:xfrm>
            <a:off x="3401568" y="3950208"/>
            <a:ext cx="2286000" cy="640080"/>
          </a:xfrm>
          <a:prstGeom prst="rect">
            <a:avLst/>
          </a:prstGeom>
          <a:noFill/>
          <a:ln/>
        </p:spPr>
        <p:txBody>
          <a:bodyPr wrap="square" lIns="0" tIns="0" rIns="0" bIns="0" rtlCol="0" anchor="t"/>
          <a:lstStyle/>
          <a:p>
            <a:pPr marL="0" indent="0">
              <a:buNone/>
            </a:pPr>
            <a:r>
              <a:rPr lang="en-US" sz="3200">
                <a:solidFill>
                  <a:srgbClr val="FED700"/>
                </a:solidFill>
                <a:latin typeface="Trenda IG Text Light" pitchFamily="34" charset="0"/>
                <a:ea typeface="Trenda IG Text Light" pitchFamily="34" charset="-122"/>
                <a:cs typeface="Trenda IG Text Light" pitchFamily="34" charset="-120"/>
              </a:rPr>
              <a:t>60</a:t>
            </a:r>
            <a:endParaRPr lang="en-US" sz="3200"/>
          </a:p>
        </p:txBody>
      </p:sp>
      <p:sp>
        <p:nvSpPr>
          <p:cNvPr id="40" name="Text 33"/>
          <p:cNvSpPr txBox="1"/>
          <p:nvPr/>
        </p:nvSpPr>
        <p:spPr>
          <a:xfrm>
            <a:off x="3401568" y="4617720"/>
            <a:ext cx="2286000" cy="274320"/>
          </a:xfrm>
          <a:prstGeom prst="rect">
            <a:avLst/>
          </a:prstGeom>
          <a:noFill/>
          <a:ln/>
        </p:spPr>
        <p:txBody>
          <a:bodyPr wrap="square" lIns="0" tIns="0" rIns="0" bIns="0" rtlCol="0" anchor="t"/>
          <a:lstStyle/>
          <a:p>
            <a:pPr marL="0" indent="0">
              <a:buNone/>
            </a:pPr>
            <a:r>
              <a:rPr lang="en-US" sz="1400" b="1">
                <a:solidFill>
                  <a:schemeClr val="bg1"/>
                </a:solidFill>
              </a:rPr>
              <a:t>On the waitlist</a:t>
            </a:r>
            <a:endParaRPr lang="en-US" sz="1400"/>
          </a:p>
        </p:txBody>
      </p:sp>
      <p:sp>
        <p:nvSpPr>
          <p:cNvPr id="41" name="Text 34"/>
          <p:cNvSpPr txBox="1"/>
          <p:nvPr/>
        </p:nvSpPr>
        <p:spPr>
          <a:xfrm>
            <a:off x="3401568" y="4919472"/>
            <a:ext cx="2148840" cy="594360"/>
          </a:xfrm>
          <a:prstGeom prst="rect">
            <a:avLst/>
          </a:prstGeom>
          <a:noFill/>
          <a:ln/>
        </p:spPr>
        <p:txBody>
          <a:bodyPr wrap="square" lIns="0" tIns="0" rIns="0" bIns="0" rtlCol="0" anchor="t"/>
          <a:lstStyle/>
          <a:p>
            <a:pPr marL="0" indent="0">
              <a:buNone/>
            </a:pPr>
            <a:r>
              <a:rPr lang="en-US" sz="1100">
                <a:solidFill>
                  <a:srgbClr val="BFBFBF"/>
                </a:solidFill>
              </a:rPr>
              <a:t>Freed seats offered by SMS with a 2-hour claim window</a:t>
            </a:r>
            <a:endParaRPr lang="en-US" sz="1100"/>
          </a:p>
        </p:txBody>
      </p:sp>
      <p:sp>
        <p:nvSpPr>
          <p:cNvPr id="42" name="Shape 35"/>
          <p:cNvSpPr/>
          <p:nvPr/>
        </p:nvSpPr>
        <p:spPr>
          <a:xfrm>
            <a:off x="5897880" y="3840480"/>
            <a:ext cx="2514600" cy="1783080"/>
          </a:xfrm>
          <a:prstGeom prst="roundRect">
            <a:avLst>
              <a:gd name="adj" fmla="val 6154"/>
            </a:avLst>
          </a:prstGeom>
          <a:solidFill>
            <a:srgbClr val="17171B"/>
          </a:solidFill>
          <a:ln w="12700">
            <a:solidFill>
              <a:srgbClr val="3A3A42"/>
            </a:solidFill>
            <a:prstDash val="solid"/>
          </a:ln>
        </p:spPr>
        <p:txBody>
          <a:bodyPr/>
          <a:lstStyle/>
          <a:p>
            <a:endParaRPr lang="en-IN"/>
          </a:p>
        </p:txBody>
      </p:sp>
      <p:sp>
        <p:nvSpPr>
          <p:cNvPr id="43" name="Text 36"/>
          <p:cNvSpPr txBox="1"/>
          <p:nvPr/>
        </p:nvSpPr>
        <p:spPr>
          <a:xfrm>
            <a:off x="6099048" y="3950208"/>
            <a:ext cx="2286000" cy="640080"/>
          </a:xfrm>
          <a:prstGeom prst="rect">
            <a:avLst/>
          </a:prstGeom>
          <a:noFill/>
          <a:ln/>
        </p:spPr>
        <p:txBody>
          <a:bodyPr wrap="square" lIns="0" tIns="0" rIns="0" bIns="0" rtlCol="0" anchor="t"/>
          <a:lstStyle/>
          <a:p>
            <a:pPr marL="0" indent="0">
              <a:buNone/>
            </a:pPr>
            <a:r>
              <a:rPr lang="en-US" sz="3200">
                <a:solidFill>
                  <a:srgbClr val="FF0068"/>
                </a:solidFill>
                <a:latin typeface="Trenda IG Text Light" pitchFamily="34" charset="0"/>
                <a:ea typeface="Trenda IG Text Light" pitchFamily="34" charset="-122"/>
                <a:cs typeface="Trenda IG Text Light" pitchFamily="34" charset="-120"/>
              </a:rPr>
              <a:t>All others</a:t>
            </a:r>
            <a:endParaRPr lang="en-US" sz="3200"/>
          </a:p>
        </p:txBody>
      </p:sp>
      <p:sp>
        <p:nvSpPr>
          <p:cNvPr id="44" name="Text 37"/>
          <p:cNvSpPr txBox="1"/>
          <p:nvPr/>
        </p:nvSpPr>
        <p:spPr>
          <a:xfrm>
            <a:off x="6099048" y="4617720"/>
            <a:ext cx="2286000" cy="274320"/>
          </a:xfrm>
          <a:prstGeom prst="rect">
            <a:avLst/>
          </a:prstGeom>
          <a:noFill/>
          <a:ln/>
        </p:spPr>
        <p:txBody>
          <a:bodyPr wrap="square" lIns="0" tIns="0" rIns="0" bIns="0" rtlCol="0" anchor="t"/>
          <a:lstStyle/>
          <a:p>
            <a:pPr marL="0" indent="0">
              <a:buNone/>
            </a:pPr>
            <a:r>
              <a:rPr lang="en-US" sz="1400" b="1">
                <a:solidFill>
                  <a:schemeClr val="bg1"/>
                </a:solidFill>
              </a:rPr>
              <a:t>On the interest list</a:t>
            </a:r>
            <a:endParaRPr lang="en-US" sz="1400"/>
          </a:p>
        </p:txBody>
      </p:sp>
      <p:sp>
        <p:nvSpPr>
          <p:cNvPr id="45" name="Text 38"/>
          <p:cNvSpPr txBox="1"/>
          <p:nvPr/>
        </p:nvSpPr>
        <p:spPr>
          <a:xfrm>
            <a:off x="6099048" y="4919472"/>
            <a:ext cx="2148840" cy="594360"/>
          </a:xfrm>
          <a:prstGeom prst="rect">
            <a:avLst/>
          </a:prstGeom>
          <a:noFill/>
          <a:ln/>
        </p:spPr>
        <p:txBody>
          <a:bodyPr wrap="square" lIns="0" tIns="0" rIns="0" bIns="0" rtlCol="0" anchor="t"/>
          <a:lstStyle/>
          <a:p>
            <a:pPr marL="0" indent="0">
              <a:buNone/>
            </a:pPr>
            <a:r>
              <a:rPr lang="en-US" sz="1100">
                <a:solidFill>
                  <a:srgbClr val="BFBFBF"/>
                </a:solidFill>
              </a:rPr>
              <a:t>Told the moment a new date opens</a:t>
            </a:r>
            <a:endParaRPr lang="en-US" sz="1100"/>
          </a:p>
        </p:txBody>
      </p:sp>
      <p:sp>
        <p:nvSpPr>
          <p:cNvPr id="46" name="Shape 39"/>
          <p:cNvSpPr/>
          <p:nvPr/>
        </p:nvSpPr>
        <p:spPr>
          <a:xfrm>
            <a:off x="8778240" y="3840480"/>
            <a:ext cx="2910535" cy="1783080"/>
          </a:xfrm>
          <a:prstGeom prst="roundRect">
            <a:avLst>
              <a:gd name="adj" fmla="val 6154"/>
            </a:avLst>
          </a:prstGeom>
          <a:ln w="19050">
            <a:solidFill>
              <a:srgbClr val="FF0068"/>
            </a:solidFill>
            <a:prstDash val="dash"/>
          </a:ln>
        </p:spPr>
        <p:txBody>
          <a:bodyPr/>
          <a:lstStyle/>
          <a:p>
            <a:endParaRPr lang="en-IN"/>
          </a:p>
        </p:txBody>
      </p:sp>
      <p:pic>
        <p:nvPicPr>
          <p:cNvPr id="47" name="Image 5" descr="preencoded.png"/>
          <p:cNvPicPr>
            <a:picLocks noChangeAspect="1"/>
          </p:cNvPicPr>
          <p:nvPr/>
        </p:nvPicPr>
        <p:blipFill>
          <a:blip r:embed="rId8"/>
          <a:stretch>
            <a:fillRect/>
          </a:stretch>
        </p:blipFill>
        <p:spPr>
          <a:xfrm>
            <a:off x="8961120" y="3986784"/>
            <a:ext cx="274320" cy="274320"/>
          </a:xfrm>
          <a:prstGeom prst="rect">
            <a:avLst/>
          </a:prstGeom>
        </p:spPr>
      </p:pic>
      <p:sp>
        <p:nvSpPr>
          <p:cNvPr id="48" name="Text 40"/>
          <p:cNvSpPr txBox="1"/>
          <p:nvPr/>
        </p:nvSpPr>
        <p:spPr>
          <a:xfrm>
            <a:off x="9326880" y="3968496"/>
            <a:ext cx="2224735" cy="310896"/>
          </a:xfrm>
          <a:prstGeom prst="rect">
            <a:avLst/>
          </a:prstGeom>
          <a:noFill/>
          <a:ln/>
        </p:spPr>
        <p:txBody>
          <a:bodyPr wrap="square" lIns="0" tIns="0" rIns="0" bIns="0" rtlCol="0" anchor="t"/>
          <a:lstStyle/>
          <a:p>
            <a:pPr marL="0" indent="0">
              <a:buNone/>
            </a:pPr>
            <a:r>
              <a:rPr lang="en-US" sz="1300" b="1">
                <a:solidFill>
                  <a:schemeClr val="bg1"/>
                </a:solidFill>
              </a:rPr>
              <a:t>Turn overflow into sessions</a:t>
            </a:r>
            <a:endParaRPr lang="en-US" sz="1300"/>
          </a:p>
        </p:txBody>
      </p:sp>
      <p:sp>
        <p:nvSpPr>
          <p:cNvPr id="49" name="Text 41"/>
          <p:cNvSpPr txBox="1"/>
          <p:nvPr/>
        </p:nvSpPr>
        <p:spPr>
          <a:xfrm>
            <a:off x="8961120" y="4370832"/>
            <a:ext cx="2590495" cy="1188720"/>
          </a:xfrm>
          <a:prstGeom prst="rect">
            <a:avLst/>
          </a:prstGeom>
          <a:noFill/>
          <a:ln/>
        </p:spPr>
        <p:txBody>
          <a:bodyPr wrap="square" lIns="0" tIns="0" rIns="0" bIns="0" rtlCol="0" anchor="t"/>
          <a:lstStyle/>
          <a:p>
            <a:pPr marL="342900" indent="-342900">
              <a:spcAft>
                <a:spcPts val="400"/>
              </a:spcAft>
              <a:buSzPct val="100000"/>
              <a:buFont typeface="+mj-lt"/>
              <a:buAutoNum type="arabicPeriod"/>
            </a:pPr>
            <a:r>
              <a:rPr lang="en-US" sz="1100">
                <a:solidFill>
                  <a:srgbClr val="BFBFBF"/>
                </a:solidFill>
              </a:rPr>
              <a:t>Demand passes 3× the seats</a:t>
            </a:r>
            <a:endParaRPr lang="en-US" sz="1100"/>
          </a:p>
          <a:p>
            <a:pPr marL="342900" indent="-342900">
              <a:spcAft>
                <a:spcPts val="400"/>
              </a:spcAft>
              <a:buSzPct val="100000"/>
              <a:buFont typeface="+mj-lt"/>
              <a:buAutoNum type="arabicPeriod"/>
            </a:pPr>
            <a:r>
              <a:rPr lang="en-US" sz="1100">
                <a:solidFill>
                  <a:srgbClr val="BFBFBF"/>
                </a:solidFill>
              </a:rPr>
              <a:t>Staff add a session in one click</a:t>
            </a:r>
            <a:endParaRPr lang="en-US" sz="1100"/>
          </a:p>
          <a:p>
            <a:pPr marL="342900" indent="-342900">
              <a:spcAft>
                <a:spcPts val="400"/>
              </a:spcAft>
              <a:buSzPct val="100000"/>
              <a:buFont typeface="+mj-lt"/>
              <a:buAutoNum type="arabicPeriod"/>
            </a:pPr>
            <a:r>
              <a:rPr lang="en-US" sz="1100">
                <a:solidFill>
                  <a:srgbClr val="BFBFBF"/>
                </a:solidFill>
              </a:rPr>
              <a:t>Waitlist offered first, then the interest list</a:t>
            </a:r>
            <a:endParaRPr lang="en-US" sz="1100"/>
          </a:p>
        </p:txBody>
      </p:sp>
      <p:sp>
        <p:nvSpPr>
          <p:cNvPr id="50" name="Shape 42"/>
          <p:cNvSpPr/>
          <p:nvPr/>
        </p:nvSpPr>
        <p:spPr>
          <a:xfrm>
            <a:off x="8430768" y="4727448"/>
            <a:ext cx="320040" cy="0"/>
          </a:xfrm>
          <a:prstGeom prst="line">
            <a:avLst/>
          </a:prstGeom>
          <a:noFill/>
          <a:ln w="15875">
            <a:solidFill>
              <a:srgbClr val="FF0068"/>
            </a:solidFill>
            <a:prstDash val="dash"/>
            <a:tailEnd type="triangle"/>
          </a:ln>
        </p:spPr>
        <p:txBody>
          <a:bodyPr/>
          <a:lstStyle/>
          <a:p>
            <a:endParaRPr lang="en-IN"/>
          </a:p>
        </p:txBody>
      </p:sp>
      <p:sp>
        <p:nvSpPr>
          <p:cNvPr id="51" name="Text 43"/>
          <p:cNvSpPr txBox="1"/>
          <p:nvPr/>
        </p:nvSpPr>
        <p:spPr>
          <a:xfrm>
            <a:off x="502920" y="5806440"/>
            <a:ext cx="11155680" cy="320040"/>
          </a:xfrm>
          <a:prstGeom prst="rect">
            <a:avLst/>
          </a:prstGeom>
          <a:noFill/>
          <a:ln/>
        </p:spPr>
        <p:txBody>
          <a:bodyPr wrap="square" lIns="0" tIns="0" rIns="0" bIns="0" rtlCol="0" anchor="t"/>
          <a:lstStyle/>
          <a:p>
            <a:pPr marL="0" indent="0">
              <a:buNone/>
            </a:pPr>
            <a:r>
              <a:rPr lang="en-US" sz="1100" i="1">
                <a:solidFill>
                  <a:schemeClr val="accent1"/>
                </a:solidFill>
              </a:rPr>
              <a:t>Reliable: queued, idempotent writes and auto-released holds.   Scalable: only admitted traffic reaches Salesforce.   Secure: bot defense on every hot event.</a:t>
            </a:r>
            <a:endParaRPr lang="en-US" sz="1100"/>
          </a:p>
        </p:txBody>
      </p:sp>
      <p:sp>
        <p:nvSpPr>
          <p:cNvPr id="52" name="Slide Number Placeholder 0"/>
          <p:cNvSpPr>
            <a:spLocks noGrp="1"/>
          </p:cNvSpPr>
          <p:nvPr>
            <p:ph type="sldNum" sz="quarter" idx="4294967295"/>
          </p:nvPr>
        </p:nvSpPr>
        <p:spPr>
          <a:xfrm>
            <a:off x="11292840" y="6336792"/>
            <a:ext cx="457200" cy="22860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bg1"/>
                </a:solidFil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02920" y="658368"/>
            <a:ext cx="11185855" cy="822960"/>
          </a:xfrm>
          <a:prstGeom prst="rect">
            <a:avLst/>
          </a:prstGeom>
          <a:noFill/>
          <a:ln/>
        </p:spPr>
        <p:txBody>
          <a:bodyPr wrap="square" lIns="0" tIns="0" rIns="0" bIns="0" rtlCol="0" anchor="t"/>
          <a:lstStyle/>
          <a:p>
            <a:pPr marL="0" indent="0" algn="l">
              <a:buNone/>
            </a:pPr>
            <a:r>
              <a:rPr lang="en-US" sz="3200" b="1">
                <a:solidFill>
                  <a:schemeClr val="tx1"/>
                </a:solidFill>
              </a:rPr>
              <a:t>Design detail: registration and seat flow</a:t>
            </a:r>
            <a:endParaRPr lang="en-US" sz="3200"/>
          </a:p>
        </p:txBody>
      </p:sp>
      <p:sp>
        <p:nvSpPr>
          <p:cNvPr id="3" name="participant-p"/>
          <p:cNvSpPr/>
          <p:nvPr/>
        </p:nvSpPr>
        <p:spPr>
          <a:xfrm>
            <a:off x="557784" y="1463040"/>
            <a:ext cx="1488251" cy="475488"/>
          </a:xfrm>
          <a:prstGeom prst="roundRect">
            <a:avLst>
              <a:gd name="adj" fmla="val 15385"/>
            </a:avLst>
          </a:prstGeom>
          <a:solidFill>
            <a:srgbClr val="F2F2F2"/>
          </a:solidFill>
          <a:ln w="15875">
            <a:solidFill>
              <a:srgbClr val="B8B8C0"/>
            </a:solidFill>
            <a:prstDash val="solid"/>
          </a:ln>
        </p:spPr>
        <p:txBody>
          <a:bodyPr/>
          <a:lstStyle/>
          <a:p>
            <a:endParaRPr lang="en-IN"/>
          </a:p>
        </p:txBody>
      </p:sp>
      <p:sp>
        <p:nvSpPr>
          <p:cNvPr id="4" name="Text 2"/>
          <p:cNvSpPr txBox="1"/>
          <p:nvPr/>
        </p:nvSpPr>
        <p:spPr>
          <a:xfrm>
            <a:off x="594360" y="1463040"/>
            <a:ext cx="1415099" cy="475488"/>
          </a:xfrm>
          <a:prstGeom prst="rect">
            <a:avLst/>
          </a:prstGeom>
          <a:noFill/>
          <a:ln/>
        </p:spPr>
        <p:txBody>
          <a:bodyPr wrap="square" lIns="0" tIns="0" rIns="0" bIns="0" rtlCol="0" anchor="ctr"/>
          <a:lstStyle/>
          <a:p>
            <a:pPr marL="0" indent="0" algn="ctr">
              <a:buNone/>
            </a:pPr>
            <a:r>
              <a:rPr lang="en-US" sz="1050" b="1">
                <a:solidFill>
                  <a:srgbClr val="000000"/>
                </a:solidFill>
              </a:rPr>
              <a:t>Registrant</a:t>
            </a:r>
            <a:endParaRPr lang="en-US" sz="1050"/>
          </a:p>
        </p:txBody>
      </p:sp>
      <p:sp>
        <p:nvSpPr>
          <p:cNvPr id="5" name="Shape 3"/>
          <p:cNvSpPr/>
          <p:nvPr/>
        </p:nvSpPr>
        <p:spPr>
          <a:xfrm>
            <a:off x="1301910" y="1938528"/>
            <a:ext cx="0" cy="4233672"/>
          </a:xfrm>
          <a:prstGeom prst="line">
            <a:avLst/>
          </a:prstGeom>
          <a:noFill/>
          <a:ln w="12700">
            <a:solidFill>
              <a:srgbClr val="B0B0B8"/>
            </a:solidFill>
            <a:prstDash val="dash"/>
          </a:ln>
        </p:spPr>
        <p:txBody>
          <a:bodyPr/>
          <a:lstStyle/>
          <a:p>
            <a:endParaRPr lang="en-IN"/>
          </a:p>
        </p:txBody>
      </p:sp>
      <p:sp>
        <p:nvSpPr>
          <p:cNvPr id="6" name="participant-edge"/>
          <p:cNvSpPr/>
          <p:nvPr/>
        </p:nvSpPr>
        <p:spPr>
          <a:xfrm>
            <a:off x="2155763" y="1463040"/>
            <a:ext cx="1488251" cy="475488"/>
          </a:xfrm>
          <a:prstGeom prst="roundRect">
            <a:avLst>
              <a:gd name="adj" fmla="val 15385"/>
            </a:avLst>
          </a:prstGeom>
          <a:solidFill>
            <a:srgbClr val="F2F2F2"/>
          </a:solidFill>
          <a:ln w="22225">
            <a:solidFill>
              <a:srgbClr val="00A9C0"/>
            </a:solidFill>
            <a:prstDash val="solid"/>
          </a:ln>
        </p:spPr>
        <p:txBody>
          <a:bodyPr/>
          <a:lstStyle/>
          <a:p>
            <a:endParaRPr lang="en-IN"/>
          </a:p>
        </p:txBody>
      </p:sp>
      <p:sp>
        <p:nvSpPr>
          <p:cNvPr id="7" name="Text 5"/>
          <p:cNvSpPr txBox="1"/>
          <p:nvPr/>
        </p:nvSpPr>
        <p:spPr>
          <a:xfrm>
            <a:off x="2192339" y="1463040"/>
            <a:ext cx="1415099" cy="475488"/>
          </a:xfrm>
          <a:prstGeom prst="rect">
            <a:avLst/>
          </a:prstGeom>
          <a:noFill/>
          <a:ln/>
        </p:spPr>
        <p:txBody>
          <a:bodyPr wrap="square" lIns="0" tIns="0" rIns="0" bIns="0" rtlCol="0" anchor="ctr"/>
          <a:lstStyle/>
          <a:p>
            <a:pPr marL="0" indent="0" algn="ctr">
              <a:buNone/>
            </a:pPr>
            <a:r>
              <a:rPr lang="en-US" sz="1050" b="1">
                <a:solidFill>
                  <a:srgbClr val="000000"/>
                </a:solidFill>
              </a:rPr>
              <a:t>Edge and waiting room</a:t>
            </a:r>
            <a:endParaRPr lang="en-US" sz="1050"/>
          </a:p>
        </p:txBody>
      </p:sp>
      <p:sp>
        <p:nvSpPr>
          <p:cNvPr id="8" name="Shape 6"/>
          <p:cNvSpPr/>
          <p:nvPr/>
        </p:nvSpPr>
        <p:spPr>
          <a:xfrm>
            <a:off x="2899889" y="1938528"/>
            <a:ext cx="0" cy="4233672"/>
          </a:xfrm>
          <a:prstGeom prst="line">
            <a:avLst/>
          </a:prstGeom>
          <a:noFill/>
          <a:ln w="12700">
            <a:solidFill>
              <a:srgbClr val="B0B0B8"/>
            </a:solidFill>
            <a:prstDash val="dash"/>
          </a:ln>
        </p:spPr>
        <p:txBody>
          <a:bodyPr/>
          <a:lstStyle/>
          <a:p>
            <a:endParaRPr lang="en-IN"/>
          </a:p>
        </p:txBody>
      </p:sp>
      <p:sp>
        <p:nvSpPr>
          <p:cNvPr id="9" name="participant-reg"/>
          <p:cNvSpPr/>
          <p:nvPr/>
        </p:nvSpPr>
        <p:spPr>
          <a:xfrm>
            <a:off x="3753743" y="1463040"/>
            <a:ext cx="1488251" cy="475488"/>
          </a:xfrm>
          <a:prstGeom prst="roundRect">
            <a:avLst>
              <a:gd name="adj" fmla="val 15385"/>
            </a:avLst>
          </a:prstGeom>
          <a:solidFill>
            <a:srgbClr val="F2F2F2"/>
          </a:solidFill>
          <a:ln w="22225">
            <a:solidFill>
              <a:srgbClr val="D9B200"/>
            </a:solidFill>
            <a:prstDash val="solid"/>
          </a:ln>
        </p:spPr>
        <p:txBody>
          <a:bodyPr/>
          <a:lstStyle/>
          <a:p>
            <a:endParaRPr lang="en-IN"/>
          </a:p>
        </p:txBody>
      </p:sp>
      <p:sp>
        <p:nvSpPr>
          <p:cNvPr id="10" name="Text 8"/>
          <p:cNvSpPr txBox="1"/>
          <p:nvPr/>
        </p:nvSpPr>
        <p:spPr>
          <a:xfrm>
            <a:off x="3790319" y="1463040"/>
            <a:ext cx="1415099" cy="475488"/>
          </a:xfrm>
          <a:prstGeom prst="rect">
            <a:avLst/>
          </a:prstGeom>
          <a:noFill/>
          <a:ln/>
        </p:spPr>
        <p:txBody>
          <a:bodyPr wrap="square" lIns="0" tIns="0" rIns="0" bIns="0" rtlCol="0" anchor="ctr"/>
          <a:lstStyle/>
          <a:p>
            <a:pPr marL="0" indent="0" algn="ctr">
              <a:buNone/>
            </a:pPr>
            <a:r>
              <a:rPr lang="en-US" sz="1050" b="1">
                <a:solidFill>
                  <a:srgbClr val="000000"/>
                </a:solidFill>
              </a:rPr>
              <a:t>Registration service</a:t>
            </a:r>
            <a:endParaRPr lang="en-US" sz="1050"/>
          </a:p>
        </p:txBody>
      </p:sp>
      <p:sp>
        <p:nvSpPr>
          <p:cNvPr id="11" name="Shape 9"/>
          <p:cNvSpPr/>
          <p:nvPr/>
        </p:nvSpPr>
        <p:spPr>
          <a:xfrm>
            <a:off x="4497868" y="1938528"/>
            <a:ext cx="0" cy="4233672"/>
          </a:xfrm>
          <a:prstGeom prst="line">
            <a:avLst/>
          </a:prstGeom>
          <a:noFill/>
          <a:ln w="12700">
            <a:solidFill>
              <a:srgbClr val="B0B0B8"/>
            </a:solidFill>
            <a:prstDash val="dash"/>
          </a:ln>
        </p:spPr>
        <p:txBody>
          <a:bodyPr/>
          <a:lstStyle/>
          <a:p>
            <a:endParaRPr lang="en-IN"/>
          </a:p>
        </p:txBody>
      </p:sp>
      <p:sp>
        <p:nvSpPr>
          <p:cNvPr id="12" name="participant-inv"/>
          <p:cNvSpPr/>
          <p:nvPr/>
        </p:nvSpPr>
        <p:spPr>
          <a:xfrm>
            <a:off x="5351722" y="1463040"/>
            <a:ext cx="1488251" cy="475488"/>
          </a:xfrm>
          <a:prstGeom prst="roundRect">
            <a:avLst>
              <a:gd name="adj" fmla="val 15385"/>
            </a:avLst>
          </a:prstGeom>
          <a:solidFill>
            <a:srgbClr val="F2F2F2"/>
          </a:solidFill>
          <a:ln w="22225">
            <a:solidFill>
              <a:srgbClr val="D9B200"/>
            </a:solidFill>
            <a:prstDash val="solid"/>
          </a:ln>
        </p:spPr>
        <p:txBody>
          <a:bodyPr/>
          <a:lstStyle/>
          <a:p>
            <a:endParaRPr lang="en-IN"/>
          </a:p>
        </p:txBody>
      </p:sp>
      <p:sp>
        <p:nvSpPr>
          <p:cNvPr id="13" name="Text 11"/>
          <p:cNvSpPr txBox="1"/>
          <p:nvPr/>
        </p:nvSpPr>
        <p:spPr>
          <a:xfrm>
            <a:off x="5388298" y="1463040"/>
            <a:ext cx="1415099" cy="475488"/>
          </a:xfrm>
          <a:prstGeom prst="rect">
            <a:avLst/>
          </a:prstGeom>
          <a:noFill/>
          <a:ln/>
        </p:spPr>
        <p:txBody>
          <a:bodyPr wrap="square" lIns="0" tIns="0" rIns="0" bIns="0" rtlCol="0" anchor="ctr"/>
          <a:lstStyle/>
          <a:p>
            <a:pPr marL="0" indent="0" algn="ctr">
              <a:buNone/>
            </a:pPr>
            <a:r>
              <a:rPr lang="en-US" sz="1050" b="1">
                <a:solidFill>
                  <a:srgbClr val="000000"/>
                </a:solidFill>
              </a:rPr>
              <a:t>Seat inventory</a:t>
            </a:r>
            <a:endParaRPr lang="en-US" sz="1050"/>
          </a:p>
        </p:txBody>
      </p:sp>
      <p:sp>
        <p:nvSpPr>
          <p:cNvPr id="14" name="Shape 12"/>
          <p:cNvSpPr/>
          <p:nvPr/>
        </p:nvSpPr>
        <p:spPr>
          <a:xfrm>
            <a:off x="6095848" y="1938528"/>
            <a:ext cx="0" cy="4233672"/>
          </a:xfrm>
          <a:prstGeom prst="line">
            <a:avLst/>
          </a:prstGeom>
          <a:noFill/>
          <a:ln w="12700">
            <a:solidFill>
              <a:srgbClr val="B0B0B8"/>
            </a:solidFill>
            <a:prstDash val="dash"/>
          </a:ln>
        </p:spPr>
        <p:txBody>
          <a:bodyPr/>
          <a:lstStyle/>
          <a:p>
            <a:endParaRPr lang="en-IN"/>
          </a:p>
        </p:txBody>
      </p:sp>
      <p:sp>
        <p:nvSpPr>
          <p:cNvPr id="15" name="participant-pay"/>
          <p:cNvSpPr/>
          <p:nvPr/>
        </p:nvSpPr>
        <p:spPr>
          <a:xfrm>
            <a:off x="6949701" y="1463040"/>
            <a:ext cx="1488251" cy="475488"/>
          </a:xfrm>
          <a:prstGeom prst="roundRect">
            <a:avLst>
              <a:gd name="adj" fmla="val 15385"/>
            </a:avLst>
          </a:prstGeom>
          <a:solidFill>
            <a:srgbClr val="F2F2F2"/>
          </a:solidFill>
          <a:ln w="15875">
            <a:solidFill>
              <a:srgbClr val="B8B8C0"/>
            </a:solidFill>
            <a:prstDash val="solid"/>
          </a:ln>
        </p:spPr>
        <p:txBody>
          <a:bodyPr/>
          <a:lstStyle/>
          <a:p>
            <a:endParaRPr lang="en-IN"/>
          </a:p>
        </p:txBody>
      </p:sp>
      <p:sp>
        <p:nvSpPr>
          <p:cNvPr id="16" name="Text 14"/>
          <p:cNvSpPr txBox="1"/>
          <p:nvPr/>
        </p:nvSpPr>
        <p:spPr>
          <a:xfrm>
            <a:off x="6986277" y="1463040"/>
            <a:ext cx="1415099" cy="475488"/>
          </a:xfrm>
          <a:prstGeom prst="rect">
            <a:avLst/>
          </a:prstGeom>
          <a:noFill/>
          <a:ln/>
        </p:spPr>
        <p:txBody>
          <a:bodyPr wrap="square" lIns="0" tIns="0" rIns="0" bIns="0" rtlCol="0" anchor="ctr"/>
          <a:lstStyle/>
          <a:p>
            <a:pPr marL="0" indent="0" algn="ctr">
              <a:buNone/>
            </a:pPr>
            <a:r>
              <a:rPr lang="en-US" sz="1050" b="1">
                <a:solidFill>
                  <a:srgbClr val="000000"/>
                </a:solidFill>
              </a:rPr>
              <a:t>Payment page</a:t>
            </a:r>
            <a:endParaRPr lang="en-US" sz="1050"/>
          </a:p>
        </p:txBody>
      </p:sp>
      <p:sp>
        <p:nvSpPr>
          <p:cNvPr id="17" name="Shape 15"/>
          <p:cNvSpPr/>
          <p:nvPr/>
        </p:nvSpPr>
        <p:spPr>
          <a:xfrm>
            <a:off x="7693827" y="1938528"/>
            <a:ext cx="0" cy="4233672"/>
          </a:xfrm>
          <a:prstGeom prst="line">
            <a:avLst/>
          </a:prstGeom>
          <a:noFill/>
          <a:ln w="12700">
            <a:solidFill>
              <a:srgbClr val="B0B0B8"/>
            </a:solidFill>
            <a:prstDash val="dash"/>
          </a:ln>
        </p:spPr>
        <p:txBody>
          <a:bodyPr/>
          <a:lstStyle/>
          <a:p>
            <a:endParaRPr lang="en-IN"/>
          </a:p>
        </p:txBody>
      </p:sp>
      <p:sp>
        <p:nvSpPr>
          <p:cNvPr id="18" name="participant-sf"/>
          <p:cNvSpPr/>
          <p:nvPr/>
        </p:nvSpPr>
        <p:spPr>
          <a:xfrm>
            <a:off x="8547681" y="1463040"/>
            <a:ext cx="1488251" cy="475488"/>
          </a:xfrm>
          <a:prstGeom prst="roundRect">
            <a:avLst>
              <a:gd name="adj" fmla="val 15385"/>
            </a:avLst>
          </a:prstGeom>
          <a:solidFill>
            <a:srgbClr val="F2F2F2"/>
          </a:solidFill>
          <a:ln w="22225">
            <a:solidFill>
              <a:srgbClr val="00A9C0"/>
            </a:solidFill>
            <a:prstDash val="solid"/>
          </a:ln>
        </p:spPr>
        <p:txBody>
          <a:bodyPr/>
          <a:lstStyle/>
          <a:p>
            <a:endParaRPr lang="en-IN"/>
          </a:p>
        </p:txBody>
      </p:sp>
      <p:sp>
        <p:nvSpPr>
          <p:cNvPr id="19" name="Text 17"/>
          <p:cNvSpPr txBox="1"/>
          <p:nvPr/>
        </p:nvSpPr>
        <p:spPr>
          <a:xfrm>
            <a:off x="8584257" y="1463040"/>
            <a:ext cx="1415099" cy="475488"/>
          </a:xfrm>
          <a:prstGeom prst="rect">
            <a:avLst/>
          </a:prstGeom>
          <a:noFill/>
          <a:ln/>
        </p:spPr>
        <p:txBody>
          <a:bodyPr wrap="square" lIns="0" tIns="0" rIns="0" bIns="0" rtlCol="0" anchor="ctr"/>
          <a:lstStyle/>
          <a:p>
            <a:pPr marL="0" indent="0" algn="ctr">
              <a:buNone/>
            </a:pPr>
            <a:r>
              <a:rPr lang="en-US" sz="1050" b="1">
                <a:solidFill>
                  <a:srgbClr val="000000"/>
                </a:solidFill>
              </a:rPr>
              <a:t>Salesforce</a:t>
            </a:r>
            <a:endParaRPr lang="en-US" sz="1050"/>
          </a:p>
        </p:txBody>
      </p:sp>
      <p:sp>
        <p:nvSpPr>
          <p:cNvPr id="20" name="Shape 18"/>
          <p:cNvSpPr/>
          <p:nvPr/>
        </p:nvSpPr>
        <p:spPr>
          <a:xfrm>
            <a:off x="9291806" y="1938528"/>
            <a:ext cx="0" cy="4233672"/>
          </a:xfrm>
          <a:prstGeom prst="line">
            <a:avLst/>
          </a:prstGeom>
          <a:noFill/>
          <a:ln w="12700">
            <a:solidFill>
              <a:srgbClr val="B0B0B8"/>
            </a:solidFill>
            <a:prstDash val="dash"/>
          </a:ln>
        </p:spPr>
        <p:txBody>
          <a:bodyPr/>
          <a:lstStyle/>
          <a:p>
            <a:endParaRPr lang="en-IN"/>
          </a:p>
        </p:txBody>
      </p:sp>
      <p:sp>
        <p:nvSpPr>
          <p:cNvPr id="21" name="participant-mc"/>
          <p:cNvSpPr/>
          <p:nvPr/>
        </p:nvSpPr>
        <p:spPr>
          <a:xfrm>
            <a:off x="10145660" y="1463040"/>
            <a:ext cx="1488251" cy="475488"/>
          </a:xfrm>
          <a:prstGeom prst="roundRect">
            <a:avLst>
              <a:gd name="adj" fmla="val 15385"/>
            </a:avLst>
          </a:prstGeom>
          <a:solidFill>
            <a:srgbClr val="F2F2F2"/>
          </a:solidFill>
          <a:ln w="22225">
            <a:solidFill>
              <a:srgbClr val="FF0068"/>
            </a:solidFill>
            <a:prstDash val="solid"/>
          </a:ln>
        </p:spPr>
        <p:txBody>
          <a:bodyPr/>
          <a:lstStyle/>
          <a:p>
            <a:endParaRPr lang="en-IN"/>
          </a:p>
        </p:txBody>
      </p:sp>
      <p:sp>
        <p:nvSpPr>
          <p:cNvPr id="22" name="Text 20"/>
          <p:cNvSpPr txBox="1"/>
          <p:nvPr/>
        </p:nvSpPr>
        <p:spPr>
          <a:xfrm>
            <a:off x="10182236" y="1463040"/>
            <a:ext cx="1415099" cy="475488"/>
          </a:xfrm>
          <a:prstGeom prst="rect">
            <a:avLst/>
          </a:prstGeom>
          <a:noFill/>
          <a:ln/>
        </p:spPr>
        <p:txBody>
          <a:bodyPr wrap="square" lIns="0" tIns="0" rIns="0" bIns="0" rtlCol="0" anchor="ctr"/>
          <a:lstStyle/>
          <a:p>
            <a:pPr marL="0" indent="0" algn="ctr">
              <a:buNone/>
            </a:pPr>
            <a:r>
              <a:rPr lang="en-US" sz="1050" b="1">
                <a:solidFill>
                  <a:srgbClr val="000000"/>
                </a:solidFill>
              </a:rPr>
              <a:t>Marketing Cloud</a:t>
            </a:r>
            <a:endParaRPr lang="en-US" sz="1050"/>
          </a:p>
        </p:txBody>
      </p:sp>
      <p:sp>
        <p:nvSpPr>
          <p:cNvPr id="23" name="Shape 21"/>
          <p:cNvSpPr/>
          <p:nvPr/>
        </p:nvSpPr>
        <p:spPr>
          <a:xfrm>
            <a:off x="10889786" y="1938528"/>
            <a:ext cx="0" cy="4233672"/>
          </a:xfrm>
          <a:prstGeom prst="line">
            <a:avLst/>
          </a:prstGeom>
          <a:noFill/>
          <a:ln w="12700">
            <a:solidFill>
              <a:srgbClr val="B0B0B8"/>
            </a:solidFill>
            <a:prstDash val="dash"/>
          </a:ln>
        </p:spPr>
        <p:txBody>
          <a:bodyPr/>
          <a:lstStyle/>
          <a:p>
            <a:endParaRPr lang="en-IN"/>
          </a:p>
        </p:txBody>
      </p:sp>
      <p:sp>
        <p:nvSpPr>
          <p:cNvPr id="24" name="Shape 22"/>
          <p:cNvSpPr/>
          <p:nvPr/>
        </p:nvSpPr>
        <p:spPr>
          <a:xfrm>
            <a:off x="1301910" y="2192216"/>
            <a:ext cx="1597979" cy="0"/>
          </a:xfrm>
          <a:prstGeom prst="line">
            <a:avLst/>
          </a:prstGeom>
          <a:noFill/>
          <a:ln w="15875">
            <a:solidFill>
              <a:srgbClr val="1A1A1A"/>
            </a:solidFill>
            <a:prstDash val="solid"/>
            <a:tailEnd type="triangle"/>
          </a:ln>
        </p:spPr>
        <p:txBody>
          <a:bodyPr/>
          <a:lstStyle/>
          <a:p>
            <a:endParaRPr lang="en-IN"/>
          </a:p>
        </p:txBody>
      </p:sp>
      <p:sp>
        <p:nvSpPr>
          <p:cNvPr id="25" name="Shape 23"/>
          <p:cNvSpPr/>
          <p:nvPr/>
        </p:nvSpPr>
        <p:spPr>
          <a:xfrm>
            <a:off x="1201326" y="2091632"/>
            <a:ext cx="201168" cy="201168"/>
          </a:xfrm>
          <a:prstGeom prst="ellipse">
            <a:avLst/>
          </a:prstGeom>
          <a:solidFill>
            <a:srgbClr val="00A9C0"/>
          </a:solidFill>
          <a:ln w="12700">
            <a:solidFill>
              <a:srgbClr val="00A9C0"/>
            </a:solidFill>
            <a:prstDash val="solid"/>
          </a:ln>
        </p:spPr>
        <p:txBody>
          <a:bodyPr/>
          <a:lstStyle/>
          <a:p>
            <a:endParaRPr lang="en-IN"/>
          </a:p>
        </p:txBody>
      </p:sp>
      <p:sp>
        <p:nvSpPr>
          <p:cNvPr id="26" name="Text 24"/>
          <p:cNvSpPr txBox="1"/>
          <p:nvPr/>
        </p:nvSpPr>
        <p:spPr>
          <a:xfrm>
            <a:off x="1201326" y="2091632"/>
            <a:ext cx="201168" cy="201168"/>
          </a:xfrm>
          <a:prstGeom prst="rect">
            <a:avLst/>
          </a:prstGeom>
          <a:noFill/>
          <a:ln/>
        </p:spPr>
        <p:txBody>
          <a:bodyPr wrap="square" lIns="0" tIns="0" rIns="0" bIns="0" rtlCol="0" anchor="ctr"/>
          <a:lstStyle/>
          <a:p>
            <a:pPr marL="0" indent="0" algn="ctr">
              <a:buNone/>
            </a:pPr>
            <a:r>
              <a:rPr lang="en-US" sz="800" b="1">
                <a:solidFill>
                  <a:srgbClr val="000000"/>
                </a:solidFill>
              </a:rPr>
              <a:t>1</a:t>
            </a:r>
            <a:endParaRPr lang="en-US" sz="800"/>
          </a:p>
        </p:txBody>
      </p:sp>
      <p:sp>
        <p:nvSpPr>
          <p:cNvPr id="27" name="Text 25"/>
          <p:cNvSpPr txBox="1"/>
          <p:nvPr/>
        </p:nvSpPr>
        <p:spPr>
          <a:xfrm>
            <a:off x="1448214" y="1945328"/>
            <a:ext cx="1415099" cy="219456"/>
          </a:xfrm>
          <a:prstGeom prst="rect">
            <a:avLst/>
          </a:prstGeom>
          <a:noFill/>
          <a:ln/>
        </p:spPr>
        <p:txBody>
          <a:bodyPr wrap="square" lIns="0" tIns="0" rIns="0" bIns="0" rtlCol="0" anchor="b"/>
          <a:lstStyle/>
          <a:p>
            <a:pPr marL="0" indent="0" algn="ctr">
              <a:buNone/>
            </a:pPr>
            <a:r>
              <a:rPr lang="en-US" sz="1000">
                <a:solidFill>
                  <a:srgbClr val="000000"/>
                </a:solidFill>
              </a:rPr>
              <a:t>Click Register</a:t>
            </a:r>
            <a:endParaRPr lang="en-US" sz="1000"/>
          </a:p>
        </p:txBody>
      </p:sp>
      <p:sp>
        <p:nvSpPr>
          <p:cNvPr id="28" name="Shape 26"/>
          <p:cNvSpPr/>
          <p:nvPr/>
        </p:nvSpPr>
        <p:spPr>
          <a:xfrm>
            <a:off x="1301910" y="2438045"/>
            <a:ext cx="1597979" cy="0"/>
          </a:xfrm>
          <a:prstGeom prst="line">
            <a:avLst/>
          </a:prstGeom>
          <a:noFill/>
          <a:ln w="15875">
            <a:solidFill>
              <a:srgbClr val="6B7280"/>
            </a:solidFill>
            <a:prstDash val="dash"/>
            <a:headEnd type="triangle"/>
          </a:ln>
        </p:spPr>
        <p:txBody>
          <a:bodyPr/>
          <a:lstStyle/>
          <a:p>
            <a:endParaRPr lang="en-IN"/>
          </a:p>
        </p:txBody>
      </p:sp>
      <p:sp>
        <p:nvSpPr>
          <p:cNvPr id="29" name="Shape 27"/>
          <p:cNvSpPr/>
          <p:nvPr/>
        </p:nvSpPr>
        <p:spPr>
          <a:xfrm>
            <a:off x="2799305" y="2337461"/>
            <a:ext cx="201168" cy="201168"/>
          </a:xfrm>
          <a:prstGeom prst="ellipse">
            <a:avLst/>
          </a:prstGeom>
          <a:solidFill>
            <a:srgbClr val="00A9C0"/>
          </a:solidFill>
          <a:ln w="12700">
            <a:solidFill>
              <a:srgbClr val="00A9C0"/>
            </a:solidFill>
            <a:prstDash val="solid"/>
          </a:ln>
        </p:spPr>
        <p:txBody>
          <a:bodyPr/>
          <a:lstStyle/>
          <a:p>
            <a:endParaRPr lang="en-IN"/>
          </a:p>
        </p:txBody>
      </p:sp>
      <p:sp>
        <p:nvSpPr>
          <p:cNvPr id="30" name="Text 28"/>
          <p:cNvSpPr txBox="1"/>
          <p:nvPr/>
        </p:nvSpPr>
        <p:spPr>
          <a:xfrm>
            <a:off x="2799305" y="2337461"/>
            <a:ext cx="201168" cy="201168"/>
          </a:xfrm>
          <a:prstGeom prst="rect">
            <a:avLst/>
          </a:prstGeom>
          <a:noFill/>
          <a:ln/>
        </p:spPr>
        <p:txBody>
          <a:bodyPr wrap="square" lIns="0" tIns="0" rIns="0" bIns="0" rtlCol="0" anchor="ctr"/>
          <a:lstStyle/>
          <a:p>
            <a:pPr marL="0" indent="0" algn="ctr">
              <a:buNone/>
            </a:pPr>
            <a:r>
              <a:rPr lang="en-US" sz="800" b="1">
                <a:solidFill>
                  <a:srgbClr val="000000"/>
                </a:solidFill>
              </a:rPr>
              <a:t>2</a:t>
            </a:r>
            <a:endParaRPr lang="en-US" sz="800"/>
          </a:p>
        </p:txBody>
      </p:sp>
      <p:sp>
        <p:nvSpPr>
          <p:cNvPr id="31" name="Text 29"/>
          <p:cNvSpPr txBox="1"/>
          <p:nvPr/>
        </p:nvSpPr>
        <p:spPr>
          <a:xfrm>
            <a:off x="1239339" y="2191157"/>
            <a:ext cx="1514246" cy="219456"/>
          </a:xfrm>
          <a:prstGeom prst="rect">
            <a:avLst/>
          </a:prstGeom>
          <a:noFill/>
          <a:ln/>
        </p:spPr>
        <p:txBody>
          <a:bodyPr wrap="square" lIns="0" tIns="0" rIns="0" bIns="0" rtlCol="0" anchor="b"/>
          <a:lstStyle/>
          <a:p>
            <a:pPr marL="0" indent="0" algn="ctr">
              <a:buNone/>
            </a:pPr>
            <a:r>
              <a:rPr lang="en-US" sz="1000">
                <a:solidFill>
                  <a:srgbClr val="4D4D4D"/>
                </a:solidFill>
              </a:rPr>
              <a:t>Place in line shown</a:t>
            </a:r>
            <a:endParaRPr lang="en-US" sz="1000"/>
          </a:p>
        </p:txBody>
      </p:sp>
      <p:sp>
        <p:nvSpPr>
          <p:cNvPr id="32" name="Shape 30"/>
          <p:cNvSpPr/>
          <p:nvPr/>
        </p:nvSpPr>
        <p:spPr>
          <a:xfrm>
            <a:off x="2899889" y="2683875"/>
            <a:ext cx="1597979" cy="0"/>
          </a:xfrm>
          <a:prstGeom prst="line">
            <a:avLst/>
          </a:prstGeom>
          <a:noFill/>
          <a:ln w="15875">
            <a:solidFill>
              <a:srgbClr val="1A1A1A"/>
            </a:solidFill>
            <a:prstDash val="solid"/>
            <a:tailEnd type="triangle"/>
          </a:ln>
        </p:spPr>
        <p:txBody>
          <a:bodyPr/>
          <a:lstStyle/>
          <a:p>
            <a:endParaRPr lang="en-IN"/>
          </a:p>
        </p:txBody>
      </p:sp>
      <p:sp>
        <p:nvSpPr>
          <p:cNvPr id="33" name="Shape 31"/>
          <p:cNvSpPr/>
          <p:nvPr/>
        </p:nvSpPr>
        <p:spPr>
          <a:xfrm>
            <a:off x="2799305" y="2583291"/>
            <a:ext cx="201168" cy="201168"/>
          </a:xfrm>
          <a:prstGeom prst="ellipse">
            <a:avLst/>
          </a:prstGeom>
          <a:solidFill>
            <a:srgbClr val="00A9C0"/>
          </a:solidFill>
          <a:ln w="12700">
            <a:solidFill>
              <a:srgbClr val="00A9C0"/>
            </a:solidFill>
            <a:prstDash val="solid"/>
          </a:ln>
        </p:spPr>
        <p:txBody>
          <a:bodyPr/>
          <a:lstStyle/>
          <a:p>
            <a:endParaRPr lang="en-IN"/>
          </a:p>
        </p:txBody>
      </p:sp>
      <p:sp>
        <p:nvSpPr>
          <p:cNvPr id="34" name="Text 32"/>
          <p:cNvSpPr txBox="1"/>
          <p:nvPr/>
        </p:nvSpPr>
        <p:spPr>
          <a:xfrm>
            <a:off x="2799305" y="2583291"/>
            <a:ext cx="201168" cy="201168"/>
          </a:xfrm>
          <a:prstGeom prst="rect">
            <a:avLst/>
          </a:prstGeom>
          <a:noFill/>
          <a:ln/>
        </p:spPr>
        <p:txBody>
          <a:bodyPr wrap="square" lIns="0" tIns="0" rIns="0" bIns="0" rtlCol="0" anchor="ctr"/>
          <a:lstStyle/>
          <a:p>
            <a:pPr marL="0" indent="0" algn="ctr">
              <a:buNone/>
            </a:pPr>
            <a:r>
              <a:rPr lang="en-US" sz="800" b="1">
                <a:solidFill>
                  <a:srgbClr val="000000"/>
                </a:solidFill>
              </a:rPr>
              <a:t>3</a:t>
            </a:r>
            <a:endParaRPr lang="en-US" sz="800"/>
          </a:p>
        </p:txBody>
      </p:sp>
      <p:sp>
        <p:nvSpPr>
          <p:cNvPr id="35" name="Text 33"/>
          <p:cNvSpPr txBox="1"/>
          <p:nvPr/>
        </p:nvSpPr>
        <p:spPr>
          <a:xfrm>
            <a:off x="3046193" y="2436987"/>
            <a:ext cx="1581912" cy="219456"/>
          </a:xfrm>
          <a:prstGeom prst="rect">
            <a:avLst/>
          </a:prstGeom>
          <a:noFill/>
          <a:ln/>
        </p:spPr>
        <p:txBody>
          <a:bodyPr wrap="square" lIns="0" tIns="0" rIns="0" bIns="0" rtlCol="0" anchor="b"/>
          <a:lstStyle/>
          <a:p>
            <a:pPr marL="0" indent="0" algn="ctr">
              <a:buNone/>
            </a:pPr>
            <a:r>
              <a:rPr lang="en-US" sz="1000">
                <a:solidFill>
                  <a:srgbClr val="000000"/>
                </a:solidFill>
              </a:rPr>
              <a:t>Admit at a safe rate</a:t>
            </a:r>
            <a:endParaRPr lang="en-US" sz="1000"/>
          </a:p>
        </p:txBody>
      </p:sp>
      <p:sp>
        <p:nvSpPr>
          <p:cNvPr id="36" name="Shape 34"/>
          <p:cNvSpPr/>
          <p:nvPr/>
        </p:nvSpPr>
        <p:spPr>
          <a:xfrm>
            <a:off x="4497868" y="2929705"/>
            <a:ext cx="1597979" cy="0"/>
          </a:xfrm>
          <a:prstGeom prst="line">
            <a:avLst/>
          </a:prstGeom>
          <a:noFill/>
          <a:ln w="15875">
            <a:solidFill>
              <a:srgbClr val="1A1A1A"/>
            </a:solidFill>
            <a:prstDash val="solid"/>
            <a:tailEnd type="triangle"/>
          </a:ln>
        </p:spPr>
        <p:txBody>
          <a:bodyPr/>
          <a:lstStyle/>
          <a:p>
            <a:endParaRPr lang="en-IN"/>
          </a:p>
        </p:txBody>
      </p:sp>
      <p:sp>
        <p:nvSpPr>
          <p:cNvPr id="37" name="Shape 35"/>
          <p:cNvSpPr/>
          <p:nvPr/>
        </p:nvSpPr>
        <p:spPr>
          <a:xfrm>
            <a:off x="4397284" y="2829121"/>
            <a:ext cx="201168" cy="201168"/>
          </a:xfrm>
          <a:prstGeom prst="ellipse">
            <a:avLst/>
          </a:prstGeom>
          <a:solidFill>
            <a:srgbClr val="00A9C0"/>
          </a:solidFill>
          <a:ln w="12700">
            <a:solidFill>
              <a:srgbClr val="00A9C0"/>
            </a:solidFill>
            <a:prstDash val="solid"/>
          </a:ln>
        </p:spPr>
        <p:txBody>
          <a:bodyPr/>
          <a:lstStyle/>
          <a:p>
            <a:endParaRPr lang="en-IN"/>
          </a:p>
        </p:txBody>
      </p:sp>
      <p:sp>
        <p:nvSpPr>
          <p:cNvPr id="38" name="Text 36"/>
          <p:cNvSpPr txBox="1"/>
          <p:nvPr/>
        </p:nvSpPr>
        <p:spPr>
          <a:xfrm>
            <a:off x="4397284" y="2829121"/>
            <a:ext cx="201168" cy="201168"/>
          </a:xfrm>
          <a:prstGeom prst="rect">
            <a:avLst/>
          </a:prstGeom>
          <a:noFill/>
          <a:ln/>
        </p:spPr>
        <p:txBody>
          <a:bodyPr wrap="square" lIns="0" tIns="0" rIns="0" bIns="0" rtlCol="0" anchor="ctr"/>
          <a:lstStyle/>
          <a:p>
            <a:pPr marL="0" indent="0" algn="ctr">
              <a:buNone/>
            </a:pPr>
            <a:r>
              <a:rPr lang="en-US" sz="800" b="1">
                <a:solidFill>
                  <a:srgbClr val="000000"/>
                </a:solidFill>
              </a:rPr>
              <a:t>4</a:t>
            </a:r>
            <a:endParaRPr lang="en-US" sz="800"/>
          </a:p>
        </p:txBody>
      </p:sp>
      <p:sp>
        <p:nvSpPr>
          <p:cNvPr id="39" name="Text 37"/>
          <p:cNvSpPr txBox="1"/>
          <p:nvPr/>
        </p:nvSpPr>
        <p:spPr>
          <a:xfrm>
            <a:off x="4644172" y="2682817"/>
            <a:ext cx="1717243" cy="219456"/>
          </a:xfrm>
          <a:prstGeom prst="rect">
            <a:avLst/>
          </a:prstGeom>
          <a:noFill/>
          <a:ln/>
        </p:spPr>
        <p:txBody>
          <a:bodyPr wrap="square" lIns="0" tIns="0" rIns="0" bIns="0" rtlCol="0" anchor="b"/>
          <a:lstStyle/>
          <a:p>
            <a:pPr marL="0" indent="0" algn="ctr">
              <a:buNone/>
            </a:pPr>
            <a:r>
              <a:rPr lang="en-US" sz="1000">
                <a:solidFill>
                  <a:srgbClr val="000000"/>
                </a:solidFill>
              </a:rPr>
              <a:t>Hold one seat (atomic)</a:t>
            </a:r>
            <a:endParaRPr lang="en-US" sz="1000"/>
          </a:p>
        </p:txBody>
      </p:sp>
      <p:sp>
        <p:nvSpPr>
          <p:cNvPr id="40" name="Shape 38"/>
          <p:cNvSpPr/>
          <p:nvPr/>
        </p:nvSpPr>
        <p:spPr>
          <a:xfrm>
            <a:off x="605723" y="2995745"/>
            <a:ext cx="1783080" cy="219456"/>
          </a:xfrm>
          <a:prstGeom prst="roundRect">
            <a:avLst>
              <a:gd name="adj" fmla="val 20833"/>
            </a:avLst>
          </a:prstGeom>
          <a:solidFill>
            <a:srgbClr val="FFF6CC"/>
          </a:solidFill>
          <a:ln w="12700">
            <a:solidFill>
              <a:srgbClr val="D9B200"/>
            </a:solidFill>
            <a:prstDash val="solid"/>
          </a:ln>
        </p:spPr>
        <p:txBody>
          <a:bodyPr/>
          <a:lstStyle/>
          <a:p>
            <a:endParaRPr lang="en-IN"/>
          </a:p>
        </p:txBody>
      </p:sp>
      <p:sp>
        <p:nvSpPr>
          <p:cNvPr id="41" name="Text 39"/>
          <p:cNvSpPr txBox="1"/>
          <p:nvPr/>
        </p:nvSpPr>
        <p:spPr>
          <a:xfrm>
            <a:off x="605723" y="2995745"/>
            <a:ext cx="1783080" cy="219456"/>
          </a:xfrm>
          <a:prstGeom prst="rect">
            <a:avLst/>
          </a:prstGeom>
          <a:noFill/>
          <a:ln/>
        </p:spPr>
        <p:txBody>
          <a:bodyPr wrap="square" lIns="0" tIns="0" rIns="0" bIns="0" rtlCol="0" anchor="ctr"/>
          <a:lstStyle/>
          <a:p>
            <a:pPr marL="0" indent="0" algn="ctr">
              <a:buNone/>
            </a:pPr>
            <a:r>
              <a:rPr lang="en-US" sz="950" b="1">
                <a:solidFill>
                  <a:srgbClr val="6B5600"/>
                </a:solidFill>
              </a:rPr>
              <a:t>If a seat is available</a:t>
            </a:r>
            <a:endParaRPr lang="en-US" sz="950"/>
          </a:p>
        </p:txBody>
      </p:sp>
      <p:sp>
        <p:nvSpPr>
          <p:cNvPr id="42" name="Shape 40"/>
          <p:cNvSpPr/>
          <p:nvPr/>
        </p:nvSpPr>
        <p:spPr>
          <a:xfrm>
            <a:off x="4497868" y="3359907"/>
            <a:ext cx="1597979" cy="0"/>
          </a:xfrm>
          <a:prstGeom prst="line">
            <a:avLst/>
          </a:prstGeom>
          <a:noFill/>
          <a:ln w="15875">
            <a:solidFill>
              <a:srgbClr val="6B7280"/>
            </a:solidFill>
            <a:prstDash val="dash"/>
            <a:headEnd type="triangle"/>
          </a:ln>
        </p:spPr>
        <p:txBody>
          <a:bodyPr/>
          <a:lstStyle/>
          <a:p>
            <a:endParaRPr lang="en-IN"/>
          </a:p>
        </p:txBody>
      </p:sp>
      <p:sp>
        <p:nvSpPr>
          <p:cNvPr id="43" name="Shape 41"/>
          <p:cNvSpPr/>
          <p:nvPr/>
        </p:nvSpPr>
        <p:spPr>
          <a:xfrm>
            <a:off x="5995264" y="3259323"/>
            <a:ext cx="201168" cy="201168"/>
          </a:xfrm>
          <a:prstGeom prst="ellipse">
            <a:avLst/>
          </a:prstGeom>
          <a:solidFill>
            <a:srgbClr val="00A9C0"/>
          </a:solidFill>
          <a:ln w="12700">
            <a:solidFill>
              <a:srgbClr val="00A9C0"/>
            </a:solidFill>
            <a:prstDash val="solid"/>
          </a:ln>
        </p:spPr>
        <p:txBody>
          <a:bodyPr/>
          <a:lstStyle/>
          <a:p>
            <a:endParaRPr lang="en-IN"/>
          </a:p>
        </p:txBody>
      </p:sp>
      <p:sp>
        <p:nvSpPr>
          <p:cNvPr id="44" name="Text 42"/>
          <p:cNvSpPr txBox="1"/>
          <p:nvPr/>
        </p:nvSpPr>
        <p:spPr>
          <a:xfrm>
            <a:off x="5995264" y="3259323"/>
            <a:ext cx="201168" cy="201168"/>
          </a:xfrm>
          <a:prstGeom prst="rect">
            <a:avLst/>
          </a:prstGeom>
          <a:noFill/>
          <a:ln/>
        </p:spPr>
        <p:txBody>
          <a:bodyPr wrap="square" lIns="0" tIns="0" rIns="0" bIns="0" rtlCol="0" anchor="ctr"/>
          <a:lstStyle/>
          <a:p>
            <a:pPr marL="0" indent="0" algn="ctr">
              <a:buNone/>
            </a:pPr>
            <a:r>
              <a:rPr lang="en-US" sz="800" b="1">
                <a:solidFill>
                  <a:srgbClr val="000000"/>
                </a:solidFill>
              </a:rPr>
              <a:t>5</a:t>
            </a:r>
            <a:endParaRPr lang="en-US" sz="800"/>
          </a:p>
        </p:txBody>
      </p:sp>
      <p:sp>
        <p:nvSpPr>
          <p:cNvPr id="45" name="Text 43"/>
          <p:cNvSpPr txBox="1"/>
          <p:nvPr/>
        </p:nvSpPr>
        <p:spPr>
          <a:xfrm>
            <a:off x="4096969" y="3113019"/>
            <a:ext cx="1852574" cy="219456"/>
          </a:xfrm>
          <a:prstGeom prst="rect">
            <a:avLst/>
          </a:prstGeom>
          <a:noFill/>
          <a:ln/>
        </p:spPr>
        <p:txBody>
          <a:bodyPr wrap="square" lIns="0" tIns="0" rIns="0" bIns="0" rtlCol="0" anchor="b"/>
          <a:lstStyle/>
          <a:p>
            <a:pPr marL="0" indent="0" algn="ctr">
              <a:buNone/>
            </a:pPr>
            <a:r>
              <a:rPr lang="en-US" sz="1000">
                <a:solidFill>
                  <a:srgbClr val="4D4D4D"/>
                </a:solidFill>
              </a:rPr>
              <a:t>Hold granted, 10 minutes</a:t>
            </a:r>
            <a:endParaRPr lang="en-US" sz="1000"/>
          </a:p>
        </p:txBody>
      </p:sp>
      <p:sp>
        <p:nvSpPr>
          <p:cNvPr id="46" name="Shape 44"/>
          <p:cNvSpPr/>
          <p:nvPr/>
        </p:nvSpPr>
        <p:spPr>
          <a:xfrm>
            <a:off x="1301910" y="3605737"/>
            <a:ext cx="3195959" cy="0"/>
          </a:xfrm>
          <a:prstGeom prst="line">
            <a:avLst/>
          </a:prstGeom>
          <a:noFill/>
          <a:ln w="15875">
            <a:solidFill>
              <a:srgbClr val="6B7280"/>
            </a:solidFill>
            <a:prstDash val="dash"/>
            <a:headEnd type="triangle"/>
          </a:ln>
        </p:spPr>
        <p:txBody>
          <a:bodyPr/>
          <a:lstStyle/>
          <a:p>
            <a:endParaRPr lang="en-IN"/>
          </a:p>
        </p:txBody>
      </p:sp>
      <p:sp>
        <p:nvSpPr>
          <p:cNvPr id="47" name="Shape 45"/>
          <p:cNvSpPr/>
          <p:nvPr/>
        </p:nvSpPr>
        <p:spPr>
          <a:xfrm>
            <a:off x="4397284" y="3505153"/>
            <a:ext cx="201168" cy="201168"/>
          </a:xfrm>
          <a:prstGeom prst="ellipse">
            <a:avLst/>
          </a:prstGeom>
          <a:solidFill>
            <a:srgbClr val="00A9C0"/>
          </a:solidFill>
          <a:ln w="12700">
            <a:solidFill>
              <a:srgbClr val="00A9C0"/>
            </a:solidFill>
            <a:prstDash val="solid"/>
          </a:ln>
        </p:spPr>
        <p:txBody>
          <a:bodyPr/>
          <a:lstStyle/>
          <a:p>
            <a:endParaRPr lang="en-IN"/>
          </a:p>
        </p:txBody>
      </p:sp>
      <p:sp>
        <p:nvSpPr>
          <p:cNvPr id="48" name="Text 46"/>
          <p:cNvSpPr txBox="1"/>
          <p:nvPr/>
        </p:nvSpPr>
        <p:spPr>
          <a:xfrm>
            <a:off x="4397284" y="3505153"/>
            <a:ext cx="201168" cy="201168"/>
          </a:xfrm>
          <a:prstGeom prst="rect">
            <a:avLst/>
          </a:prstGeom>
          <a:noFill/>
          <a:ln/>
        </p:spPr>
        <p:txBody>
          <a:bodyPr wrap="square" lIns="0" tIns="0" rIns="0" bIns="0" rtlCol="0" anchor="ctr"/>
          <a:lstStyle/>
          <a:p>
            <a:pPr marL="0" indent="0" algn="ctr">
              <a:buNone/>
            </a:pPr>
            <a:r>
              <a:rPr lang="en-US" sz="800" b="1">
                <a:solidFill>
                  <a:srgbClr val="000000"/>
                </a:solidFill>
              </a:rPr>
              <a:t>6</a:t>
            </a:r>
            <a:endParaRPr lang="en-US" sz="800"/>
          </a:p>
        </p:txBody>
      </p:sp>
      <p:sp>
        <p:nvSpPr>
          <p:cNvPr id="49" name="Text 47"/>
          <p:cNvSpPr txBox="1"/>
          <p:nvPr/>
        </p:nvSpPr>
        <p:spPr>
          <a:xfrm>
            <a:off x="1338486" y="3358849"/>
            <a:ext cx="3013079" cy="219456"/>
          </a:xfrm>
          <a:prstGeom prst="rect">
            <a:avLst/>
          </a:prstGeom>
          <a:noFill/>
          <a:ln/>
        </p:spPr>
        <p:txBody>
          <a:bodyPr wrap="square" lIns="0" tIns="0" rIns="0" bIns="0" rtlCol="0" anchor="b"/>
          <a:lstStyle/>
          <a:p>
            <a:pPr marL="0" indent="0" algn="ctr">
              <a:buNone/>
            </a:pPr>
            <a:r>
              <a:rPr lang="en-US" sz="1000">
                <a:solidFill>
                  <a:srgbClr val="4D4D4D"/>
                </a:solidFill>
              </a:rPr>
              <a:t>Your seat is held, pay now</a:t>
            </a:r>
            <a:endParaRPr lang="en-US" sz="1000"/>
          </a:p>
        </p:txBody>
      </p:sp>
      <p:sp>
        <p:nvSpPr>
          <p:cNvPr id="50" name="Shape 48"/>
          <p:cNvSpPr/>
          <p:nvPr/>
        </p:nvSpPr>
        <p:spPr>
          <a:xfrm>
            <a:off x="1301910" y="3851567"/>
            <a:ext cx="6391917" cy="0"/>
          </a:xfrm>
          <a:prstGeom prst="line">
            <a:avLst/>
          </a:prstGeom>
          <a:noFill/>
          <a:ln w="15875">
            <a:solidFill>
              <a:srgbClr val="1A1A1A"/>
            </a:solidFill>
            <a:prstDash val="solid"/>
            <a:tailEnd type="triangle"/>
          </a:ln>
        </p:spPr>
        <p:txBody>
          <a:bodyPr/>
          <a:lstStyle/>
          <a:p>
            <a:endParaRPr lang="en-IN"/>
          </a:p>
        </p:txBody>
      </p:sp>
      <p:sp>
        <p:nvSpPr>
          <p:cNvPr id="51" name="Shape 49"/>
          <p:cNvSpPr/>
          <p:nvPr/>
        </p:nvSpPr>
        <p:spPr>
          <a:xfrm>
            <a:off x="1201326" y="3750983"/>
            <a:ext cx="201168" cy="201168"/>
          </a:xfrm>
          <a:prstGeom prst="ellipse">
            <a:avLst/>
          </a:prstGeom>
          <a:solidFill>
            <a:srgbClr val="00A9C0"/>
          </a:solidFill>
          <a:ln w="12700">
            <a:solidFill>
              <a:srgbClr val="00A9C0"/>
            </a:solidFill>
            <a:prstDash val="solid"/>
          </a:ln>
        </p:spPr>
        <p:txBody>
          <a:bodyPr/>
          <a:lstStyle/>
          <a:p>
            <a:endParaRPr lang="en-IN"/>
          </a:p>
        </p:txBody>
      </p:sp>
      <p:sp>
        <p:nvSpPr>
          <p:cNvPr id="52" name="Text 50"/>
          <p:cNvSpPr txBox="1"/>
          <p:nvPr/>
        </p:nvSpPr>
        <p:spPr>
          <a:xfrm>
            <a:off x="1201326" y="3750983"/>
            <a:ext cx="201168" cy="201168"/>
          </a:xfrm>
          <a:prstGeom prst="rect">
            <a:avLst/>
          </a:prstGeom>
          <a:noFill/>
          <a:ln/>
        </p:spPr>
        <p:txBody>
          <a:bodyPr wrap="square" lIns="0" tIns="0" rIns="0" bIns="0" rtlCol="0" anchor="ctr"/>
          <a:lstStyle/>
          <a:p>
            <a:pPr marL="0" indent="0" algn="ctr">
              <a:buNone/>
            </a:pPr>
            <a:r>
              <a:rPr lang="en-US" sz="800" b="1">
                <a:solidFill>
                  <a:srgbClr val="000000"/>
                </a:solidFill>
              </a:rPr>
              <a:t>7</a:t>
            </a:r>
            <a:endParaRPr lang="en-US" sz="800"/>
          </a:p>
        </p:txBody>
      </p:sp>
      <p:sp>
        <p:nvSpPr>
          <p:cNvPr id="53" name="Text 51"/>
          <p:cNvSpPr txBox="1"/>
          <p:nvPr/>
        </p:nvSpPr>
        <p:spPr>
          <a:xfrm>
            <a:off x="1448214" y="3604679"/>
            <a:ext cx="6209037" cy="219456"/>
          </a:xfrm>
          <a:prstGeom prst="rect">
            <a:avLst/>
          </a:prstGeom>
          <a:noFill/>
          <a:ln/>
        </p:spPr>
        <p:txBody>
          <a:bodyPr wrap="square" lIns="0" tIns="0" rIns="0" bIns="0" rtlCol="0" anchor="b"/>
          <a:lstStyle/>
          <a:p>
            <a:pPr marL="0" indent="0" algn="ctr">
              <a:buNone/>
            </a:pPr>
            <a:r>
              <a:rPr lang="en-US" sz="1000">
                <a:solidFill>
                  <a:srgbClr val="000000"/>
                </a:solidFill>
              </a:rPr>
              <a:t>Pay on hosted page</a:t>
            </a:r>
            <a:endParaRPr lang="en-US" sz="1000"/>
          </a:p>
        </p:txBody>
      </p:sp>
      <p:sp>
        <p:nvSpPr>
          <p:cNvPr id="54" name="Shape 52"/>
          <p:cNvSpPr/>
          <p:nvPr/>
        </p:nvSpPr>
        <p:spPr>
          <a:xfrm>
            <a:off x="4497868" y="4097397"/>
            <a:ext cx="3195959" cy="0"/>
          </a:xfrm>
          <a:prstGeom prst="line">
            <a:avLst/>
          </a:prstGeom>
          <a:noFill/>
          <a:ln w="15875">
            <a:solidFill>
              <a:srgbClr val="6B7280"/>
            </a:solidFill>
            <a:prstDash val="dash"/>
            <a:headEnd type="triangle"/>
          </a:ln>
        </p:spPr>
        <p:txBody>
          <a:bodyPr/>
          <a:lstStyle/>
          <a:p>
            <a:endParaRPr lang="en-IN"/>
          </a:p>
        </p:txBody>
      </p:sp>
      <p:sp>
        <p:nvSpPr>
          <p:cNvPr id="55" name="Shape 53"/>
          <p:cNvSpPr/>
          <p:nvPr/>
        </p:nvSpPr>
        <p:spPr>
          <a:xfrm>
            <a:off x="7593243" y="3996813"/>
            <a:ext cx="201168" cy="201168"/>
          </a:xfrm>
          <a:prstGeom prst="ellipse">
            <a:avLst/>
          </a:prstGeom>
          <a:solidFill>
            <a:srgbClr val="00A9C0"/>
          </a:solidFill>
          <a:ln w="12700">
            <a:solidFill>
              <a:srgbClr val="00A9C0"/>
            </a:solidFill>
            <a:prstDash val="solid"/>
          </a:ln>
        </p:spPr>
        <p:txBody>
          <a:bodyPr/>
          <a:lstStyle/>
          <a:p>
            <a:endParaRPr lang="en-IN"/>
          </a:p>
        </p:txBody>
      </p:sp>
      <p:sp>
        <p:nvSpPr>
          <p:cNvPr id="56" name="Text 54"/>
          <p:cNvSpPr txBox="1"/>
          <p:nvPr/>
        </p:nvSpPr>
        <p:spPr>
          <a:xfrm>
            <a:off x="7593243" y="3996813"/>
            <a:ext cx="201168" cy="201168"/>
          </a:xfrm>
          <a:prstGeom prst="rect">
            <a:avLst/>
          </a:prstGeom>
          <a:noFill/>
          <a:ln/>
        </p:spPr>
        <p:txBody>
          <a:bodyPr wrap="square" lIns="0" tIns="0" rIns="0" bIns="0" rtlCol="0" anchor="ctr"/>
          <a:lstStyle/>
          <a:p>
            <a:pPr marL="0" indent="0" algn="ctr">
              <a:buNone/>
            </a:pPr>
            <a:r>
              <a:rPr lang="en-US" sz="800" b="1">
                <a:solidFill>
                  <a:srgbClr val="000000"/>
                </a:solidFill>
              </a:rPr>
              <a:t>8</a:t>
            </a:r>
            <a:endParaRPr lang="en-US" sz="800"/>
          </a:p>
        </p:txBody>
      </p:sp>
      <p:sp>
        <p:nvSpPr>
          <p:cNvPr id="57" name="Text 55"/>
          <p:cNvSpPr txBox="1"/>
          <p:nvPr/>
        </p:nvSpPr>
        <p:spPr>
          <a:xfrm>
            <a:off x="4534444" y="3850509"/>
            <a:ext cx="3013079" cy="219456"/>
          </a:xfrm>
          <a:prstGeom prst="rect">
            <a:avLst/>
          </a:prstGeom>
          <a:noFill/>
          <a:ln/>
        </p:spPr>
        <p:txBody>
          <a:bodyPr wrap="square" lIns="0" tIns="0" rIns="0" bIns="0" rtlCol="0" anchor="b"/>
          <a:lstStyle/>
          <a:p>
            <a:pPr marL="0" indent="0" algn="ctr">
              <a:buNone/>
            </a:pPr>
            <a:r>
              <a:rPr lang="en-US" sz="1000">
                <a:solidFill>
                  <a:srgbClr val="4D4D4D"/>
                </a:solidFill>
              </a:rPr>
              <a:t>Signed payment webhook</a:t>
            </a:r>
            <a:endParaRPr lang="en-US" sz="1000"/>
          </a:p>
        </p:txBody>
      </p:sp>
      <p:sp>
        <p:nvSpPr>
          <p:cNvPr id="58" name="Shape 56"/>
          <p:cNvSpPr/>
          <p:nvPr/>
        </p:nvSpPr>
        <p:spPr>
          <a:xfrm>
            <a:off x="4497868" y="4343226"/>
            <a:ext cx="4793938" cy="0"/>
          </a:xfrm>
          <a:prstGeom prst="line">
            <a:avLst/>
          </a:prstGeom>
          <a:noFill/>
          <a:ln w="15875">
            <a:solidFill>
              <a:srgbClr val="1A1A1A"/>
            </a:solidFill>
            <a:prstDash val="solid"/>
            <a:tailEnd type="triangle"/>
          </a:ln>
        </p:spPr>
        <p:txBody>
          <a:bodyPr/>
          <a:lstStyle/>
          <a:p>
            <a:endParaRPr lang="en-IN"/>
          </a:p>
        </p:txBody>
      </p:sp>
      <p:sp>
        <p:nvSpPr>
          <p:cNvPr id="59" name="Shape 57"/>
          <p:cNvSpPr/>
          <p:nvPr/>
        </p:nvSpPr>
        <p:spPr>
          <a:xfrm>
            <a:off x="4397284" y="4242642"/>
            <a:ext cx="201168" cy="201168"/>
          </a:xfrm>
          <a:prstGeom prst="ellipse">
            <a:avLst/>
          </a:prstGeom>
          <a:solidFill>
            <a:srgbClr val="00A9C0"/>
          </a:solidFill>
          <a:ln w="12700">
            <a:solidFill>
              <a:srgbClr val="00A9C0"/>
            </a:solidFill>
            <a:prstDash val="solid"/>
          </a:ln>
        </p:spPr>
        <p:txBody>
          <a:bodyPr/>
          <a:lstStyle/>
          <a:p>
            <a:endParaRPr lang="en-IN"/>
          </a:p>
        </p:txBody>
      </p:sp>
      <p:sp>
        <p:nvSpPr>
          <p:cNvPr id="60" name="Text 58"/>
          <p:cNvSpPr txBox="1"/>
          <p:nvPr/>
        </p:nvSpPr>
        <p:spPr>
          <a:xfrm>
            <a:off x="4397284" y="4242642"/>
            <a:ext cx="201168" cy="201168"/>
          </a:xfrm>
          <a:prstGeom prst="rect">
            <a:avLst/>
          </a:prstGeom>
          <a:noFill/>
          <a:ln/>
        </p:spPr>
        <p:txBody>
          <a:bodyPr wrap="square" lIns="0" tIns="0" rIns="0" bIns="0" rtlCol="0" anchor="ctr"/>
          <a:lstStyle/>
          <a:p>
            <a:pPr marL="0" indent="0" algn="ctr">
              <a:buNone/>
            </a:pPr>
            <a:r>
              <a:rPr lang="en-US" sz="800" b="1">
                <a:solidFill>
                  <a:srgbClr val="000000"/>
                </a:solidFill>
              </a:rPr>
              <a:t>9</a:t>
            </a:r>
            <a:endParaRPr lang="en-US" sz="800"/>
          </a:p>
        </p:txBody>
      </p:sp>
      <p:sp>
        <p:nvSpPr>
          <p:cNvPr id="61" name="Text 59"/>
          <p:cNvSpPr txBox="1"/>
          <p:nvPr/>
        </p:nvSpPr>
        <p:spPr>
          <a:xfrm>
            <a:off x="4644172" y="4096338"/>
            <a:ext cx="4611058" cy="219456"/>
          </a:xfrm>
          <a:prstGeom prst="rect">
            <a:avLst/>
          </a:prstGeom>
          <a:noFill/>
          <a:ln/>
        </p:spPr>
        <p:txBody>
          <a:bodyPr wrap="square" lIns="0" tIns="0" rIns="0" bIns="0" rtlCol="0" anchor="b"/>
          <a:lstStyle/>
          <a:p>
            <a:pPr marL="0" indent="0" algn="ctr">
              <a:buNone/>
            </a:pPr>
            <a:r>
              <a:rPr lang="en-US" sz="1000">
                <a:solidFill>
                  <a:srgbClr val="000000"/>
                </a:solidFill>
              </a:rPr>
              <a:t>Create registration (idempotent, via queue)</a:t>
            </a:r>
            <a:endParaRPr lang="en-US" sz="1000"/>
          </a:p>
        </p:txBody>
      </p:sp>
      <p:sp>
        <p:nvSpPr>
          <p:cNvPr id="62" name="Shape 60"/>
          <p:cNvSpPr/>
          <p:nvPr/>
        </p:nvSpPr>
        <p:spPr>
          <a:xfrm>
            <a:off x="9291806" y="4589056"/>
            <a:ext cx="1597979" cy="0"/>
          </a:xfrm>
          <a:prstGeom prst="line">
            <a:avLst/>
          </a:prstGeom>
          <a:noFill/>
          <a:ln w="15875">
            <a:solidFill>
              <a:srgbClr val="1A1A1A"/>
            </a:solidFill>
            <a:prstDash val="solid"/>
            <a:tailEnd type="triangle"/>
          </a:ln>
        </p:spPr>
        <p:txBody>
          <a:bodyPr/>
          <a:lstStyle/>
          <a:p>
            <a:endParaRPr lang="en-IN"/>
          </a:p>
        </p:txBody>
      </p:sp>
      <p:sp>
        <p:nvSpPr>
          <p:cNvPr id="63" name="Shape 61"/>
          <p:cNvSpPr/>
          <p:nvPr/>
        </p:nvSpPr>
        <p:spPr>
          <a:xfrm>
            <a:off x="9191222" y="4488472"/>
            <a:ext cx="201168" cy="201168"/>
          </a:xfrm>
          <a:prstGeom prst="ellipse">
            <a:avLst/>
          </a:prstGeom>
          <a:solidFill>
            <a:srgbClr val="00A9C0"/>
          </a:solidFill>
          <a:ln w="12700">
            <a:solidFill>
              <a:srgbClr val="00A9C0"/>
            </a:solidFill>
            <a:prstDash val="solid"/>
          </a:ln>
        </p:spPr>
        <p:txBody>
          <a:bodyPr/>
          <a:lstStyle/>
          <a:p>
            <a:endParaRPr lang="en-IN"/>
          </a:p>
        </p:txBody>
      </p:sp>
      <p:sp>
        <p:nvSpPr>
          <p:cNvPr id="64" name="Text 62"/>
          <p:cNvSpPr txBox="1"/>
          <p:nvPr/>
        </p:nvSpPr>
        <p:spPr>
          <a:xfrm>
            <a:off x="9191222" y="4488472"/>
            <a:ext cx="201168" cy="201168"/>
          </a:xfrm>
          <a:prstGeom prst="rect">
            <a:avLst/>
          </a:prstGeom>
          <a:noFill/>
          <a:ln/>
        </p:spPr>
        <p:txBody>
          <a:bodyPr wrap="square" lIns="0" tIns="0" rIns="0" bIns="0" rtlCol="0" anchor="ctr"/>
          <a:lstStyle/>
          <a:p>
            <a:pPr marL="0" indent="0" algn="ctr">
              <a:buNone/>
            </a:pPr>
            <a:r>
              <a:rPr lang="en-US" sz="800" b="1">
                <a:solidFill>
                  <a:srgbClr val="000000"/>
                </a:solidFill>
              </a:rPr>
              <a:t>10</a:t>
            </a:r>
            <a:endParaRPr lang="en-US" sz="800"/>
          </a:p>
        </p:txBody>
      </p:sp>
      <p:sp>
        <p:nvSpPr>
          <p:cNvPr id="65" name="Text 63"/>
          <p:cNvSpPr txBox="1"/>
          <p:nvPr/>
        </p:nvSpPr>
        <p:spPr>
          <a:xfrm>
            <a:off x="9438110" y="4342168"/>
            <a:ext cx="1446581" cy="219456"/>
          </a:xfrm>
          <a:prstGeom prst="rect">
            <a:avLst/>
          </a:prstGeom>
          <a:noFill/>
          <a:ln/>
        </p:spPr>
        <p:txBody>
          <a:bodyPr wrap="square" lIns="0" tIns="0" rIns="0" bIns="0" rtlCol="0" anchor="b"/>
          <a:lstStyle/>
          <a:p>
            <a:pPr marL="0" indent="0" algn="ctr">
              <a:buNone/>
            </a:pPr>
            <a:r>
              <a:rPr lang="en-US" sz="1000">
                <a:solidFill>
                  <a:srgbClr val="000000"/>
                </a:solidFill>
              </a:rPr>
              <a:t>Registration event</a:t>
            </a:r>
            <a:endParaRPr lang="en-US" sz="1000"/>
          </a:p>
        </p:txBody>
      </p:sp>
      <p:sp>
        <p:nvSpPr>
          <p:cNvPr id="66" name="Shape 64"/>
          <p:cNvSpPr/>
          <p:nvPr/>
        </p:nvSpPr>
        <p:spPr>
          <a:xfrm>
            <a:off x="1301910" y="4834886"/>
            <a:ext cx="9587876" cy="0"/>
          </a:xfrm>
          <a:prstGeom prst="line">
            <a:avLst/>
          </a:prstGeom>
          <a:noFill/>
          <a:ln w="15875">
            <a:solidFill>
              <a:srgbClr val="6B7280"/>
            </a:solidFill>
            <a:prstDash val="dash"/>
            <a:headEnd type="triangle"/>
          </a:ln>
        </p:spPr>
        <p:txBody>
          <a:bodyPr/>
          <a:lstStyle/>
          <a:p>
            <a:endParaRPr lang="en-IN"/>
          </a:p>
        </p:txBody>
      </p:sp>
      <p:sp>
        <p:nvSpPr>
          <p:cNvPr id="67" name="Shape 65"/>
          <p:cNvSpPr/>
          <p:nvPr/>
        </p:nvSpPr>
        <p:spPr>
          <a:xfrm>
            <a:off x="10789202" y="4734302"/>
            <a:ext cx="201168" cy="201168"/>
          </a:xfrm>
          <a:prstGeom prst="ellipse">
            <a:avLst/>
          </a:prstGeom>
          <a:solidFill>
            <a:srgbClr val="00A9C0"/>
          </a:solidFill>
          <a:ln w="12700">
            <a:solidFill>
              <a:srgbClr val="00A9C0"/>
            </a:solidFill>
            <a:prstDash val="solid"/>
          </a:ln>
        </p:spPr>
        <p:txBody>
          <a:bodyPr/>
          <a:lstStyle/>
          <a:p>
            <a:endParaRPr lang="en-IN"/>
          </a:p>
        </p:txBody>
      </p:sp>
      <p:sp>
        <p:nvSpPr>
          <p:cNvPr id="68" name="Text 66"/>
          <p:cNvSpPr txBox="1"/>
          <p:nvPr/>
        </p:nvSpPr>
        <p:spPr>
          <a:xfrm>
            <a:off x="10789202" y="4734302"/>
            <a:ext cx="201168" cy="201168"/>
          </a:xfrm>
          <a:prstGeom prst="rect">
            <a:avLst/>
          </a:prstGeom>
          <a:noFill/>
          <a:ln/>
        </p:spPr>
        <p:txBody>
          <a:bodyPr wrap="square" lIns="0" tIns="0" rIns="0" bIns="0" rtlCol="0" anchor="ctr"/>
          <a:lstStyle/>
          <a:p>
            <a:pPr marL="0" indent="0" algn="ctr">
              <a:buNone/>
            </a:pPr>
            <a:r>
              <a:rPr lang="en-US" sz="800" b="1">
                <a:solidFill>
                  <a:srgbClr val="000000"/>
                </a:solidFill>
              </a:rPr>
              <a:t>11</a:t>
            </a:r>
            <a:endParaRPr lang="en-US" sz="800"/>
          </a:p>
        </p:txBody>
      </p:sp>
      <p:sp>
        <p:nvSpPr>
          <p:cNvPr id="69" name="Text 67"/>
          <p:cNvSpPr txBox="1"/>
          <p:nvPr/>
        </p:nvSpPr>
        <p:spPr>
          <a:xfrm>
            <a:off x="1338486" y="4587998"/>
            <a:ext cx="9404996" cy="219456"/>
          </a:xfrm>
          <a:prstGeom prst="rect">
            <a:avLst/>
          </a:prstGeom>
          <a:noFill/>
          <a:ln/>
        </p:spPr>
        <p:txBody>
          <a:bodyPr wrap="square" lIns="0" tIns="0" rIns="0" bIns="0" rtlCol="0" anchor="b"/>
          <a:lstStyle/>
          <a:p>
            <a:pPr marL="0" indent="0" algn="ctr">
              <a:buNone/>
            </a:pPr>
            <a:r>
              <a:rPr lang="en-US" sz="1000">
                <a:solidFill>
                  <a:srgbClr val="4D4D4D"/>
                </a:solidFill>
              </a:rPr>
              <a:t>Confirmation, QR code, calendar invite</a:t>
            </a:r>
            <a:endParaRPr lang="en-US" sz="1000"/>
          </a:p>
        </p:txBody>
      </p:sp>
      <p:sp>
        <p:nvSpPr>
          <p:cNvPr id="70" name="Shape 68"/>
          <p:cNvSpPr/>
          <p:nvPr/>
        </p:nvSpPr>
        <p:spPr>
          <a:xfrm>
            <a:off x="550859" y="4955044"/>
            <a:ext cx="11089976" cy="0"/>
          </a:xfrm>
          <a:prstGeom prst="line">
            <a:avLst/>
          </a:prstGeom>
          <a:noFill/>
          <a:ln w="12700">
            <a:solidFill>
              <a:srgbClr val="9A9AA2"/>
            </a:solidFill>
            <a:prstDash val="dash"/>
          </a:ln>
        </p:spPr>
        <p:txBody>
          <a:bodyPr/>
          <a:lstStyle/>
          <a:p>
            <a:endParaRPr lang="en-IN"/>
          </a:p>
        </p:txBody>
      </p:sp>
      <p:sp>
        <p:nvSpPr>
          <p:cNvPr id="71" name="Shape 69"/>
          <p:cNvSpPr/>
          <p:nvPr/>
        </p:nvSpPr>
        <p:spPr>
          <a:xfrm>
            <a:off x="605723" y="4919214"/>
            <a:ext cx="1280160" cy="219456"/>
          </a:xfrm>
          <a:prstGeom prst="roundRect">
            <a:avLst>
              <a:gd name="adj" fmla="val 20833"/>
            </a:avLst>
          </a:prstGeom>
          <a:solidFill>
            <a:srgbClr val="FFF6CC"/>
          </a:solidFill>
          <a:ln w="12700">
            <a:solidFill>
              <a:srgbClr val="D9B200"/>
            </a:solidFill>
            <a:prstDash val="solid"/>
          </a:ln>
        </p:spPr>
        <p:txBody>
          <a:bodyPr/>
          <a:lstStyle/>
          <a:p>
            <a:endParaRPr lang="en-IN"/>
          </a:p>
        </p:txBody>
      </p:sp>
      <p:sp>
        <p:nvSpPr>
          <p:cNvPr id="72" name="Text 70"/>
          <p:cNvSpPr txBox="1"/>
          <p:nvPr/>
        </p:nvSpPr>
        <p:spPr>
          <a:xfrm>
            <a:off x="605723" y="4919214"/>
            <a:ext cx="1280160" cy="219456"/>
          </a:xfrm>
          <a:prstGeom prst="rect">
            <a:avLst/>
          </a:prstGeom>
          <a:noFill/>
          <a:ln/>
        </p:spPr>
        <p:txBody>
          <a:bodyPr wrap="square" lIns="0" tIns="0" rIns="0" bIns="0" rtlCol="0" anchor="ctr"/>
          <a:lstStyle/>
          <a:p>
            <a:pPr marL="0" indent="0" algn="ctr">
              <a:buNone/>
            </a:pPr>
            <a:r>
              <a:rPr lang="en-US" sz="950" b="1">
                <a:solidFill>
                  <a:srgbClr val="6B5600"/>
                </a:solidFill>
              </a:rPr>
              <a:t>If sold out</a:t>
            </a:r>
            <a:endParaRPr lang="en-US" sz="950"/>
          </a:p>
        </p:txBody>
      </p:sp>
      <p:sp>
        <p:nvSpPr>
          <p:cNvPr id="73" name="Shape 71"/>
          <p:cNvSpPr/>
          <p:nvPr/>
        </p:nvSpPr>
        <p:spPr>
          <a:xfrm>
            <a:off x="4497868" y="5265088"/>
            <a:ext cx="1597979" cy="0"/>
          </a:xfrm>
          <a:prstGeom prst="line">
            <a:avLst/>
          </a:prstGeom>
          <a:noFill/>
          <a:ln w="15875">
            <a:solidFill>
              <a:srgbClr val="6B7280"/>
            </a:solidFill>
            <a:prstDash val="dash"/>
            <a:headEnd type="triangle"/>
          </a:ln>
        </p:spPr>
        <p:txBody>
          <a:bodyPr/>
          <a:lstStyle/>
          <a:p>
            <a:endParaRPr lang="en-IN"/>
          </a:p>
        </p:txBody>
      </p:sp>
      <p:sp>
        <p:nvSpPr>
          <p:cNvPr id="74" name="Shape 72"/>
          <p:cNvSpPr/>
          <p:nvPr/>
        </p:nvSpPr>
        <p:spPr>
          <a:xfrm>
            <a:off x="5995264" y="5164504"/>
            <a:ext cx="201168" cy="201168"/>
          </a:xfrm>
          <a:prstGeom prst="ellipse">
            <a:avLst/>
          </a:prstGeom>
          <a:solidFill>
            <a:srgbClr val="00A9C0"/>
          </a:solidFill>
          <a:ln w="12700">
            <a:solidFill>
              <a:srgbClr val="00A9C0"/>
            </a:solidFill>
            <a:prstDash val="solid"/>
          </a:ln>
        </p:spPr>
        <p:txBody>
          <a:bodyPr/>
          <a:lstStyle/>
          <a:p>
            <a:endParaRPr lang="en-IN"/>
          </a:p>
        </p:txBody>
      </p:sp>
      <p:sp>
        <p:nvSpPr>
          <p:cNvPr id="75" name="Text 73"/>
          <p:cNvSpPr txBox="1"/>
          <p:nvPr/>
        </p:nvSpPr>
        <p:spPr>
          <a:xfrm>
            <a:off x="5995264" y="5164504"/>
            <a:ext cx="201168" cy="201168"/>
          </a:xfrm>
          <a:prstGeom prst="rect">
            <a:avLst/>
          </a:prstGeom>
          <a:noFill/>
          <a:ln/>
        </p:spPr>
        <p:txBody>
          <a:bodyPr wrap="square" lIns="0" tIns="0" rIns="0" bIns="0" rtlCol="0" anchor="ctr"/>
          <a:lstStyle/>
          <a:p>
            <a:pPr marL="0" indent="0" algn="ctr">
              <a:buNone/>
            </a:pPr>
            <a:r>
              <a:rPr lang="en-US" sz="800" b="1">
                <a:solidFill>
                  <a:srgbClr val="000000"/>
                </a:solidFill>
              </a:rPr>
              <a:t>12</a:t>
            </a:r>
            <a:endParaRPr lang="en-US" sz="800"/>
          </a:p>
        </p:txBody>
      </p:sp>
      <p:sp>
        <p:nvSpPr>
          <p:cNvPr id="76" name="Text 74"/>
          <p:cNvSpPr txBox="1"/>
          <p:nvPr/>
        </p:nvSpPr>
        <p:spPr>
          <a:xfrm>
            <a:off x="4534444" y="5018200"/>
            <a:ext cx="1415099" cy="219456"/>
          </a:xfrm>
          <a:prstGeom prst="rect">
            <a:avLst/>
          </a:prstGeom>
          <a:noFill/>
          <a:ln/>
        </p:spPr>
        <p:txBody>
          <a:bodyPr wrap="square" lIns="0" tIns="0" rIns="0" bIns="0" rtlCol="0" anchor="b"/>
          <a:lstStyle/>
          <a:p>
            <a:pPr marL="0" indent="0" algn="ctr">
              <a:buNone/>
            </a:pPr>
            <a:r>
              <a:rPr lang="en-US" sz="1000">
                <a:solidFill>
                  <a:srgbClr val="4D4D4D"/>
                </a:solidFill>
              </a:rPr>
              <a:t>No seats left</a:t>
            </a:r>
            <a:endParaRPr lang="en-US" sz="1000"/>
          </a:p>
        </p:txBody>
      </p:sp>
      <p:sp>
        <p:nvSpPr>
          <p:cNvPr id="77" name="Shape 75"/>
          <p:cNvSpPr/>
          <p:nvPr/>
        </p:nvSpPr>
        <p:spPr>
          <a:xfrm>
            <a:off x="1301910" y="5510918"/>
            <a:ext cx="3195959" cy="0"/>
          </a:xfrm>
          <a:prstGeom prst="line">
            <a:avLst/>
          </a:prstGeom>
          <a:noFill/>
          <a:ln w="15875">
            <a:solidFill>
              <a:srgbClr val="6B7280"/>
            </a:solidFill>
            <a:prstDash val="dash"/>
            <a:headEnd type="triangle"/>
          </a:ln>
        </p:spPr>
        <p:txBody>
          <a:bodyPr/>
          <a:lstStyle/>
          <a:p>
            <a:endParaRPr lang="en-IN"/>
          </a:p>
        </p:txBody>
      </p:sp>
      <p:sp>
        <p:nvSpPr>
          <p:cNvPr id="78" name="Shape 76"/>
          <p:cNvSpPr/>
          <p:nvPr/>
        </p:nvSpPr>
        <p:spPr>
          <a:xfrm>
            <a:off x="4397284" y="5410334"/>
            <a:ext cx="201168" cy="201168"/>
          </a:xfrm>
          <a:prstGeom prst="ellipse">
            <a:avLst/>
          </a:prstGeom>
          <a:solidFill>
            <a:srgbClr val="00A9C0"/>
          </a:solidFill>
          <a:ln w="12700">
            <a:solidFill>
              <a:srgbClr val="00A9C0"/>
            </a:solidFill>
            <a:prstDash val="solid"/>
          </a:ln>
        </p:spPr>
        <p:txBody>
          <a:bodyPr/>
          <a:lstStyle/>
          <a:p>
            <a:endParaRPr lang="en-IN"/>
          </a:p>
        </p:txBody>
      </p:sp>
      <p:sp>
        <p:nvSpPr>
          <p:cNvPr id="79" name="Text 77"/>
          <p:cNvSpPr txBox="1"/>
          <p:nvPr/>
        </p:nvSpPr>
        <p:spPr>
          <a:xfrm>
            <a:off x="4397284" y="5410334"/>
            <a:ext cx="201168" cy="201168"/>
          </a:xfrm>
          <a:prstGeom prst="rect">
            <a:avLst/>
          </a:prstGeom>
          <a:noFill/>
          <a:ln/>
        </p:spPr>
        <p:txBody>
          <a:bodyPr wrap="square" lIns="0" tIns="0" rIns="0" bIns="0" rtlCol="0" anchor="ctr"/>
          <a:lstStyle/>
          <a:p>
            <a:pPr marL="0" indent="0" algn="ctr">
              <a:buNone/>
            </a:pPr>
            <a:r>
              <a:rPr lang="en-US" sz="800" b="1">
                <a:solidFill>
                  <a:srgbClr val="000000"/>
                </a:solidFill>
              </a:rPr>
              <a:t>13</a:t>
            </a:r>
            <a:endParaRPr lang="en-US" sz="800"/>
          </a:p>
        </p:txBody>
      </p:sp>
      <p:sp>
        <p:nvSpPr>
          <p:cNvPr id="80" name="Text 78"/>
          <p:cNvSpPr txBox="1"/>
          <p:nvPr/>
        </p:nvSpPr>
        <p:spPr>
          <a:xfrm>
            <a:off x="1281009" y="5264030"/>
            <a:ext cx="3070555" cy="219456"/>
          </a:xfrm>
          <a:prstGeom prst="rect">
            <a:avLst/>
          </a:prstGeom>
          <a:noFill/>
          <a:ln/>
        </p:spPr>
        <p:txBody>
          <a:bodyPr wrap="square" lIns="0" tIns="0" rIns="0" bIns="0" rtlCol="0" anchor="b"/>
          <a:lstStyle/>
          <a:p>
            <a:pPr marL="0" indent="0" algn="ctr">
              <a:buNone/>
            </a:pPr>
            <a:r>
              <a:rPr lang="en-US" sz="1000">
                <a:solidFill>
                  <a:srgbClr val="4D4D4D"/>
                </a:solidFill>
              </a:rPr>
              <a:t>Join waitlist or get notified of new dates</a:t>
            </a:r>
            <a:endParaRPr lang="en-US" sz="1000"/>
          </a:p>
        </p:txBody>
      </p:sp>
      <p:sp>
        <p:nvSpPr>
          <p:cNvPr id="81" name="Shape 79"/>
          <p:cNvSpPr/>
          <p:nvPr/>
        </p:nvSpPr>
        <p:spPr>
          <a:xfrm>
            <a:off x="4497868" y="5756748"/>
            <a:ext cx="4793938" cy="0"/>
          </a:xfrm>
          <a:prstGeom prst="line">
            <a:avLst/>
          </a:prstGeom>
          <a:noFill/>
          <a:ln w="15875">
            <a:solidFill>
              <a:srgbClr val="1A1A1A"/>
            </a:solidFill>
            <a:prstDash val="solid"/>
            <a:tailEnd type="triangle"/>
          </a:ln>
        </p:spPr>
        <p:txBody>
          <a:bodyPr/>
          <a:lstStyle/>
          <a:p>
            <a:endParaRPr lang="en-IN"/>
          </a:p>
        </p:txBody>
      </p:sp>
      <p:sp>
        <p:nvSpPr>
          <p:cNvPr id="82" name="Shape 80"/>
          <p:cNvSpPr/>
          <p:nvPr/>
        </p:nvSpPr>
        <p:spPr>
          <a:xfrm>
            <a:off x="4397284" y="5656164"/>
            <a:ext cx="201168" cy="201168"/>
          </a:xfrm>
          <a:prstGeom prst="ellipse">
            <a:avLst/>
          </a:prstGeom>
          <a:solidFill>
            <a:srgbClr val="00A9C0"/>
          </a:solidFill>
          <a:ln w="12700">
            <a:solidFill>
              <a:srgbClr val="00A9C0"/>
            </a:solidFill>
            <a:prstDash val="solid"/>
          </a:ln>
        </p:spPr>
        <p:txBody>
          <a:bodyPr/>
          <a:lstStyle/>
          <a:p>
            <a:endParaRPr lang="en-IN"/>
          </a:p>
        </p:txBody>
      </p:sp>
      <p:sp>
        <p:nvSpPr>
          <p:cNvPr id="83" name="Text 81"/>
          <p:cNvSpPr txBox="1"/>
          <p:nvPr/>
        </p:nvSpPr>
        <p:spPr>
          <a:xfrm>
            <a:off x="4397284" y="5656164"/>
            <a:ext cx="201168" cy="201168"/>
          </a:xfrm>
          <a:prstGeom prst="rect">
            <a:avLst/>
          </a:prstGeom>
          <a:noFill/>
          <a:ln/>
        </p:spPr>
        <p:txBody>
          <a:bodyPr wrap="square" lIns="0" tIns="0" rIns="0" bIns="0" rtlCol="0" anchor="ctr"/>
          <a:lstStyle/>
          <a:p>
            <a:pPr marL="0" indent="0" algn="ctr">
              <a:buNone/>
            </a:pPr>
            <a:r>
              <a:rPr lang="en-US" sz="800" b="1">
                <a:solidFill>
                  <a:srgbClr val="000000"/>
                </a:solidFill>
              </a:rPr>
              <a:t>14</a:t>
            </a:r>
            <a:endParaRPr lang="en-US" sz="800"/>
          </a:p>
        </p:txBody>
      </p:sp>
      <p:sp>
        <p:nvSpPr>
          <p:cNvPr id="84" name="Text 82"/>
          <p:cNvSpPr txBox="1"/>
          <p:nvPr/>
        </p:nvSpPr>
        <p:spPr>
          <a:xfrm>
            <a:off x="4644172" y="5509860"/>
            <a:ext cx="4611058" cy="219456"/>
          </a:xfrm>
          <a:prstGeom prst="rect">
            <a:avLst/>
          </a:prstGeom>
          <a:noFill/>
          <a:ln/>
        </p:spPr>
        <p:txBody>
          <a:bodyPr wrap="square" lIns="0" tIns="0" rIns="0" bIns="0" rtlCol="0" anchor="b"/>
          <a:lstStyle/>
          <a:p>
            <a:pPr marL="0" indent="0" algn="ctr">
              <a:buNone/>
            </a:pPr>
            <a:r>
              <a:rPr lang="en-US" sz="1000">
                <a:solidFill>
                  <a:srgbClr val="000000"/>
                </a:solidFill>
              </a:rPr>
              <a:t>Waitlist or interest record</a:t>
            </a:r>
            <a:endParaRPr lang="en-US" sz="1000"/>
          </a:p>
        </p:txBody>
      </p:sp>
      <p:sp>
        <p:nvSpPr>
          <p:cNvPr id="85" name="Shape 83"/>
          <p:cNvSpPr/>
          <p:nvPr/>
        </p:nvSpPr>
        <p:spPr>
          <a:xfrm>
            <a:off x="550859" y="3049863"/>
            <a:ext cx="11089976" cy="2833487"/>
          </a:xfrm>
          <a:prstGeom prst="rect">
            <a:avLst/>
          </a:prstGeom>
          <a:ln w="12700">
            <a:solidFill>
              <a:srgbClr val="9A9AA2"/>
            </a:solidFill>
            <a:prstDash val="dash"/>
          </a:ln>
        </p:spPr>
        <p:txBody>
          <a:bodyPr/>
          <a:lstStyle/>
          <a:p>
            <a:endParaRPr lang="en-IN"/>
          </a:p>
        </p:txBody>
      </p:sp>
      <p:sp>
        <p:nvSpPr>
          <p:cNvPr id="86" name="Shape 84"/>
          <p:cNvSpPr/>
          <p:nvPr/>
        </p:nvSpPr>
        <p:spPr>
          <a:xfrm>
            <a:off x="3778778" y="5963245"/>
            <a:ext cx="3036161" cy="172081"/>
          </a:xfrm>
          <a:prstGeom prst="rect">
            <a:avLst/>
          </a:prstGeom>
          <a:solidFill>
            <a:srgbClr val="FED700"/>
          </a:solidFill>
          <a:ln w="12700">
            <a:solidFill>
              <a:srgbClr val="FED700"/>
            </a:solidFill>
            <a:prstDash val="solid"/>
          </a:ln>
        </p:spPr>
        <p:txBody>
          <a:bodyPr/>
          <a:lstStyle/>
          <a:p>
            <a:endParaRPr lang="en-IN"/>
          </a:p>
        </p:txBody>
      </p:sp>
      <p:sp>
        <p:nvSpPr>
          <p:cNvPr id="87" name="Text 85"/>
          <p:cNvSpPr txBox="1"/>
          <p:nvPr/>
        </p:nvSpPr>
        <p:spPr>
          <a:xfrm>
            <a:off x="3851930" y="5963245"/>
            <a:ext cx="2889857" cy="172081"/>
          </a:xfrm>
          <a:prstGeom prst="rect">
            <a:avLst/>
          </a:prstGeom>
          <a:noFill/>
          <a:ln/>
        </p:spPr>
        <p:txBody>
          <a:bodyPr wrap="square" lIns="0" tIns="0" rIns="0" bIns="0" rtlCol="0" anchor="ctr"/>
          <a:lstStyle/>
          <a:p>
            <a:pPr marL="0" indent="0" algn="ctr">
              <a:buNone/>
            </a:pPr>
            <a:r>
              <a:rPr lang="en-US" sz="1000" b="1">
                <a:solidFill>
                  <a:srgbClr val="000000"/>
                </a:solidFill>
              </a:rPr>
              <a:t>Unpaid holds expire and return to the pool</a:t>
            </a:r>
            <a:endParaRPr lang="en-US" sz="1000"/>
          </a:p>
        </p:txBody>
      </p:sp>
      <p:sp>
        <p:nvSpPr>
          <p:cNvPr id="88" name="Slide Number Placeholder 0"/>
          <p:cNvSpPr>
            <a:spLocks noGrp="1"/>
          </p:cNvSpPr>
          <p:nvPr>
            <p:ph type="sldNum" sz="quarter" idx="4294967295"/>
          </p:nvPr>
        </p:nvSpPr>
        <p:spPr>
          <a:xfrm>
            <a:off x="11292840" y="6336792"/>
            <a:ext cx="457200" cy="22860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tx1"/>
                </a:solidFill>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02920" y="658368"/>
            <a:ext cx="11185855" cy="822960"/>
          </a:xfrm>
          <a:prstGeom prst="rect">
            <a:avLst/>
          </a:prstGeom>
          <a:noFill/>
          <a:ln/>
        </p:spPr>
        <p:txBody>
          <a:bodyPr wrap="square" lIns="0" tIns="0" rIns="0" bIns="0" rtlCol="0" anchor="t"/>
          <a:lstStyle/>
          <a:p>
            <a:pPr marL="0" indent="0" algn="l">
              <a:buNone/>
            </a:pPr>
            <a:r>
              <a:rPr lang="en-US" sz="3200" b="1">
                <a:solidFill>
                  <a:schemeClr val="tx1"/>
                </a:solidFill>
              </a:rPr>
              <a:t>Payments and data security by design</a:t>
            </a:r>
            <a:endParaRPr lang="en-US" sz="3200"/>
          </a:p>
        </p:txBody>
      </p:sp>
      <p:sp>
        <p:nvSpPr>
          <p:cNvPr id="3" name="Text 1"/>
          <p:cNvSpPr txBox="1"/>
          <p:nvPr/>
        </p:nvSpPr>
        <p:spPr>
          <a:xfrm>
            <a:off x="502920" y="1463040"/>
            <a:ext cx="5303520" cy="365760"/>
          </a:xfrm>
          <a:prstGeom prst="rect">
            <a:avLst/>
          </a:prstGeom>
          <a:noFill/>
          <a:ln/>
        </p:spPr>
        <p:txBody>
          <a:bodyPr wrap="square" lIns="0" tIns="0" rIns="0" bIns="0" rtlCol="0" anchor="t"/>
          <a:lstStyle/>
          <a:p>
            <a:pPr marL="0" indent="0">
              <a:buNone/>
            </a:pPr>
            <a:r>
              <a:rPr lang="en-US" sz="1700" b="1">
                <a:solidFill>
                  <a:schemeClr val="tx1"/>
                </a:solidFill>
              </a:rPr>
              <a:t>Card data never enters our systems</a:t>
            </a:r>
            <a:endParaRPr lang="en-US" sz="1700"/>
          </a:p>
        </p:txBody>
      </p:sp>
      <p:sp>
        <p:nvSpPr>
          <p:cNvPr id="4" name="Shape 2"/>
          <p:cNvSpPr/>
          <p:nvPr/>
        </p:nvSpPr>
        <p:spPr>
          <a:xfrm>
            <a:off x="502920" y="1965960"/>
            <a:ext cx="3383280" cy="2011680"/>
          </a:xfrm>
          <a:prstGeom prst="roundRect">
            <a:avLst>
              <a:gd name="adj" fmla="val 4545"/>
            </a:avLst>
          </a:prstGeom>
          <a:ln w="15875">
            <a:solidFill>
              <a:srgbClr val="FF0068"/>
            </a:solidFill>
            <a:prstDash val="dash"/>
          </a:ln>
        </p:spPr>
        <p:txBody>
          <a:bodyPr/>
          <a:lstStyle/>
          <a:p>
            <a:endParaRPr lang="en-IN"/>
          </a:p>
        </p:txBody>
      </p:sp>
      <p:sp>
        <p:nvSpPr>
          <p:cNvPr id="5" name="Shape 3"/>
          <p:cNvSpPr/>
          <p:nvPr/>
        </p:nvSpPr>
        <p:spPr>
          <a:xfrm>
            <a:off x="731520" y="2103120"/>
            <a:ext cx="2926080" cy="731520"/>
          </a:xfrm>
          <a:prstGeom prst="roundRect">
            <a:avLst>
              <a:gd name="adj" fmla="val 10000"/>
            </a:avLst>
          </a:prstGeom>
          <a:solidFill>
            <a:srgbClr val="F2F2F2"/>
          </a:solidFill>
          <a:ln w="12700">
            <a:solidFill>
              <a:srgbClr val="D0D0D6"/>
            </a:solidFill>
            <a:prstDash val="solid"/>
          </a:ln>
        </p:spPr>
        <p:txBody>
          <a:bodyPr/>
          <a:lstStyle/>
          <a:p>
            <a:endParaRPr lang="en-IN"/>
          </a:p>
        </p:txBody>
      </p:sp>
      <p:pic>
        <p:nvPicPr>
          <p:cNvPr id="6" name="Image 0" descr="preencoded.png"/>
          <p:cNvPicPr>
            <a:picLocks noChangeAspect="1"/>
          </p:cNvPicPr>
          <p:nvPr/>
        </p:nvPicPr>
        <p:blipFill>
          <a:blip r:embed="rId3"/>
          <a:stretch>
            <a:fillRect/>
          </a:stretch>
        </p:blipFill>
        <p:spPr>
          <a:xfrm>
            <a:off x="868680" y="2331720"/>
            <a:ext cx="274320" cy="274320"/>
          </a:xfrm>
          <a:prstGeom prst="rect">
            <a:avLst/>
          </a:prstGeom>
        </p:spPr>
      </p:pic>
      <p:sp>
        <p:nvSpPr>
          <p:cNvPr id="7" name="Text 4"/>
          <p:cNvSpPr txBox="1"/>
          <p:nvPr/>
        </p:nvSpPr>
        <p:spPr>
          <a:xfrm>
            <a:off x="1261872" y="2185416"/>
            <a:ext cx="2304288" cy="256032"/>
          </a:xfrm>
          <a:prstGeom prst="rect">
            <a:avLst/>
          </a:prstGeom>
          <a:noFill/>
          <a:ln/>
        </p:spPr>
        <p:txBody>
          <a:bodyPr wrap="square" lIns="0" tIns="0" rIns="0" bIns="0" rtlCol="0" anchor="t"/>
          <a:lstStyle/>
          <a:p>
            <a:pPr marL="0" indent="0">
              <a:buNone/>
            </a:pPr>
            <a:r>
              <a:rPr lang="en-US" sz="1200" b="1">
                <a:solidFill>
                  <a:schemeClr val="tx1"/>
                </a:solidFill>
              </a:rPr>
              <a:t>Registrant</a:t>
            </a:r>
            <a:endParaRPr lang="en-US" sz="1200"/>
          </a:p>
        </p:txBody>
      </p:sp>
      <p:sp>
        <p:nvSpPr>
          <p:cNvPr id="8" name="Text 5"/>
          <p:cNvSpPr txBox="1"/>
          <p:nvPr/>
        </p:nvSpPr>
        <p:spPr>
          <a:xfrm>
            <a:off x="1261872" y="2441448"/>
            <a:ext cx="2304288" cy="365760"/>
          </a:xfrm>
          <a:prstGeom prst="rect">
            <a:avLst/>
          </a:prstGeom>
          <a:noFill/>
          <a:ln/>
        </p:spPr>
        <p:txBody>
          <a:bodyPr wrap="square" lIns="0" tIns="0" rIns="0" bIns="0" rtlCol="0" anchor="t"/>
          <a:lstStyle/>
          <a:p>
            <a:pPr marL="0" indent="0">
              <a:buNone/>
            </a:pPr>
            <a:r>
              <a:rPr lang="en-US" sz="1050">
                <a:solidFill>
                  <a:srgbClr val="4D4D4D"/>
                </a:solidFill>
              </a:rPr>
              <a:t>Website or My Memorial Hermann app</a:t>
            </a:r>
            <a:endParaRPr lang="en-US" sz="1050"/>
          </a:p>
        </p:txBody>
      </p:sp>
      <p:sp>
        <p:nvSpPr>
          <p:cNvPr id="9" name="Shape 6"/>
          <p:cNvSpPr/>
          <p:nvPr/>
        </p:nvSpPr>
        <p:spPr>
          <a:xfrm>
            <a:off x="2194560" y="2852928"/>
            <a:ext cx="0" cy="237744"/>
          </a:xfrm>
          <a:prstGeom prst="line">
            <a:avLst/>
          </a:prstGeom>
          <a:noFill/>
          <a:ln w="15875">
            <a:solidFill>
              <a:srgbClr val="000000"/>
            </a:solidFill>
            <a:prstDash val="solid"/>
            <a:tailEnd type="triangle"/>
          </a:ln>
        </p:spPr>
        <p:txBody>
          <a:bodyPr/>
          <a:lstStyle/>
          <a:p>
            <a:endParaRPr lang="en-IN"/>
          </a:p>
        </p:txBody>
      </p:sp>
      <p:sp>
        <p:nvSpPr>
          <p:cNvPr id="10" name="Shape 7"/>
          <p:cNvSpPr/>
          <p:nvPr/>
        </p:nvSpPr>
        <p:spPr>
          <a:xfrm>
            <a:off x="731520" y="3108960"/>
            <a:ext cx="2926080" cy="731520"/>
          </a:xfrm>
          <a:prstGeom prst="roundRect">
            <a:avLst>
              <a:gd name="adj" fmla="val 10000"/>
            </a:avLst>
          </a:prstGeom>
          <a:solidFill>
            <a:srgbClr val="F2F2F2"/>
          </a:solidFill>
          <a:ln w="12700">
            <a:solidFill>
              <a:srgbClr val="D0D0D6"/>
            </a:solidFill>
            <a:prstDash val="solid"/>
          </a:ln>
        </p:spPr>
        <p:txBody>
          <a:bodyPr/>
          <a:lstStyle/>
          <a:p>
            <a:endParaRPr lang="en-IN"/>
          </a:p>
        </p:txBody>
      </p:sp>
      <p:pic>
        <p:nvPicPr>
          <p:cNvPr id="11" name="Image 1" descr="preencoded.png"/>
          <p:cNvPicPr>
            <a:picLocks noChangeAspect="1"/>
          </p:cNvPicPr>
          <p:nvPr/>
        </p:nvPicPr>
        <p:blipFill>
          <a:blip r:embed="rId4"/>
          <a:stretch>
            <a:fillRect/>
          </a:stretch>
        </p:blipFill>
        <p:spPr>
          <a:xfrm>
            <a:off x="868680" y="3337560"/>
            <a:ext cx="274320" cy="274320"/>
          </a:xfrm>
          <a:prstGeom prst="rect">
            <a:avLst/>
          </a:prstGeom>
        </p:spPr>
      </p:pic>
      <p:sp>
        <p:nvSpPr>
          <p:cNvPr id="12" name="Text 8"/>
          <p:cNvSpPr txBox="1"/>
          <p:nvPr/>
        </p:nvSpPr>
        <p:spPr>
          <a:xfrm>
            <a:off x="1261872" y="3191256"/>
            <a:ext cx="2304288" cy="256032"/>
          </a:xfrm>
          <a:prstGeom prst="rect">
            <a:avLst/>
          </a:prstGeom>
          <a:noFill/>
          <a:ln/>
        </p:spPr>
        <p:txBody>
          <a:bodyPr wrap="square" lIns="0" tIns="0" rIns="0" bIns="0" rtlCol="0" anchor="t"/>
          <a:lstStyle/>
          <a:p>
            <a:pPr marL="0" indent="0">
              <a:buNone/>
            </a:pPr>
            <a:r>
              <a:rPr lang="en-US" sz="1200" b="1">
                <a:solidFill>
                  <a:schemeClr val="tx1"/>
                </a:solidFill>
              </a:rPr>
              <a:t>Gateway hosted page</a:t>
            </a:r>
            <a:endParaRPr lang="en-US" sz="1200"/>
          </a:p>
        </p:txBody>
      </p:sp>
      <p:sp>
        <p:nvSpPr>
          <p:cNvPr id="13" name="Text 9"/>
          <p:cNvSpPr txBox="1"/>
          <p:nvPr/>
        </p:nvSpPr>
        <p:spPr>
          <a:xfrm>
            <a:off x="1261872" y="3447288"/>
            <a:ext cx="2304288" cy="365760"/>
          </a:xfrm>
          <a:prstGeom prst="rect">
            <a:avLst/>
          </a:prstGeom>
          <a:noFill/>
          <a:ln/>
        </p:spPr>
        <p:txBody>
          <a:bodyPr wrap="square" lIns="0" tIns="0" rIns="0" bIns="0" rtlCol="0" anchor="t"/>
          <a:lstStyle/>
          <a:p>
            <a:pPr marL="0" indent="0">
              <a:buNone/>
            </a:pPr>
            <a:r>
              <a:rPr lang="en-US" sz="1050">
                <a:solidFill>
                  <a:srgbClr val="4D4D4D"/>
                </a:solidFill>
              </a:rPr>
              <a:t>Card typed here (Chase or Authorize.net)</a:t>
            </a:r>
            <a:endParaRPr lang="en-US" sz="1050"/>
          </a:p>
        </p:txBody>
      </p:sp>
      <p:sp>
        <p:nvSpPr>
          <p:cNvPr id="14" name="Shape 10"/>
          <p:cNvSpPr/>
          <p:nvPr/>
        </p:nvSpPr>
        <p:spPr>
          <a:xfrm>
            <a:off x="2194560" y="3858768"/>
            <a:ext cx="0" cy="347472"/>
          </a:xfrm>
          <a:prstGeom prst="line">
            <a:avLst/>
          </a:prstGeom>
          <a:noFill/>
          <a:ln w="15875">
            <a:solidFill>
              <a:srgbClr val="000000"/>
            </a:solidFill>
            <a:prstDash val="solid"/>
            <a:tailEnd type="triangle"/>
          </a:ln>
        </p:spPr>
        <p:txBody>
          <a:bodyPr/>
          <a:lstStyle/>
          <a:p>
            <a:endParaRPr lang="en-IN"/>
          </a:p>
        </p:txBody>
      </p:sp>
      <p:sp>
        <p:nvSpPr>
          <p:cNvPr id="15" name="Shape 11"/>
          <p:cNvSpPr/>
          <p:nvPr/>
        </p:nvSpPr>
        <p:spPr>
          <a:xfrm>
            <a:off x="731520" y="4224528"/>
            <a:ext cx="2926080" cy="731520"/>
          </a:xfrm>
          <a:prstGeom prst="roundRect">
            <a:avLst>
              <a:gd name="adj" fmla="val 10000"/>
            </a:avLst>
          </a:prstGeom>
          <a:solidFill>
            <a:srgbClr val="F2F2F2"/>
          </a:solidFill>
          <a:ln w="12700">
            <a:solidFill>
              <a:srgbClr val="D0D0D6"/>
            </a:solidFill>
            <a:prstDash val="solid"/>
          </a:ln>
        </p:spPr>
        <p:txBody>
          <a:bodyPr/>
          <a:lstStyle/>
          <a:p>
            <a:endParaRPr lang="en-IN"/>
          </a:p>
        </p:txBody>
      </p:sp>
      <p:pic>
        <p:nvPicPr>
          <p:cNvPr id="16" name="Image 2" descr="preencoded.png"/>
          <p:cNvPicPr>
            <a:picLocks noChangeAspect="1"/>
          </p:cNvPicPr>
          <p:nvPr/>
        </p:nvPicPr>
        <p:blipFill>
          <a:blip r:embed="rId5"/>
          <a:stretch>
            <a:fillRect/>
          </a:stretch>
        </p:blipFill>
        <p:spPr>
          <a:xfrm>
            <a:off x="868680" y="4453128"/>
            <a:ext cx="274320" cy="274320"/>
          </a:xfrm>
          <a:prstGeom prst="rect">
            <a:avLst/>
          </a:prstGeom>
        </p:spPr>
      </p:pic>
      <p:sp>
        <p:nvSpPr>
          <p:cNvPr id="17" name="Text 12"/>
          <p:cNvSpPr txBox="1"/>
          <p:nvPr/>
        </p:nvSpPr>
        <p:spPr>
          <a:xfrm>
            <a:off x="1261872" y="4306824"/>
            <a:ext cx="2304288" cy="256032"/>
          </a:xfrm>
          <a:prstGeom prst="rect">
            <a:avLst/>
          </a:prstGeom>
          <a:noFill/>
          <a:ln/>
        </p:spPr>
        <p:txBody>
          <a:bodyPr wrap="square" lIns="0" tIns="0" rIns="0" bIns="0" rtlCol="0" anchor="t"/>
          <a:lstStyle/>
          <a:p>
            <a:pPr marL="0" indent="0">
              <a:buNone/>
            </a:pPr>
            <a:r>
              <a:rPr lang="en-US" sz="1200" b="1">
                <a:solidFill>
                  <a:schemeClr val="tx1"/>
                </a:solidFill>
              </a:rPr>
              <a:t>Signed webhook</a:t>
            </a:r>
            <a:endParaRPr lang="en-US" sz="1200"/>
          </a:p>
        </p:txBody>
      </p:sp>
      <p:sp>
        <p:nvSpPr>
          <p:cNvPr id="18" name="Text 13"/>
          <p:cNvSpPr txBox="1"/>
          <p:nvPr/>
        </p:nvSpPr>
        <p:spPr>
          <a:xfrm>
            <a:off x="1261872" y="4562856"/>
            <a:ext cx="2304288" cy="365760"/>
          </a:xfrm>
          <a:prstGeom prst="rect">
            <a:avLst/>
          </a:prstGeom>
          <a:noFill/>
          <a:ln/>
        </p:spPr>
        <p:txBody>
          <a:bodyPr wrap="square" lIns="0" tIns="0" rIns="0" bIns="0" rtlCol="0" anchor="t"/>
          <a:lstStyle/>
          <a:p>
            <a:pPr marL="0" indent="0">
              <a:buNone/>
            </a:pPr>
            <a:r>
              <a:rPr lang="en-US" sz="1050">
                <a:solidFill>
                  <a:srgbClr val="4D4D4D"/>
                </a:solidFill>
              </a:rPr>
              <a:t>Token, last 4 digits, approval code</a:t>
            </a:r>
            <a:endParaRPr lang="en-US" sz="1050"/>
          </a:p>
        </p:txBody>
      </p:sp>
      <p:sp>
        <p:nvSpPr>
          <p:cNvPr id="19" name="Shape 14"/>
          <p:cNvSpPr/>
          <p:nvPr/>
        </p:nvSpPr>
        <p:spPr>
          <a:xfrm>
            <a:off x="2194560" y="4974336"/>
            <a:ext cx="0" cy="237744"/>
          </a:xfrm>
          <a:prstGeom prst="line">
            <a:avLst/>
          </a:prstGeom>
          <a:noFill/>
          <a:ln w="15875">
            <a:solidFill>
              <a:srgbClr val="000000"/>
            </a:solidFill>
            <a:prstDash val="solid"/>
            <a:tailEnd type="triangle"/>
          </a:ln>
        </p:spPr>
        <p:txBody>
          <a:bodyPr/>
          <a:lstStyle/>
          <a:p>
            <a:endParaRPr lang="en-IN"/>
          </a:p>
        </p:txBody>
      </p:sp>
      <p:sp>
        <p:nvSpPr>
          <p:cNvPr id="20" name="Shape 15"/>
          <p:cNvSpPr/>
          <p:nvPr/>
        </p:nvSpPr>
        <p:spPr>
          <a:xfrm>
            <a:off x="731520" y="5230368"/>
            <a:ext cx="2926080" cy="731520"/>
          </a:xfrm>
          <a:prstGeom prst="roundRect">
            <a:avLst>
              <a:gd name="adj" fmla="val 10000"/>
            </a:avLst>
          </a:prstGeom>
          <a:solidFill>
            <a:srgbClr val="F2F2F2"/>
          </a:solidFill>
          <a:ln w="12700">
            <a:solidFill>
              <a:srgbClr val="D0D0D6"/>
            </a:solidFill>
            <a:prstDash val="solid"/>
          </a:ln>
        </p:spPr>
        <p:txBody>
          <a:bodyPr/>
          <a:lstStyle/>
          <a:p>
            <a:endParaRPr lang="en-IN"/>
          </a:p>
        </p:txBody>
      </p:sp>
      <p:pic>
        <p:nvPicPr>
          <p:cNvPr id="21" name="Image 3" descr="preencoded.png"/>
          <p:cNvPicPr>
            <a:picLocks noChangeAspect="1"/>
          </p:cNvPicPr>
          <p:nvPr/>
        </p:nvPicPr>
        <p:blipFill>
          <a:blip r:embed="rId6"/>
          <a:stretch>
            <a:fillRect/>
          </a:stretch>
        </p:blipFill>
        <p:spPr>
          <a:xfrm>
            <a:off x="868680" y="5458968"/>
            <a:ext cx="274320" cy="274320"/>
          </a:xfrm>
          <a:prstGeom prst="rect">
            <a:avLst/>
          </a:prstGeom>
        </p:spPr>
      </p:pic>
      <p:sp>
        <p:nvSpPr>
          <p:cNvPr id="22" name="Text 16"/>
          <p:cNvSpPr txBox="1"/>
          <p:nvPr/>
        </p:nvSpPr>
        <p:spPr>
          <a:xfrm>
            <a:off x="1261872" y="5312664"/>
            <a:ext cx="2304288" cy="256032"/>
          </a:xfrm>
          <a:prstGeom prst="rect">
            <a:avLst/>
          </a:prstGeom>
          <a:noFill/>
          <a:ln/>
        </p:spPr>
        <p:txBody>
          <a:bodyPr wrap="square" lIns="0" tIns="0" rIns="0" bIns="0" rtlCol="0" anchor="t"/>
          <a:lstStyle/>
          <a:p>
            <a:pPr marL="0" indent="0">
              <a:buNone/>
            </a:pPr>
            <a:r>
              <a:rPr lang="en-US" sz="1200" b="1">
                <a:solidFill>
                  <a:schemeClr val="tx1"/>
                </a:solidFill>
              </a:rPr>
              <a:t>Salesforce payment record</a:t>
            </a:r>
            <a:endParaRPr lang="en-US" sz="1200"/>
          </a:p>
        </p:txBody>
      </p:sp>
      <p:sp>
        <p:nvSpPr>
          <p:cNvPr id="23" name="Text 17"/>
          <p:cNvSpPr txBox="1"/>
          <p:nvPr/>
        </p:nvSpPr>
        <p:spPr>
          <a:xfrm>
            <a:off x="1261872" y="5568696"/>
            <a:ext cx="2304288" cy="365760"/>
          </a:xfrm>
          <a:prstGeom prst="rect">
            <a:avLst/>
          </a:prstGeom>
          <a:noFill/>
          <a:ln/>
        </p:spPr>
        <p:txBody>
          <a:bodyPr wrap="square" lIns="0" tIns="0" rIns="0" bIns="0" rtlCol="0" anchor="t"/>
          <a:lstStyle/>
          <a:p>
            <a:pPr marL="0" indent="0">
              <a:buNone/>
            </a:pPr>
            <a:r>
              <a:rPr lang="en-US" sz="1050">
                <a:solidFill>
                  <a:srgbClr val="4D4D4D"/>
                </a:solidFill>
              </a:rPr>
              <a:t>Token reference, last 4, amount, status</a:t>
            </a:r>
            <a:endParaRPr lang="en-US" sz="1050"/>
          </a:p>
        </p:txBody>
      </p:sp>
      <p:sp>
        <p:nvSpPr>
          <p:cNvPr id="24" name="Text 18"/>
          <p:cNvSpPr txBox="1"/>
          <p:nvPr/>
        </p:nvSpPr>
        <p:spPr>
          <a:xfrm>
            <a:off x="4069080" y="2103120"/>
            <a:ext cx="1920240" cy="274320"/>
          </a:xfrm>
          <a:prstGeom prst="rect">
            <a:avLst/>
          </a:prstGeom>
          <a:noFill/>
          <a:ln/>
        </p:spPr>
        <p:txBody>
          <a:bodyPr wrap="square" lIns="0" tIns="0" rIns="0" bIns="0" rtlCol="0" anchor="t"/>
          <a:lstStyle/>
          <a:p>
            <a:pPr marL="0" indent="0">
              <a:buNone/>
            </a:pPr>
            <a:r>
              <a:rPr lang="en-US" sz="900" b="1" kern="0" spc="200">
                <a:solidFill>
                  <a:srgbClr val="C8005A"/>
                </a:solidFill>
              </a:rPr>
              <a:t>CARD DATA ZONE</a:t>
            </a:r>
            <a:endParaRPr lang="en-US" sz="900"/>
          </a:p>
        </p:txBody>
      </p:sp>
      <p:sp>
        <p:nvSpPr>
          <p:cNvPr id="25" name="Text 19"/>
          <p:cNvSpPr txBox="1"/>
          <p:nvPr/>
        </p:nvSpPr>
        <p:spPr>
          <a:xfrm>
            <a:off x="4069080" y="2377440"/>
            <a:ext cx="1920240" cy="1280160"/>
          </a:xfrm>
          <a:prstGeom prst="rect">
            <a:avLst/>
          </a:prstGeom>
          <a:noFill/>
          <a:ln/>
        </p:spPr>
        <p:txBody>
          <a:bodyPr wrap="square" lIns="0" tIns="0" rIns="0" bIns="0" rtlCol="0" anchor="t"/>
          <a:lstStyle/>
          <a:p>
            <a:pPr marL="0" indent="0">
              <a:buNone/>
            </a:pPr>
            <a:r>
              <a:rPr lang="en-US" sz="1100">
                <a:solidFill>
                  <a:srgbClr val="4D4D4D"/>
                </a:solidFill>
              </a:rPr>
              <a:t>Card numbers go straight to the payment gateway. PCI scope stays at the simplest level (SAQ A) [to confirm].</a:t>
            </a:r>
            <a:endParaRPr lang="en-US" sz="1100"/>
          </a:p>
        </p:txBody>
      </p:sp>
      <p:sp>
        <p:nvSpPr>
          <p:cNvPr id="26" name="Text 20"/>
          <p:cNvSpPr txBox="1"/>
          <p:nvPr/>
        </p:nvSpPr>
        <p:spPr>
          <a:xfrm>
            <a:off x="4069080" y="4206240"/>
            <a:ext cx="1920240" cy="274320"/>
          </a:xfrm>
          <a:prstGeom prst="rect">
            <a:avLst/>
          </a:prstGeom>
          <a:noFill/>
          <a:ln/>
        </p:spPr>
        <p:txBody>
          <a:bodyPr wrap="square" lIns="0" tIns="0" rIns="0" bIns="0" rtlCol="0" anchor="t"/>
          <a:lstStyle/>
          <a:p>
            <a:pPr marL="0" indent="0">
              <a:buNone/>
            </a:pPr>
            <a:r>
              <a:rPr lang="en-US" sz="900" b="1" kern="0" spc="200">
                <a:solidFill>
                  <a:schemeClr val="tx1"/>
                </a:solidFill>
              </a:rPr>
              <a:t>OUR SYSTEMS</a:t>
            </a:r>
            <a:endParaRPr lang="en-US" sz="900"/>
          </a:p>
        </p:txBody>
      </p:sp>
      <p:sp>
        <p:nvSpPr>
          <p:cNvPr id="27" name="Text 21"/>
          <p:cNvSpPr txBox="1"/>
          <p:nvPr/>
        </p:nvSpPr>
        <p:spPr>
          <a:xfrm>
            <a:off x="4069080" y="4480560"/>
            <a:ext cx="1920240" cy="1280160"/>
          </a:xfrm>
          <a:prstGeom prst="rect">
            <a:avLst/>
          </a:prstGeom>
          <a:noFill/>
          <a:ln/>
        </p:spPr>
        <p:txBody>
          <a:bodyPr wrap="square" lIns="0" tIns="0" rIns="0" bIns="0" rtlCol="0" anchor="t"/>
          <a:lstStyle/>
          <a:p>
            <a:pPr marL="0" indent="0">
              <a:buNone/>
            </a:pPr>
            <a:r>
              <a:rPr lang="en-US" sz="1100">
                <a:solidFill>
                  <a:srgbClr val="4D4D4D"/>
                </a:solidFill>
              </a:rPr>
              <a:t>No card number, CVV or expiry stored. Refunds by token. Signed, idempotent webhooks. Daily reconciliation.</a:t>
            </a:r>
            <a:endParaRPr lang="en-US" sz="1100"/>
          </a:p>
        </p:txBody>
      </p:sp>
      <p:sp>
        <p:nvSpPr>
          <p:cNvPr id="28" name="Text 22"/>
          <p:cNvSpPr txBox="1"/>
          <p:nvPr/>
        </p:nvSpPr>
        <p:spPr>
          <a:xfrm>
            <a:off x="6263640" y="1463040"/>
            <a:ext cx="5422392" cy="365760"/>
          </a:xfrm>
          <a:prstGeom prst="rect">
            <a:avLst/>
          </a:prstGeom>
          <a:noFill/>
          <a:ln/>
        </p:spPr>
        <p:txBody>
          <a:bodyPr wrap="square" lIns="0" tIns="0" rIns="0" bIns="0" rtlCol="0" anchor="t"/>
          <a:lstStyle/>
          <a:p>
            <a:pPr marL="0" indent="0">
              <a:buNone/>
            </a:pPr>
            <a:r>
              <a:rPr lang="en-US" sz="1700" b="1">
                <a:solidFill>
                  <a:schemeClr val="tx1"/>
                </a:solidFill>
              </a:rPr>
              <a:t>Registrant and patient data, protected in layers</a:t>
            </a:r>
            <a:endParaRPr lang="en-US" sz="1700"/>
          </a:p>
        </p:txBody>
      </p:sp>
      <p:sp>
        <p:nvSpPr>
          <p:cNvPr id="29" name="layer-Edge"/>
          <p:cNvSpPr/>
          <p:nvPr/>
        </p:nvSpPr>
        <p:spPr>
          <a:xfrm>
            <a:off x="6263640" y="1920240"/>
            <a:ext cx="5422392" cy="676656"/>
          </a:xfrm>
          <a:prstGeom prst="roundRect">
            <a:avLst>
              <a:gd name="adj" fmla="val 13514"/>
            </a:avLst>
          </a:prstGeom>
          <a:solidFill>
            <a:srgbClr val="F2F2F2"/>
          </a:solidFill>
          <a:ln w="12700">
            <a:solidFill>
              <a:srgbClr val="D0D0D6"/>
            </a:solidFill>
            <a:prstDash val="solid"/>
          </a:ln>
        </p:spPr>
        <p:txBody>
          <a:bodyPr/>
          <a:lstStyle/>
          <a:p>
            <a:endParaRPr lang="en-IN"/>
          </a:p>
        </p:txBody>
      </p:sp>
      <p:sp>
        <p:nvSpPr>
          <p:cNvPr id="30" name="Shape 24"/>
          <p:cNvSpPr/>
          <p:nvPr/>
        </p:nvSpPr>
        <p:spPr>
          <a:xfrm>
            <a:off x="6409944" y="2057400"/>
            <a:ext cx="402336" cy="402336"/>
          </a:xfrm>
          <a:prstGeom prst="ellipse">
            <a:avLst/>
          </a:prstGeom>
          <a:solidFill>
            <a:srgbClr val="FFFFFF"/>
          </a:solidFill>
          <a:ln w="12700">
            <a:solidFill>
              <a:srgbClr val="C8C8CE"/>
            </a:solidFill>
            <a:prstDash val="solid"/>
          </a:ln>
        </p:spPr>
        <p:txBody>
          <a:bodyPr/>
          <a:lstStyle/>
          <a:p>
            <a:endParaRPr lang="en-IN"/>
          </a:p>
        </p:txBody>
      </p:sp>
      <p:pic>
        <p:nvPicPr>
          <p:cNvPr id="31" name="Image 4" descr="preencoded.png"/>
          <p:cNvPicPr>
            <a:picLocks noChangeAspect="1"/>
          </p:cNvPicPr>
          <p:nvPr/>
        </p:nvPicPr>
        <p:blipFill>
          <a:blip r:embed="rId7"/>
          <a:stretch>
            <a:fillRect/>
          </a:stretch>
        </p:blipFill>
        <p:spPr>
          <a:xfrm>
            <a:off x="6510528" y="2157984"/>
            <a:ext cx="201168" cy="201168"/>
          </a:xfrm>
          <a:prstGeom prst="rect">
            <a:avLst/>
          </a:prstGeom>
        </p:spPr>
      </p:pic>
      <p:sp>
        <p:nvSpPr>
          <p:cNvPr id="32" name="Text 25"/>
          <p:cNvSpPr txBox="1"/>
          <p:nvPr/>
        </p:nvSpPr>
        <p:spPr>
          <a:xfrm>
            <a:off x="6949440" y="2011680"/>
            <a:ext cx="1280160" cy="274320"/>
          </a:xfrm>
          <a:prstGeom prst="rect">
            <a:avLst/>
          </a:prstGeom>
          <a:noFill/>
          <a:ln/>
        </p:spPr>
        <p:txBody>
          <a:bodyPr wrap="square" lIns="0" tIns="0" rIns="0" bIns="0" rtlCol="0" anchor="t"/>
          <a:lstStyle/>
          <a:p>
            <a:pPr marL="0" indent="0">
              <a:buNone/>
            </a:pPr>
            <a:r>
              <a:rPr lang="en-US" sz="1300" b="1">
                <a:solidFill>
                  <a:srgbClr val="000000"/>
                </a:solidFill>
              </a:rPr>
              <a:t>Edge</a:t>
            </a:r>
            <a:endParaRPr lang="en-US" sz="1300"/>
          </a:p>
        </p:txBody>
      </p:sp>
      <p:sp>
        <p:nvSpPr>
          <p:cNvPr id="33" name="Text 26"/>
          <p:cNvSpPr txBox="1"/>
          <p:nvPr/>
        </p:nvSpPr>
        <p:spPr>
          <a:xfrm>
            <a:off x="6949440" y="2267712"/>
            <a:ext cx="4599432" cy="292608"/>
          </a:xfrm>
          <a:prstGeom prst="rect">
            <a:avLst/>
          </a:prstGeom>
          <a:noFill/>
          <a:ln/>
        </p:spPr>
        <p:txBody>
          <a:bodyPr wrap="square" lIns="0" tIns="0" rIns="0" bIns="0" rtlCol="0" anchor="t"/>
          <a:lstStyle/>
          <a:p>
            <a:pPr marL="0" indent="0">
              <a:buNone/>
            </a:pPr>
            <a:r>
              <a:rPr lang="en-US" sz="1100">
                <a:solidFill>
                  <a:srgbClr val="4D4D4D"/>
                </a:solidFill>
              </a:rPr>
              <a:t>TLS 1.2+, web application firewall, bot defense, rate limits</a:t>
            </a:r>
            <a:endParaRPr lang="en-US" sz="1100"/>
          </a:p>
        </p:txBody>
      </p:sp>
      <p:sp>
        <p:nvSpPr>
          <p:cNvPr id="34" name="layer-Access"/>
          <p:cNvSpPr/>
          <p:nvPr/>
        </p:nvSpPr>
        <p:spPr>
          <a:xfrm>
            <a:off x="6373368" y="2688336"/>
            <a:ext cx="5312664" cy="676656"/>
          </a:xfrm>
          <a:prstGeom prst="roundRect">
            <a:avLst>
              <a:gd name="adj" fmla="val 13514"/>
            </a:avLst>
          </a:prstGeom>
          <a:solidFill>
            <a:srgbClr val="F2F2F2"/>
          </a:solidFill>
          <a:ln w="12700">
            <a:solidFill>
              <a:srgbClr val="D0D0D6"/>
            </a:solidFill>
            <a:prstDash val="solid"/>
          </a:ln>
        </p:spPr>
        <p:txBody>
          <a:bodyPr/>
          <a:lstStyle/>
          <a:p>
            <a:endParaRPr lang="en-IN"/>
          </a:p>
        </p:txBody>
      </p:sp>
      <p:sp>
        <p:nvSpPr>
          <p:cNvPr id="35" name="Shape 28"/>
          <p:cNvSpPr/>
          <p:nvPr/>
        </p:nvSpPr>
        <p:spPr>
          <a:xfrm>
            <a:off x="6519672" y="2825496"/>
            <a:ext cx="402336" cy="402336"/>
          </a:xfrm>
          <a:prstGeom prst="ellipse">
            <a:avLst/>
          </a:prstGeom>
          <a:solidFill>
            <a:srgbClr val="FFFFFF"/>
          </a:solidFill>
          <a:ln w="12700">
            <a:solidFill>
              <a:srgbClr val="C8C8CE"/>
            </a:solidFill>
            <a:prstDash val="solid"/>
          </a:ln>
        </p:spPr>
        <p:txBody>
          <a:bodyPr/>
          <a:lstStyle/>
          <a:p>
            <a:endParaRPr lang="en-IN"/>
          </a:p>
        </p:txBody>
      </p:sp>
      <p:pic>
        <p:nvPicPr>
          <p:cNvPr id="36" name="Image 5" descr="preencoded.png"/>
          <p:cNvPicPr>
            <a:picLocks noChangeAspect="1"/>
          </p:cNvPicPr>
          <p:nvPr/>
        </p:nvPicPr>
        <p:blipFill>
          <a:blip r:embed="rId8"/>
          <a:stretch>
            <a:fillRect/>
          </a:stretch>
        </p:blipFill>
        <p:spPr>
          <a:xfrm>
            <a:off x="6620256" y="2926080"/>
            <a:ext cx="201168" cy="201168"/>
          </a:xfrm>
          <a:prstGeom prst="rect">
            <a:avLst/>
          </a:prstGeom>
        </p:spPr>
      </p:pic>
      <p:sp>
        <p:nvSpPr>
          <p:cNvPr id="37" name="Text 29"/>
          <p:cNvSpPr txBox="1"/>
          <p:nvPr/>
        </p:nvSpPr>
        <p:spPr>
          <a:xfrm>
            <a:off x="7059168" y="2779776"/>
            <a:ext cx="1280160" cy="274320"/>
          </a:xfrm>
          <a:prstGeom prst="rect">
            <a:avLst/>
          </a:prstGeom>
          <a:noFill/>
          <a:ln/>
        </p:spPr>
        <p:txBody>
          <a:bodyPr wrap="square" lIns="0" tIns="0" rIns="0" bIns="0" rtlCol="0" anchor="t"/>
          <a:lstStyle/>
          <a:p>
            <a:pPr marL="0" indent="0">
              <a:buNone/>
            </a:pPr>
            <a:r>
              <a:rPr lang="en-US" sz="1300" b="1">
                <a:solidFill>
                  <a:srgbClr val="000000"/>
                </a:solidFill>
              </a:rPr>
              <a:t>Access</a:t>
            </a:r>
            <a:endParaRPr lang="en-US" sz="1300"/>
          </a:p>
        </p:txBody>
      </p:sp>
      <p:sp>
        <p:nvSpPr>
          <p:cNvPr id="38" name="Text 30"/>
          <p:cNvSpPr txBox="1"/>
          <p:nvPr/>
        </p:nvSpPr>
        <p:spPr>
          <a:xfrm>
            <a:off x="7059168" y="3035808"/>
            <a:ext cx="4489704" cy="292608"/>
          </a:xfrm>
          <a:prstGeom prst="rect">
            <a:avLst/>
          </a:prstGeom>
          <a:noFill/>
          <a:ln/>
        </p:spPr>
        <p:txBody>
          <a:bodyPr wrap="square" lIns="0" tIns="0" rIns="0" bIns="0" rtlCol="0" anchor="t"/>
          <a:lstStyle/>
          <a:p>
            <a:pPr marL="0" indent="0">
              <a:buNone/>
            </a:pPr>
            <a:r>
              <a:rPr lang="en-US" sz="1100">
                <a:solidFill>
                  <a:srgbClr val="4D4D4D"/>
                </a:solidFill>
              </a:rPr>
              <a:t>SSO with MFA for staff; least-privilege permission sets</a:t>
            </a:r>
            <a:endParaRPr lang="en-US" sz="1100"/>
          </a:p>
        </p:txBody>
      </p:sp>
      <p:sp>
        <p:nvSpPr>
          <p:cNvPr id="39" name="layer-Data"/>
          <p:cNvSpPr/>
          <p:nvPr/>
        </p:nvSpPr>
        <p:spPr>
          <a:xfrm>
            <a:off x="6483096" y="3456432"/>
            <a:ext cx="5202936" cy="676656"/>
          </a:xfrm>
          <a:prstGeom prst="roundRect">
            <a:avLst>
              <a:gd name="adj" fmla="val 13514"/>
            </a:avLst>
          </a:prstGeom>
          <a:solidFill>
            <a:srgbClr val="000000"/>
          </a:solidFill>
          <a:ln w="12700">
            <a:solidFill>
              <a:srgbClr val="D0D0D6"/>
            </a:solidFill>
            <a:prstDash val="solid"/>
          </a:ln>
        </p:spPr>
        <p:txBody>
          <a:bodyPr/>
          <a:lstStyle/>
          <a:p>
            <a:endParaRPr lang="en-IN"/>
          </a:p>
        </p:txBody>
      </p:sp>
      <p:sp>
        <p:nvSpPr>
          <p:cNvPr id="40" name="Shape 32"/>
          <p:cNvSpPr/>
          <p:nvPr/>
        </p:nvSpPr>
        <p:spPr>
          <a:xfrm>
            <a:off x="6629400" y="3593592"/>
            <a:ext cx="402336" cy="402336"/>
          </a:xfrm>
          <a:prstGeom prst="ellipse">
            <a:avLst/>
          </a:prstGeom>
          <a:solidFill>
            <a:srgbClr val="00D6F2"/>
          </a:solidFill>
          <a:ln w="12700">
            <a:solidFill>
              <a:srgbClr val="00D6F2"/>
            </a:solidFill>
            <a:prstDash val="solid"/>
          </a:ln>
        </p:spPr>
        <p:txBody>
          <a:bodyPr/>
          <a:lstStyle/>
          <a:p>
            <a:endParaRPr lang="en-IN"/>
          </a:p>
        </p:txBody>
      </p:sp>
      <p:pic>
        <p:nvPicPr>
          <p:cNvPr id="41" name="Image 6" descr="preencoded.png"/>
          <p:cNvPicPr>
            <a:picLocks noChangeAspect="1"/>
          </p:cNvPicPr>
          <p:nvPr/>
        </p:nvPicPr>
        <p:blipFill>
          <a:blip r:embed="rId9"/>
          <a:stretch>
            <a:fillRect/>
          </a:stretch>
        </p:blipFill>
        <p:spPr>
          <a:xfrm>
            <a:off x="6729984" y="3694176"/>
            <a:ext cx="201168" cy="201168"/>
          </a:xfrm>
          <a:prstGeom prst="rect">
            <a:avLst/>
          </a:prstGeom>
        </p:spPr>
      </p:pic>
      <p:sp>
        <p:nvSpPr>
          <p:cNvPr id="42" name="Text 33"/>
          <p:cNvSpPr txBox="1"/>
          <p:nvPr/>
        </p:nvSpPr>
        <p:spPr>
          <a:xfrm>
            <a:off x="7168896" y="3547872"/>
            <a:ext cx="1280160" cy="274320"/>
          </a:xfrm>
          <a:prstGeom prst="rect">
            <a:avLst/>
          </a:prstGeom>
          <a:noFill/>
          <a:ln/>
        </p:spPr>
        <p:txBody>
          <a:bodyPr wrap="square" lIns="0" tIns="0" rIns="0" bIns="0" rtlCol="0" anchor="t"/>
          <a:lstStyle/>
          <a:p>
            <a:pPr marL="0" indent="0">
              <a:buNone/>
            </a:pPr>
            <a:r>
              <a:rPr lang="en-US" sz="1300" b="1">
                <a:solidFill>
                  <a:srgbClr val="FFFFFF"/>
                </a:solidFill>
              </a:rPr>
              <a:t>Data</a:t>
            </a:r>
            <a:endParaRPr lang="en-US" sz="1300"/>
          </a:p>
        </p:txBody>
      </p:sp>
      <p:sp>
        <p:nvSpPr>
          <p:cNvPr id="43" name="Text 34"/>
          <p:cNvSpPr txBox="1"/>
          <p:nvPr/>
        </p:nvSpPr>
        <p:spPr>
          <a:xfrm>
            <a:off x="7168896" y="3803904"/>
            <a:ext cx="4379976" cy="292608"/>
          </a:xfrm>
          <a:prstGeom prst="rect">
            <a:avLst/>
          </a:prstGeom>
          <a:noFill/>
          <a:ln/>
        </p:spPr>
        <p:txBody>
          <a:bodyPr wrap="square" lIns="0" tIns="0" rIns="0" bIns="0" rtlCol="0" anchor="t"/>
          <a:lstStyle/>
          <a:p>
            <a:pPr marL="0" indent="0">
              <a:buNone/>
            </a:pPr>
            <a:r>
              <a:rPr lang="en-US" sz="1100">
                <a:solidFill>
                  <a:srgbClr val="D9D9D9"/>
                </a:solidFill>
              </a:rPr>
              <a:t>Shield Platform Encryption on sensitive fields; field-level security</a:t>
            </a:r>
            <a:endParaRPr lang="en-US" sz="1100"/>
          </a:p>
        </p:txBody>
      </p:sp>
      <p:sp>
        <p:nvSpPr>
          <p:cNvPr id="44" name="layer-Monitoring"/>
          <p:cNvSpPr/>
          <p:nvPr/>
        </p:nvSpPr>
        <p:spPr>
          <a:xfrm>
            <a:off x="6592824" y="4224528"/>
            <a:ext cx="5093208" cy="676656"/>
          </a:xfrm>
          <a:prstGeom prst="roundRect">
            <a:avLst>
              <a:gd name="adj" fmla="val 13514"/>
            </a:avLst>
          </a:prstGeom>
          <a:solidFill>
            <a:srgbClr val="F2F2F2"/>
          </a:solidFill>
          <a:ln w="12700">
            <a:solidFill>
              <a:srgbClr val="D0D0D6"/>
            </a:solidFill>
            <a:prstDash val="solid"/>
          </a:ln>
        </p:spPr>
        <p:txBody>
          <a:bodyPr/>
          <a:lstStyle/>
          <a:p>
            <a:endParaRPr lang="en-IN"/>
          </a:p>
        </p:txBody>
      </p:sp>
      <p:sp>
        <p:nvSpPr>
          <p:cNvPr id="45" name="Shape 36"/>
          <p:cNvSpPr/>
          <p:nvPr/>
        </p:nvSpPr>
        <p:spPr>
          <a:xfrm>
            <a:off x="6739128" y="4361688"/>
            <a:ext cx="402336" cy="402336"/>
          </a:xfrm>
          <a:prstGeom prst="ellipse">
            <a:avLst/>
          </a:prstGeom>
          <a:solidFill>
            <a:srgbClr val="FFFFFF"/>
          </a:solidFill>
          <a:ln w="12700">
            <a:solidFill>
              <a:srgbClr val="C8C8CE"/>
            </a:solidFill>
            <a:prstDash val="solid"/>
          </a:ln>
        </p:spPr>
        <p:txBody>
          <a:bodyPr/>
          <a:lstStyle/>
          <a:p>
            <a:endParaRPr lang="en-IN"/>
          </a:p>
        </p:txBody>
      </p:sp>
      <p:pic>
        <p:nvPicPr>
          <p:cNvPr id="46" name="Image 7" descr="preencoded.png"/>
          <p:cNvPicPr>
            <a:picLocks noChangeAspect="1"/>
          </p:cNvPicPr>
          <p:nvPr/>
        </p:nvPicPr>
        <p:blipFill>
          <a:blip r:embed="rId10"/>
          <a:stretch>
            <a:fillRect/>
          </a:stretch>
        </p:blipFill>
        <p:spPr>
          <a:xfrm>
            <a:off x="6839712" y="4462272"/>
            <a:ext cx="201168" cy="201168"/>
          </a:xfrm>
          <a:prstGeom prst="rect">
            <a:avLst/>
          </a:prstGeom>
        </p:spPr>
      </p:pic>
      <p:sp>
        <p:nvSpPr>
          <p:cNvPr id="47" name="Text 37"/>
          <p:cNvSpPr txBox="1"/>
          <p:nvPr/>
        </p:nvSpPr>
        <p:spPr>
          <a:xfrm>
            <a:off x="7278624" y="4315968"/>
            <a:ext cx="1280160" cy="274320"/>
          </a:xfrm>
          <a:prstGeom prst="rect">
            <a:avLst/>
          </a:prstGeom>
          <a:noFill/>
          <a:ln/>
        </p:spPr>
        <p:txBody>
          <a:bodyPr wrap="square" lIns="0" tIns="0" rIns="0" bIns="0" rtlCol="0" anchor="t"/>
          <a:lstStyle/>
          <a:p>
            <a:pPr marL="0" indent="0">
              <a:buNone/>
            </a:pPr>
            <a:r>
              <a:rPr lang="en-US" sz="1300" b="1">
                <a:solidFill>
                  <a:srgbClr val="000000"/>
                </a:solidFill>
              </a:rPr>
              <a:t>Monitoring</a:t>
            </a:r>
            <a:endParaRPr lang="en-US" sz="1300"/>
          </a:p>
        </p:txBody>
      </p:sp>
      <p:sp>
        <p:nvSpPr>
          <p:cNvPr id="48" name="Text 38"/>
          <p:cNvSpPr txBox="1"/>
          <p:nvPr/>
        </p:nvSpPr>
        <p:spPr>
          <a:xfrm>
            <a:off x="7278624" y="4572000"/>
            <a:ext cx="4270248" cy="292608"/>
          </a:xfrm>
          <a:prstGeom prst="rect">
            <a:avLst/>
          </a:prstGeom>
          <a:noFill/>
          <a:ln/>
        </p:spPr>
        <p:txBody>
          <a:bodyPr wrap="square" lIns="0" tIns="0" rIns="0" bIns="0" rtlCol="0" anchor="t"/>
          <a:lstStyle/>
          <a:p>
            <a:pPr marL="0" indent="0">
              <a:buNone/>
            </a:pPr>
            <a:r>
              <a:rPr lang="en-US" sz="1100">
                <a:solidFill>
                  <a:srgbClr val="4D4D4D"/>
                </a:solidFill>
              </a:rPr>
              <a:t>Event Monitoring, Field Audit Trail, real-time alerts</a:t>
            </a:r>
            <a:endParaRPr lang="en-US" sz="1100"/>
          </a:p>
        </p:txBody>
      </p:sp>
      <p:sp>
        <p:nvSpPr>
          <p:cNvPr id="49" name="layer-Governance"/>
          <p:cNvSpPr/>
          <p:nvPr/>
        </p:nvSpPr>
        <p:spPr>
          <a:xfrm>
            <a:off x="6702552" y="4992624"/>
            <a:ext cx="4983480" cy="676656"/>
          </a:xfrm>
          <a:prstGeom prst="roundRect">
            <a:avLst>
              <a:gd name="adj" fmla="val 13514"/>
            </a:avLst>
          </a:prstGeom>
          <a:solidFill>
            <a:srgbClr val="F2F2F2"/>
          </a:solidFill>
          <a:ln w="12700">
            <a:solidFill>
              <a:srgbClr val="D0D0D6"/>
            </a:solidFill>
            <a:prstDash val="solid"/>
          </a:ln>
        </p:spPr>
        <p:txBody>
          <a:bodyPr/>
          <a:lstStyle/>
          <a:p>
            <a:endParaRPr lang="en-IN"/>
          </a:p>
        </p:txBody>
      </p:sp>
      <p:sp>
        <p:nvSpPr>
          <p:cNvPr id="50" name="Shape 40"/>
          <p:cNvSpPr/>
          <p:nvPr/>
        </p:nvSpPr>
        <p:spPr>
          <a:xfrm>
            <a:off x="6848856" y="5129784"/>
            <a:ext cx="402336" cy="402336"/>
          </a:xfrm>
          <a:prstGeom prst="ellipse">
            <a:avLst/>
          </a:prstGeom>
          <a:solidFill>
            <a:srgbClr val="FFFFFF"/>
          </a:solidFill>
          <a:ln w="12700">
            <a:solidFill>
              <a:srgbClr val="C8C8CE"/>
            </a:solidFill>
            <a:prstDash val="solid"/>
          </a:ln>
        </p:spPr>
        <p:txBody>
          <a:bodyPr/>
          <a:lstStyle/>
          <a:p>
            <a:endParaRPr lang="en-IN"/>
          </a:p>
        </p:txBody>
      </p:sp>
      <p:pic>
        <p:nvPicPr>
          <p:cNvPr id="51" name="Image 8" descr="preencoded.png"/>
          <p:cNvPicPr>
            <a:picLocks noChangeAspect="1"/>
          </p:cNvPicPr>
          <p:nvPr/>
        </p:nvPicPr>
        <p:blipFill>
          <a:blip r:embed="rId11"/>
          <a:stretch>
            <a:fillRect/>
          </a:stretch>
        </p:blipFill>
        <p:spPr>
          <a:xfrm>
            <a:off x="6949440" y="5230368"/>
            <a:ext cx="201168" cy="201168"/>
          </a:xfrm>
          <a:prstGeom prst="rect">
            <a:avLst/>
          </a:prstGeom>
        </p:spPr>
      </p:pic>
      <p:sp>
        <p:nvSpPr>
          <p:cNvPr id="52" name="Text 41"/>
          <p:cNvSpPr txBox="1"/>
          <p:nvPr/>
        </p:nvSpPr>
        <p:spPr>
          <a:xfrm>
            <a:off x="7388352" y="5084064"/>
            <a:ext cx="1280160" cy="274320"/>
          </a:xfrm>
          <a:prstGeom prst="rect">
            <a:avLst/>
          </a:prstGeom>
          <a:noFill/>
          <a:ln/>
        </p:spPr>
        <p:txBody>
          <a:bodyPr wrap="square" lIns="0" tIns="0" rIns="0" bIns="0" rtlCol="0" anchor="t"/>
          <a:lstStyle/>
          <a:p>
            <a:pPr marL="0" indent="0">
              <a:buNone/>
            </a:pPr>
            <a:r>
              <a:rPr lang="en-US" sz="1300" b="1">
                <a:solidFill>
                  <a:srgbClr val="000000"/>
                </a:solidFill>
              </a:rPr>
              <a:t>Governance</a:t>
            </a:r>
            <a:endParaRPr lang="en-US" sz="1300"/>
          </a:p>
        </p:txBody>
      </p:sp>
      <p:sp>
        <p:nvSpPr>
          <p:cNvPr id="53" name="Text 42"/>
          <p:cNvSpPr txBox="1"/>
          <p:nvPr/>
        </p:nvSpPr>
        <p:spPr>
          <a:xfrm>
            <a:off x="7388352" y="5340096"/>
            <a:ext cx="4160520" cy="292608"/>
          </a:xfrm>
          <a:prstGeom prst="rect">
            <a:avLst/>
          </a:prstGeom>
          <a:noFill/>
          <a:ln/>
        </p:spPr>
        <p:txBody>
          <a:bodyPr wrap="square" lIns="0" tIns="0" rIns="0" bIns="0" rtlCol="0" anchor="t"/>
          <a:lstStyle/>
          <a:p>
            <a:pPr marL="0" indent="0">
              <a:buNone/>
            </a:pPr>
            <a:r>
              <a:rPr lang="en-US" sz="1100">
                <a:solidFill>
                  <a:srgbClr val="4D4D4D"/>
                </a:solidFill>
              </a:rPr>
              <a:t>BAA [to confirm], data retention, no tracking pixels, pen tests</a:t>
            </a:r>
            <a:endParaRPr lang="en-US" sz="1100"/>
          </a:p>
        </p:txBody>
      </p:sp>
      <p:sp>
        <p:nvSpPr>
          <p:cNvPr id="54" name="Text 43"/>
          <p:cNvSpPr txBox="1"/>
          <p:nvPr/>
        </p:nvSpPr>
        <p:spPr>
          <a:xfrm>
            <a:off x="6263640" y="5852160"/>
            <a:ext cx="5422392" cy="274320"/>
          </a:xfrm>
          <a:prstGeom prst="rect">
            <a:avLst/>
          </a:prstGeom>
          <a:noFill/>
          <a:ln/>
        </p:spPr>
        <p:txBody>
          <a:bodyPr wrap="square" lIns="0" tIns="0" rIns="0" bIns="0" rtlCol="0" anchor="t"/>
          <a:lstStyle/>
          <a:p>
            <a:pPr marL="0" indent="0">
              <a:buNone/>
            </a:pPr>
            <a:r>
              <a:rPr lang="en-US" sz="1100" i="1">
                <a:solidFill>
                  <a:srgbClr val="4D4D4D"/>
                </a:solidFill>
              </a:rPr>
              <a:t>Class topics are treated as sensitive: signing up for a diabetes class implies a health condition.</a:t>
            </a:r>
            <a:endParaRPr lang="en-US" sz="1100"/>
          </a:p>
        </p:txBody>
      </p:sp>
      <p:sp>
        <p:nvSpPr>
          <p:cNvPr id="55" name="Slide Number Placeholder 0"/>
          <p:cNvSpPr>
            <a:spLocks noGrp="1"/>
          </p:cNvSpPr>
          <p:nvPr>
            <p:ph type="sldNum" sz="quarter" idx="4294967295"/>
          </p:nvPr>
        </p:nvSpPr>
        <p:spPr>
          <a:xfrm>
            <a:off x="11292840" y="6336792"/>
            <a:ext cx="457200" cy="22860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tx1"/>
                </a:solidFill>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02920" y="658368"/>
            <a:ext cx="11185855" cy="822960"/>
          </a:xfrm>
          <a:prstGeom prst="rect">
            <a:avLst/>
          </a:prstGeom>
          <a:noFill/>
          <a:ln/>
        </p:spPr>
        <p:txBody>
          <a:bodyPr wrap="square" lIns="0" tIns="0" rIns="0" bIns="0" rtlCol="0" anchor="t"/>
          <a:lstStyle/>
          <a:p>
            <a:pPr marL="0" indent="0" algn="l">
              <a:buNone/>
            </a:pPr>
            <a:r>
              <a:rPr lang="en-US" sz="3200" b="1">
                <a:solidFill>
                  <a:schemeClr val="tx1"/>
                </a:solidFill>
              </a:rPr>
              <a:t>Design detail: payment sequence</a:t>
            </a:r>
            <a:endParaRPr lang="en-US" sz="3200"/>
          </a:p>
        </p:txBody>
      </p:sp>
      <p:sp>
        <p:nvSpPr>
          <p:cNvPr id="3" name="participant-p"/>
          <p:cNvSpPr/>
          <p:nvPr/>
        </p:nvSpPr>
        <p:spPr>
          <a:xfrm>
            <a:off x="557784" y="1508760"/>
            <a:ext cx="1764792" cy="475488"/>
          </a:xfrm>
          <a:prstGeom prst="roundRect">
            <a:avLst>
              <a:gd name="adj" fmla="val 15385"/>
            </a:avLst>
          </a:prstGeom>
          <a:solidFill>
            <a:srgbClr val="F2F2F2"/>
          </a:solidFill>
          <a:ln w="15875">
            <a:solidFill>
              <a:srgbClr val="B8B8C0"/>
            </a:solidFill>
            <a:prstDash val="solid"/>
          </a:ln>
        </p:spPr>
        <p:txBody>
          <a:bodyPr/>
          <a:lstStyle/>
          <a:p>
            <a:endParaRPr lang="en-IN"/>
          </a:p>
        </p:txBody>
      </p:sp>
      <p:sp>
        <p:nvSpPr>
          <p:cNvPr id="4" name="Text 2"/>
          <p:cNvSpPr txBox="1"/>
          <p:nvPr/>
        </p:nvSpPr>
        <p:spPr>
          <a:xfrm>
            <a:off x="594360" y="1508760"/>
            <a:ext cx="1691640" cy="475488"/>
          </a:xfrm>
          <a:prstGeom prst="rect">
            <a:avLst/>
          </a:prstGeom>
          <a:noFill/>
          <a:ln/>
        </p:spPr>
        <p:txBody>
          <a:bodyPr wrap="square" lIns="0" tIns="0" rIns="0" bIns="0" rtlCol="0" anchor="ctr"/>
          <a:lstStyle/>
          <a:p>
            <a:pPr marL="0" indent="0" algn="ctr">
              <a:buNone/>
            </a:pPr>
            <a:r>
              <a:rPr lang="en-US" sz="1050" b="1">
                <a:solidFill>
                  <a:srgbClr val="000000"/>
                </a:solidFill>
              </a:rPr>
              <a:t>Registrant (web or app)</a:t>
            </a:r>
            <a:endParaRPr lang="en-US" sz="1050"/>
          </a:p>
        </p:txBody>
      </p:sp>
      <p:sp>
        <p:nvSpPr>
          <p:cNvPr id="5" name="Shape 3"/>
          <p:cNvSpPr/>
          <p:nvPr/>
        </p:nvSpPr>
        <p:spPr>
          <a:xfrm>
            <a:off x="1440180" y="1984248"/>
            <a:ext cx="0" cy="4050792"/>
          </a:xfrm>
          <a:prstGeom prst="line">
            <a:avLst/>
          </a:prstGeom>
          <a:noFill/>
          <a:ln w="12700">
            <a:solidFill>
              <a:srgbClr val="B0B0B8"/>
            </a:solidFill>
            <a:prstDash val="dash"/>
          </a:ln>
        </p:spPr>
        <p:txBody>
          <a:bodyPr/>
          <a:lstStyle/>
          <a:p>
            <a:endParaRPr lang="en-IN"/>
          </a:p>
        </p:txBody>
      </p:sp>
      <p:sp>
        <p:nvSpPr>
          <p:cNvPr id="6" name="participant-reg"/>
          <p:cNvSpPr/>
          <p:nvPr/>
        </p:nvSpPr>
        <p:spPr>
          <a:xfrm>
            <a:off x="2432304" y="1508760"/>
            <a:ext cx="1764792" cy="475488"/>
          </a:xfrm>
          <a:prstGeom prst="roundRect">
            <a:avLst>
              <a:gd name="adj" fmla="val 15385"/>
            </a:avLst>
          </a:prstGeom>
          <a:solidFill>
            <a:srgbClr val="F2F2F2"/>
          </a:solidFill>
          <a:ln w="22225">
            <a:solidFill>
              <a:srgbClr val="D9B200"/>
            </a:solidFill>
            <a:prstDash val="solid"/>
          </a:ln>
        </p:spPr>
        <p:txBody>
          <a:bodyPr/>
          <a:lstStyle/>
          <a:p>
            <a:endParaRPr lang="en-IN"/>
          </a:p>
        </p:txBody>
      </p:sp>
      <p:sp>
        <p:nvSpPr>
          <p:cNvPr id="7" name="Text 5"/>
          <p:cNvSpPr txBox="1"/>
          <p:nvPr/>
        </p:nvSpPr>
        <p:spPr>
          <a:xfrm>
            <a:off x="2468880" y="1508760"/>
            <a:ext cx="1691640" cy="475488"/>
          </a:xfrm>
          <a:prstGeom prst="rect">
            <a:avLst/>
          </a:prstGeom>
          <a:noFill/>
          <a:ln/>
        </p:spPr>
        <p:txBody>
          <a:bodyPr wrap="square" lIns="0" tIns="0" rIns="0" bIns="0" rtlCol="0" anchor="ctr"/>
          <a:lstStyle/>
          <a:p>
            <a:pPr marL="0" indent="0" algn="ctr">
              <a:buNone/>
            </a:pPr>
            <a:r>
              <a:rPr lang="en-US" sz="1050" b="1">
                <a:solidFill>
                  <a:srgbClr val="000000"/>
                </a:solidFill>
              </a:rPr>
              <a:t>Registration service</a:t>
            </a:r>
            <a:endParaRPr lang="en-US" sz="1050"/>
          </a:p>
        </p:txBody>
      </p:sp>
      <p:sp>
        <p:nvSpPr>
          <p:cNvPr id="8" name="Shape 6"/>
          <p:cNvSpPr/>
          <p:nvPr/>
        </p:nvSpPr>
        <p:spPr>
          <a:xfrm>
            <a:off x="3314700" y="1984248"/>
            <a:ext cx="0" cy="4050792"/>
          </a:xfrm>
          <a:prstGeom prst="line">
            <a:avLst/>
          </a:prstGeom>
          <a:noFill/>
          <a:ln w="12700">
            <a:solidFill>
              <a:srgbClr val="B0B0B8"/>
            </a:solidFill>
            <a:prstDash val="dash"/>
          </a:ln>
        </p:spPr>
        <p:txBody>
          <a:bodyPr/>
          <a:lstStyle/>
          <a:p>
            <a:endParaRPr lang="en-IN"/>
          </a:p>
        </p:txBody>
      </p:sp>
      <p:sp>
        <p:nvSpPr>
          <p:cNvPr id="9" name="participant-gw"/>
          <p:cNvSpPr/>
          <p:nvPr/>
        </p:nvSpPr>
        <p:spPr>
          <a:xfrm>
            <a:off x="4306824" y="1508760"/>
            <a:ext cx="1764792" cy="475488"/>
          </a:xfrm>
          <a:prstGeom prst="roundRect">
            <a:avLst>
              <a:gd name="adj" fmla="val 15385"/>
            </a:avLst>
          </a:prstGeom>
          <a:solidFill>
            <a:srgbClr val="F2F2F2"/>
          </a:solidFill>
          <a:ln w="22225">
            <a:solidFill>
              <a:srgbClr val="FF0068"/>
            </a:solidFill>
            <a:prstDash val="solid"/>
          </a:ln>
        </p:spPr>
        <p:txBody>
          <a:bodyPr/>
          <a:lstStyle/>
          <a:p>
            <a:endParaRPr lang="en-IN"/>
          </a:p>
        </p:txBody>
      </p:sp>
      <p:sp>
        <p:nvSpPr>
          <p:cNvPr id="10" name="Text 8"/>
          <p:cNvSpPr txBox="1"/>
          <p:nvPr/>
        </p:nvSpPr>
        <p:spPr>
          <a:xfrm>
            <a:off x="4343400" y="1508760"/>
            <a:ext cx="1691640" cy="475488"/>
          </a:xfrm>
          <a:prstGeom prst="rect">
            <a:avLst/>
          </a:prstGeom>
          <a:noFill/>
          <a:ln/>
        </p:spPr>
        <p:txBody>
          <a:bodyPr wrap="square" lIns="0" tIns="0" rIns="0" bIns="0" rtlCol="0" anchor="ctr"/>
          <a:lstStyle/>
          <a:p>
            <a:pPr marL="0" indent="0" algn="ctr">
              <a:buNone/>
            </a:pPr>
            <a:r>
              <a:rPr lang="en-US" sz="1050" b="1">
                <a:solidFill>
                  <a:srgbClr val="000000"/>
                </a:solidFill>
              </a:rPr>
              <a:t>Gateway hosted page</a:t>
            </a:r>
            <a:endParaRPr lang="en-US" sz="1050"/>
          </a:p>
        </p:txBody>
      </p:sp>
      <p:sp>
        <p:nvSpPr>
          <p:cNvPr id="11" name="Shape 9"/>
          <p:cNvSpPr/>
          <p:nvPr/>
        </p:nvSpPr>
        <p:spPr>
          <a:xfrm>
            <a:off x="5189220" y="1984248"/>
            <a:ext cx="0" cy="4050792"/>
          </a:xfrm>
          <a:prstGeom prst="line">
            <a:avLst/>
          </a:prstGeom>
          <a:noFill/>
          <a:ln w="12700">
            <a:solidFill>
              <a:srgbClr val="B0B0B8"/>
            </a:solidFill>
            <a:prstDash val="dash"/>
          </a:ln>
        </p:spPr>
        <p:txBody>
          <a:bodyPr/>
          <a:lstStyle/>
          <a:p>
            <a:endParaRPr lang="en-IN"/>
          </a:p>
        </p:txBody>
      </p:sp>
      <p:sp>
        <p:nvSpPr>
          <p:cNvPr id="12" name="participant-sf"/>
          <p:cNvSpPr/>
          <p:nvPr/>
        </p:nvSpPr>
        <p:spPr>
          <a:xfrm>
            <a:off x="6181344" y="1508760"/>
            <a:ext cx="1764792" cy="475488"/>
          </a:xfrm>
          <a:prstGeom prst="roundRect">
            <a:avLst>
              <a:gd name="adj" fmla="val 15385"/>
            </a:avLst>
          </a:prstGeom>
          <a:solidFill>
            <a:srgbClr val="F2F2F2"/>
          </a:solidFill>
          <a:ln w="22225">
            <a:solidFill>
              <a:srgbClr val="00A9C0"/>
            </a:solidFill>
            <a:prstDash val="solid"/>
          </a:ln>
        </p:spPr>
        <p:txBody>
          <a:bodyPr/>
          <a:lstStyle/>
          <a:p>
            <a:endParaRPr lang="en-IN"/>
          </a:p>
        </p:txBody>
      </p:sp>
      <p:sp>
        <p:nvSpPr>
          <p:cNvPr id="13" name="Text 11"/>
          <p:cNvSpPr txBox="1"/>
          <p:nvPr/>
        </p:nvSpPr>
        <p:spPr>
          <a:xfrm>
            <a:off x="6217920" y="1508760"/>
            <a:ext cx="1691640" cy="475488"/>
          </a:xfrm>
          <a:prstGeom prst="rect">
            <a:avLst/>
          </a:prstGeom>
          <a:noFill/>
          <a:ln/>
        </p:spPr>
        <p:txBody>
          <a:bodyPr wrap="square" lIns="0" tIns="0" rIns="0" bIns="0" rtlCol="0" anchor="ctr"/>
          <a:lstStyle/>
          <a:p>
            <a:pPr marL="0" indent="0" algn="ctr">
              <a:buNone/>
            </a:pPr>
            <a:r>
              <a:rPr lang="en-US" sz="1050" b="1">
                <a:solidFill>
                  <a:srgbClr val="000000"/>
                </a:solidFill>
              </a:rPr>
              <a:t>Salesforce</a:t>
            </a:r>
            <a:endParaRPr lang="en-US" sz="1050"/>
          </a:p>
        </p:txBody>
      </p:sp>
      <p:sp>
        <p:nvSpPr>
          <p:cNvPr id="14" name="Shape 12"/>
          <p:cNvSpPr/>
          <p:nvPr/>
        </p:nvSpPr>
        <p:spPr>
          <a:xfrm>
            <a:off x="7063740" y="1984248"/>
            <a:ext cx="0" cy="4050792"/>
          </a:xfrm>
          <a:prstGeom prst="line">
            <a:avLst/>
          </a:prstGeom>
          <a:noFill/>
          <a:ln w="12700">
            <a:solidFill>
              <a:srgbClr val="B0B0B8"/>
            </a:solidFill>
            <a:prstDash val="dash"/>
          </a:ln>
        </p:spPr>
        <p:txBody>
          <a:bodyPr/>
          <a:lstStyle/>
          <a:p>
            <a:endParaRPr lang="en-IN"/>
          </a:p>
        </p:txBody>
      </p:sp>
      <p:sp>
        <p:nvSpPr>
          <p:cNvPr id="15" name="Shape 13"/>
          <p:cNvSpPr/>
          <p:nvPr/>
        </p:nvSpPr>
        <p:spPr>
          <a:xfrm>
            <a:off x="3314700" y="2358193"/>
            <a:ext cx="1874520" cy="0"/>
          </a:xfrm>
          <a:prstGeom prst="line">
            <a:avLst/>
          </a:prstGeom>
          <a:noFill/>
          <a:ln w="15875">
            <a:solidFill>
              <a:srgbClr val="1A1A1A"/>
            </a:solidFill>
            <a:prstDash val="solid"/>
            <a:tailEnd type="triangle"/>
          </a:ln>
        </p:spPr>
        <p:txBody>
          <a:bodyPr/>
          <a:lstStyle/>
          <a:p>
            <a:endParaRPr lang="en-IN"/>
          </a:p>
        </p:txBody>
      </p:sp>
      <p:sp>
        <p:nvSpPr>
          <p:cNvPr id="16" name="Shape 14"/>
          <p:cNvSpPr/>
          <p:nvPr/>
        </p:nvSpPr>
        <p:spPr>
          <a:xfrm>
            <a:off x="3214116" y="2257609"/>
            <a:ext cx="201168" cy="201168"/>
          </a:xfrm>
          <a:prstGeom prst="ellipse">
            <a:avLst/>
          </a:prstGeom>
          <a:solidFill>
            <a:srgbClr val="00A9C0"/>
          </a:solidFill>
          <a:ln w="12700">
            <a:solidFill>
              <a:srgbClr val="00A9C0"/>
            </a:solidFill>
            <a:prstDash val="solid"/>
          </a:ln>
        </p:spPr>
        <p:txBody>
          <a:bodyPr/>
          <a:lstStyle/>
          <a:p>
            <a:endParaRPr lang="en-IN"/>
          </a:p>
        </p:txBody>
      </p:sp>
      <p:sp>
        <p:nvSpPr>
          <p:cNvPr id="17" name="Text 15"/>
          <p:cNvSpPr txBox="1"/>
          <p:nvPr/>
        </p:nvSpPr>
        <p:spPr>
          <a:xfrm>
            <a:off x="3214116" y="2257609"/>
            <a:ext cx="201168" cy="201168"/>
          </a:xfrm>
          <a:prstGeom prst="rect">
            <a:avLst/>
          </a:prstGeom>
          <a:noFill/>
          <a:ln/>
        </p:spPr>
        <p:txBody>
          <a:bodyPr wrap="square" lIns="0" tIns="0" rIns="0" bIns="0" rtlCol="0" anchor="ctr"/>
          <a:lstStyle/>
          <a:p>
            <a:pPr marL="0" indent="0" algn="ctr">
              <a:buNone/>
            </a:pPr>
            <a:r>
              <a:rPr lang="en-US" sz="800" b="1">
                <a:solidFill>
                  <a:srgbClr val="000000"/>
                </a:solidFill>
              </a:rPr>
              <a:t>1</a:t>
            </a:r>
            <a:endParaRPr lang="en-US" sz="800"/>
          </a:p>
        </p:txBody>
      </p:sp>
      <p:sp>
        <p:nvSpPr>
          <p:cNvPr id="18" name="Text 16"/>
          <p:cNvSpPr txBox="1"/>
          <p:nvPr/>
        </p:nvSpPr>
        <p:spPr>
          <a:xfrm>
            <a:off x="3461004" y="2111305"/>
            <a:ext cx="3070555" cy="219456"/>
          </a:xfrm>
          <a:prstGeom prst="rect">
            <a:avLst/>
          </a:prstGeom>
          <a:noFill/>
          <a:ln/>
        </p:spPr>
        <p:txBody>
          <a:bodyPr wrap="square" lIns="0" tIns="0" rIns="0" bIns="0" rtlCol="0" anchor="b"/>
          <a:lstStyle/>
          <a:p>
            <a:pPr marL="0" indent="0" algn="ctr">
              <a:buNone/>
            </a:pPr>
            <a:r>
              <a:rPr lang="en-US" sz="1000">
                <a:solidFill>
                  <a:srgbClr val="000000"/>
                </a:solidFill>
              </a:rPr>
              <a:t>Create payment session (amount, reference)</a:t>
            </a:r>
            <a:endParaRPr lang="en-US" sz="1000"/>
          </a:p>
        </p:txBody>
      </p:sp>
      <p:sp>
        <p:nvSpPr>
          <p:cNvPr id="19" name="Shape 17"/>
          <p:cNvSpPr/>
          <p:nvPr/>
        </p:nvSpPr>
        <p:spPr>
          <a:xfrm>
            <a:off x="3314700" y="2786231"/>
            <a:ext cx="1874520" cy="0"/>
          </a:xfrm>
          <a:prstGeom prst="line">
            <a:avLst/>
          </a:prstGeom>
          <a:noFill/>
          <a:ln w="15875">
            <a:solidFill>
              <a:srgbClr val="6B7280"/>
            </a:solidFill>
            <a:prstDash val="dash"/>
            <a:headEnd type="triangle"/>
          </a:ln>
        </p:spPr>
        <p:txBody>
          <a:bodyPr/>
          <a:lstStyle/>
          <a:p>
            <a:endParaRPr lang="en-IN"/>
          </a:p>
        </p:txBody>
      </p:sp>
      <p:sp>
        <p:nvSpPr>
          <p:cNvPr id="20" name="Shape 18"/>
          <p:cNvSpPr/>
          <p:nvPr/>
        </p:nvSpPr>
        <p:spPr>
          <a:xfrm>
            <a:off x="5088636" y="2685647"/>
            <a:ext cx="201168" cy="201168"/>
          </a:xfrm>
          <a:prstGeom prst="ellipse">
            <a:avLst/>
          </a:prstGeom>
          <a:solidFill>
            <a:srgbClr val="00A9C0"/>
          </a:solidFill>
          <a:ln w="12700">
            <a:solidFill>
              <a:srgbClr val="00A9C0"/>
            </a:solidFill>
            <a:prstDash val="solid"/>
          </a:ln>
        </p:spPr>
        <p:txBody>
          <a:bodyPr/>
          <a:lstStyle/>
          <a:p>
            <a:endParaRPr lang="en-IN"/>
          </a:p>
        </p:txBody>
      </p:sp>
      <p:sp>
        <p:nvSpPr>
          <p:cNvPr id="21" name="Text 19"/>
          <p:cNvSpPr txBox="1"/>
          <p:nvPr/>
        </p:nvSpPr>
        <p:spPr>
          <a:xfrm>
            <a:off x="5088636" y="2685647"/>
            <a:ext cx="201168" cy="201168"/>
          </a:xfrm>
          <a:prstGeom prst="rect">
            <a:avLst/>
          </a:prstGeom>
          <a:noFill/>
          <a:ln/>
        </p:spPr>
        <p:txBody>
          <a:bodyPr wrap="square" lIns="0" tIns="0" rIns="0" bIns="0" rtlCol="0" anchor="ctr"/>
          <a:lstStyle/>
          <a:p>
            <a:pPr marL="0" indent="0" algn="ctr">
              <a:buNone/>
            </a:pPr>
            <a:r>
              <a:rPr lang="en-US" sz="800" b="1">
                <a:solidFill>
                  <a:srgbClr val="000000"/>
                </a:solidFill>
              </a:rPr>
              <a:t>2</a:t>
            </a:r>
            <a:endParaRPr lang="en-US" sz="800"/>
          </a:p>
        </p:txBody>
      </p:sp>
      <p:sp>
        <p:nvSpPr>
          <p:cNvPr id="22" name="Text 20"/>
          <p:cNvSpPr txBox="1"/>
          <p:nvPr/>
        </p:nvSpPr>
        <p:spPr>
          <a:xfrm>
            <a:off x="3351276" y="2539343"/>
            <a:ext cx="1691640" cy="219456"/>
          </a:xfrm>
          <a:prstGeom prst="rect">
            <a:avLst/>
          </a:prstGeom>
          <a:noFill/>
          <a:ln/>
        </p:spPr>
        <p:txBody>
          <a:bodyPr wrap="square" lIns="0" tIns="0" rIns="0" bIns="0" rtlCol="0" anchor="b"/>
          <a:lstStyle/>
          <a:p>
            <a:pPr marL="0" indent="0" algn="ctr">
              <a:buNone/>
            </a:pPr>
            <a:r>
              <a:rPr lang="en-US" sz="1000">
                <a:solidFill>
                  <a:srgbClr val="4D4D4D"/>
                </a:solidFill>
              </a:rPr>
              <a:t>Session token</a:t>
            </a:r>
            <a:endParaRPr lang="en-US" sz="1000"/>
          </a:p>
        </p:txBody>
      </p:sp>
      <p:sp>
        <p:nvSpPr>
          <p:cNvPr id="23" name="Shape 21"/>
          <p:cNvSpPr/>
          <p:nvPr/>
        </p:nvSpPr>
        <p:spPr>
          <a:xfrm>
            <a:off x="1440180" y="3214269"/>
            <a:ext cx="1874520" cy="0"/>
          </a:xfrm>
          <a:prstGeom prst="line">
            <a:avLst/>
          </a:prstGeom>
          <a:noFill/>
          <a:ln w="15875">
            <a:solidFill>
              <a:srgbClr val="6B7280"/>
            </a:solidFill>
            <a:prstDash val="dash"/>
            <a:headEnd type="triangle"/>
          </a:ln>
        </p:spPr>
        <p:txBody>
          <a:bodyPr/>
          <a:lstStyle/>
          <a:p>
            <a:endParaRPr lang="en-IN"/>
          </a:p>
        </p:txBody>
      </p:sp>
      <p:sp>
        <p:nvSpPr>
          <p:cNvPr id="24" name="Shape 22"/>
          <p:cNvSpPr/>
          <p:nvPr/>
        </p:nvSpPr>
        <p:spPr>
          <a:xfrm>
            <a:off x="3214116" y="3113685"/>
            <a:ext cx="201168" cy="201168"/>
          </a:xfrm>
          <a:prstGeom prst="ellipse">
            <a:avLst/>
          </a:prstGeom>
          <a:solidFill>
            <a:srgbClr val="00A9C0"/>
          </a:solidFill>
          <a:ln w="12700">
            <a:solidFill>
              <a:srgbClr val="00A9C0"/>
            </a:solidFill>
            <a:prstDash val="solid"/>
          </a:ln>
        </p:spPr>
        <p:txBody>
          <a:bodyPr/>
          <a:lstStyle/>
          <a:p>
            <a:endParaRPr lang="en-IN"/>
          </a:p>
        </p:txBody>
      </p:sp>
      <p:sp>
        <p:nvSpPr>
          <p:cNvPr id="25" name="Text 23"/>
          <p:cNvSpPr txBox="1"/>
          <p:nvPr/>
        </p:nvSpPr>
        <p:spPr>
          <a:xfrm>
            <a:off x="3214116" y="3113685"/>
            <a:ext cx="201168" cy="201168"/>
          </a:xfrm>
          <a:prstGeom prst="rect">
            <a:avLst/>
          </a:prstGeom>
          <a:noFill/>
          <a:ln/>
        </p:spPr>
        <p:txBody>
          <a:bodyPr wrap="square" lIns="0" tIns="0" rIns="0" bIns="0" rtlCol="0" anchor="ctr"/>
          <a:lstStyle/>
          <a:p>
            <a:pPr marL="0" indent="0" algn="ctr">
              <a:buNone/>
            </a:pPr>
            <a:r>
              <a:rPr lang="en-US" sz="800" b="1">
                <a:solidFill>
                  <a:srgbClr val="000000"/>
                </a:solidFill>
              </a:rPr>
              <a:t>3</a:t>
            </a:r>
            <a:endParaRPr lang="en-US" sz="800"/>
          </a:p>
        </p:txBody>
      </p:sp>
      <p:sp>
        <p:nvSpPr>
          <p:cNvPr id="26" name="Text 24"/>
          <p:cNvSpPr txBox="1"/>
          <p:nvPr/>
        </p:nvSpPr>
        <p:spPr>
          <a:xfrm>
            <a:off x="1315822" y="2967381"/>
            <a:ext cx="1852574" cy="219456"/>
          </a:xfrm>
          <a:prstGeom prst="rect">
            <a:avLst/>
          </a:prstGeom>
          <a:noFill/>
          <a:ln/>
        </p:spPr>
        <p:txBody>
          <a:bodyPr wrap="square" lIns="0" tIns="0" rIns="0" bIns="0" rtlCol="0" anchor="b"/>
          <a:lstStyle/>
          <a:p>
            <a:pPr marL="0" indent="0" algn="ctr">
              <a:buNone/>
            </a:pPr>
            <a:r>
              <a:rPr lang="en-US" sz="1000">
                <a:solidFill>
                  <a:srgbClr val="4D4D4D"/>
                </a:solidFill>
              </a:rPr>
              <a:t>Open hosted payment page</a:t>
            </a:r>
            <a:endParaRPr lang="en-US" sz="1000"/>
          </a:p>
        </p:txBody>
      </p:sp>
      <p:sp>
        <p:nvSpPr>
          <p:cNvPr id="27" name="Shape 25"/>
          <p:cNvSpPr/>
          <p:nvPr/>
        </p:nvSpPr>
        <p:spPr>
          <a:xfrm>
            <a:off x="1440180" y="3642307"/>
            <a:ext cx="3749040" cy="0"/>
          </a:xfrm>
          <a:prstGeom prst="line">
            <a:avLst/>
          </a:prstGeom>
          <a:noFill/>
          <a:ln w="15875">
            <a:solidFill>
              <a:srgbClr val="1A1A1A"/>
            </a:solidFill>
            <a:prstDash val="solid"/>
            <a:tailEnd type="triangle"/>
          </a:ln>
        </p:spPr>
        <p:txBody>
          <a:bodyPr/>
          <a:lstStyle/>
          <a:p>
            <a:endParaRPr lang="en-IN"/>
          </a:p>
        </p:txBody>
      </p:sp>
      <p:sp>
        <p:nvSpPr>
          <p:cNvPr id="28" name="Shape 26"/>
          <p:cNvSpPr/>
          <p:nvPr/>
        </p:nvSpPr>
        <p:spPr>
          <a:xfrm>
            <a:off x="1339596" y="3541723"/>
            <a:ext cx="201168" cy="201168"/>
          </a:xfrm>
          <a:prstGeom prst="ellipse">
            <a:avLst/>
          </a:prstGeom>
          <a:solidFill>
            <a:srgbClr val="00A9C0"/>
          </a:solidFill>
          <a:ln w="12700">
            <a:solidFill>
              <a:srgbClr val="00A9C0"/>
            </a:solidFill>
            <a:prstDash val="solid"/>
          </a:ln>
        </p:spPr>
        <p:txBody>
          <a:bodyPr/>
          <a:lstStyle/>
          <a:p>
            <a:endParaRPr lang="en-IN"/>
          </a:p>
        </p:txBody>
      </p:sp>
      <p:sp>
        <p:nvSpPr>
          <p:cNvPr id="29" name="Text 27"/>
          <p:cNvSpPr txBox="1"/>
          <p:nvPr/>
        </p:nvSpPr>
        <p:spPr>
          <a:xfrm>
            <a:off x="1339596" y="3541723"/>
            <a:ext cx="201168" cy="201168"/>
          </a:xfrm>
          <a:prstGeom prst="rect">
            <a:avLst/>
          </a:prstGeom>
          <a:noFill/>
          <a:ln/>
        </p:spPr>
        <p:txBody>
          <a:bodyPr wrap="square" lIns="0" tIns="0" rIns="0" bIns="0" rtlCol="0" anchor="ctr"/>
          <a:lstStyle/>
          <a:p>
            <a:pPr marL="0" indent="0" algn="ctr">
              <a:buNone/>
            </a:pPr>
            <a:r>
              <a:rPr lang="en-US" sz="800" b="1">
                <a:solidFill>
                  <a:srgbClr val="000000"/>
                </a:solidFill>
              </a:rPr>
              <a:t>4</a:t>
            </a:r>
            <a:endParaRPr lang="en-US" sz="800"/>
          </a:p>
        </p:txBody>
      </p:sp>
      <p:sp>
        <p:nvSpPr>
          <p:cNvPr id="30" name="Text 28"/>
          <p:cNvSpPr txBox="1"/>
          <p:nvPr/>
        </p:nvSpPr>
        <p:spPr>
          <a:xfrm>
            <a:off x="1586484" y="3395419"/>
            <a:ext cx="3566160" cy="219456"/>
          </a:xfrm>
          <a:prstGeom prst="rect">
            <a:avLst/>
          </a:prstGeom>
          <a:noFill/>
          <a:ln/>
        </p:spPr>
        <p:txBody>
          <a:bodyPr wrap="square" lIns="0" tIns="0" rIns="0" bIns="0" rtlCol="0" anchor="b"/>
          <a:lstStyle/>
          <a:p>
            <a:pPr marL="0" indent="0" algn="ctr">
              <a:buNone/>
            </a:pPr>
            <a:r>
              <a:rPr lang="en-US" sz="1000">
                <a:solidFill>
                  <a:srgbClr val="000000"/>
                </a:solidFill>
              </a:rPr>
              <a:t>Card details typed into the gateway page</a:t>
            </a:r>
            <a:endParaRPr lang="en-US" sz="1000"/>
          </a:p>
        </p:txBody>
      </p:sp>
      <p:sp>
        <p:nvSpPr>
          <p:cNvPr id="31" name="Shape 29"/>
          <p:cNvSpPr/>
          <p:nvPr/>
        </p:nvSpPr>
        <p:spPr>
          <a:xfrm>
            <a:off x="1440180" y="4070345"/>
            <a:ext cx="3749040" cy="0"/>
          </a:xfrm>
          <a:prstGeom prst="line">
            <a:avLst/>
          </a:prstGeom>
          <a:noFill/>
          <a:ln w="15875">
            <a:solidFill>
              <a:srgbClr val="6B7280"/>
            </a:solidFill>
            <a:prstDash val="dash"/>
            <a:headEnd type="triangle"/>
          </a:ln>
        </p:spPr>
        <p:txBody>
          <a:bodyPr/>
          <a:lstStyle/>
          <a:p>
            <a:endParaRPr lang="en-IN"/>
          </a:p>
        </p:txBody>
      </p:sp>
      <p:sp>
        <p:nvSpPr>
          <p:cNvPr id="32" name="Shape 30"/>
          <p:cNvSpPr/>
          <p:nvPr/>
        </p:nvSpPr>
        <p:spPr>
          <a:xfrm>
            <a:off x="5088636" y="3969761"/>
            <a:ext cx="201168" cy="201168"/>
          </a:xfrm>
          <a:prstGeom prst="ellipse">
            <a:avLst/>
          </a:prstGeom>
          <a:solidFill>
            <a:srgbClr val="00A9C0"/>
          </a:solidFill>
          <a:ln w="12700">
            <a:solidFill>
              <a:srgbClr val="00A9C0"/>
            </a:solidFill>
            <a:prstDash val="solid"/>
          </a:ln>
        </p:spPr>
        <p:txBody>
          <a:bodyPr/>
          <a:lstStyle/>
          <a:p>
            <a:endParaRPr lang="en-IN"/>
          </a:p>
        </p:txBody>
      </p:sp>
      <p:sp>
        <p:nvSpPr>
          <p:cNvPr id="33" name="Text 31"/>
          <p:cNvSpPr txBox="1"/>
          <p:nvPr/>
        </p:nvSpPr>
        <p:spPr>
          <a:xfrm>
            <a:off x="5088636" y="3969761"/>
            <a:ext cx="201168" cy="201168"/>
          </a:xfrm>
          <a:prstGeom prst="rect">
            <a:avLst/>
          </a:prstGeom>
          <a:noFill/>
          <a:ln/>
        </p:spPr>
        <p:txBody>
          <a:bodyPr wrap="square" lIns="0" tIns="0" rIns="0" bIns="0" rtlCol="0" anchor="ctr"/>
          <a:lstStyle/>
          <a:p>
            <a:pPr marL="0" indent="0" algn="ctr">
              <a:buNone/>
            </a:pPr>
            <a:r>
              <a:rPr lang="en-US" sz="800" b="1">
                <a:solidFill>
                  <a:srgbClr val="000000"/>
                </a:solidFill>
              </a:rPr>
              <a:t>5</a:t>
            </a:r>
            <a:endParaRPr lang="en-US" sz="800"/>
          </a:p>
        </p:txBody>
      </p:sp>
      <p:sp>
        <p:nvSpPr>
          <p:cNvPr id="34" name="Text 32"/>
          <p:cNvSpPr txBox="1"/>
          <p:nvPr/>
        </p:nvSpPr>
        <p:spPr>
          <a:xfrm>
            <a:off x="1476756" y="3823457"/>
            <a:ext cx="3566160" cy="219456"/>
          </a:xfrm>
          <a:prstGeom prst="rect">
            <a:avLst/>
          </a:prstGeom>
          <a:noFill/>
          <a:ln/>
        </p:spPr>
        <p:txBody>
          <a:bodyPr wrap="square" lIns="0" tIns="0" rIns="0" bIns="0" rtlCol="0" anchor="b"/>
          <a:lstStyle/>
          <a:p>
            <a:pPr marL="0" indent="0" algn="ctr">
              <a:buNone/>
            </a:pPr>
            <a:r>
              <a:rPr lang="en-US" sz="1000">
                <a:solidFill>
                  <a:srgbClr val="4D4D4D"/>
                </a:solidFill>
              </a:rPr>
              <a:t>Approved</a:t>
            </a:r>
            <a:endParaRPr lang="en-US" sz="1000"/>
          </a:p>
        </p:txBody>
      </p:sp>
      <p:sp>
        <p:nvSpPr>
          <p:cNvPr id="35" name="Shape 33"/>
          <p:cNvSpPr/>
          <p:nvPr/>
        </p:nvSpPr>
        <p:spPr>
          <a:xfrm>
            <a:off x="3314700" y="4498383"/>
            <a:ext cx="1874520" cy="0"/>
          </a:xfrm>
          <a:prstGeom prst="line">
            <a:avLst/>
          </a:prstGeom>
          <a:noFill/>
          <a:ln w="15875">
            <a:solidFill>
              <a:srgbClr val="1A1A1A"/>
            </a:solidFill>
            <a:prstDash val="solid"/>
            <a:headEnd type="triangle"/>
          </a:ln>
        </p:spPr>
        <p:txBody>
          <a:bodyPr/>
          <a:lstStyle/>
          <a:p>
            <a:endParaRPr lang="en-IN"/>
          </a:p>
        </p:txBody>
      </p:sp>
      <p:sp>
        <p:nvSpPr>
          <p:cNvPr id="36" name="Shape 34"/>
          <p:cNvSpPr/>
          <p:nvPr/>
        </p:nvSpPr>
        <p:spPr>
          <a:xfrm>
            <a:off x="5088636" y="4397799"/>
            <a:ext cx="201168" cy="201168"/>
          </a:xfrm>
          <a:prstGeom prst="ellipse">
            <a:avLst/>
          </a:prstGeom>
          <a:solidFill>
            <a:srgbClr val="00A9C0"/>
          </a:solidFill>
          <a:ln w="12700">
            <a:solidFill>
              <a:srgbClr val="00A9C0"/>
            </a:solidFill>
            <a:prstDash val="solid"/>
          </a:ln>
        </p:spPr>
        <p:txBody>
          <a:bodyPr/>
          <a:lstStyle/>
          <a:p>
            <a:endParaRPr lang="en-IN"/>
          </a:p>
        </p:txBody>
      </p:sp>
      <p:sp>
        <p:nvSpPr>
          <p:cNvPr id="37" name="Text 35"/>
          <p:cNvSpPr txBox="1"/>
          <p:nvPr/>
        </p:nvSpPr>
        <p:spPr>
          <a:xfrm>
            <a:off x="5088636" y="4397799"/>
            <a:ext cx="201168" cy="201168"/>
          </a:xfrm>
          <a:prstGeom prst="rect">
            <a:avLst/>
          </a:prstGeom>
          <a:noFill/>
          <a:ln/>
        </p:spPr>
        <p:txBody>
          <a:bodyPr wrap="square" lIns="0" tIns="0" rIns="0" bIns="0" rtlCol="0" anchor="ctr"/>
          <a:lstStyle/>
          <a:p>
            <a:pPr marL="0" indent="0" algn="ctr">
              <a:buNone/>
            </a:pPr>
            <a:r>
              <a:rPr lang="en-US" sz="800" b="1">
                <a:solidFill>
                  <a:srgbClr val="000000"/>
                </a:solidFill>
              </a:rPr>
              <a:t>6</a:t>
            </a:r>
            <a:endParaRPr lang="en-US" sz="800"/>
          </a:p>
        </p:txBody>
      </p:sp>
      <p:sp>
        <p:nvSpPr>
          <p:cNvPr id="38" name="Text 36"/>
          <p:cNvSpPr txBox="1"/>
          <p:nvPr/>
        </p:nvSpPr>
        <p:spPr>
          <a:xfrm>
            <a:off x="1769364" y="4251495"/>
            <a:ext cx="3273552" cy="219456"/>
          </a:xfrm>
          <a:prstGeom prst="rect">
            <a:avLst/>
          </a:prstGeom>
          <a:noFill/>
          <a:ln/>
        </p:spPr>
        <p:txBody>
          <a:bodyPr wrap="square" lIns="0" tIns="0" rIns="0" bIns="0" rtlCol="0" anchor="b"/>
          <a:lstStyle/>
          <a:p>
            <a:pPr marL="0" indent="0" algn="ctr">
              <a:buNone/>
            </a:pPr>
            <a:r>
              <a:rPr lang="en-US" sz="1000">
                <a:solidFill>
                  <a:srgbClr val="000000"/>
                </a:solidFill>
              </a:rPr>
              <a:t>Signed webhook (token, last 4, approval code)</a:t>
            </a:r>
            <a:endParaRPr lang="en-US" sz="1000"/>
          </a:p>
        </p:txBody>
      </p:sp>
      <p:sp>
        <p:nvSpPr>
          <p:cNvPr id="39" name="Shape 37"/>
          <p:cNvSpPr/>
          <p:nvPr/>
        </p:nvSpPr>
        <p:spPr>
          <a:xfrm>
            <a:off x="3314700" y="4831183"/>
            <a:ext cx="320040" cy="0"/>
          </a:xfrm>
          <a:prstGeom prst="line">
            <a:avLst/>
          </a:prstGeom>
          <a:noFill/>
          <a:ln w="15875">
            <a:solidFill>
              <a:srgbClr val="1A1A1A"/>
            </a:solidFill>
            <a:prstDash val="solid"/>
          </a:ln>
        </p:spPr>
        <p:txBody>
          <a:bodyPr/>
          <a:lstStyle/>
          <a:p>
            <a:endParaRPr lang="en-IN"/>
          </a:p>
        </p:txBody>
      </p:sp>
      <p:sp>
        <p:nvSpPr>
          <p:cNvPr id="40" name="Shape 38"/>
          <p:cNvSpPr/>
          <p:nvPr/>
        </p:nvSpPr>
        <p:spPr>
          <a:xfrm>
            <a:off x="3634740" y="4831183"/>
            <a:ext cx="0" cy="240771"/>
          </a:xfrm>
          <a:prstGeom prst="line">
            <a:avLst/>
          </a:prstGeom>
          <a:noFill/>
          <a:ln w="15875">
            <a:solidFill>
              <a:srgbClr val="1A1A1A"/>
            </a:solidFill>
            <a:prstDash val="solid"/>
          </a:ln>
        </p:spPr>
        <p:txBody>
          <a:bodyPr/>
          <a:lstStyle/>
          <a:p>
            <a:endParaRPr lang="en-IN"/>
          </a:p>
        </p:txBody>
      </p:sp>
      <p:sp>
        <p:nvSpPr>
          <p:cNvPr id="41" name="Shape 39"/>
          <p:cNvSpPr/>
          <p:nvPr/>
        </p:nvSpPr>
        <p:spPr>
          <a:xfrm>
            <a:off x="3314700" y="5071954"/>
            <a:ext cx="320040" cy="0"/>
          </a:xfrm>
          <a:prstGeom prst="line">
            <a:avLst/>
          </a:prstGeom>
          <a:noFill/>
          <a:ln w="15875">
            <a:solidFill>
              <a:srgbClr val="1A1A1A"/>
            </a:solidFill>
            <a:prstDash val="solid"/>
            <a:headEnd type="triangle"/>
          </a:ln>
        </p:spPr>
        <p:txBody>
          <a:bodyPr/>
          <a:lstStyle/>
          <a:p>
            <a:endParaRPr lang="en-IN"/>
          </a:p>
        </p:txBody>
      </p:sp>
      <p:sp>
        <p:nvSpPr>
          <p:cNvPr id="42" name="Shape 40"/>
          <p:cNvSpPr/>
          <p:nvPr/>
        </p:nvSpPr>
        <p:spPr>
          <a:xfrm>
            <a:off x="3214116" y="4730599"/>
            <a:ext cx="201168" cy="201168"/>
          </a:xfrm>
          <a:prstGeom prst="ellipse">
            <a:avLst/>
          </a:prstGeom>
          <a:solidFill>
            <a:srgbClr val="00A9C0"/>
          </a:solidFill>
          <a:ln w="12700">
            <a:solidFill>
              <a:srgbClr val="00A9C0"/>
            </a:solidFill>
            <a:prstDash val="solid"/>
          </a:ln>
        </p:spPr>
        <p:txBody>
          <a:bodyPr/>
          <a:lstStyle/>
          <a:p>
            <a:endParaRPr lang="en-IN"/>
          </a:p>
        </p:txBody>
      </p:sp>
      <p:sp>
        <p:nvSpPr>
          <p:cNvPr id="43" name="Text 41"/>
          <p:cNvSpPr txBox="1"/>
          <p:nvPr/>
        </p:nvSpPr>
        <p:spPr>
          <a:xfrm>
            <a:off x="3214116" y="4730599"/>
            <a:ext cx="201168" cy="201168"/>
          </a:xfrm>
          <a:prstGeom prst="rect">
            <a:avLst/>
          </a:prstGeom>
          <a:noFill/>
          <a:ln/>
        </p:spPr>
        <p:txBody>
          <a:bodyPr wrap="square" lIns="0" tIns="0" rIns="0" bIns="0" rtlCol="0" anchor="ctr"/>
          <a:lstStyle/>
          <a:p>
            <a:pPr marL="0" indent="0" algn="ctr">
              <a:buNone/>
            </a:pPr>
            <a:r>
              <a:rPr lang="en-US" sz="800" b="1">
                <a:solidFill>
                  <a:srgbClr val="000000"/>
                </a:solidFill>
              </a:rPr>
              <a:t>7</a:t>
            </a:r>
            <a:endParaRPr lang="en-US" sz="800"/>
          </a:p>
        </p:txBody>
      </p:sp>
      <p:sp>
        <p:nvSpPr>
          <p:cNvPr id="44" name="Text 42"/>
          <p:cNvSpPr txBox="1"/>
          <p:nvPr/>
        </p:nvSpPr>
        <p:spPr>
          <a:xfrm>
            <a:off x="3753612" y="4812895"/>
            <a:ext cx="2377440" cy="277347"/>
          </a:xfrm>
          <a:prstGeom prst="rect">
            <a:avLst/>
          </a:prstGeom>
          <a:noFill/>
          <a:ln/>
        </p:spPr>
        <p:txBody>
          <a:bodyPr wrap="square" lIns="0" tIns="0" rIns="0" bIns="0" rtlCol="0" anchor="ctr"/>
          <a:lstStyle/>
          <a:p>
            <a:pPr marL="0" indent="0">
              <a:buNone/>
            </a:pPr>
            <a:r>
              <a:rPr lang="en-US" sz="1000">
                <a:solidFill>
                  <a:srgbClr val="000000"/>
                </a:solidFill>
              </a:rPr>
              <a:t>Verify signature, idempotency check</a:t>
            </a:r>
            <a:endParaRPr lang="en-US" sz="1000"/>
          </a:p>
        </p:txBody>
      </p:sp>
      <p:sp>
        <p:nvSpPr>
          <p:cNvPr id="45" name="Shape 43"/>
          <p:cNvSpPr/>
          <p:nvPr/>
        </p:nvSpPr>
        <p:spPr>
          <a:xfrm>
            <a:off x="3314700" y="5461469"/>
            <a:ext cx="3749040" cy="0"/>
          </a:xfrm>
          <a:prstGeom prst="line">
            <a:avLst/>
          </a:prstGeom>
          <a:noFill/>
          <a:ln w="15875">
            <a:solidFill>
              <a:srgbClr val="1A1A1A"/>
            </a:solidFill>
            <a:prstDash val="solid"/>
            <a:tailEnd type="triangle"/>
          </a:ln>
        </p:spPr>
        <p:txBody>
          <a:bodyPr/>
          <a:lstStyle/>
          <a:p>
            <a:endParaRPr lang="en-IN"/>
          </a:p>
        </p:txBody>
      </p:sp>
      <p:sp>
        <p:nvSpPr>
          <p:cNvPr id="46" name="Shape 44"/>
          <p:cNvSpPr/>
          <p:nvPr/>
        </p:nvSpPr>
        <p:spPr>
          <a:xfrm>
            <a:off x="3214116" y="5360885"/>
            <a:ext cx="201168" cy="201168"/>
          </a:xfrm>
          <a:prstGeom prst="ellipse">
            <a:avLst/>
          </a:prstGeom>
          <a:solidFill>
            <a:srgbClr val="00A9C0"/>
          </a:solidFill>
          <a:ln w="12700">
            <a:solidFill>
              <a:srgbClr val="00A9C0"/>
            </a:solidFill>
            <a:prstDash val="solid"/>
          </a:ln>
        </p:spPr>
        <p:txBody>
          <a:bodyPr/>
          <a:lstStyle/>
          <a:p>
            <a:endParaRPr lang="en-IN"/>
          </a:p>
        </p:txBody>
      </p:sp>
      <p:sp>
        <p:nvSpPr>
          <p:cNvPr id="47" name="Text 45"/>
          <p:cNvSpPr txBox="1"/>
          <p:nvPr/>
        </p:nvSpPr>
        <p:spPr>
          <a:xfrm>
            <a:off x="3214116" y="5360885"/>
            <a:ext cx="201168" cy="201168"/>
          </a:xfrm>
          <a:prstGeom prst="rect">
            <a:avLst/>
          </a:prstGeom>
          <a:noFill/>
          <a:ln/>
        </p:spPr>
        <p:txBody>
          <a:bodyPr wrap="square" lIns="0" tIns="0" rIns="0" bIns="0" rtlCol="0" anchor="ctr"/>
          <a:lstStyle/>
          <a:p>
            <a:pPr marL="0" indent="0" algn="ctr">
              <a:buNone/>
            </a:pPr>
            <a:r>
              <a:rPr lang="en-US" sz="800" b="1">
                <a:solidFill>
                  <a:srgbClr val="000000"/>
                </a:solidFill>
              </a:rPr>
              <a:t>8</a:t>
            </a:r>
            <a:endParaRPr lang="en-US" sz="800"/>
          </a:p>
        </p:txBody>
      </p:sp>
      <p:sp>
        <p:nvSpPr>
          <p:cNvPr id="48" name="Text 46"/>
          <p:cNvSpPr txBox="1"/>
          <p:nvPr/>
        </p:nvSpPr>
        <p:spPr>
          <a:xfrm>
            <a:off x="3461004" y="5214581"/>
            <a:ext cx="3566160" cy="219456"/>
          </a:xfrm>
          <a:prstGeom prst="rect">
            <a:avLst/>
          </a:prstGeom>
          <a:noFill/>
          <a:ln/>
        </p:spPr>
        <p:txBody>
          <a:bodyPr wrap="square" lIns="0" tIns="0" rIns="0" bIns="0" rtlCol="0" anchor="b"/>
          <a:lstStyle/>
          <a:p>
            <a:pPr marL="0" indent="0" algn="ctr">
              <a:buNone/>
            </a:pPr>
            <a:r>
              <a:rPr lang="en-US" sz="1000">
                <a:solidFill>
                  <a:srgbClr val="000000"/>
                </a:solidFill>
              </a:rPr>
              <a:t>Payment record: token, last 4, amount, status</a:t>
            </a:r>
            <a:endParaRPr lang="en-US" sz="1000"/>
          </a:p>
        </p:txBody>
      </p:sp>
      <p:sp>
        <p:nvSpPr>
          <p:cNvPr id="49" name="Shape 47"/>
          <p:cNvSpPr/>
          <p:nvPr/>
        </p:nvSpPr>
        <p:spPr>
          <a:xfrm>
            <a:off x="4345686" y="5671208"/>
            <a:ext cx="3561588" cy="299627"/>
          </a:xfrm>
          <a:prstGeom prst="rect">
            <a:avLst/>
          </a:prstGeom>
          <a:solidFill>
            <a:srgbClr val="FED700"/>
          </a:solidFill>
          <a:ln w="12700">
            <a:solidFill>
              <a:srgbClr val="FED700"/>
            </a:solidFill>
            <a:prstDash val="solid"/>
          </a:ln>
        </p:spPr>
        <p:txBody>
          <a:bodyPr/>
          <a:lstStyle/>
          <a:p>
            <a:endParaRPr lang="en-IN"/>
          </a:p>
        </p:txBody>
      </p:sp>
      <p:sp>
        <p:nvSpPr>
          <p:cNvPr id="50" name="Text 48"/>
          <p:cNvSpPr txBox="1"/>
          <p:nvPr/>
        </p:nvSpPr>
        <p:spPr>
          <a:xfrm>
            <a:off x="4418838" y="5671208"/>
            <a:ext cx="3415284" cy="299627"/>
          </a:xfrm>
          <a:prstGeom prst="rect">
            <a:avLst/>
          </a:prstGeom>
          <a:noFill/>
          <a:ln/>
        </p:spPr>
        <p:txBody>
          <a:bodyPr wrap="square" lIns="0" tIns="0" rIns="0" bIns="0" rtlCol="0" anchor="ctr"/>
          <a:lstStyle/>
          <a:p>
            <a:pPr marL="0" indent="0" algn="ctr">
              <a:buNone/>
            </a:pPr>
            <a:r>
              <a:rPr lang="en-US" sz="1000" b="1">
                <a:solidFill>
                  <a:srgbClr val="000000"/>
                </a:solidFill>
              </a:rPr>
              <a:t>No card number, CVV or expiry is ever stored</a:t>
            </a:r>
            <a:endParaRPr lang="en-US" sz="1000"/>
          </a:p>
        </p:txBody>
      </p:sp>
      <p:sp>
        <p:nvSpPr>
          <p:cNvPr id="51" name="Text 49"/>
          <p:cNvSpPr txBox="1"/>
          <p:nvPr/>
        </p:nvSpPr>
        <p:spPr>
          <a:xfrm>
            <a:off x="8412480" y="1554480"/>
            <a:ext cx="3273552" cy="320040"/>
          </a:xfrm>
          <a:prstGeom prst="rect">
            <a:avLst/>
          </a:prstGeom>
          <a:noFill/>
          <a:ln/>
        </p:spPr>
        <p:txBody>
          <a:bodyPr wrap="square" lIns="0" tIns="0" rIns="0" bIns="0" rtlCol="0" anchor="t"/>
          <a:lstStyle/>
          <a:p>
            <a:pPr marL="0" indent="0">
              <a:buNone/>
            </a:pPr>
            <a:r>
              <a:rPr lang="en-US" sz="1600" b="1">
                <a:solidFill>
                  <a:schemeClr val="tx1"/>
                </a:solidFill>
              </a:rPr>
              <a:t>Gateway choice</a:t>
            </a:r>
            <a:endParaRPr lang="en-US" sz="1600"/>
          </a:p>
        </p:txBody>
      </p:sp>
      <p:sp>
        <p:nvSpPr>
          <p:cNvPr id="52" name="Shape 50"/>
          <p:cNvSpPr/>
          <p:nvPr/>
        </p:nvSpPr>
        <p:spPr>
          <a:xfrm>
            <a:off x="8412480" y="1965960"/>
            <a:ext cx="3273552" cy="1078992"/>
          </a:xfrm>
          <a:prstGeom prst="roundRect">
            <a:avLst>
              <a:gd name="adj" fmla="val 8475"/>
            </a:avLst>
          </a:prstGeom>
          <a:solidFill>
            <a:srgbClr val="F2F2F2"/>
          </a:solidFill>
          <a:ln w="12700">
            <a:solidFill>
              <a:srgbClr val="D0D0D6"/>
            </a:solidFill>
            <a:prstDash val="solid"/>
          </a:ln>
        </p:spPr>
        <p:txBody>
          <a:bodyPr/>
          <a:lstStyle/>
          <a:p>
            <a:endParaRPr lang="en-IN"/>
          </a:p>
        </p:txBody>
      </p:sp>
      <p:sp>
        <p:nvSpPr>
          <p:cNvPr id="53" name="Text 51"/>
          <p:cNvSpPr txBox="1"/>
          <p:nvPr/>
        </p:nvSpPr>
        <p:spPr>
          <a:xfrm>
            <a:off x="8595360" y="2075688"/>
            <a:ext cx="2907792" cy="201168"/>
          </a:xfrm>
          <a:prstGeom prst="rect">
            <a:avLst/>
          </a:prstGeom>
          <a:noFill/>
          <a:ln/>
        </p:spPr>
        <p:txBody>
          <a:bodyPr wrap="square" lIns="0" tIns="0" rIns="0" bIns="0" rtlCol="0" anchor="t"/>
          <a:lstStyle/>
          <a:p>
            <a:pPr marL="0" indent="0">
              <a:buNone/>
            </a:pPr>
            <a:r>
              <a:rPr lang="en-US" sz="900" b="1" kern="0" spc="200">
                <a:solidFill>
                  <a:srgbClr val="007C8C"/>
                </a:solidFill>
              </a:rPr>
              <a:t>OPTION A</a:t>
            </a:r>
            <a:endParaRPr lang="en-US" sz="900"/>
          </a:p>
        </p:txBody>
      </p:sp>
      <p:sp>
        <p:nvSpPr>
          <p:cNvPr id="54" name="Text 52"/>
          <p:cNvSpPr txBox="1"/>
          <p:nvPr/>
        </p:nvSpPr>
        <p:spPr>
          <a:xfrm>
            <a:off x="8595360" y="2295144"/>
            <a:ext cx="2907792" cy="274320"/>
          </a:xfrm>
          <a:prstGeom prst="rect">
            <a:avLst/>
          </a:prstGeom>
          <a:noFill/>
          <a:ln/>
        </p:spPr>
        <p:txBody>
          <a:bodyPr wrap="square" lIns="0" tIns="0" rIns="0" bIns="0" rtlCol="0" anchor="t"/>
          <a:lstStyle/>
          <a:p>
            <a:pPr marL="0" indent="0">
              <a:buNone/>
            </a:pPr>
            <a:r>
              <a:rPr lang="en-US" sz="1300" b="1">
                <a:solidFill>
                  <a:schemeClr val="tx1"/>
                </a:solidFill>
              </a:rPr>
              <a:t>Keep both</a:t>
            </a:r>
            <a:endParaRPr lang="en-US" sz="1300"/>
          </a:p>
        </p:txBody>
      </p:sp>
      <p:sp>
        <p:nvSpPr>
          <p:cNvPr id="55" name="Text 53"/>
          <p:cNvSpPr txBox="1"/>
          <p:nvPr/>
        </p:nvSpPr>
        <p:spPr>
          <a:xfrm>
            <a:off x="8595360" y="2587752"/>
            <a:ext cx="2907792" cy="411480"/>
          </a:xfrm>
          <a:prstGeom prst="rect">
            <a:avLst/>
          </a:prstGeom>
          <a:noFill/>
          <a:ln/>
        </p:spPr>
        <p:txBody>
          <a:bodyPr wrap="square" lIns="0" tIns="0" rIns="0" bIns="0" rtlCol="0" anchor="t"/>
          <a:lstStyle/>
          <a:p>
            <a:pPr marL="0" indent="0">
              <a:buNone/>
            </a:pPr>
            <a:r>
              <a:rPr lang="en-US" sz="1100">
                <a:solidFill>
                  <a:srgbClr val="4D4D4D"/>
                </a:solidFill>
              </a:rPr>
              <a:t>Chase for classes, Authorize.net for conferences</a:t>
            </a:r>
            <a:endParaRPr lang="en-US" sz="1100"/>
          </a:p>
        </p:txBody>
      </p:sp>
      <p:sp>
        <p:nvSpPr>
          <p:cNvPr id="56" name="Shape 54"/>
          <p:cNvSpPr/>
          <p:nvPr/>
        </p:nvSpPr>
        <p:spPr>
          <a:xfrm>
            <a:off x="8412480" y="3172968"/>
            <a:ext cx="3273552" cy="1078992"/>
          </a:xfrm>
          <a:prstGeom prst="roundRect">
            <a:avLst>
              <a:gd name="adj" fmla="val 8475"/>
            </a:avLst>
          </a:prstGeom>
          <a:solidFill>
            <a:srgbClr val="F2F2F2"/>
          </a:solidFill>
          <a:ln w="12700">
            <a:solidFill>
              <a:srgbClr val="D0D0D6"/>
            </a:solidFill>
            <a:prstDash val="solid"/>
          </a:ln>
        </p:spPr>
        <p:txBody>
          <a:bodyPr/>
          <a:lstStyle/>
          <a:p>
            <a:endParaRPr lang="en-IN"/>
          </a:p>
        </p:txBody>
      </p:sp>
      <p:sp>
        <p:nvSpPr>
          <p:cNvPr id="57" name="Text 55"/>
          <p:cNvSpPr txBox="1"/>
          <p:nvPr/>
        </p:nvSpPr>
        <p:spPr>
          <a:xfrm>
            <a:off x="8595360" y="3282696"/>
            <a:ext cx="2907792" cy="201168"/>
          </a:xfrm>
          <a:prstGeom prst="rect">
            <a:avLst/>
          </a:prstGeom>
          <a:noFill/>
          <a:ln/>
        </p:spPr>
        <p:txBody>
          <a:bodyPr wrap="square" lIns="0" tIns="0" rIns="0" bIns="0" rtlCol="0" anchor="t"/>
          <a:lstStyle/>
          <a:p>
            <a:pPr marL="0" indent="0">
              <a:buNone/>
            </a:pPr>
            <a:r>
              <a:rPr lang="en-US" sz="900" b="1" kern="0" spc="200">
                <a:solidFill>
                  <a:srgbClr val="C8005A"/>
                </a:solidFill>
              </a:rPr>
              <a:t>OPTION B</a:t>
            </a:r>
            <a:endParaRPr lang="en-US" sz="900"/>
          </a:p>
        </p:txBody>
      </p:sp>
      <p:sp>
        <p:nvSpPr>
          <p:cNvPr id="58" name="Text 56"/>
          <p:cNvSpPr txBox="1"/>
          <p:nvPr/>
        </p:nvSpPr>
        <p:spPr>
          <a:xfrm>
            <a:off x="8595360" y="3502152"/>
            <a:ext cx="2907792" cy="274320"/>
          </a:xfrm>
          <a:prstGeom prst="rect">
            <a:avLst/>
          </a:prstGeom>
          <a:noFill/>
          <a:ln/>
        </p:spPr>
        <p:txBody>
          <a:bodyPr wrap="square" lIns="0" tIns="0" rIns="0" bIns="0" rtlCol="0" anchor="t"/>
          <a:lstStyle/>
          <a:p>
            <a:pPr marL="0" indent="0">
              <a:buNone/>
            </a:pPr>
            <a:r>
              <a:rPr lang="en-US" sz="1300" b="1">
                <a:solidFill>
                  <a:schemeClr val="tx1"/>
                </a:solidFill>
              </a:rPr>
              <a:t>Consolidate on one</a:t>
            </a:r>
            <a:endParaRPr lang="en-US" sz="1300"/>
          </a:p>
        </p:txBody>
      </p:sp>
      <p:sp>
        <p:nvSpPr>
          <p:cNvPr id="59" name="Text 57"/>
          <p:cNvSpPr txBox="1"/>
          <p:nvPr/>
        </p:nvSpPr>
        <p:spPr>
          <a:xfrm>
            <a:off x="8595360" y="3794760"/>
            <a:ext cx="2907792" cy="411480"/>
          </a:xfrm>
          <a:prstGeom prst="rect">
            <a:avLst/>
          </a:prstGeom>
          <a:noFill/>
          <a:ln/>
        </p:spPr>
        <p:txBody>
          <a:bodyPr wrap="square" lIns="0" tIns="0" rIns="0" bIns="0" rtlCol="0" anchor="t"/>
          <a:lstStyle/>
          <a:p>
            <a:pPr marL="0" indent="0">
              <a:buNone/>
            </a:pPr>
            <a:r>
              <a:rPr lang="en-US" sz="1100">
                <a:solidFill>
                  <a:srgbClr val="4D4D4D"/>
                </a:solidFill>
              </a:rPr>
              <a:t>One gateway for every event; simpler reconciliation</a:t>
            </a:r>
            <a:endParaRPr lang="en-US" sz="1100"/>
          </a:p>
        </p:txBody>
      </p:sp>
      <p:sp>
        <p:nvSpPr>
          <p:cNvPr id="60" name="Text 58"/>
          <p:cNvSpPr txBox="1"/>
          <p:nvPr/>
        </p:nvSpPr>
        <p:spPr>
          <a:xfrm>
            <a:off x="8412480" y="4526280"/>
            <a:ext cx="3273552" cy="320040"/>
          </a:xfrm>
          <a:prstGeom prst="rect">
            <a:avLst/>
          </a:prstGeom>
          <a:noFill/>
          <a:ln/>
        </p:spPr>
        <p:txBody>
          <a:bodyPr wrap="square" lIns="0" tIns="0" rIns="0" bIns="0" rtlCol="0" anchor="t"/>
          <a:lstStyle/>
          <a:p>
            <a:pPr marL="0" indent="0">
              <a:buNone/>
            </a:pPr>
            <a:r>
              <a:rPr lang="en-US" sz="1600" b="1">
                <a:solidFill>
                  <a:schemeClr val="tx1"/>
                </a:solidFill>
              </a:rPr>
              <a:t>After payment</a:t>
            </a:r>
            <a:endParaRPr lang="en-US" sz="1600"/>
          </a:p>
        </p:txBody>
      </p:sp>
      <p:sp>
        <p:nvSpPr>
          <p:cNvPr id="61" name="Text 59"/>
          <p:cNvSpPr txBox="1"/>
          <p:nvPr/>
        </p:nvSpPr>
        <p:spPr>
          <a:xfrm>
            <a:off x="8412480" y="4892040"/>
            <a:ext cx="3273552" cy="1097280"/>
          </a:xfrm>
          <a:prstGeom prst="rect">
            <a:avLst/>
          </a:prstGeom>
          <a:noFill/>
          <a:ln/>
        </p:spPr>
        <p:txBody>
          <a:bodyPr wrap="square" lIns="0" tIns="0" rIns="0" bIns="0" rtlCol="0" anchor="t"/>
          <a:lstStyle/>
          <a:p>
            <a:pPr marL="342900" indent="-342900">
              <a:spcAft>
                <a:spcPts val="400"/>
              </a:spcAft>
              <a:buSzPct val="100000"/>
              <a:buChar char="•"/>
            </a:pPr>
            <a:r>
              <a:rPr lang="en-US" sz="1200">
                <a:solidFill>
                  <a:srgbClr val="4D4D4D"/>
                </a:solidFill>
              </a:rPr>
              <a:t>Full and partial refunds by token from Salesforce</a:t>
            </a:r>
            <a:endParaRPr lang="en-US" sz="1200"/>
          </a:p>
          <a:p>
            <a:pPr marL="342900" indent="-342900">
              <a:spcAft>
                <a:spcPts val="400"/>
              </a:spcAft>
              <a:buSzPct val="100000"/>
              <a:buChar char="•"/>
            </a:pPr>
            <a:r>
              <a:rPr lang="en-US" sz="1200">
                <a:solidFill>
                  <a:srgbClr val="4D4D4D"/>
                </a:solidFill>
              </a:rPr>
              <a:t>Automatic receipts</a:t>
            </a:r>
            <a:endParaRPr lang="en-US" sz="1200"/>
          </a:p>
          <a:p>
            <a:pPr marL="342900" indent="-342900">
              <a:spcAft>
                <a:spcPts val="400"/>
              </a:spcAft>
              <a:buSzPct val="100000"/>
              <a:buChar char="•"/>
            </a:pPr>
            <a:r>
              <a:rPr lang="en-US" sz="1200">
                <a:solidFill>
                  <a:srgbClr val="4D4D4D"/>
                </a:solidFill>
              </a:rPr>
              <a:t>Daily settlement reconciliation</a:t>
            </a:r>
            <a:endParaRPr lang="en-US" sz="1200"/>
          </a:p>
        </p:txBody>
      </p:sp>
      <p:sp>
        <p:nvSpPr>
          <p:cNvPr id="62" name="Slide Number Placeholder 0"/>
          <p:cNvSpPr>
            <a:spLocks noGrp="1"/>
          </p:cNvSpPr>
          <p:nvPr>
            <p:ph type="sldNum" sz="quarter" idx="4294967295"/>
          </p:nvPr>
        </p:nvSpPr>
        <p:spPr>
          <a:xfrm>
            <a:off x="11292840" y="6336792"/>
            <a:ext cx="457200" cy="22860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tx1"/>
                </a:solidFill>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914400" y="2743200"/>
            <a:ext cx="10362895" cy="1005840"/>
          </a:xfrm>
          <a:prstGeom prst="rect">
            <a:avLst/>
          </a:prstGeom>
          <a:noFill/>
          <a:ln/>
        </p:spPr>
        <p:txBody>
          <a:bodyPr wrap="square" lIns="0" tIns="0" rIns="0" bIns="0" rtlCol="0" anchor="ctr"/>
          <a:lstStyle/>
          <a:p>
            <a:pPr marL="0" indent="0" algn="ctr">
              <a:buNone/>
            </a:pPr>
            <a:r>
              <a:rPr lang="en-US" sz="4400" kern="0" spc="600">
                <a:solidFill>
                  <a:schemeClr val="bg1"/>
                </a:solidFill>
                <a:latin typeface="Trenda IG Text Light" pitchFamily="34" charset="0"/>
                <a:ea typeface="Trenda IG Text Light" pitchFamily="34" charset="-122"/>
                <a:cs typeface="Trenda IG Text Light" pitchFamily="34" charset="-120"/>
              </a:rPr>
              <a:t>02  DELIVERY PLAN</a:t>
            </a:r>
            <a:endParaRPr lang="en-US" sz="4400"/>
          </a:p>
        </p:txBody>
      </p:sp>
      <p:sp>
        <p:nvSpPr>
          <p:cNvPr id="3" name="Text 0"/>
          <p:cNvSpPr>
            <a:spLocks noGrp="1"/>
          </p:cNvSpPr>
          <p:nvPr>
            <p:ph type="body" idx="101" hasCustomPrompt="1"/>
          </p:nvPr>
        </p:nvSpPr>
        <p:spPr>
          <a:xfrm>
            <a:off x="1371600" y="3840480"/>
            <a:ext cx="9448495" cy="548640"/>
          </a:xfrm>
          <a:prstGeom prst="rect">
            <a:avLst/>
          </a:prstGeom>
          <a:noFill/>
          <a:ln/>
        </p:spPr>
        <p:txBody>
          <a:bodyPr wrap="square" lIns="0" tIns="0" rIns="0" bIns="0" rtlCol="0"/>
          <a:lstStyle/>
          <a:p>
            <a:pPr marL="0" indent="0" algn="ctr">
              <a:buNone/>
            </a:pPr>
            <a:r>
              <a:rPr lang="en-US" sz="1800">
                <a:solidFill>
                  <a:schemeClr val="bg1"/>
                </a:solidFill>
              </a:rPr>
              <a:t>Two phases, about 24 weeks to both platforms live</a:t>
            </a:r>
            <a:endParaRPr lang="en-US" sz="18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02920" y="658368"/>
            <a:ext cx="11185855" cy="822960"/>
          </a:xfrm>
          <a:prstGeom prst="rect">
            <a:avLst/>
          </a:prstGeom>
          <a:noFill/>
          <a:ln/>
        </p:spPr>
        <p:txBody>
          <a:bodyPr wrap="square" lIns="0" tIns="0" rIns="0" bIns="0" rtlCol="0" anchor="t"/>
          <a:lstStyle/>
          <a:p>
            <a:pPr marL="0" indent="0" algn="l">
              <a:buNone/>
            </a:pPr>
            <a:r>
              <a:rPr lang="en-US" sz="3200" b="1">
                <a:solidFill>
                  <a:schemeClr val="bg1"/>
                </a:solidFill>
              </a:rPr>
              <a:t>Delivery timeline</a:t>
            </a:r>
            <a:endParaRPr lang="en-US" sz="3200"/>
          </a:p>
        </p:txBody>
      </p:sp>
      <p:sp>
        <p:nvSpPr>
          <p:cNvPr id="3" name="Text 1"/>
          <p:cNvSpPr txBox="1"/>
          <p:nvPr/>
        </p:nvSpPr>
        <p:spPr>
          <a:xfrm>
            <a:off x="502920" y="1325880"/>
            <a:ext cx="7315200" cy="320040"/>
          </a:xfrm>
          <a:prstGeom prst="rect">
            <a:avLst/>
          </a:prstGeom>
          <a:noFill/>
          <a:ln/>
        </p:spPr>
        <p:txBody>
          <a:bodyPr wrap="square" lIns="0" tIns="0" rIns="0" bIns="0" rtlCol="0" anchor="t"/>
          <a:lstStyle/>
          <a:p>
            <a:pPr marL="0" indent="0">
              <a:buNone/>
            </a:pPr>
            <a:r>
              <a:rPr lang="en-US" sz="1400">
                <a:solidFill>
                  <a:srgbClr val="BFBFBF"/>
                </a:solidFill>
              </a:rPr>
              <a:t>Indicative; confirmed after the current-state walkthrough</a:t>
            </a:r>
            <a:endParaRPr lang="en-US" sz="1400"/>
          </a:p>
        </p:txBody>
      </p:sp>
      <p:sp>
        <p:nvSpPr>
          <p:cNvPr id="4" name="Shape 2"/>
          <p:cNvSpPr/>
          <p:nvPr/>
        </p:nvSpPr>
        <p:spPr>
          <a:xfrm>
            <a:off x="621792" y="3611880"/>
            <a:ext cx="10948111" cy="0"/>
          </a:xfrm>
          <a:prstGeom prst="line">
            <a:avLst/>
          </a:prstGeom>
          <a:noFill/>
          <a:ln w="38100">
            <a:solidFill>
              <a:schemeClr val="bg1"/>
            </a:solidFill>
            <a:prstDash val="solid"/>
          </a:ln>
        </p:spPr>
        <p:txBody>
          <a:bodyPr/>
          <a:lstStyle/>
          <a:p>
            <a:endParaRPr lang="en-IN"/>
          </a:p>
        </p:txBody>
      </p:sp>
      <p:sp>
        <p:nvSpPr>
          <p:cNvPr id="5" name="Shape 3"/>
          <p:cNvSpPr/>
          <p:nvPr/>
        </p:nvSpPr>
        <p:spPr>
          <a:xfrm>
            <a:off x="502920" y="3493008"/>
            <a:ext cx="237744" cy="237744"/>
          </a:xfrm>
          <a:prstGeom prst="ellipse">
            <a:avLst/>
          </a:prstGeom>
          <a:solidFill>
            <a:schemeClr val="bg1"/>
          </a:solidFill>
          <a:ln w="12700">
            <a:solidFill>
              <a:schemeClr val="bg1"/>
            </a:solidFill>
            <a:prstDash val="solid"/>
          </a:ln>
        </p:spPr>
        <p:txBody>
          <a:bodyPr/>
          <a:lstStyle/>
          <a:p>
            <a:endParaRPr lang="en-IN"/>
          </a:p>
        </p:txBody>
      </p:sp>
      <p:sp>
        <p:nvSpPr>
          <p:cNvPr id="6" name="Shape 4"/>
          <p:cNvSpPr/>
          <p:nvPr/>
        </p:nvSpPr>
        <p:spPr>
          <a:xfrm>
            <a:off x="11451031" y="3493008"/>
            <a:ext cx="237744" cy="237744"/>
          </a:xfrm>
          <a:prstGeom prst="ellipse">
            <a:avLst/>
          </a:prstGeom>
          <a:solidFill>
            <a:schemeClr val="bg1"/>
          </a:solidFill>
          <a:ln w="12700">
            <a:solidFill>
              <a:schemeClr val="bg1"/>
            </a:solidFill>
            <a:prstDash val="solid"/>
          </a:ln>
        </p:spPr>
        <p:txBody>
          <a:bodyPr/>
          <a:lstStyle/>
          <a:p>
            <a:endParaRPr lang="en-IN"/>
          </a:p>
        </p:txBody>
      </p:sp>
      <p:sp>
        <p:nvSpPr>
          <p:cNvPr id="7" name="Shape 5"/>
          <p:cNvSpPr/>
          <p:nvPr/>
        </p:nvSpPr>
        <p:spPr>
          <a:xfrm>
            <a:off x="1051560" y="3840480"/>
            <a:ext cx="0" cy="1143000"/>
          </a:xfrm>
          <a:prstGeom prst="line">
            <a:avLst/>
          </a:prstGeom>
          <a:noFill/>
          <a:ln w="15875">
            <a:solidFill>
              <a:schemeClr val="bg1"/>
            </a:solidFill>
            <a:prstDash val="sysDot"/>
          </a:ln>
        </p:spPr>
        <p:txBody>
          <a:bodyPr/>
          <a:lstStyle/>
          <a:p>
            <a:endParaRPr lang="en-IN"/>
          </a:p>
        </p:txBody>
      </p:sp>
      <p:sp>
        <p:nvSpPr>
          <p:cNvPr id="8" name="Text 6"/>
          <p:cNvSpPr txBox="1"/>
          <p:nvPr/>
        </p:nvSpPr>
        <p:spPr>
          <a:xfrm>
            <a:off x="1234440" y="3840480"/>
            <a:ext cx="3017520" cy="292608"/>
          </a:xfrm>
          <a:prstGeom prst="rect">
            <a:avLst/>
          </a:prstGeom>
          <a:noFill/>
          <a:ln/>
        </p:spPr>
        <p:txBody>
          <a:bodyPr wrap="square" lIns="0" tIns="0" rIns="0" bIns="0" rtlCol="0" anchor="t"/>
          <a:lstStyle/>
          <a:p>
            <a:pPr marL="0" indent="0">
              <a:buNone/>
            </a:pPr>
            <a:r>
              <a:rPr lang="en-US" sz="1300" b="1">
                <a:solidFill>
                  <a:schemeClr val="bg1"/>
                </a:solidFill>
              </a:rPr>
              <a:t>Weeks 1-3  ·  Discover and design</a:t>
            </a:r>
            <a:endParaRPr lang="en-US" sz="1300"/>
          </a:p>
        </p:txBody>
      </p:sp>
      <p:sp>
        <p:nvSpPr>
          <p:cNvPr id="9" name="Text 7"/>
          <p:cNvSpPr txBox="1"/>
          <p:nvPr/>
        </p:nvSpPr>
        <p:spPr>
          <a:xfrm>
            <a:off x="1234440" y="4206240"/>
            <a:ext cx="3017520" cy="777240"/>
          </a:xfrm>
          <a:prstGeom prst="rect">
            <a:avLst/>
          </a:prstGeom>
          <a:noFill/>
          <a:ln/>
        </p:spPr>
        <p:txBody>
          <a:bodyPr wrap="square" lIns="0" tIns="0" rIns="0" bIns="0" rtlCol="0" anchor="t"/>
          <a:lstStyle/>
          <a:p>
            <a:pPr marL="0" indent="0">
              <a:buNone/>
            </a:pPr>
            <a:r>
              <a:rPr lang="en-US" sz="1200">
                <a:solidFill>
                  <a:schemeClr val="bg1"/>
                </a:solidFill>
              </a:rPr>
              <a:t>Walkthrough of the current build, requirements, data model, payment decision</a:t>
            </a:r>
            <a:endParaRPr lang="en-US" sz="1200"/>
          </a:p>
        </p:txBody>
      </p:sp>
      <p:sp>
        <p:nvSpPr>
          <p:cNvPr id="10" name="Shape 8"/>
          <p:cNvSpPr/>
          <p:nvPr/>
        </p:nvSpPr>
        <p:spPr>
          <a:xfrm>
            <a:off x="969264" y="3529584"/>
            <a:ext cx="164592" cy="164592"/>
          </a:xfrm>
          <a:prstGeom prst="ellipse">
            <a:avLst/>
          </a:prstGeom>
          <a:solidFill>
            <a:schemeClr val="accent2"/>
          </a:solidFill>
          <a:ln w="12700">
            <a:solidFill>
              <a:schemeClr val="accent2"/>
            </a:solidFill>
            <a:prstDash val="solid"/>
          </a:ln>
        </p:spPr>
        <p:txBody>
          <a:bodyPr/>
          <a:lstStyle/>
          <a:p>
            <a:endParaRPr lang="en-IN"/>
          </a:p>
        </p:txBody>
      </p:sp>
      <p:sp>
        <p:nvSpPr>
          <p:cNvPr id="11" name="Shape 9"/>
          <p:cNvSpPr/>
          <p:nvPr/>
        </p:nvSpPr>
        <p:spPr>
          <a:xfrm>
            <a:off x="3520440" y="2240280"/>
            <a:ext cx="0" cy="1143000"/>
          </a:xfrm>
          <a:prstGeom prst="line">
            <a:avLst/>
          </a:prstGeom>
          <a:noFill/>
          <a:ln w="15875">
            <a:solidFill>
              <a:schemeClr val="bg1"/>
            </a:solidFill>
            <a:prstDash val="sysDot"/>
          </a:ln>
        </p:spPr>
        <p:txBody>
          <a:bodyPr/>
          <a:lstStyle/>
          <a:p>
            <a:endParaRPr lang="en-IN"/>
          </a:p>
        </p:txBody>
      </p:sp>
      <p:sp>
        <p:nvSpPr>
          <p:cNvPr id="12" name="Text 10"/>
          <p:cNvSpPr txBox="1"/>
          <p:nvPr/>
        </p:nvSpPr>
        <p:spPr>
          <a:xfrm>
            <a:off x="3703320" y="2240280"/>
            <a:ext cx="3017520" cy="292608"/>
          </a:xfrm>
          <a:prstGeom prst="rect">
            <a:avLst/>
          </a:prstGeom>
          <a:noFill/>
          <a:ln/>
        </p:spPr>
        <p:txBody>
          <a:bodyPr wrap="square" lIns="0" tIns="0" rIns="0" bIns="0" rtlCol="0" anchor="t"/>
          <a:lstStyle/>
          <a:p>
            <a:pPr marL="0" indent="0">
              <a:buNone/>
            </a:pPr>
            <a:r>
              <a:rPr lang="en-US" sz="1300" b="1">
                <a:solidFill>
                  <a:schemeClr val="bg1"/>
                </a:solidFill>
              </a:rPr>
              <a:t>Weeks 4-14  ·  Phase 1 live</a:t>
            </a:r>
            <a:endParaRPr lang="en-US" sz="1300"/>
          </a:p>
        </p:txBody>
      </p:sp>
      <p:sp>
        <p:nvSpPr>
          <p:cNvPr id="13" name="Text 11"/>
          <p:cNvSpPr txBox="1"/>
          <p:nvPr/>
        </p:nvSpPr>
        <p:spPr>
          <a:xfrm>
            <a:off x="3703320" y="2606040"/>
            <a:ext cx="3017520" cy="777240"/>
          </a:xfrm>
          <a:prstGeom prst="rect">
            <a:avLst/>
          </a:prstGeom>
          <a:noFill/>
          <a:ln/>
        </p:spPr>
        <p:txBody>
          <a:bodyPr wrap="square" lIns="0" tIns="0" rIns="0" bIns="0" rtlCol="0" anchor="t"/>
          <a:lstStyle/>
          <a:p>
            <a:pPr marL="0" indent="0">
              <a:buNone/>
            </a:pPr>
            <a:r>
              <a:rPr lang="en-US" sz="1200">
                <a:solidFill>
                  <a:schemeClr val="bg1"/>
                </a:solidFill>
              </a:rPr>
              <a:t>Classes and events: registration, payments, journeys, check-in. Home-built tool retired</a:t>
            </a:r>
            <a:endParaRPr lang="en-US" sz="1200"/>
          </a:p>
        </p:txBody>
      </p:sp>
      <p:sp>
        <p:nvSpPr>
          <p:cNvPr id="14" name="Shape 12"/>
          <p:cNvSpPr/>
          <p:nvPr/>
        </p:nvSpPr>
        <p:spPr>
          <a:xfrm>
            <a:off x="3438144" y="3529584"/>
            <a:ext cx="164592" cy="164592"/>
          </a:xfrm>
          <a:prstGeom prst="ellipse">
            <a:avLst/>
          </a:prstGeom>
          <a:solidFill>
            <a:schemeClr val="accent2"/>
          </a:solidFill>
          <a:ln w="12700">
            <a:solidFill>
              <a:schemeClr val="accent2"/>
            </a:solidFill>
            <a:prstDash val="solid"/>
          </a:ln>
        </p:spPr>
        <p:txBody>
          <a:bodyPr/>
          <a:lstStyle/>
          <a:p>
            <a:endParaRPr lang="en-IN"/>
          </a:p>
        </p:txBody>
      </p:sp>
      <p:sp>
        <p:nvSpPr>
          <p:cNvPr id="15" name="Shape 13"/>
          <p:cNvSpPr/>
          <p:nvPr/>
        </p:nvSpPr>
        <p:spPr>
          <a:xfrm>
            <a:off x="6355080" y="3840480"/>
            <a:ext cx="0" cy="1143000"/>
          </a:xfrm>
          <a:prstGeom prst="line">
            <a:avLst/>
          </a:prstGeom>
          <a:noFill/>
          <a:ln w="15875">
            <a:solidFill>
              <a:schemeClr val="bg1"/>
            </a:solidFill>
            <a:prstDash val="sysDot"/>
          </a:ln>
        </p:spPr>
        <p:txBody>
          <a:bodyPr/>
          <a:lstStyle/>
          <a:p>
            <a:endParaRPr lang="en-IN"/>
          </a:p>
        </p:txBody>
      </p:sp>
      <p:sp>
        <p:nvSpPr>
          <p:cNvPr id="16" name="Text 14"/>
          <p:cNvSpPr txBox="1"/>
          <p:nvPr/>
        </p:nvSpPr>
        <p:spPr>
          <a:xfrm>
            <a:off x="6537960" y="3840480"/>
            <a:ext cx="3017520" cy="292608"/>
          </a:xfrm>
          <a:prstGeom prst="rect">
            <a:avLst/>
          </a:prstGeom>
          <a:noFill/>
          <a:ln/>
        </p:spPr>
        <p:txBody>
          <a:bodyPr wrap="square" lIns="0" tIns="0" rIns="0" bIns="0" rtlCol="0" anchor="t"/>
          <a:lstStyle/>
          <a:p>
            <a:pPr marL="0" indent="0">
              <a:buNone/>
            </a:pPr>
            <a:r>
              <a:rPr lang="en-US" sz="1300" b="1">
                <a:solidFill>
                  <a:schemeClr val="bg1"/>
                </a:solidFill>
              </a:rPr>
              <a:t>Weeks 15-24  ·  Phase 2 live</a:t>
            </a:r>
            <a:endParaRPr lang="en-US" sz="1300"/>
          </a:p>
        </p:txBody>
      </p:sp>
      <p:sp>
        <p:nvSpPr>
          <p:cNvPr id="17" name="Text 15"/>
          <p:cNvSpPr txBox="1"/>
          <p:nvPr/>
        </p:nvSpPr>
        <p:spPr>
          <a:xfrm>
            <a:off x="6537960" y="4206240"/>
            <a:ext cx="3017520" cy="777240"/>
          </a:xfrm>
          <a:prstGeom prst="rect">
            <a:avLst/>
          </a:prstGeom>
          <a:noFill/>
          <a:ln/>
        </p:spPr>
        <p:txBody>
          <a:bodyPr wrap="square" lIns="0" tIns="0" rIns="0" bIns="0" rtlCol="0" anchor="t"/>
          <a:lstStyle/>
          <a:p>
            <a:pPr marL="0" indent="0">
              <a:buNone/>
            </a:pPr>
            <a:r>
              <a:rPr lang="en-US" sz="1200">
                <a:solidFill>
                  <a:schemeClr val="bg1"/>
                </a:solidFill>
              </a:rPr>
              <a:t>Conferences: sessions, speakers, My Agenda, badges. Certain retired</a:t>
            </a:r>
            <a:endParaRPr lang="en-US" sz="1200"/>
          </a:p>
        </p:txBody>
      </p:sp>
      <p:sp>
        <p:nvSpPr>
          <p:cNvPr id="18" name="Shape 16"/>
          <p:cNvSpPr/>
          <p:nvPr/>
        </p:nvSpPr>
        <p:spPr>
          <a:xfrm>
            <a:off x="6272784" y="3529584"/>
            <a:ext cx="164592" cy="164592"/>
          </a:xfrm>
          <a:prstGeom prst="ellipse">
            <a:avLst/>
          </a:prstGeom>
          <a:solidFill>
            <a:schemeClr val="accent2"/>
          </a:solidFill>
          <a:ln w="12700">
            <a:solidFill>
              <a:schemeClr val="accent2"/>
            </a:solidFill>
            <a:prstDash val="solid"/>
          </a:ln>
        </p:spPr>
        <p:txBody>
          <a:bodyPr/>
          <a:lstStyle/>
          <a:p>
            <a:endParaRPr lang="en-IN"/>
          </a:p>
        </p:txBody>
      </p:sp>
      <p:sp>
        <p:nvSpPr>
          <p:cNvPr id="19" name="Shape 17"/>
          <p:cNvSpPr/>
          <p:nvPr/>
        </p:nvSpPr>
        <p:spPr>
          <a:xfrm>
            <a:off x="8869680" y="2240280"/>
            <a:ext cx="0" cy="1143000"/>
          </a:xfrm>
          <a:prstGeom prst="line">
            <a:avLst/>
          </a:prstGeom>
          <a:noFill/>
          <a:ln w="15875">
            <a:solidFill>
              <a:schemeClr val="bg1"/>
            </a:solidFill>
            <a:prstDash val="sysDot"/>
          </a:ln>
        </p:spPr>
        <p:txBody>
          <a:bodyPr/>
          <a:lstStyle/>
          <a:p>
            <a:endParaRPr lang="en-IN"/>
          </a:p>
        </p:txBody>
      </p:sp>
      <p:sp>
        <p:nvSpPr>
          <p:cNvPr id="20" name="Text 18"/>
          <p:cNvSpPr txBox="1"/>
          <p:nvPr/>
        </p:nvSpPr>
        <p:spPr>
          <a:xfrm>
            <a:off x="9052560" y="2240280"/>
            <a:ext cx="2651760" cy="292608"/>
          </a:xfrm>
          <a:prstGeom prst="rect">
            <a:avLst/>
          </a:prstGeom>
          <a:noFill/>
          <a:ln/>
        </p:spPr>
        <p:txBody>
          <a:bodyPr wrap="square" lIns="0" tIns="0" rIns="0" bIns="0" rtlCol="0" anchor="t"/>
          <a:lstStyle/>
          <a:p>
            <a:pPr marL="0" indent="0">
              <a:buNone/>
            </a:pPr>
            <a:r>
              <a:rPr lang="en-US" sz="1300" b="1">
                <a:solidFill>
                  <a:schemeClr val="bg1"/>
                </a:solidFill>
              </a:rPr>
              <a:t>Week 25+  ·  Grow</a:t>
            </a:r>
            <a:endParaRPr lang="en-US" sz="1300"/>
          </a:p>
        </p:txBody>
      </p:sp>
      <p:sp>
        <p:nvSpPr>
          <p:cNvPr id="21" name="Text 19"/>
          <p:cNvSpPr txBox="1"/>
          <p:nvPr/>
        </p:nvSpPr>
        <p:spPr>
          <a:xfrm>
            <a:off x="9052560" y="2606040"/>
            <a:ext cx="2651760" cy="777240"/>
          </a:xfrm>
          <a:prstGeom prst="rect">
            <a:avLst/>
          </a:prstGeom>
          <a:noFill/>
          <a:ln/>
        </p:spPr>
        <p:txBody>
          <a:bodyPr wrap="square" lIns="0" tIns="0" rIns="0" bIns="0" rtlCol="0" anchor="t"/>
          <a:lstStyle/>
          <a:p>
            <a:pPr marL="0" indent="0">
              <a:buNone/>
            </a:pPr>
            <a:r>
              <a:rPr lang="en-US" sz="1200">
                <a:solidFill>
                  <a:schemeClr val="bg1"/>
                </a:solidFill>
              </a:rPr>
              <a:t>Patient engagement initiatives, app adoption, AI agents in a controlled harness</a:t>
            </a:r>
            <a:endParaRPr lang="en-US" sz="1200"/>
          </a:p>
        </p:txBody>
      </p:sp>
      <p:sp>
        <p:nvSpPr>
          <p:cNvPr id="22" name="Shape 20"/>
          <p:cNvSpPr/>
          <p:nvPr/>
        </p:nvSpPr>
        <p:spPr>
          <a:xfrm>
            <a:off x="8787384" y="3529584"/>
            <a:ext cx="164592" cy="164592"/>
          </a:xfrm>
          <a:prstGeom prst="ellipse">
            <a:avLst/>
          </a:prstGeom>
          <a:solidFill>
            <a:schemeClr val="accent2"/>
          </a:solidFill>
          <a:ln w="12700">
            <a:solidFill>
              <a:schemeClr val="accent2"/>
            </a:solidFill>
            <a:prstDash val="solid"/>
          </a:ln>
        </p:spPr>
        <p:txBody>
          <a:bodyPr/>
          <a:lstStyle/>
          <a:p>
            <a:endParaRPr lang="en-IN"/>
          </a:p>
        </p:txBody>
      </p:sp>
      <p:sp>
        <p:nvSpPr>
          <p:cNvPr id="25" name="Slide Number Placeholder 0"/>
          <p:cNvSpPr>
            <a:spLocks noGrp="1"/>
          </p:cNvSpPr>
          <p:nvPr>
            <p:ph type="sldNum" sz="quarter" idx="4294967295"/>
          </p:nvPr>
        </p:nvSpPr>
        <p:spPr>
          <a:xfrm>
            <a:off x="11292840" y="6336792"/>
            <a:ext cx="457200" cy="22860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bg1"/>
                </a:solidFill>
              </a:defRPr>
            </a:lvl1pPr>
          </a:lstStyle>
          <a:p>
            <a:pPr algn="r"/>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02920" y="658368"/>
            <a:ext cx="11185855" cy="822960"/>
          </a:xfrm>
          <a:prstGeom prst="rect">
            <a:avLst/>
          </a:prstGeom>
          <a:noFill/>
          <a:ln/>
        </p:spPr>
        <p:txBody>
          <a:bodyPr wrap="square" lIns="0" tIns="0" rIns="0" bIns="0" rtlCol="0" anchor="t"/>
          <a:lstStyle/>
          <a:p>
            <a:pPr marL="0" indent="0" algn="l">
              <a:buNone/>
            </a:pPr>
            <a:r>
              <a:rPr lang="en-US" sz="3200" b="1">
                <a:solidFill>
                  <a:schemeClr val="tx1"/>
                </a:solidFill>
              </a:rPr>
              <a:t>Delivery plan: 12 two-week sprints</a:t>
            </a:r>
            <a:endParaRPr lang="en-US" sz="3200"/>
          </a:p>
        </p:txBody>
      </p:sp>
      <p:sp>
        <p:nvSpPr>
          <p:cNvPr id="3" name="Text 1"/>
          <p:cNvSpPr txBox="1"/>
          <p:nvPr/>
        </p:nvSpPr>
        <p:spPr>
          <a:xfrm>
            <a:off x="502920" y="1298448"/>
            <a:ext cx="8686800" cy="292608"/>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4D4D4D"/>
                </a:solidFill>
                <a:effectLst/>
                <a:uLnTx/>
                <a:uFillTx/>
                <a:latin typeface="Trenda IG Text"/>
                <a:ea typeface="+mn-ea"/>
                <a:cs typeface="+mn-cs"/>
              </a:rPr>
              <a:t>A working demo and a milestone sign-off with Memorial Hermann at the end of every sprint</a:t>
            </a:r>
            <a:endParaRPr kumimoji="0" lang="en-US" sz="1400" b="0" i="0" u="none" strike="noStrike" kern="1200" cap="none" spc="0" normalizeH="0" baseline="0" noProof="0">
              <a:ln>
                <a:noFill/>
              </a:ln>
              <a:solidFill>
                <a:srgbClr val="000000"/>
              </a:solidFill>
              <a:effectLst/>
              <a:uLnTx/>
              <a:uFillTx/>
              <a:latin typeface="Trenda IG Text"/>
              <a:ea typeface="+mn-ea"/>
              <a:cs typeface="+mn-cs"/>
            </a:endParaRPr>
          </a:p>
        </p:txBody>
      </p:sp>
      <p:sp>
        <p:nvSpPr>
          <p:cNvPr id="4" name="Shape 2"/>
          <p:cNvSpPr/>
          <p:nvPr/>
        </p:nvSpPr>
        <p:spPr>
          <a:xfrm>
            <a:off x="502920" y="1737360"/>
            <a:ext cx="292608" cy="146304"/>
          </a:xfrm>
          <a:prstGeom prst="roundRect">
            <a:avLst>
              <a:gd name="adj" fmla="val 50000"/>
            </a:avLst>
          </a:prstGeom>
          <a:solidFill>
            <a:srgbClr val="00A9C0"/>
          </a:solidFill>
          <a:ln w="12700">
            <a:solidFill>
              <a:srgbClr val="00A9C0"/>
            </a:solidFill>
            <a:prstDash val="solid"/>
          </a:ln>
        </p:spPr>
        <p:txBody>
          <a:bodyPr/>
          <a:lstStyle/>
          <a:p>
            <a:endParaRPr lang="en-IN"/>
          </a:p>
        </p:txBody>
      </p:sp>
      <p:sp>
        <p:nvSpPr>
          <p:cNvPr id="5" name="Text 3"/>
          <p:cNvSpPr txBox="1"/>
          <p:nvPr/>
        </p:nvSpPr>
        <p:spPr>
          <a:xfrm>
            <a:off x="886968" y="1682496"/>
            <a:ext cx="1659636"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7C8C"/>
                </a:solidFill>
                <a:effectLst/>
                <a:uLnTx/>
                <a:uFillTx/>
                <a:latin typeface="Trenda IG Text"/>
                <a:ea typeface="+mn-ea"/>
                <a:cs typeface="+mn-cs"/>
              </a:rPr>
              <a:t>Discover and design</a:t>
            </a:r>
            <a:endParaRPr kumimoji="0" lang="en-US" sz="1100" b="0" i="0" u="none" strike="noStrike" kern="1200" cap="none" spc="0" normalizeH="0" baseline="0" noProof="0">
              <a:ln>
                <a:noFill/>
              </a:ln>
              <a:solidFill>
                <a:srgbClr val="000000"/>
              </a:solidFill>
              <a:effectLst/>
              <a:uLnTx/>
              <a:uFillTx/>
              <a:latin typeface="Trenda IG Text"/>
              <a:ea typeface="+mn-ea"/>
              <a:cs typeface="+mn-cs"/>
            </a:endParaRPr>
          </a:p>
        </p:txBody>
      </p:sp>
      <p:sp>
        <p:nvSpPr>
          <p:cNvPr id="6" name="Shape 4"/>
          <p:cNvSpPr/>
          <p:nvPr/>
        </p:nvSpPr>
        <p:spPr>
          <a:xfrm>
            <a:off x="2866644" y="1737360"/>
            <a:ext cx="292608" cy="146304"/>
          </a:xfrm>
          <a:prstGeom prst="roundRect">
            <a:avLst>
              <a:gd name="adj" fmla="val 50000"/>
            </a:avLst>
          </a:prstGeom>
          <a:solidFill>
            <a:srgbClr val="D9B200"/>
          </a:solidFill>
          <a:ln w="12700">
            <a:solidFill>
              <a:srgbClr val="D9B200"/>
            </a:solidFill>
            <a:prstDash val="solid"/>
          </a:ln>
        </p:spPr>
        <p:txBody>
          <a:bodyPr/>
          <a:lstStyle/>
          <a:p>
            <a:endParaRPr lang="en-IN"/>
          </a:p>
        </p:txBody>
      </p:sp>
      <p:sp>
        <p:nvSpPr>
          <p:cNvPr id="7" name="Text 5"/>
          <p:cNvSpPr txBox="1"/>
          <p:nvPr/>
        </p:nvSpPr>
        <p:spPr>
          <a:xfrm>
            <a:off x="3250692" y="1682496"/>
            <a:ext cx="2359152"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7A6100"/>
                </a:solidFill>
                <a:effectLst/>
                <a:uLnTx/>
                <a:uFillTx/>
                <a:latin typeface="Trenda IG Text"/>
                <a:ea typeface="+mn-ea"/>
                <a:cs typeface="+mn-cs"/>
              </a:rPr>
              <a:t>Phase 1 · Classes and events</a:t>
            </a:r>
            <a:endParaRPr kumimoji="0" lang="en-US" sz="1100" b="0" i="0" u="none" strike="noStrike" kern="1200" cap="none" spc="0" normalizeH="0" baseline="0" noProof="0">
              <a:ln>
                <a:noFill/>
              </a:ln>
              <a:solidFill>
                <a:srgbClr val="000000"/>
              </a:solidFill>
              <a:effectLst/>
              <a:uLnTx/>
              <a:uFillTx/>
              <a:latin typeface="Trenda IG Text"/>
              <a:ea typeface="+mn-ea"/>
              <a:cs typeface="+mn-cs"/>
            </a:endParaRPr>
          </a:p>
        </p:txBody>
      </p:sp>
      <p:sp>
        <p:nvSpPr>
          <p:cNvPr id="8" name="Shape 6"/>
          <p:cNvSpPr/>
          <p:nvPr/>
        </p:nvSpPr>
        <p:spPr>
          <a:xfrm>
            <a:off x="5929884" y="1737360"/>
            <a:ext cx="292608" cy="146304"/>
          </a:xfrm>
          <a:prstGeom prst="roundRect">
            <a:avLst>
              <a:gd name="adj" fmla="val 50000"/>
            </a:avLst>
          </a:prstGeom>
          <a:solidFill>
            <a:srgbClr val="FF0068"/>
          </a:solidFill>
          <a:ln w="12700">
            <a:solidFill>
              <a:srgbClr val="FF0068"/>
            </a:solidFill>
            <a:prstDash val="solid"/>
          </a:ln>
        </p:spPr>
        <p:txBody>
          <a:bodyPr/>
          <a:lstStyle/>
          <a:p>
            <a:endParaRPr lang="en-IN"/>
          </a:p>
        </p:txBody>
      </p:sp>
      <p:sp>
        <p:nvSpPr>
          <p:cNvPr id="9" name="Text 7"/>
          <p:cNvSpPr txBox="1"/>
          <p:nvPr/>
        </p:nvSpPr>
        <p:spPr>
          <a:xfrm>
            <a:off x="6313932" y="1682496"/>
            <a:ext cx="2980944"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C8005A"/>
                </a:solidFill>
                <a:effectLst/>
                <a:uLnTx/>
                <a:uFillTx/>
                <a:latin typeface="Trenda IG Text"/>
                <a:ea typeface="+mn-ea"/>
                <a:cs typeface="+mn-cs"/>
              </a:rPr>
              <a:t>Phase 2 · Conferences and engagement</a:t>
            </a:r>
            <a:endParaRPr kumimoji="0" lang="en-US" sz="1100" b="0" i="0" u="none" strike="noStrike" kern="1200" cap="none" spc="0" normalizeH="0" baseline="0" noProof="0">
              <a:ln>
                <a:noFill/>
              </a:ln>
              <a:solidFill>
                <a:srgbClr val="000000"/>
              </a:solidFill>
              <a:effectLst/>
              <a:uLnTx/>
              <a:uFillTx/>
              <a:latin typeface="Trenda IG Text"/>
              <a:ea typeface="+mn-ea"/>
              <a:cs typeface="+mn-cs"/>
            </a:endParaRPr>
          </a:p>
        </p:txBody>
      </p:sp>
      <p:sp>
        <p:nvSpPr>
          <p:cNvPr id="10" name="Shape 8"/>
          <p:cNvSpPr/>
          <p:nvPr/>
        </p:nvSpPr>
        <p:spPr>
          <a:xfrm>
            <a:off x="9905695" y="1728216"/>
            <a:ext cx="164592" cy="164592"/>
          </a:xfrm>
          <a:prstGeom prst="diamond">
            <a:avLst/>
          </a:prstGeom>
          <a:solidFill>
            <a:srgbClr val="000000"/>
          </a:solidFill>
          <a:ln w="12700">
            <a:solidFill>
              <a:srgbClr val="000000"/>
            </a:solidFill>
            <a:prstDash val="solid"/>
          </a:ln>
        </p:spPr>
        <p:txBody>
          <a:bodyPr/>
          <a:lstStyle/>
          <a:p>
            <a:endParaRPr lang="en-IN"/>
          </a:p>
        </p:txBody>
      </p:sp>
      <p:sp>
        <p:nvSpPr>
          <p:cNvPr id="11" name="Text 9"/>
          <p:cNvSpPr txBox="1"/>
          <p:nvPr/>
        </p:nvSpPr>
        <p:spPr>
          <a:xfrm>
            <a:off x="10134295" y="1682496"/>
            <a:ext cx="1554480"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4D4D4D"/>
                </a:solidFill>
                <a:effectLst/>
                <a:uLnTx/>
                <a:uFillTx/>
                <a:latin typeface="Trenda IG Text"/>
                <a:ea typeface="+mn-ea"/>
                <a:cs typeface="+mn-cs"/>
              </a:rPr>
              <a:t>Sprint-end milestone</a:t>
            </a:r>
            <a:endParaRPr kumimoji="0" lang="en-US" sz="1100" b="0" i="0" u="none" strike="noStrike" kern="1200" cap="none" spc="0" normalizeH="0" baseline="0" noProof="0">
              <a:ln>
                <a:noFill/>
              </a:ln>
              <a:solidFill>
                <a:srgbClr val="000000"/>
              </a:solidFill>
              <a:effectLst/>
              <a:uLnTx/>
              <a:uFillTx/>
              <a:latin typeface="Trenda IG Text"/>
              <a:ea typeface="+mn-ea"/>
              <a:cs typeface="+mn-cs"/>
            </a:endParaRPr>
          </a:p>
        </p:txBody>
      </p:sp>
      <p:sp>
        <p:nvSpPr>
          <p:cNvPr id="12" name="sprint-1"/>
          <p:cNvSpPr/>
          <p:nvPr/>
        </p:nvSpPr>
        <p:spPr>
          <a:xfrm>
            <a:off x="502920" y="2103120"/>
            <a:ext cx="1757629" cy="1901952"/>
          </a:xfrm>
          <a:prstGeom prst="roundRect">
            <a:avLst>
              <a:gd name="adj" fmla="val 5202"/>
            </a:avLst>
          </a:prstGeom>
          <a:solidFill>
            <a:srgbClr val="F2F2F2"/>
          </a:solidFill>
          <a:ln w="22225">
            <a:solidFill>
              <a:srgbClr val="00A9C0"/>
            </a:solidFill>
            <a:prstDash val="solid"/>
          </a:ln>
        </p:spPr>
        <p:txBody>
          <a:bodyPr/>
          <a:lstStyle/>
          <a:p>
            <a:endParaRPr lang="en-IN"/>
          </a:p>
        </p:txBody>
      </p:sp>
      <p:sp>
        <p:nvSpPr>
          <p:cNvPr id="13" name="Text 11"/>
          <p:cNvSpPr txBox="1"/>
          <p:nvPr/>
        </p:nvSpPr>
        <p:spPr>
          <a:xfrm>
            <a:off x="640080" y="2221992"/>
            <a:ext cx="1483309" cy="219456"/>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0" cap="none" spc="200" normalizeH="0" baseline="0" noProof="0">
                <a:ln>
                  <a:noFill/>
                </a:ln>
                <a:solidFill>
                  <a:srgbClr val="007C8C"/>
                </a:solidFill>
                <a:effectLst/>
                <a:uLnTx/>
                <a:uFillTx/>
                <a:latin typeface="Trenda IG Text"/>
                <a:ea typeface="+mn-ea"/>
                <a:cs typeface="+mn-cs"/>
              </a:rPr>
              <a:t>SPRINT 1</a:t>
            </a:r>
            <a:endParaRPr kumimoji="0" lang="en-US" sz="1100" b="0" i="0" u="none" strike="noStrike" kern="1200" cap="none" spc="0" normalizeH="0" baseline="0" noProof="0">
              <a:ln>
                <a:noFill/>
              </a:ln>
              <a:solidFill>
                <a:srgbClr val="000000"/>
              </a:solidFill>
              <a:effectLst/>
              <a:uLnTx/>
              <a:uFillTx/>
              <a:latin typeface="Trenda IG Text"/>
              <a:ea typeface="+mn-ea"/>
              <a:cs typeface="+mn-cs"/>
            </a:endParaRPr>
          </a:p>
        </p:txBody>
      </p:sp>
      <p:sp>
        <p:nvSpPr>
          <p:cNvPr id="14" name="Text 12"/>
          <p:cNvSpPr txBox="1"/>
          <p:nvPr/>
        </p:nvSpPr>
        <p:spPr>
          <a:xfrm>
            <a:off x="640080" y="2450592"/>
            <a:ext cx="1483309" cy="201168"/>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4D4D4D"/>
                </a:solidFill>
                <a:effectLst/>
                <a:uLnTx/>
                <a:uFillTx/>
                <a:latin typeface="Trenda IG Text"/>
                <a:ea typeface="+mn-ea"/>
                <a:cs typeface="+mn-cs"/>
              </a:rPr>
              <a:t>Weeks 1-2</a:t>
            </a:r>
            <a:endParaRPr kumimoji="0" lang="en-US" sz="1000" b="0" i="0" u="none" strike="noStrike" kern="1200" cap="none" spc="0" normalizeH="0" baseline="0" noProof="0">
              <a:ln>
                <a:noFill/>
              </a:ln>
              <a:solidFill>
                <a:srgbClr val="000000"/>
              </a:solidFill>
              <a:effectLst/>
              <a:uLnTx/>
              <a:uFillTx/>
              <a:latin typeface="Trenda IG Text"/>
              <a:ea typeface="+mn-ea"/>
              <a:cs typeface="+mn-cs"/>
            </a:endParaRPr>
          </a:p>
        </p:txBody>
      </p:sp>
      <p:sp>
        <p:nvSpPr>
          <p:cNvPr id="15" name="Text 13"/>
          <p:cNvSpPr txBox="1"/>
          <p:nvPr/>
        </p:nvSpPr>
        <p:spPr>
          <a:xfrm>
            <a:off x="640080" y="2706624"/>
            <a:ext cx="1483309" cy="603504"/>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Trenda IG Text"/>
                <a:ea typeface="+mn-ea"/>
                <a:cs typeface="+mn-cs"/>
              </a:rPr>
              <a:t>Walkthrough, requirements, data model</a:t>
            </a:r>
          </a:p>
        </p:txBody>
      </p:sp>
      <p:sp>
        <p:nvSpPr>
          <p:cNvPr id="16" name="Shape 14"/>
          <p:cNvSpPr/>
          <p:nvPr/>
        </p:nvSpPr>
        <p:spPr>
          <a:xfrm>
            <a:off x="640080" y="3383280"/>
            <a:ext cx="1483309" cy="0"/>
          </a:xfrm>
          <a:prstGeom prst="line">
            <a:avLst/>
          </a:prstGeom>
          <a:noFill/>
          <a:ln w="9525">
            <a:solidFill>
              <a:srgbClr val="D0D0D6"/>
            </a:solidFill>
            <a:prstDash val="solid"/>
          </a:ln>
        </p:spPr>
        <p:txBody>
          <a:bodyPr/>
          <a:lstStyle/>
          <a:p>
            <a:endParaRPr lang="en-IN"/>
          </a:p>
        </p:txBody>
      </p:sp>
      <p:sp>
        <p:nvSpPr>
          <p:cNvPr id="17" name="Shape 15"/>
          <p:cNvSpPr/>
          <p:nvPr/>
        </p:nvSpPr>
        <p:spPr>
          <a:xfrm>
            <a:off x="640080" y="3520440"/>
            <a:ext cx="155448" cy="155448"/>
          </a:xfrm>
          <a:prstGeom prst="diamond">
            <a:avLst/>
          </a:prstGeom>
          <a:solidFill>
            <a:srgbClr val="000000"/>
          </a:solidFill>
          <a:ln w="12700">
            <a:solidFill>
              <a:srgbClr val="000000"/>
            </a:solidFill>
            <a:prstDash val="solid"/>
          </a:ln>
        </p:spPr>
        <p:txBody>
          <a:bodyPr/>
          <a:lstStyle/>
          <a:p>
            <a:endParaRPr lang="en-IN"/>
          </a:p>
        </p:txBody>
      </p:sp>
      <p:sp>
        <p:nvSpPr>
          <p:cNvPr id="18" name="Text 16"/>
          <p:cNvSpPr txBox="1"/>
          <p:nvPr/>
        </p:nvSpPr>
        <p:spPr>
          <a:xfrm>
            <a:off x="886968" y="3456432"/>
            <a:ext cx="1254709" cy="4572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srgbClr val="000000"/>
                </a:solidFill>
                <a:effectLst/>
                <a:uLnTx/>
                <a:uFillTx/>
                <a:latin typeface="Trenda IG Text"/>
                <a:ea typeface="+mn-ea"/>
                <a:cs typeface="+mn-cs"/>
              </a:rPr>
              <a:t>Design sign-off</a:t>
            </a:r>
            <a:endParaRPr kumimoji="0" lang="en-US" sz="1050" b="0" i="0" u="none" strike="noStrike" kern="1200" cap="none" spc="0" normalizeH="0" baseline="0" noProof="0">
              <a:ln>
                <a:noFill/>
              </a:ln>
              <a:solidFill>
                <a:srgbClr val="000000"/>
              </a:solidFill>
              <a:effectLst/>
              <a:uLnTx/>
              <a:uFillTx/>
              <a:latin typeface="Trenda IG Text"/>
              <a:ea typeface="+mn-ea"/>
              <a:cs typeface="+mn-cs"/>
            </a:endParaRPr>
          </a:p>
        </p:txBody>
      </p:sp>
      <p:sp>
        <p:nvSpPr>
          <p:cNvPr id="19" name="sprint-2"/>
          <p:cNvSpPr/>
          <p:nvPr/>
        </p:nvSpPr>
        <p:spPr>
          <a:xfrm>
            <a:off x="2388565" y="2103120"/>
            <a:ext cx="1757629" cy="1901952"/>
          </a:xfrm>
          <a:prstGeom prst="roundRect">
            <a:avLst>
              <a:gd name="adj" fmla="val 5202"/>
            </a:avLst>
          </a:prstGeom>
          <a:solidFill>
            <a:srgbClr val="F2F2F2"/>
          </a:solidFill>
          <a:ln w="22225">
            <a:solidFill>
              <a:srgbClr val="00A9C0"/>
            </a:solidFill>
            <a:prstDash val="solid"/>
          </a:ln>
        </p:spPr>
        <p:txBody>
          <a:bodyPr/>
          <a:lstStyle/>
          <a:p>
            <a:endParaRPr lang="en-IN"/>
          </a:p>
        </p:txBody>
      </p:sp>
      <p:sp>
        <p:nvSpPr>
          <p:cNvPr id="20" name="Text 18"/>
          <p:cNvSpPr txBox="1"/>
          <p:nvPr/>
        </p:nvSpPr>
        <p:spPr>
          <a:xfrm>
            <a:off x="2525725" y="2221992"/>
            <a:ext cx="1483309" cy="219456"/>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0" cap="none" spc="200" normalizeH="0" baseline="0" noProof="0">
                <a:ln>
                  <a:noFill/>
                </a:ln>
                <a:solidFill>
                  <a:srgbClr val="007C8C"/>
                </a:solidFill>
                <a:effectLst/>
                <a:uLnTx/>
                <a:uFillTx/>
                <a:latin typeface="Trenda IG Text"/>
                <a:ea typeface="+mn-ea"/>
                <a:cs typeface="+mn-cs"/>
              </a:rPr>
              <a:t>SPRINT 2</a:t>
            </a:r>
            <a:endParaRPr kumimoji="0" lang="en-US" sz="1100" b="0" i="0" u="none" strike="noStrike" kern="1200" cap="none" spc="0" normalizeH="0" baseline="0" noProof="0">
              <a:ln>
                <a:noFill/>
              </a:ln>
              <a:solidFill>
                <a:srgbClr val="000000"/>
              </a:solidFill>
              <a:effectLst/>
              <a:uLnTx/>
              <a:uFillTx/>
              <a:latin typeface="Trenda IG Text"/>
              <a:ea typeface="+mn-ea"/>
              <a:cs typeface="+mn-cs"/>
            </a:endParaRPr>
          </a:p>
        </p:txBody>
      </p:sp>
      <p:sp>
        <p:nvSpPr>
          <p:cNvPr id="21" name="Text 19"/>
          <p:cNvSpPr txBox="1"/>
          <p:nvPr/>
        </p:nvSpPr>
        <p:spPr>
          <a:xfrm>
            <a:off x="2525725" y="2450592"/>
            <a:ext cx="1483309" cy="201168"/>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4D4D4D"/>
                </a:solidFill>
                <a:effectLst/>
                <a:uLnTx/>
                <a:uFillTx/>
                <a:latin typeface="Trenda IG Text"/>
                <a:ea typeface="+mn-ea"/>
                <a:cs typeface="+mn-cs"/>
              </a:rPr>
              <a:t>Weeks 3-4</a:t>
            </a:r>
            <a:endParaRPr kumimoji="0" lang="en-US" sz="1000" b="0" i="0" u="none" strike="noStrike" kern="1200" cap="none" spc="0" normalizeH="0" baseline="0" noProof="0">
              <a:ln>
                <a:noFill/>
              </a:ln>
              <a:solidFill>
                <a:srgbClr val="000000"/>
              </a:solidFill>
              <a:effectLst/>
              <a:uLnTx/>
              <a:uFillTx/>
              <a:latin typeface="Trenda IG Text"/>
              <a:ea typeface="+mn-ea"/>
              <a:cs typeface="+mn-cs"/>
            </a:endParaRPr>
          </a:p>
        </p:txBody>
      </p:sp>
      <p:sp>
        <p:nvSpPr>
          <p:cNvPr id="22" name="Text 20"/>
          <p:cNvSpPr txBox="1"/>
          <p:nvPr/>
        </p:nvSpPr>
        <p:spPr>
          <a:xfrm>
            <a:off x="2525725" y="2706624"/>
            <a:ext cx="1483309" cy="603504"/>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Trenda IG Text"/>
                <a:ea typeface="+mn-ea"/>
                <a:cs typeface="+mn-cs"/>
              </a:rPr>
              <a:t>Environments, CI/CD, security baseline, backlog</a:t>
            </a:r>
          </a:p>
        </p:txBody>
      </p:sp>
      <p:sp>
        <p:nvSpPr>
          <p:cNvPr id="23" name="Shape 21"/>
          <p:cNvSpPr/>
          <p:nvPr/>
        </p:nvSpPr>
        <p:spPr>
          <a:xfrm>
            <a:off x="2525725" y="3383280"/>
            <a:ext cx="1483309" cy="0"/>
          </a:xfrm>
          <a:prstGeom prst="line">
            <a:avLst/>
          </a:prstGeom>
          <a:noFill/>
          <a:ln w="9525">
            <a:solidFill>
              <a:srgbClr val="D0D0D6"/>
            </a:solidFill>
            <a:prstDash val="solid"/>
          </a:ln>
        </p:spPr>
        <p:txBody>
          <a:bodyPr/>
          <a:lstStyle/>
          <a:p>
            <a:endParaRPr lang="en-IN"/>
          </a:p>
        </p:txBody>
      </p:sp>
      <p:sp>
        <p:nvSpPr>
          <p:cNvPr id="24" name="Shape 22"/>
          <p:cNvSpPr/>
          <p:nvPr/>
        </p:nvSpPr>
        <p:spPr>
          <a:xfrm>
            <a:off x="2525725" y="3520440"/>
            <a:ext cx="155448" cy="155448"/>
          </a:xfrm>
          <a:prstGeom prst="diamond">
            <a:avLst/>
          </a:prstGeom>
          <a:solidFill>
            <a:srgbClr val="000000"/>
          </a:solidFill>
          <a:ln w="12700">
            <a:solidFill>
              <a:srgbClr val="000000"/>
            </a:solidFill>
            <a:prstDash val="solid"/>
          </a:ln>
        </p:spPr>
        <p:txBody>
          <a:bodyPr/>
          <a:lstStyle/>
          <a:p>
            <a:endParaRPr lang="en-IN"/>
          </a:p>
        </p:txBody>
      </p:sp>
      <p:sp>
        <p:nvSpPr>
          <p:cNvPr id="25" name="Text 23"/>
          <p:cNvSpPr txBox="1"/>
          <p:nvPr/>
        </p:nvSpPr>
        <p:spPr>
          <a:xfrm>
            <a:off x="2772613" y="3456432"/>
            <a:ext cx="1254709" cy="4572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srgbClr val="000000"/>
                </a:solidFill>
                <a:effectLst/>
                <a:uLnTx/>
                <a:uFillTx/>
                <a:latin typeface="Trenda IG Text"/>
                <a:ea typeface="+mn-ea"/>
                <a:cs typeface="+mn-cs"/>
              </a:rPr>
              <a:t>Architecture approved</a:t>
            </a:r>
            <a:endParaRPr kumimoji="0" lang="en-US" sz="1050" b="0" i="0" u="none" strike="noStrike" kern="1200" cap="none" spc="0" normalizeH="0" baseline="0" noProof="0">
              <a:ln>
                <a:noFill/>
              </a:ln>
              <a:solidFill>
                <a:srgbClr val="000000"/>
              </a:solidFill>
              <a:effectLst/>
              <a:uLnTx/>
              <a:uFillTx/>
              <a:latin typeface="Trenda IG Text"/>
              <a:ea typeface="+mn-ea"/>
              <a:cs typeface="+mn-cs"/>
            </a:endParaRPr>
          </a:p>
        </p:txBody>
      </p:sp>
      <p:sp>
        <p:nvSpPr>
          <p:cNvPr id="26" name="sprint-3"/>
          <p:cNvSpPr/>
          <p:nvPr/>
        </p:nvSpPr>
        <p:spPr>
          <a:xfrm>
            <a:off x="4274210" y="2103120"/>
            <a:ext cx="1757629" cy="1901952"/>
          </a:xfrm>
          <a:prstGeom prst="roundRect">
            <a:avLst>
              <a:gd name="adj" fmla="val 5202"/>
            </a:avLst>
          </a:prstGeom>
          <a:solidFill>
            <a:srgbClr val="F2F2F2"/>
          </a:solidFill>
          <a:ln w="22225">
            <a:solidFill>
              <a:srgbClr val="D9B200"/>
            </a:solidFill>
            <a:prstDash val="solid"/>
          </a:ln>
        </p:spPr>
        <p:txBody>
          <a:bodyPr/>
          <a:lstStyle/>
          <a:p>
            <a:endParaRPr lang="en-IN"/>
          </a:p>
        </p:txBody>
      </p:sp>
      <p:sp>
        <p:nvSpPr>
          <p:cNvPr id="27" name="Text 25"/>
          <p:cNvSpPr txBox="1"/>
          <p:nvPr/>
        </p:nvSpPr>
        <p:spPr>
          <a:xfrm>
            <a:off x="4411370" y="2221992"/>
            <a:ext cx="1483309" cy="219456"/>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0" cap="none" spc="200" normalizeH="0" baseline="0" noProof="0">
                <a:ln>
                  <a:noFill/>
                </a:ln>
                <a:solidFill>
                  <a:srgbClr val="7A6100"/>
                </a:solidFill>
                <a:effectLst/>
                <a:uLnTx/>
                <a:uFillTx/>
                <a:latin typeface="Trenda IG Text"/>
                <a:ea typeface="+mn-ea"/>
                <a:cs typeface="+mn-cs"/>
              </a:rPr>
              <a:t>SPRINT 3</a:t>
            </a:r>
            <a:endParaRPr kumimoji="0" lang="en-US" sz="1100" b="0" i="0" u="none" strike="noStrike" kern="1200" cap="none" spc="0" normalizeH="0" baseline="0" noProof="0">
              <a:ln>
                <a:noFill/>
              </a:ln>
              <a:solidFill>
                <a:srgbClr val="000000"/>
              </a:solidFill>
              <a:effectLst/>
              <a:uLnTx/>
              <a:uFillTx/>
              <a:latin typeface="Trenda IG Text"/>
              <a:ea typeface="+mn-ea"/>
              <a:cs typeface="+mn-cs"/>
            </a:endParaRPr>
          </a:p>
        </p:txBody>
      </p:sp>
      <p:sp>
        <p:nvSpPr>
          <p:cNvPr id="28" name="Text 26"/>
          <p:cNvSpPr txBox="1"/>
          <p:nvPr/>
        </p:nvSpPr>
        <p:spPr>
          <a:xfrm>
            <a:off x="4411370" y="2450592"/>
            <a:ext cx="1483309" cy="201168"/>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4D4D4D"/>
                </a:solidFill>
                <a:effectLst/>
                <a:uLnTx/>
                <a:uFillTx/>
                <a:latin typeface="Trenda IG Text"/>
                <a:ea typeface="+mn-ea"/>
                <a:cs typeface="+mn-cs"/>
              </a:rPr>
              <a:t>Weeks 5-6</a:t>
            </a:r>
            <a:endParaRPr kumimoji="0" lang="en-US" sz="1000" b="0" i="0" u="none" strike="noStrike" kern="1200" cap="none" spc="0" normalizeH="0" baseline="0" noProof="0">
              <a:ln>
                <a:noFill/>
              </a:ln>
              <a:solidFill>
                <a:srgbClr val="000000"/>
              </a:solidFill>
              <a:effectLst/>
              <a:uLnTx/>
              <a:uFillTx/>
              <a:latin typeface="Trenda IG Text"/>
              <a:ea typeface="+mn-ea"/>
              <a:cs typeface="+mn-cs"/>
            </a:endParaRPr>
          </a:p>
        </p:txBody>
      </p:sp>
      <p:sp>
        <p:nvSpPr>
          <p:cNvPr id="29" name="Text 27"/>
          <p:cNvSpPr txBox="1"/>
          <p:nvPr/>
        </p:nvSpPr>
        <p:spPr>
          <a:xfrm>
            <a:off x="4411370" y="2706624"/>
            <a:ext cx="1483309" cy="603504"/>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Trenda IG Text"/>
                <a:ea typeface="+mn-ea"/>
                <a:cs typeface="+mn-cs"/>
              </a:rPr>
              <a:t>Event catalog and class listings on Sitecore</a:t>
            </a:r>
          </a:p>
        </p:txBody>
      </p:sp>
      <p:sp>
        <p:nvSpPr>
          <p:cNvPr id="30" name="Shape 28"/>
          <p:cNvSpPr/>
          <p:nvPr/>
        </p:nvSpPr>
        <p:spPr>
          <a:xfrm>
            <a:off x="4411370" y="3383280"/>
            <a:ext cx="1483309" cy="0"/>
          </a:xfrm>
          <a:prstGeom prst="line">
            <a:avLst/>
          </a:prstGeom>
          <a:noFill/>
          <a:ln w="9525">
            <a:solidFill>
              <a:srgbClr val="D0D0D6"/>
            </a:solidFill>
            <a:prstDash val="solid"/>
          </a:ln>
        </p:spPr>
        <p:txBody>
          <a:bodyPr/>
          <a:lstStyle/>
          <a:p>
            <a:endParaRPr lang="en-IN"/>
          </a:p>
        </p:txBody>
      </p:sp>
      <p:sp>
        <p:nvSpPr>
          <p:cNvPr id="31" name="Shape 29"/>
          <p:cNvSpPr/>
          <p:nvPr/>
        </p:nvSpPr>
        <p:spPr>
          <a:xfrm>
            <a:off x="4411370" y="3520440"/>
            <a:ext cx="155448" cy="155448"/>
          </a:xfrm>
          <a:prstGeom prst="diamond">
            <a:avLst/>
          </a:prstGeom>
          <a:solidFill>
            <a:srgbClr val="000000"/>
          </a:solidFill>
          <a:ln w="12700">
            <a:solidFill>
              <a:srgbClr val="000000"/>
            </a:solidFill>
            <a:prstDash val="solid"/>
          </a:ln>
        </p:spPr>
        <p:txBody>
          <a:bodyPr/>
          <a:lstStyle/>
          <a:p>
            <a:endParaRPr lang="en-IN"/>
          </a:p>
        </p:txBody>
      </p:sp>
      <p:sp>
        <p:nvSpPr>
          <p:cNvPr id="32" name="Text 30"/>
          <p:cNvSpPr txBox="1"/>
          <p:nvPr/>
        </p:nvSpPr>
        <p:spPr>
          <a:xfrm>
            <a:off x="4658258" y="3456432"/>
            <a:ext cx="1254709" cy="4572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srgbClr val="000000"/>
                </a:solidFill>
                <a:effectLst/>
                <a:uLnTx/>
                <a:uFillTx/>
                <a:latin typeface="Trenda IG Text"/>
                <a:ea typeface="+mn-ea"/>
                <a:cs typeface="+mn-cs"/>
              </a:rPr>
              <a:t>Classes browsable in test</a:t>
            </a:r>
            <a:endParaRPr kumimoji="0" lang="en-US" sz="1050" b="0" i="0" u="none" strike="noStrike" kern="1200" cap="none" spc="0" normalizeH="0" baseline="0" noProof="0">
              <a:ln>
                <a:noFill/>
              </a:ln>
              <a:solidFill>
                <a:srgbClr val="000000"/>
              </a:solidFill>
              <a:effectLst/>
              <a:uLnTx/>
              <a:uFillTx/>
              <a:latin typeface="Trenda IG Text"/>
              <a:ea typeface="+mn-ea"/>
              <a:cs typeface="+mn-cs"/>
            </a:endParaRPr>
          </a:p>
        </p:txBody>
      </p:sp>
      <p:sp>
        <p:nvSpPr>
          <p:cNvPr id="33" name="sprint-4"/>
          <p:cNvSpPr/>
          <p:nvPr/>
        </p:nvSpPr>
        <p:spPr>
          <a:xfrm>
            <a:off x="6159856" y="2103120"/>
            <a:ext cx="1757629" cy="1901952"/>
          </a:xfrm>
          <a:prstGeom prst="roundRect">
            <a:avLst>
              <a:gd name="adj" fmla="val 5202"/>
            </a:avLst>
          </a:prstGeom>
          <a:solidFill>
            <a:srgbClr val="F2F2F2"/>
          </a:solidFill>
          <a:ln w="22225">
            <a:solidFill>
              <a:srgbClr val="D9B200"/>
            </a:solidFill>
            <a:prstDash val="solid"/>
          </a:ln>
        </p:spPr>
        <p:txBody>
          <a:bodyPr/>
          <a:lstStyle/>
          <a:p>
            <a:endParaRPr lang="en-IN"/>
          </a:p>
        </p:txBody>
      </p:sp>
      <p:sp>
        <p:nvSpPr>
          <p:cNvPr id="34" name="Text 32"/>
          <p:cNvSpPr txBox="1"/>
          <p:nvPr/>
        </p:nvSpPr>
        <p:spPr>
          <a:xfrm>
            <a:off x="6297016" y="2221992"/>
            <a:ext cx="1483309" cy="219456"/>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0" cap="none" spc="200" normalizeH="0" baseline="0" noProof="0">
                <a:ln>
                  <a:noFill/>
                </a:ln>
                <a:solidFill>
                  <a:srgbClr val="7A6100"/>
                </a:solidFill>
                <a:effectLst/>
                <a:uLnTx/>
                <a:uFillTx/>
                <a:latin typeface="Trenda IG Text"/>
                <a:ea typeface="+mn-ea"/>
                <a:cs typeface="+mn-cs"/>
              </a:rPr>
              <a:t>SPRINT 4</a:t>
            </a:r>
            <a:endParaRPr kumimoji="0" lang="en-US" sz="1100" b="0" i="0" u="none" strike="noStrike" kern="1200" cap="none" spc="0" normalizeH="0" baseline="0" noProof="0">
              <a:ln>
                <a:noFill/>
              </a:ln>
              <a:solidFill>
                <a:srgbClr val="000000"/>
              </a:solidFill>
              <a:effectLst/>
              <a:uLnTx/>
              <a:uFillTx/>
              <a:latin typeface="Trenda IG Text"/>
              <a:ea typeface="+mn-ea"/>
              <a:cs typeface="+mn-cs"/>
            </a:endParaRPr>
          </a:p>
        </p:txBody>
      </p:sp>
      <p:sp>
        <p:nvSpPr>
          <p:cNvPr id="35" name="Text 33"/>
          <p:cNvSpPr txBox="1"/>
          <p:nvPr/>
        </p:nvSpPr>
        <p:spPr>
          <a:xfrm>
            <a:off x="6297016" y="2450592"/>
            <a:ext cx="1483309" cy="201168"/>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4D4D4D"/>
                </a:solidFill>
                <a:effectLst/>
                <a:uLnTx/>
                <a:uFillTx/>
                <a:latin typeface="Trenda IG Text"/>
                <a:ea typeface="+mn-ea"/>
                <a:cs typeface="+mn-cs"/>
              </a:rPr>
              <a:t>Weeks 7-8</a:t>
            </a:r>
            <a:endParaRPr kumimoji="0" lang="en-US" sz="1000" b="0" i="0" u="none" strike="noStrike" kern="1200" cap="none" spc="0" normalizeH="0" baseline="0" noProof="0">
              <a:ln>
                <a:noFill/>
              </a:ln>
              <a:solidFill>
                <a:srgbClr val="000000"/>
              </a:solidFill>
              <a:effectLst/>
              <a:uLnTx/>
              <a:uFillTx/>
              <a:latin typeface="Trenda IG Text"/>
              <a:ea typeface="+mn-ea"/>
              <a:cs typeface="+mn-cs"/>
            </a:endParaRPr>
          </a:p>
        </p:txBody>
      </p:sp>
      <p:sp>
        <p:nvSpPr>
          <p:cNvPr id="36" name="Text 34"/>
          <p:cNvSpPr txBox="1"/>
          <p:nvPr/>
        </p:nvSpPr>
        <p:spPr>
          <a:xfrm>
            <a:off x="6297016" y="2706624"/>
            <a:ext cx="1483309" cy="603504"/>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Trenda IG Text"/>
                <a:ea typeface="+mn-ea"/>
                <a:cs typeface="+mn-cs"/>
              </a:rPr>
              <a:t>Registration, seat holds, waitlist</a:t>
            </a:r>
          </a:p>
        </p:txBody>
      </p:sp>
      <p:sp>
        <p:nvSpPr>
          <p:cNvPr id="37" name="Shape 35"/>
          <p:cNvSpPr/>
          <p:nvPr/>
        </p:nvSpPr>
        <p:spPr>
          <a:xfrm>
            <a:off x="6297016" y="3383280"/>
            <a:ext cx="1483309" cy="0"/>
          </a:xfrm>
          <a:prstGeom prst="line">
            <a:avLst/>
          </a:prstGeom>
          <a:noFill/>
          <a:ln w="9525">
            <a:solidFill>
              <a:srgbClr val="D0D0D6"/>
            </a:solidFill>
            <a:prstDash val="solid"/>
          </a:ln>
        </p:spPr>
        <p:txBody>
          <a:bodyPr/>
          <a:lstStyle/>
          <a:p>
            <a:endParaRPr lang="en-IN"/>
          </a:p>
        </p:txBody>
      </p:sp>
      <p:sp>
        <p:nvSpPr>
          <p:cNvPr id="38" name="Shape 36"/>
          <p:cNvSpPr/>
          <p:nvPr/>
        </p:nvSpPr>
        <p:spPr>
          <a:xfrm>
            <a:off x="6297016" y="3520440"/>
            <a:ext cx="155448" cy="155448"/>
          </a:xfrm>
          <a:prstGeom prst="diamond">
            <a:avLst/>
          </a:prstGeom>
          <a:solidFill>
            <a:srgbClr val="000000"/>
          </a:solidFill>
          <a:ln w="12700">
            <a:solidFill>
              <a:srgbClr val="000000"/>
            </a:solidFill>
            <a:prstDash val="solid"/>
          </a:ln>
        </p:spPr>
        <p:txBody>
          <a:bodyPr/>
          <a:lstStyle/>
          <a:p>
            <a:endParaRPr lang="en-IN"/>
          </a:p>
        </p:txBody>
      </p:sp>
      <p:sp>
        <p:nvSpPr>
          <p:cNvPr id="39" name="Text 37"/>
          <p:cNvSpPr txBox="1"/>
          <p:nvPr/>
        </p:nvSpPr>
        <p:spPr>
          <a:xfrm>
            <a:off x="6543904" y="3456432"/>
            <a:ext cx="1254709" cy="4572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srgbClr val="000000"/>
                </a:solidFill>
                <a:effectLst/>
                <a:uLnTx/>
                <a:uFillTx/>
                <a:latin typeface="Trenda IG Text"/>
                <a:ea typeface="+mn-ea"/>
                <a:cs typeface="+mn-cs"/>
              </a:rPr>
              <a:t>Registration demo</a:t>
            </a:r>
            <a:endParaRPr kumimoji="0" lang="en-US" sz="1050" b="0" i="0" u="none" strike="noStrike" kern="1200" cap="none" spc="0" normalizeH="0" baseline="0" noProof="0">
              <a:ln>
                <a:noFill/>
              </a:ln>
              <a:solidFill>
                <a:srgbClr val="000000"/>
              </a:solidFill>
              <a:effectLst/>
              <a:uLnTx/>
              <a:uFillTx/>
              <a:latin typeface="Trenda IG Text"/>
              <a:ea typeface="+mn-ea"/>
              <a:cs typeface="+mn-cs"/>
            </a:endParaRPr>
          </a:p>
        </p:txBody>
      </p:sp>
      <p:sp>
        <p:nvSpPr>
          <p:cNvPr id="40" name="sprint-5"/>
          <p:cNvSpPr/>
          <p:nvPr/>
        </p:nvSpPr>
        <p:spPr>
          <a:xfrm>
            <a:off x="8045501" y="2103120"/>
            <a:ext cx="1757629" cy="1901952"/>
          </a:xfrm>
          <a:prstGeom prst="roundRect">
            <a:avLst>
              <a:gd name="adj" fmla="val 5202"/>
            </a:avLst>
          </a:prstGeom>
          <a:solidFill>
            <a:srgbClr val="F2F2F2"/>
          </a:solidFill>
          <a:ln w="22225">
            <a:solidFill>
              <a:srgbClr val="D9B200"/>
            </a:solidFill>
            <a:prstDash val="solid"/>
          </a:ln>
        </p:spPr>
        <p:txBody>
          <a:bodyPr/>
          <a:lstStyle/>
          <a:p>
            <a:endParaRPr lang="en-IN"/>
          </a:p>
        </p:txBody>
      </p:sp>
      <p:sp>
        <p:nvSpPr>
          <p:cNvPr id="41" name="Text 39"/>
          <p:cNvSpPr txBox="1"/>
          <p:nvPr/>
        </p:nvSpPr>
        <p:spPr>
          <a:xfrm>
            <a:off x="8182661" y="2221992"/>
            <a:ext cx="1483309" cy="219456"/>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0" cap="none" spc="200" normalizeH="0" baseline="0" noProof="0">
                <a:ln>
                  <a:noFill/>
                </a:ln>
                <a:solidFill>
                  <a:srgbClr val="7A6100"/>
                </a:solidFill>
                <a:effectLst/>
                <a:uLnTx/>
                <a:uFillTx/>
                <a:latin typeface="Trenda IG Text"/>
                <a:ea typeface="+mn-ea"/>
                <a:cs typeface="+mn-cs"/>
              </a:rPr>
              <a:t>SPRINT 5</a:t>
            </a:r>
            <a:endParaRPr kumimoji="0" lang="en-US" sz="1100" b="0" i="0" u="none" strike="noStrike" kern="1200" cap="none" spc="0" normalizeH="0" baseline="0" noProof="0">
              <a:ln>
                <a:noFill/>
              </a:ln>
              <a:solidFill>
                <a:srgbClr val="000000"/>
              </a:solidFill>
              <a:effectLst/>
              <a:uLnTx/>
              <a:uFillTx/>
              <a:latin typeface="Trenda IG Text"/>
              <a:ea typeface="+mn-ea"/>
              <a:cs typeface="+mn-cs"/>
            </a:endParaRPr>
          </a:p>
        </p:txBody>
      </p:sp>
      <p:sp>
        <p:nvSpPr>
          <p:cNvPr id="42" name="Text 40"/>
          <p:cNvSpPr txBox="1"/>
          <p:nvPr/>
        </p:nvSpPr>
        <p:spPr>
          <a:xfrm>
            <a:off x="8182661" y="2450592"/>
            <a:ext cx="1483309" cy="201168"/>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4D4D4D"/>
                </a:solidFill>
                <a:effectLst/>
                <a:uLnTx/>
                <a:uFillTx/>
                <a:latin typeface="Trenda IG Text"/>
                <a:ea typeface="+mn-ea"/>
                <a:cs typeface="+mn-cs"/>
              </a:rPr>
              <a:t>Weeks 9-10</a:t>
            </a:r>
            <a:endParaRPr kumimoji="0" lang="en-US" sz="1000" b="0" i="0" u="none" strike="noStrike" kern="1200" cap="none" spc="0" normalizeH="0" baseline="0" noProof="0">
              <a:ln>
                <a:noFill/>
              </a:ln>
              <a:solidFill>
                <a:srgbClr val="000000"/>
              </a:solidFill>
              <a:effectLst/>
              <a:uLnTx/>
              <a:uFillTx/>
              <a:latin typeface="Trenda IG Text"/>
              <a:ea typeface="+mn-ea"/>
              <a:cs typeface="+mn-cs"/>
            </a:endParaRPr>
          </a:p>
        </p:txBody>
      </p:sp>
      <p:sp>
        <p:nvSpPr>
          <p:cNvPr id="43" name="Text 41"/>
          <p:cNvSpPr txBox="1"/>
          <p:nvPr/>
        </p:nvSpPr>
        <p:spPr>
          <a:xfrm>
            <a:off x="8182661" y="2706624"/>
            <a:ext cx="1483309" cy="603504"/>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Trenda IG Text"/>
                <a:ea typeface="+mn-ea"/>
                <a:cs typeface="+mn-cs"/>
              </a:rPr>
              <a:t>Chase checkout, refunds, confirmation journeys</a:t>
            </a:r>
          </a:p>
        </p:txBody>
      </p:sp>
      <p:sp>
        <p:nvSpPr>
          <p:cNvPr id="44" name="Shape 42"/>
          <p:cNvSpPr/>
          <p:nvPr/>
        </p:nvSpPr>
        <p:spPr>
          <a:xfrm>
            <a:off x="8182661" y="3383280"/>
            <a:ext cx="1483309" cy="0"/>
          </a:xfrm>
          <a:prstGeom prst="line">
            <a:avLst/>
          </a:prstGeom>
          <a:noFill/>
          <a:ln w="9525">
            <a:solidFill>
              <a:srgbClr val="D0D0D6"/>
            </a:solidFill>
            <a:prstDash val="solid"/>
          </a:ln>
        </p:spPr>
        <p:txBody>
          <a:bodyPr/>
          <a:lstStyle/>
          <a:p>
            <a:endParaRPr lang="en-IN"/>
          </a:p>
        </p:txBody>
      </p:sp>
      <p:sp>
        <p:nvSpPr>
          <p:cNvPr id="45" name="Shape 43"/>
          <p:cNvSpPr/>
          <p:nvPr/>
        </p:nvSpPr>
        <p:spPr>
          <a:xfrm>
            <a:off x="8182661" y="3520440"/>
            <a:ext cx="155448" cy="155448"/>
          </a:xfrm>
          <a:prstGeom prst="diamond">
            <a:avLst/>
          </a:prstGeom>
          <a:solidFill>
            <a:srgbClr val="000000"/>
          </a:solidFill>
          <a:ln w="12700">
            <a:solidFill>
              <a:srgbClr val="000000"/>
            </a:solidFill>
            <a:prstDash val="solid"/>
          </a:ln>
        </p:spPr>
        <p:txBody>
          <a:bodyPr/>
          <a:lstStyle/>
          <a:p>
            <a:endParaRPr lang="en-IN"/>
          </a:p>
        </p:txBody>
      </p:sp>
      <p:sp>
        <p:nvSpPr>
          <p:cNvPr id="46" name="Text 44"/>
          <p:cNvSpPr txBox="1"/>
          <p:nvPr/>
        </p:nvSpPr>
        <p:spPr>
          <a:xfrm>
            <a:off x="8429549" y="3456432"/>
            <a:ext cx="1254709" cy="4572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srgbClr val="000000"/>
                </a:solidFill>
                <a:effectLst/>
                <a:uLnTx/>
                <a:uFillTx/>
                <a:latin typeface="Trenda IG Text"/>
                <a:ea typeface="+mn-ea"/>
                <a:cs typeface="+mn-cs"/>
              </a:rPr>
              <a:t>Pay and confirm end to end</a:t>
            </a:r>
            <a:endParaRPr kumimoji="0" lang="en-US" sz="1050" b="0" i="0" u="none" strike="noStrike" kern="1200" cap="none" spc="0" normalizeH="0" baseline="0" noProof="0">
              <a:ln>
                <a:noFill/>
              </a:ln>
              <a:solidFill>
                <a:srgbClr val="000000"/>
              </a:solidFill>
              <a:effectLst/>
              <a:uLnTx/>
              <a:uFillTx/>
              <a:latin typeface="Trenda IG Text"/>
              <a:ea typeface="+mn-ea"/>
              <a:cs typeface="+mn-cs"/>
            </a:endParaRPr>
          </a:p>
        </p:txBody>
      </p:sp>
      <p:sp>
        <p:nvSpPr>
          <p:cNvPr id="47" name="sprint-6"/>
          <p:cNvSpPr/>
          <p:nvPr/>
        </p:nvSpPr>
        <p:spPr>
          <a:xfrm>
            <a:off x="9931146" y="2103120"/>
            <a:ext cx="1757629" cy="1901952"/>
          </a:xfrm>
          <a:prstGeom prst="roundRect">
            <a:avLst>
              <a:gd name="adj" fmla="val 5202"/>
            </a:avLst>
          </a:prstGeom>
          <a:solidFill>
            <a:srgbClr val="F2F2F2"/>
          </a:solidFill>
          <a:ln w="22225">
            <a:solidFill>
              <a:srgbClr val="D9B200"/>
            </a:solidFill>
            <a:prstDash val="solid"/>
          </a:ln>
        </p:spPr>
        <p:txBody>
          <a:bodyPr/>
          <a:lstStyle/>
          <a:p>
            <a:endParaRPr lang="en-IN"/>
          </a:p>
        </p:txBody>
      </p:sp>
      <p:sp>
        <p:nvSpPr>
          <p:cNvPr id="48" name="Text 46"/>
          <p:cNvSpPr txBox="1"/>
          <p:nvPr/>
        </p:nvSpPr>
        <p:spPr>
          <a:xfrm>
            <a:off x="10068306" y="2221992"/>
            <a:ext cx="1483309" cy="219456"/>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0" cap="none" spc="200" normalizeH="0" baseline="0" noProof="0">
                <a:ln>
                  <a:noFill/>
                </a:ln>
                <a:solidFill>
                  <a:srgbClr val="7A6100"/>
                </a:solidFill>
                <a:effectLst/>
                <a:uLnTx/>
                <a:uFillTx/>
                <a:latin typeface="Trenda IG Text"/>
                <a:ea typeface="+mn-ea"/>
                <a:cs typeface="+mn-cs"/>
              </a:rPr>
              <a:t>SPRINT 6</a:t>
            </a:r>
            <a:endParaRPr kumimoji="0" lang="en-US" sz="1100" b="0" i="0" u="none" strike="noStrike" kern="1200" cap="none" spc="0" normalizeH="0" baseline="0" noProof="0">
              <a:ln>
                <a:noFill/>
              </a:ln>
              <a:solidFill>
                <a:srgbClr val="000000"/>
              </a:solidFill>
              <a:effectLst/>
              <a:uLnTx/>
              <a:uFillTx/>
              <a:latin typeface="Trenda IG Text"/>
              <a:ea typeface="+mn-ea"/>
              <a:cs typeface="+mn-cs"/>
            </a:endParaRPr>
          </a:p>
        </p:txBody>
      </p:sp>
      <p:sp>
        <p:nvSpPr>
          <p:cNvPr id="49" name="Text 47"/>
          <p:cNvSpPr txBox="1"/>
          <p:nvPr/>
        </p:nvSpPr>
        <p:spPr>
          <a:xfrm>
            <a:off x="10068306" y="2450592"/>
            <a:ext cx="1483309" cy="201168"/>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4D4D4D"/>
                </a:solidFill>
                <a:effectLst/>
                <a:uLnTx/>
                <a:uFillTx/>
                <a:latin typeface="Trenda IG Text"/>
                <a:ea typeface="+mn-ea"/>
                <a:cs typeface="+mn-cs"/>
              </a:rPr>
              <a:t>Weeks 11-12</a:t>
            </a:r>
            <a:endParaRPr kumimoji="0" lang="en-US" sz="1000" b="0" i="0" u="none" strike="noStrike" kern="1200" cap="none" spc="0" normalizeH="0" baseline="0" noProof="0">
              <a:ln>
                <a:noFill/>
              </a:ln>
              <a:solidFill>
                <a:srgbClr val="000000"/>
              </a:solidFill>
              <a:effectLst/>
              <a:uLnTx/>
              <a:uFillTx/>
              <a:latin typeface="Trenda IG Text"/>
              <a:ea typeface="+mn-ea"/>
              <a:cs typeface="+mn-cs"/>
            </a:endParaRPr>
          </a:p>
        </p:txBody>
      </p:sp>
      <p:sp>
        <p:nvSpPr>
          <p:cNvPr id="50" name="Text 48"/>
          <p:cNvSpPr txBox="1"/>
          <p:nvPr/>
        </p:nvSpPr>
        <p:spPr>
          <a:xfrm>
            <a:off x="10068306" y="2706624"/>
            <a:ext cx="1483309" cy="603504"/>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Trenda IG Text"/>
                <a:ea typeface="+mn-ea"/>
                <a:cs typeface="+mn-cs"/>
              </a:rPr>
              <a:t>QR check-in, reporting, My MH app entry, load test</a:t>
            </a:r>
          </a:p>
        </p:txBody>
      </p:sp>
      <p:sp>
        <p:nvSpPr>
          <p:cNvPr id="51" name="Shape 49"/>
          <p:cNvSpPr/>
          <p:nvPr/>
        </p:nvSpPr>
        <p:spPr>
          <a:xfrm>
            <a:off x="10068306" y="3383280"/>
            <a:ext cx="1483309" cy="0"/>
          </a:xfrm>
          <a:prstGeom prst="line">
            <a:avLst/>
          </a:prstGeom>
          <a:noFill/>
          <a:ln w="9525">
            <a:solidFill>
              <a:srgbClr val="D0D0D6"/>
            </a:solidFill>
            <a:prstDash val="solid"/>
          </a:ln>
        </p:spPr>
        <p:txBody>
          <a:bodyPr/>
          <a:lstStyle/>
          <a:p>
            <a:endParaRPr lang="en-IN"/>
          </a:p>
        </p:txBody>
      </p:sp>
      <p:sp>
        <p:nvSpPr>
          <p:cNvPr id="52" name="Shape 50"/>
          <p:cNvSpPr/>
          <p:nvPr/>
        </p:nvSpPr>
        <p:spPr>
          <a:xfrm>
            <a:off x="10068306" y="3520440"/>
            <a:ext cx="155448" cy="155448"/>
          </a:xfrm>
          <a:prstGeom prst="diamond">
            <a:avLst/>
          </a:prstGeom>
          <a:solidFill>
            <a:srgbClr val="000000"/>
          </a:solidFill>
          <a:ln w="12700">
            <a:solidFill>
              <a:srgbClr val="000000"/>
            </a:solidFill>
            <a:prstDash val="solid"/>
          </a:ln>
        </p:spPr>
        <p:txBody>
          <a:bodyPr/>
          <a:lstStyle/>
          <a:p>
            <a:endParaRPr lang="en-IN"/>
          </a:p>
        </p:txBody>
      </p:sp>
      <p:sp>
        <p:nvSpPr>
          <p:cNvPr id="53" name="Text 51"/>
          <p:cNvSpPr txBox="1"/>
          <p:nvPr/>
        </p:nvSpPr>
        <p:spPr>
          <a:xfrm>
            <a:off x="10315194" y="3456432"/>
            <a:ext cx="1254709" cy="4572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srgbClr val="000000"/>
                </a:solidFill>
                <a:effectLst/>
                <a:uLnTx/>
                <a:uFillTx/>
                <a:latin typeface="Trenda IG Text"/>
                <a:ea typeface="+mn-ea"/>
                <a:cs typeface="+mn-cs"/>
              </a:rPr>
              <a:t>User testing starts</a:t>
            </a:r>
            <a:endParaRPr kumimoji="0" lang="en-US" sz="1050" b="0" i="0" u="none" strike="noStrike" kern="1200" cap="none" spc="0" normalizeH="0" baseline="0" noProof="0">
              <a:ln>
                <a:noFill/>
              </a:ln>
              <a:solidFill>
                <a:srgbClr val="000000"/>
              </a:solidFill>
              <a:effectLst/>
              <a:uLnTx/>
              <a:uFillTx/>
              <a:latin typeface="Trenda IG Text"/>
              <a:ea typeface="+mn-ea"/>
              <a:cs typeface="+mn-cs"/>
            </a:endParaRPr>
          </a:p>
        </p:txBody>
      </p:sp>
      <p:sp>
        <p:nvSpPr>
          <p:cNvPr id="54" name="sprint-7"/>
          <p:cNvSpPr/>
          <p:nvPr/>
        </p:nvSpPr>
        <p:spPr>
          <a:xfrm>
            <a:off x="502920" y="4151376"/>
            <a:ext cx="1757629" cy="1901952"/>
          </a:xfrm>
          <a:prstGeom prst="roundRect">
            <a:avLst>
              <a:gd name="adj" fmla="val 5202"/>
            </a:avLst>
          </a:prstGeom>
          <a:solidFill>
            <a:srgbClr val="000000"/>
          </a:solidFill>
          <a:ln w="22225">
            <a:solidFill>
              <a:srgbClr val="D9B200"/>
            </a:solidFill>
            <a:prstDash val="solid"/>
          </a:ln>
        </p:spPr>
        <p:txBody>
          <a:bodyPr/>
          <a:lstStyle/>
          <a:p>
            <a:endParaRPr lang="en-IN"/>
          </a:p>
        </p:txBody>
      </p:sp>
      <p:sp>
        <p:nvSpPr>
          <p:cNvPr id="55" name="Text 53"/>
          <p:cNvSpPr txBox="1"/>
          <p:nvPr/>
        </p:nvSpPr>
        <p:spPr>
          <a:xfrm>
            <a:off x="640080" y="4270248"/>
            <a:ext cx="1483309" cy="219456"/>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0" cap="none" spc="200" normalizeH="0" baseline="0" noProof="0">
                <a:ln>
                  <a:noFill/>
                </a:ln>
                <a:solidFill>
                  <a:srgbClr val="D9B200"/>
                </a:solidFill>
                <a:effectLst/>
                <a:uLnTx/>
                <a:uFillTx/>
                <a:latin typeface="Trenda IG Text"/>
                <a:ea typeface="+mn-ea"/>
                <a:cs typeface="+mn-cs"/>
              </a:rPr>
              <a:t>SPRINT 7</a:t>
            </a:r>
            <a:endParaRPr kumimoji="0" lang="en-US" sz="1100" b="0" i="0" u="none" strike="noStrike" kern="1200" cap="none" spc="0" normalizeH="0" baseline="0" noProof="0">
              <a:ln>
                <a:noFill/>
              </a:ln>
              <a:solidFill>
                <a:srgbClr val="000000"/>
              </a:solidFill>
              <a:effectLst/>
              <a:uLnTx/>
              <a:uFillTx/>
              <a:latin typeface="Trenda IG Text"/>
              <a:ea typeface="+mn-ea"/>
              <a:cs typeface="+mn-cs"/>
            </a:endParaRPr>
          </a:p>
        </p:txBody>
      </p:sp>
      <p:sp>
        <p:nvSpPr>
          <p:cNvPr id="56" name="Text 54"/>
          <p:cNvSpPr txBox="1"/>
          <p:nvPr/>
        </p:nvSpPr>
        <p:spPr>
          <a:xfrm>
            <a:off x="640080" y="4498848"/>
            <a:ext cx="1483309" cy="201168"/>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D9D9D9"/>
                </a:solidFill>
                <a:effectLst/>
                <a:uLnTx/>
                <a:uFillTx/>
                <a:latin typeface="Trenda IG Text"/>
                <a:ea typeface="+mn-ea"/>
                <a:cs typeface="+mn-cs"/>
              </a:rPr>
              <a:t>Weeks 13-14</a:t>
            </a:r>
            <a:endParaRPr kumimoji="0" lang="en-US" sz="1000" b="0" i="0" u="none" strike="noStrike" kern="1200" cap="none" spc="0" normalizeH="0" baseline="0" noProof="0">
              <a:ln>
                <a:noFill/>
              </a:ln>
              <a:solidFill>
                <a:srgbClr val="000000"/>
              </a:solidFill>
              <a:effectLst/>
              <a:uLnTx/>
              <a:uFillTx/>
              <a:latin typeface="Trenda IG Text"/>
              <a:ea typeface="+mn-ea"/>
              <a:cs typeface="+mn-cs"/>
            </a:endParaRPr>
          </a:p>
        </p:txBody>
      </p:sp>
      <p:sp>
        <p:nvSpPr>
          <p:cNvPr id="57" name="Text 55"/>
          <p:cNvSpPr txBox="1"/>
          <p:nvPr/>
        </p:nvSpPr>
        <p:spPr>
          <a:xfrm>
            <a:off x="640080" y="4754880"/>
            <a:ext cx="1483309" cy="603504"/>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FFFFFF"/>
                </a:solidFill>
                <a:effectLst/>
                <a:uLnTx/>
                <a:uFillTx/>
                <a:latin typeface="Trenda IG Text"/>
                <a:ea typeface="+mn-ea"/>
                <a:cs typeface="+mn-cs"/>
              </a:rPr>
              <a:t>User testing, move upcoming classes, go-live</a:t>
            </a:r>
            <a:endParaRPr kumimoji="0" lang="en-US" sz="1100" b="0" i="0" u="none" strike="noStrike" kern="1200" cap="none" spc="0" normalizeH="0" baseline="0" noProof="0">
              <a:ln>
                <a:noFill/>
              </a:ln>
              <a:solidFill>
                <a:srgbClr val="000000"/>
              </a:solidFill>
              <a:effectLst/>
              <a:uLnTx/>
              <a:uFillTx/>
              <a:latin typeface="Trenda IG Text"/>
              <a:ea typeface="+mn-ea"/>
              <a:cs typeface="+mn-cs"/>
            </a:endParaRPr>
          </a:p>
        </p:txBody>
      </p:sp>
      <p:sp>
        <p:nvSpPr>
          <p:cNvPr id="58" name="Shape 56"/>
          <p:cNvSpPr/>
          <p:nvPr/>
        </p:nvSpPr>
        <p:spPr>
          <a:xfrm>
            <a:off x="640080" y="5431536"/>
            <a:ext cx="1483309" cy="0"/>
          </a:xfrm>
          <a:prstGeom prst="line">
            <a:avLst/>
          </a:prstGeom>
          <a:noFill/>
          <a:ln w="9525">
            <a:solidFill>
              <a:srgbClr val="555555"/>
            </a:solidFill>
            <a:prstDash val="solid"/>
          </a:ln>
        </p:spPr>
        <p:txBody>
          <a:bodyPr/>
          <a:lstStyle/>
          <a:p>
            <a:endParaRPr lang="en-IN"/>
          </a:p>
        </p:txBody>
      </p:sp>
      <p:sp>
        <p:nvSpPr>
          <p:cNvPr id="59" name="Shape 57"/>
          <p:cNvSpPr/>
          <p:nvPr/>
        </p:nvSpPr>
        <p:spPr>
          <a:xfrm>
            <a:off x="640080" y="5568696"/>
            <a:ext cx="155448" cy="155448"/>
          </a:xfrm>
          <a:prstGeom prst="diamond">
            <a:avLst/>
          </a:prstGeom>
          <a:solidFill>
            <a:srgbClr val="D9B200"/>
          </a:solidFill>
          <a:ln w="12700">
            <a:solidFill>
              <a:srgbClr val="D9B200"/>
            </a:solidFill>
            <a:prstDash val="solid"/>
          </a:ln>
        </p:spPr>
        <p:txBody>
          <a:bodyPr/>
          <a:lstStyle/>
          <a:p>
            <a:endParaRPr lang="en-IN"/>
          </a:p>
        </p:txBody>
      </p:sp>
      <p:sp>
        <p:nvSpPr>
          <p:cNvPr id="60" name="Text 58"/>
          <p:cNvSpPr txBox="1"/>
          <p:nvPr/>
        </p:nvSpPr>
        <p:spPr>
          <a:xfrm>
            <a:off x="886968" y="5504688"/>
            <a:ext cx="1254709" cy="4572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srgbClr val="FFFFFF"/>
                </a:solidFill>
                <a:effectLst/>
                <a:uLnTx/>
                <a:uFillTx/>
                <a:latin typeface="Trenda IG Text"/>
                <a:ea typeface="+mn-ea"/>
                <a:cs typeface="+mn-cs"/>
              </a:rPr>
              <a:t>Phase 1 live</a:t>
            </a:r>
            <a:endParaRPr kumimoji="0" lang="en-US" sz="1050" b="0" i="0" u="none" strike="noStrike" kern="1200" cap="none" spc="0" normalizeH="0" baseline="0" noProof="0">
              <a:ln>
                <a:noFill/>
              </a:ln>
              <a:solidFill>
                <a:srgbClr val="000000"/>
              </a:solidFill>
              <a:effectLst/>
              <a:uLnTx/>
              <a:uFillTx/>
              <a:latin typeface="Trenda IG Text"/>
              <a:ea typeface="+mn-ea"/>
              <a:cs typeface="+mn-cs"/>
            </a:endParaRPr>
          </a:p>
        </p:txBody>
      </p:sp>
      <p:sp>
        <p:nvSpPr>
          <p:cNvPr id="61" name="sprint-8"/>
          <p:cNvSpPr/>
          <p:nvPr/>
        </p:nvSpPr>
        <p:spPr>
          <a:xfrm>
            <a:off x="2388565" y="4151376"/>
            <a:ext cx="1757629" cy="1901952"/>
          </a:xfrm>
          <a:prstGeom prst="roundRect">
            <a:avLst>
              <a:gd name="adj" fmla="val 5202"/>
            </a:avLst>
          </a:prstGeom>
          <a:solidFill>
            <a:srgbClr val="F2F2F2"/>
          </a:solidFill>
          <a:ln w="22225">
            <a:solidFill>
              <a:srgbClr val="FF0068"/>
            </a:solidFill>
            <a:prstDash val="solid"/>
          </a:ln>
        </p:spPr>
        <p:txBody>
          <a:bodyPr/>
          <a:lstStyle/>
          <a:p>
            <a:endParaRPr lang="en-IN"/>
          </a:p>
        </p:txBody>
      </p:sp>
      <p:sp>
        <p:nvSpPr>
          <p:cNvPr id="62" name="Text 60"/>
          <p:cNvSpPr txBox="1"/>
          <p:nvPr/>
        </p:nvSpPr>
        <p:spPr>
          <a:xfrm>
            <a:off x="2525725" y="4270248"/>
            <a:ext cx="1483309" cy="219456"/>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0" cap="none" spc="200" normalizeH="0" baseline="0" noProof="0">
                <a:ln>
                  <a:noFill/>
                </a:ln>
                <a:solidFill>
                  <a:srgbClr val="C8005A"/>
                </a:solidFill>
                <a:effectLst/>
                <a:uLnTx/>
                <a:uFillTx/>
                <a:latin typeface="Trenda IG Text"/>
                <a:ea typeface="+mn-ea"/>
                <a:cs typeface="+mn-cs"/>
              </a:rPr>
              <a:t>SPRINT 8</a:t>
            </a:r>
            <a:endParaRPr kumimoji="0" lang="en-US" sz="1100" b="0" i="0" u="none" strike="noStrike" kern="1200" cap="none" spc="0" normalizeH="0" baseline="0" noProof="0">
              <a:ln>
                <a:noFill/>
              </a:ln>
              <a:solidFill>
                <a:srgbClr val="000000"/>
              </a:solidFill>
              <a:effectLst/>
              <a:uLnTx/>
              <a:uFillTx/>
              <a:latin typeface="Trenda IG Text"/>
              <a:ea typeface="+mn-ea"/>
              <a:cs typeface="+mn-cs"/>
            </a:endParaRPr>
          </a:p>
        </p:txBody>
      </p:sp>
      <p:sp>
        <p:nvSpPr>
          <p:cNvPr id="63" name="Text 61"/>
          <p:cNvSpPr txBox="1"/>
          <p:nvPr/>
        </p:nvSpPr>
        <p:spPr>
          <a:xfrm>
            <a:off x="2525725" y="4498848"/>
            <a:ext cx="1483309" cy="201168"/>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4D4D4D"/>
                </a:solidFill>
                <a:effectLst/>
                <a:uLnTx/>
                <a:uFillTx/>
                <a:latin typeface="Trenda IG Text"/>
                <a:ea typeface="+mn-ea"/>
                <a:cs typeface="+mn-cs"/>
              </a:rPr>
              <a:t>Weeks 15-16</a:t>
            </a:r>
            <a:endParaRPr kumimoji="0" lang="en-US" sz="1000" b="0" i="0" u="none" strike="noStrike" kern="1200" cap="none" spc="0" normalizeH="0" baseline="0" noProof="0">
              <a:ln>
                <a:noFill/>
              </a:ln>
              <a:solidFill>
                <a:srgbClr val="000000"/>
              </a:solidFill>
              <a:effectLst/>
              <a:uLnTx/>
              <a:uFillTx/>
              <a:latin typeface="Trenda IG Text"/>
              <a:ea typeface="+mn-ea"/>
              <a:cs typeface="+mn-cs"/>
            </a:endParaRPr>
          </a:p>
        </p:txBody>
      </p:sp>
      <p:sp>
        <p:nvSpPr>
          <p:cNvPr id="64" name="Text 62"/>
          <p:cNvSpPr txBox="1"/>
          <p:nvPr/>
        </p:nvSpPr>
        <p:spPr>
          <a:xfrm>
            <a:off x="2525725" y="4754880"/>
            <a:ext cx="1483309" cy="603504"/>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Trenda IG Text"/>
                <a:ea typeface="+mn-ea"/>
                <a:cs typeface="+mn-cs"/>
              </a:rPr>
              <a:t>Sessions, tracks, rooms and speakers</a:t>
            </a:r>
          </a:p>
        </p:txBody>
      </p:sp>
      <p:sp>
        <p:nvSpPr>
          <p:cNvPr id="65" name="Shape 63"/>
          <p:cNvSpPr/>
          <p:nvPr/>
        </p:nvSpPr>
        <p:spPr>
          <a:xfrm>
            <a:off x="2525725" y="5431536"/>
            <a:ext cx="1483309" cy="0"/>
          </a:xfrm>
          <a:prstGeom prst="line">
            <a:avLst/>
          </a:prstGeom>
          <a:noFill/>
          <a:ln w="9525">
            <a:solidFill>
              <a:srgbClr val="D0D0D6"/>
            </a:solidFill>
            <a:prstDash val="solid"/>
          </a:ln>
        </p:spPr>
        <p:txBody>
          <a:bodyPr/>
          <a:lstStyle/>
          <a:p>
            <a:endParaRPr lang="en-IN"/>
          </a:p>
        </p:txBody>
      </p:sp>
      <p:sp>
        <p:nvSpPr>
          <p:cNvPr id="66" name="Shape 64"/>
          <p:cNvSpPr/>
          <p:nvPr/>
        </p:nvSpPr>
        <p:spPr>
          <a:xfrm>
            <a:off x="2525725" y="5568696"/>
            <a:ext cx="155448" cy="155448"/>
          </a:xfrm>
          <a:prstGeom prst="diamond">
            <a:avLst/>
          </a:prstGeom>
          <a:solidFill>
            <a:srgbClr val="000000"/>
          </a:solidFill>
          <a:ln w="12700">
            <a:solidFill>
              <a:srgbClr val="000000"/>
            </a:solidFill>
            <a:prstDash val="solid"/>
          </a:ln>
        </p:spPr>
        <p:txBody>
          <a:bodyPr/>
          <a:lstStyle/>
          <a:p>
            <a:endParaRPr lang="en-IN"/>
          </a:p>
        </p:txBody>
      </p:sp>
      <p:sp>
        <p:nvSpPr>
          <p:cNvPr id="67" name="Text 65"/>
          <p:cNvSpPr txBox="1"/>
          <p:nvPr/>
        </p:nvSpPr>
        <p:spPr>
          <a:xfrm>
            <a:off x="2772613" y="5504688"/>
            <a:ext cx="1254709" cy="4572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srgbClr val="000000"/>
                </a:solidFill>
                <a:effectLst/>
                <a:uLnTx/>
                <a:uFillTx/>
                <a:latin typeface="Trenda IG Text"/>
                <a:ea typeface="+mn-ea"/>
                <a:cs typeface="+mn-cs"/>
              </a:rPr>
              <a:t>Conference build demo</a:t>
            </a:r>
            <a:endParaRPr kumimoji="0" lang="en-US" sz="1050" b="0" i="0" u="none" strike="noStrike" kern="1200" cap="none" spc="0" normalizeH="0" baseline="0" noProof="0">
              <a:ln>
                <a:noFill/>
              </a:ln>
              <a:solidFill>
                <a:srgbClr val="000000"/>
              </a:solidFill>
              <a:effectLst/>
              <a:uLnTx/>
              <a:uFillTx/>
              <a:latin typeface="Trenda IG Text"/>
              <a:ea typeface="+mn-ea"/>
              <a:cs typeface="+mn-cs"/>
            </a:endParaRPr>
          </a:p>
        </p:txBody>
      </p:sp>
      <p:sp>
        <p:nvSpPr>
          <p:cNvPr id="68" name="sprint-9"/>
          <p:cNvSpPr/>
          <p:nvPr/>
        </p:nvSpPr>
        <p:spPr>
          <a:xfrm>
            <a:off x="4274210" y="4151376"/>
            <a:ext cx="1757629" cy="1901952"/>
          </a:xfrm>
          <a:prstGeom prst="roundRect">
            <a:avLst>
              <a:gd name="adj" fmla="val 5202"/>
            </a:avLst>
          </a:prstGeom>
          <a:solidFill>
            <a:srgbClr val="F2F2F2"/>
          </a:solidFill>
          <a:ln w="22225">
            <a:solidFill>
              <a:srgbClr val="FF0068"/>
            </a:solidFill>
            <a:prstDash val="solid"/>
          </a:ln>
        </p:spPr>
        <p:txBody>
          <a:bodyPr/>
          <a:lstStyle/>
          <a:p>
            <a:endParaRPr lang="en-IN"/>
          </a:p>
        </p:txBody>
      </p:sp>
      <p:sp>
        <p:nvSpPr>
          <p:cNvPr id="69" name="Text 67"/>
          <p:cNvSpPr txBox="1"/>
          <p:nvPr/>
        </p:nvSpPr>
        <p:spPr>
          <a:xfrm>
            <a:off x="4411370" y="4270248"/>
            <a:ext cx="1483309" cy="219456"/>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0" cap="none" spc="200" normalizeH="0" baseline="0" noProof="0">
                <a:ln>
                  <a:noFill/>
                </a:ln>
                <a:solidFill>
                  <a:srgbClr val="C8005A"/>
                </a:solidFill>
                <a:effectLst/>
                <a:uLnTx/>
                <a:uFillTx/>
                <a:latin typeface="Trenda IG Text"/>
                <a:ea typeface="+mn-ea"/>
                <a:cs typeface="+mn-cs"/>
              </a:rPr>
              <a:t>SPRINT 9</a:t>
            </a:r>
            <a:endParaRPr kumimoji="0" lang="en-US" sz="1100" b="0" i="0" u="none" strike="noStrike" kern="1200" cap="none" spc="0" normalizeH="0" baseline="0" noProof="0">
              <a:ln>
                <a:noFill/>
              </a:ln>
              <a:solidFill>
                <a:srgbClr val="000000"/>
              </a:solidFill>
              <a:effectLst/>
              <a:uLnTx/>
              <a:uFillTx/>
              <a:latin typeface="Trenda IG Text"/>
              <a:ea typeface="+mn-ea"/>
              <a:cs typeface="+mn-cs"/>
            </a:endParaRPr>
          </a:p>
        </p:txBody>
      </p:sp>
      <p:sp>
        <p:nvSpPr>
          <p:cNvPr id="70" name="Text 68"/>
          <p:cNvSpPr txBox="1"/>
          <p:nvPr/>
        </p:nvSpPr>
        <p:spPr>
          <a:xfrm>
            <a:off x="4411370" y="4498848"/>
            <a:ext cx="1483309" cy="201168"/>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4D4D4D"/>
                </a:solidFill>
                <a:effectLst/>
                <a:uLnTx/>
                <a:uFillTx/>
                <a:latin typeface="Trenda IG Text"/>
                <a:ea typeface="+mn-ea"/>
                <a:cs typeface="+mn-cs"/>
              </a:rPr>
              <a:t>Weeks 17-18</a:t>
            </a:r>
            <a:endParaRPr kumimoji="0" lang="en-US" sz="1000" b="0" i="0" u="none" strike="noStrike" kern="1200" cap="none" spc="0" normalizeH="0" baseline="0" noProof="0">
              <a:ln>
                <a:noFill/>
              </a:ln>
              <a:solidFill>
                <a:srgbClr val="000000"/>
              </a:solidFill>
              <a:effectLst/>
              <a:uLnTx/>
              <a:uFillTx/>
              <a:latin typeface="Trenda IG Text"/>
              <a:ea typeface="+mn-ea"/>
              <a:cs typeface="+mn-cs"/>
            </a:endParaRPr>
          </a:p>
        </p:txBody>
      </p:sp>
      <p:sp>
        <p:nvSpPr>
          <p:cNvPr id="71" name="Text 69"/>
          <p:cNvSpPr txBox="1"/>
          <p:nvPr/>
        </p:nvSpPr>
        <p:spPr>
          <a:xfrm>
            <a:off x="4411370" y="4754880"/>
            <a:ext cx="1483309" cy="603504"/>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Trenda IG Text"/>
                <a:ea typeface="+mn-ea"/>
                <a:cs typeface="+mn-cs"/>
              </a:rPr>
              <a:t>My Agenda portal, ticket types, Authorize.net</a:t>
            </a:r>
          </a:p>
        </p:txBody>
      </p:sp>
      <p:sp>
        <p:nvSpPr>
          <p:cNvPr id="72" name="Shape 70"/>
          <p:cNvSpPr/>
          <p:nvPr/>
        </p:nvSpPr>
        <p:spPr>
          <a:xfrm>
            <a:off x="4411370" y="5431536"/>
            <a:ext cx="1483309" cy="0"/>
          </a:xfrm>
          <a:prstGeom prst="line">
            <a:avLst/>
          </a:prstGeom>
          <a:noFill/>
          <a:ln w="9525">
            <a:solidFill>
              <a:srgbClr val="D0D0D6"/>
            </a:solidFill>
            <a:prstDash val="solid"/>
          </a:ln>
        </p:spPr>
        <p:txBody>
          <a:bodyPr/>
          <a:lstStyle/>
          <a:p>
            <a:endParaRPr lang="en-IN"/>
          </a:p>
        </p:txBody>
      </p:sp>
      <p:sp>
        <p:nvSpPr>
          <p:cNvPr id="73" name="Shape 71"/>
          <p:cNvSpPr/>
          <p:nvPr/>
        </p:nvSpPr>
        <p:spPr>
          <a:xfrm>
            <a:off x="4411370" y="5568696"/>
            <a:ext cx="155448" cy="155448"/>
          </a:xfrm>
          <a:prstGeom prst="diamond">
            <a:avLst/>
          </a:prstGeom>
          <a:solidFill>
            <a:srgbClr val="000000"/>
          </a:solidFill>
          <a:ln w="12700">
            <a:solidFill>
              <a:srgbClr val="000000"/>
            </a:solidFill>
            <a:prstDash val="solid"/>
          </a:ln>
        </p:spPr>
        <p:txBody>
          <a:bodyPr/>
          <a:lstStyle/>
          <a:p>
            <a:endParaRPr lang="en-IN"/>
          </a:p>
        </p:txBody>
      </p:sp>
      <p:sp>
        <p:nvSpPr>
          <p:cNvPr id="74" name="Text 72"/>
          <p:cNvSpPr txBox="1"/>
          <p:nvPr/>
        </p:nvSpPr>
        <p:spPr>
          <a:xfrm>
            <a:off x="4658258" y="5504688"/>
            <a:ext cx="1254709" cy="4572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srgbClr val="000000"/>
                </a:solidFill>
                <a:effectLst/>
                <a:uLnTx/>
                <a:uFillTx/>
                <a:latin typeface="Trenda IG Text"/>
                <a:ea typeface="+mn-ea"/>
                <a:cs typeface="+mn-cs"/>
              </a:rPr>
              <a:t>Attendee portal demo</a:t>
            </a:r>
            <a:endParaRPr kumimoji="0" lang="en-US" sz="1050" b="0" i="0" u="none" strike="noStrike" kern="1200" cap="none" spc="0" normalizeH="0" baseline="0" noProof="0">
              <a:ln>
                <a:noFill/>
              </a:ln>
              <a:solidFill>
                <a:srgbClr val="000000"/>
              </a:solidFill>
              <a:effectLst/>
              <a:uLnTx/>
              <a:uFillTx/>
              <a:latin typeface="Trenda IG Text"/>
              <a:ea typeface="+mn-ea"/>
              <a:cs typeface="+mn-cs"/>
            </a:endParaRPr>
          </a:p>
        </p:txBody>
      </p:sp>
      <p:sp>
        <p:nvSpPr>
          <p:cNvPr id="75" name="sprint-10"/>
          <p:cNvSpPr/>
          <p:nvPr/>
        </p:nvSpPr>
        <p:spPr>
          <a:xfrm>
            <a:off x="6159856" y="4151376"/>
            <a:ext cx="1757629" cy="1901952"/>
          </a:xfrm>
          <a:prstGeom prst="roundRect">
            <a:avLst>
              <a:gd name="adj" fmla="val 5202"/>
            </a:avLst>
          </a:prstGeom>
          <a:solidFill>
            <a:srgbClr val="F2F2F2"/>
          </a:solidFill>
          <a:ln w="22225">
            <a:solidFill>
              <a:srgbClr val="FF0068"/>
            </a:solidFill>
            <a:prstDash val="solid"/>
          </a:ln>
        </p:spPr>
        <p:txBody>
          <a:bodyPr/>
          <a:lstStyle/>
          <a:p>
            <a:endParaRPr lang="en-IN"/>
          </a:p>
        </p:txBody>
      </p:sp>
      <p:sp>
        <p:nvSpPr>
          <p:cNvPr id="76" name="Text 74"/>
          <p:cNvSpPr txBox="1"/>
          <p:nvPr/>
        </p:nvSpPr>
        <p:spPr>
          <a:xfrm>
            <a:off x="6297016" y="4270248"/>
            <a:ext cx="1483309" cy="219456"/>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0" cap="none" spc="200" normalizeH="0" baseline="0" noProof="0">
                <a:ln>
                  <a:noFill/>
                </a:ln>
                <a:solidFill>
                  <a:srgbClr val="C8005A"/>
                </a:solidFill>
                <a:effectLst/>
                <a:uLnTx/>
                <a:uFillTx/>
                <a:latin typeface="Trenda IG Text"/>
                <a:ea typeface="+mn-ea"/>
                <a:cs typeface="+mn-cs"/>
              </a:rPr>
              <a:t>SPRINT 10</a:t>
            </a:r>
            <a:endParaRPr kumimoji="0" lang="en-US" sz="1100" b="0" i="0" u="none" strike="noStrike" kern="1200" cap="none" spc="0" normalizeH="0" baseline="0" noProof="0">
              <a:ln>
                <a:noFill/>
              </a:ln>
              <a:solidFill>
                <a:srgbClr val="000000"/>
              </a:solidFill>
              <a:effectLst/>
              <a:uLnTx/>
              <a:uFillTx/>
              <a:latin typeface="Trenda IG Text"/>
              <a:ea typeface="+mn-ea"/>
              <a:cs typeface="+mn-cs"/>
            </a:endParaRPr>
          </a:p>
        </p:txBody>
      </p:sp>
      <p:sp>
        <p:nvSpPr>
          <p:cNvPr id="77" name="Text 75"/>
          <p:cNvSpPr txBox="1"/>
          <p:nvPr/>
        </p:nvSpPr>
        <p:spPr>
          <a:xfrm>
            <a:off x="6297016" y="4498848"/>
            <a:ext cx="1483309" cy="201168"/>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4D4D4D"/>
                </a:solidFill>
                <a:effectLst/>
                <a:uLnTx/>
                <a:uFillTx/>
                <a:latin typeface="Trenda IG Text"/>
                <a:ea typeface="+mn-ea"/>
                <a:cs typeface="+mn-cs"/>
              </a:rPr>
              <a:t>Weeks 19-20</a:t>
            </a:r>
            <a:endParaRPr kumimoji="0" lang="en-US" sz="1000" b="0" i="0" u="none" strike="noStrike" kern="1200" cap="none" spc="0" normalizeH="0" baseline="0" noProof="0">
              <a:ln>
                <a:noFill/>
              </a:ln>
              <a:solidFill>
                <a:srgbClr val="000000"/>
              </a:solidFill>
              <a:effectLst/>
              <a:uLnTx/>
              <a:uFillTx/>
              <a:latin typeface="Trenda IG Text"/>
              <a:ea typeface="+mn-ea"/>
              <a:cs typeface="+mn-cs"/>
            </a:endParaRPr>
          </a:p>
        </p:txBody>
      </p:sp>
      <p:sp>
        <p:nvSpPr>
          <p:cNvPr id="78" name="Text 76"/>
          <p:cNvSpPr txBox="1"/>
          <p:nvPr/>
        </p:nvSpPr>
        <p:spPr>
          <a:xfrm>
            <a:off x="6297016" y="4754880"/>
            <a:ext cx="1483309" cy="603504"/>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Trenda IG Text"/>
                <a:ea typeface="+mn-ea"/>
                <a:cs typeface="+mn-cs"/>
              </a:rPr>
              <a:t>Badges, CME [to confirm], PEI journeys</a:t>
            </a:r>
          </a:p>
        </p:txBody>
      </p:sp>
      <p:sp>
        <p:nvSpPr>
          <p:cNvPr id="79" name="Shape 77"/>
          <p:cNvSpPr/>
          <p:nvPr/>
        </p:nvSpPr>
        <p:spPr>
          <a:xfrm>
            <a:off x="6297016" y="5431536"/>
            <a:ext cx="1483309" cy="0"/>
          </a:xfrm>
          <a:prstGeom prst="line">
            <a:avLst/>
          </a:prstGeom>
          <a:noFill/>
          <a:ln w="9525">
            <a:solidFill>
              <a:srgbClr val="D0D0D6"/>
            </a:solidFill>
            <a:prstDash val="solid"/>
          </a:ln>
        </p:spPr>
        <p:txBody>
          <a:bodyPr/>
          <a:lstStyle/>
          <a:p>
            <a:endParaRPr lang="en-IN"/>
          </a:p>
        </p:txBody>
      </p:sp>
      <p:sp>
        <p:nvSpPr>
          <p:cNvPr id="80" name="Shape 78"/>
          <p:cNvSpPr/>
          <p:nvPr/>
        </p:nvSpPr>
        <p:spPr>
          <a:xfrm>
            <a:off x="6297016" y="5568696"/>
            <a:ext cx="155448" cy="155448"/>
          </a:xfrm>
          <a:prstGeom prst="diamond">
            <a:avLst/>
          </a:prstGeom>
          <a:solidFill>
            <a:srgbClr val="000000"/>
          </a:solidFill>
          <a:ln w="12700">
            <a:solidFill>
              <a:srgbClr val="000000"/>
            </a:solidFill>
            <a:prstDash val="solid"/>
          </a:ln>
        </p:spPr>
        <p:txBody>
          <a:bodyPr/>
          <a:lstStyle/>
          <a:p>
            <a:endParaRPr lang="en-IN"/>
          </a:p>
        </p:txBody>
      </p:sp>
      <p:sp>
        <p:nvSpPr>
          <p:cNvPr id="81" name="Text 79"/>
          <p:cNvSpPr txBox="1"/>
          <p:nvPr/>
        </p:nvSpPr>
        <p:spPr>
          <a:xfrm>
            <a:off x="6543904" y="5504688"/>
            <a:ext cx="1254709" cy="4572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srgbClr val="000000"/>
                </a:solidFill>
                <a:effectLst/>
                <a:uLnTx/>
                <a:uFillTx/>
                <a:latin typeface="Trenda IG Text"/>
                <a:ea typeface="+mn-ea"/>
                <a:cs typeface="+mn-cs"/>
              </a:rPr>
              <a:t>Engagement journeys pilot</a:t>
            </a:r>
            <a:endParaRPr kumimoji="0" lang="en-US" sz="1050" b="0" i="0" u="none" strike="noStrike" kern="1200" cap="none" spc="0" normalizeH="0" baseline="0" noProof="0">
              <a:ln>
                <a:noFill/>
              </a:ln>
              <a:solidFill>
                <a:srgbClr val="000000"/>
              </a:solidFill>
              <a:effectLst/>
              <a:uLnTx/>
              <a:uFillTx/>
              <a:latin typeface="Trenda IG Text"/>
              <a:ea typeface="+mn-ea"/>
              <a:cs typeface="+mn-cs"/>
            </a:endParaRPr>
          </a:p>
        </p:txBody>
      </p:sp>
      <p:sp>
        <p:nvSpPr>
          <p:cNvPr id="82" name="sprint-11"/>
          <p:cNvSpPr/>
          <p:nvPr/>
        </p:nvSpPr>
        <p:spPr>
          <a:xfrm>
            <a:off x="8045501" y="4151376"/>
            <a:ext cx="1757629" cy="1901952"/>
          </a:xfrm>
          <a:prstGeom prst="roundRect">
            <a:avLst>
              <a:gd name="adj" fmla="val 5202"/>
            </a:avLst>
          </a:prstGeom>
          <a:solidFill>
            <a:srgbClr val="F2F2F2"/>
          </a:solidFill>
          <a:ln w="22225">
            <a:solidFill>
              <a:srgbClr val="FF0068"/>
            </a:solidFill>
            <a:prstDash val="solid"/>
          </a:ln>
        </p:spPr>
        <p:txBody>
          <a:bodyPr/>
          <a:lstStyle/>
          <a:p>
            <a:endParaRPr lang="en-IN"/>
          </a:p>
        </p:txBody>
      </p:sp>
      <p:sp>
        <p:nvSpPr>
          <p:cNvPr id="83" name="Text 81"/>
          <p:cNvSpPr txBox="1"/>
          <p:nvPr/>
        </p:nvSpPr>
        <p:spPr>
          <a:xfrm>
            <a:off x="8182661" y="4270248"/>
            <a:ext cx="1483309" cy="219456"/>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0" cap="none" spc="200" normalizeH="0" baseline="0" noProof="0">
                <a:ln>
                  <a:noFill/>
                </a:ln>
                <a:solidFill>
                  <a:srgbClr val="C8005A"/>
                </a:solidFill>
                <a:effectLst/>
                <a:uLnTx/>
                <a:uFillTx/>
                <a:latin typeface="Trenda IG Text"/>
                <a:ea typeface="+mn-ea"/>
                <a:cs typeface="+mn-cs"/>
              </a:rPr>
              <a:t>SPRINT 11</a:t>
            </a:r>
            <a:endParaRPr kumimoji="0" lang="en-US" sz="1100" b="0" i="0" u="none" strike="noStrike" kern="1200" cap="none" spc="0" normalizeH="0" baseline="0" noProof="0">
              <a:ln>
                <a:noFill/>
              </a:ln>
              <a:solidFill>
                <a:srgbClr val="000000"/>
              </a:solidFill>
              <a:effectLst/>
              <a:uLnTx/>
              <a:uFillTx/>
              <a:latin typeface="Trenda IG Text"/>
              <a:ea typeface="+mn-ea"/>
              <a:cs typeface="+mn-cs"/>
            </a:endParaRPr>
          </a:p>
        </p:txBody>
      </p:sp>
      <p:sp>
        <p:nvSpPr>
          <p:cNvPr id="84" name="Text 82"/>
          <p:cNvSpPr txBox="1"/>
          <p:nvPr/>
        </p:nvSpPr>
        <p:spPr>
          <a:xfrm>
            <a:off x="8182661" y="4498848"/>
            <a:ext cx="1483309" cy="201168"/>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4D4D4D"/>
                </a:solidFill>
                <a:effectLst/>
                <a:uLnTx/>
                <a:uFillTx/>
                <a:latin typeface="Trenda IG Text"/>
                <a:ea typeface="+mn-ea"/>
                <a:cs typeface="+mn-cs"/>
              </a:rPr>
              <a:t>Weeks 21-22</a:t>
            </a:r>
            <a:endParaRPr kumimoji="0" lang="en-US" sz="1000" b="0" i="0" u="none" strike="noStrike" kern="1200" cap="none" spc="0" normalizeH="0" baseline="0" noProof="0">
              <a:ln>
                <a:noFill/>
              </a:ln>
              <a:solidFill>
                <a:srgbClr val="000000"/>
              </a:solidFill>
              <a:effectLst/>
              <a:uLnTx/>
              <a:uFillTx/>
              <a:latin typeface="Trenda IG Text"/>
              <a:ea typeface="+mn-ea"/>
              <a:cs typeface="+mn-cs"/>
            </a:endParaRPr>
          </a:p>
        </p:txBody>
      </p:sp>
      <p:sp>
        <p:nvSpPr>
          <p:cNvPr id="85" name="Text 83"/>
          <p:cNvSpPr txBox="1"/>
          <p:nvPr/>
        </p:nvSpPr>
        <p:spPr>
          <a:xfrm>
            <a:off x="8182661" y="4754880"/>
            <a:ext cx="1483309" cy="603504"/>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Trenda IG Text"/>
                <a:ea typeface="+mn-ea"/>
                <a:cs typeface="+mn-cs"/>
              </a:rPr>
              <a:t>Certain data migration, load test, user testing</a:t>
            </a:r>
          </a:p>
        </p:txBody>
      </p:sp>
      <p:sp>
        <p:nvSpPr>
          <p:cNvPr id="86" name="Shape 84"/>
          <p:cNvSpPr/>
          <p:nvPr/>
        </p:nvSpPr>
        <p:spPr>
          <a:xfrm>
            <a:off x="8182661" y="5431536"/>
            <a:ext cx="1483309" cy="0"/>
          </a:xfrm>
          <a:prstGeom prst="line">
            <a:avLst/>
          </a:prstGeom>
          <a:noFill/>
          <a:ln w="9525">
            <a:solidFill>
              <a:srgbClr val="D0D0D6"/>
            </a:solidFill>
            <a:prstDash val="solid"/>
          </a:ln>
        </p:spPr>
        <p:txBody>
          <a:bodyPr/>
          <a:lstStyle/>
          <a:p>
            <a:endParaRPr lang="en-IN"/>
          </a:p>
        </p:txBody>
      </p:sp>
      <p:sp>
        <p:nvSpPr>
          <p:cNvPr id="87" name="Shape 85"/>
          <p:cNvSpPr/>
          <p:nvPr/>
        </p:nvSpPr>
        <p:spPr>
          <a:xfrm>
            <a:off x="8182661" y="5568696"/>
            <a:ext cx="155448" cy="155448"/>
          </a:xfrm>
          <a:prstGeom prst="diamond">
            <a:avLst/>
          </a:prstGeom>
          <a:solidFill>
            <a:srgbClr val="000000"/>
          </a:solidFill>
          <a:ln w="12700">
            <a:solidFill>
              <a:srgbClr val="000000"/>
            </a:solidFill>
            <a:prstDash val="solid"/>
          </a:ln>
        </p:spPr>
        <p:txBody>
          <a:bodyPr/>
          <a:lstStyle/>
          <a:p>
            <a:endParaRPr lang="en-IN"/>
          </a:p>
        </p:txBody>
      </p:sp>
      <p:sp>
        <p:nvSpPr>
          <p:cNvPr id="88" name="Text 86"/>
          <p:cNvSpPr txBox="1"/>
          <p:nvPr/>
        </p:nvSpPr>
        <p:spPr>
          <a:xfrm>
            <a:off x="8429549" y="5504688"/>
            <a:ext cx="1254709" cy="4572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srgbClr val="000000"/>
                </a:solidFill>
                <a:effectLst/>
                <a:uLnTx/>
                <a:uFillTx/>
                <a:latin typeface="Trenda IG Text"/>
                <a:ea typeface="+mn-ea"/>
                <a:cs typeface="+mn-cs"/>
              </a:rPr>
              <a:t>Testing sign-off</a:t>
            </a:r>
            <a:endParaRPr kumimoji="0" lang="en-US" sz="1050" b="0" i="0" u="none" strike="noStrike" kern="1200" cap="none" spc="0" normalizeH="0" baseline="0" noProof="0">
              <a:ln>
                <a:noFill/>
              </a:ln>
              <a:solidFill>
                <a:srgbClr val="000000"/>
              </a:solidFill>
              <a:effectLst/>
              <a:uLnTx/>
              <a:uFillTx/>
              <a:latin typeface="Trenda IG Text"/>
              <a:ea typeface="+mn-ea"/>
              <a:cs typeface="+mn-cs"/>
            </a:endParaRPr>
          </a:p>
        </p:txBody>
      </p:sp>
      <p:sp>
        <p:nvSpPr>
          <p:cNvPr id="89" name="sprint-12"/>
          <p:cNvSpPr/>
          <p:nvPr/>
        </p:nvSpPr>
        <p:spPr>
          <a:xfrm>
            <a:off x="9931146" y="4151376"/>
            <a:ext cx="1757629" cy="1901952"/>
          </a:xfrm>
          <a:prstGeom prst="roundRect">
            <a:avLst>
              <a:gd name="adj" fmla="val 5202"/>
            </a:avLst>
          </a:prstGeom>
          <a:solidFill>
            <a:srgbClr val="000000"/>
          </a:solidFill>
          <a:ln w="22225">
            <a:solidFill>
              <a:srgbClr val="FF0068"/>
            </a:solidFill>
            <a:prstDash val="solid"/>
          </a:ln>
        </p:spPr>
        <p:txBody>
          <a:bodyPr/>
          <a:lstStyle/>
          <a:p>
            <a:endParaRPr lang="en-IN"/>
          </a:p>
        </p:txBody>
      </p:sp>
      <p:sp>
        <p:nvSpPr>
          <p:cNvPr id="90" name="Text 88"/>
          <p:cNvSpPr txBox="1"/>
          <p:nvPr/>
        </p:nvSpPr>
        <p:spPr>
          <a:xfrm>
            <a:off x="10068306" y="4270248"/>
            <a:ext cx="1483309" cy="219456"/>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0" cap="none" spc="200" normalizeH="0" baseline="0" noProof="0">
                <a:ln>
                  <a:noFill/>
                </a:ln>
                <a:solidFill>
                  <a:srgbClr val="FF0068"/>
                </a:solidFill>
                <a:effectLst/>
                <a:uLnTx/>
                <a:uFillTx/>
                <a:latin typeface="Trenda IG Text"/>
                <a:ea typeface="+mn-ea"/>
                <a:cs typeface="+mn-cs"/>
              </a:rPr>
              <a:t>SPRINT 12</a:t>
            </a:r>
            <a:endParaRPr kumimoji="0" lang="en-US" sz="1100" b="0" i="0" u="none" strike="noStrike" kern="1200" cap="none" spc="0" normalizeH="0" baseline="0" noProof="0">
              <a:ln>
                <a:noFill/>
              </a:ln>
              <a:solidFill>
                <a:srgbClr val="000000"/>
              </a:solidFill>
              <a:effectLst/>
              <a:uLnTx/>
              <a:uFillTx/>
              <a:latin typeface="Trenda IG Text"/>
              <a:ea typeface="+mn-ea"/>
              <a:cs typeface="+mn-cs"/>
            </a:endParaRPr>
          </a:p>
        </p:txBody>
      </p:sp>
      <p:sp>
        <p:nvSpPr>
          <p:cNvPr id="91" name="Text 89"/>
          <p:cNvSpPr txBox="1"/>
          <p:nvPr/>
        </p:nvSpPr>
        <p:spPr>
          <a:xfrm>
            <a:off x="10068306" y="4498848"/>
            <a:ext cx="1483309" cy="201168"/>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D9D9D9"/>
                </a:solidFill>
                <a:effectLst/>
                <a:uLnTx/>
                <a:uFillTx/>
                <a:latin typeface="Trenda IG Text"/>
                <a:ea typeface="+mn-ea"/>
                <a:cs typeface="+mn-cs"/>
              </a:rPr>
              <a:t>Weeks 23-24</a:t>
            </a:r>
            <a:endParaRPr kumimoji="0" lang="en-US" sz="1000" b="0" i="0" u="none" strike="noStrike" kern="1200" cap="none" spc="0" normalizeH="0" baseline="0" noProof="0">
              <a:ln>
                <a:noFill/>
              </a:ln>
              <a:solidFill>
                <a:srgbClr val="000000"/>
              </a:solidFill>
              <a:effectLst/>
              <a:uLnTx/>
              <a:uFillTx/>
              <a:latin typeface="Trenda IG Text"/>
              <a:ea typeface="+mn-ea"/>
              <a:cs typeface="+mn-cs"/>
            </a:endParaRPr>
          </a:p>
        </p:txBody>
      </p:sp>
      <p:sp>
        <p:nvSpPr>
          <p:cNvPr id="92" name="Text 90"/>
          <p:cNvSpPr txBox="1"/>
          <p:nvPr/>
        </p:nvSpPr>
        <p:spPr>
          <a:xfrm>
            <a:off x="10068306" y="4754880"/>
            <a:ext cx="1483309" cy="603504"/>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FFFFFF"/>
                </a:solidFill>
                <a:effectLst/>
                <a:uLnTx/>
                <a:uFillTx/>
                <a:latin typeface="Trenda IG Text"/>
                <a:ea typeface="+mn-ea"/>
                <a:cs typeface="+mn-cs"/>
              </a:rPr>
              <a:t>Go-live, hypercare, knowledge transfer</a:t>
            </a:r>
            <a:endParaRPr kumimoji="0" lang="en-US" sz="1100" b="0" i="0" u="none" strike="noStrike" kern="1200" cap="none" spc="0" normalizeH="0" baseline="0" noProof="0">
              <a:ln>
                <a:noFill/>
              </a:ln>
              <a:solidFill>
                <a:srgbClr val="000000"/>
              </a:solidFill>
              <a:effectLst/>
              <a:uLnTx/>
              <a:uFillTx/>
              <a:latin typeface="Trenda IG Text"/>
              <a:ea typeface="+mn-ea"/>
              <a:cs typeface="+mn-cs"/>
            </a:endParaRPr>
          </a:p>
        </p:txBody>
      </p:sp>
      <p:sp>
        <p:nvSpPr>
          <p:cNvPr id="93" name="Shape 91"/>
          <p:cNvSpPr/>
          <p:nvPr/>
        </p:nvSpPr>
        <p:spPr>
          <a:xfrm>
            <a:off x="10068306" y="5431536"/>
            <a:ext cx="1483309" cy="0"/>
          </a:xfrm>
          <a:prstGeom prst="line">
            <a:avLst/>
          </a:prstGeom>
          <a:noFill/>
          <a:ln w="9525">
            <a:solidFill>
              <a:srgbClr val="555555"/>
            </a:solidFill>
            <a:prstDash val="solid"/>
          </a:ln>
        </p:spPr>
        <p:txBody>
          <a:bodyPr/>
          <a:lstStyle/>
          <a:p>
            <a:endParaRPr lang="en-IN"/>
          </a:p>
        </p:txBody>
      </p:sp>
      <p:sp>
        <p:nvSpPr>
          <p:cNvPr id="94" name="Shape 92"/>
          <p:cNvSpPr/>
          <p:nvPr/>
        </p:nvSpPr>
        <p:spPr>
          <a:xfrm>
            <a:off x="10068306" y="5568696"/>
            <a:ext cx="155448" cy="155448"/>
          </a:xfrm>
          <a:prstGeom prst="diamond">
            <a:avLst/>
          </a:prstGeom>
          <a:solidFill>
            <a:srgbClr val="FF0068"/>
          </a:solidFill>
          <a:ln w="12700">
            <a:solidFill>
              <a:srgbClr val="FF0068"/>
            </a:solidFill>
            <a:prstDash val="solid"/>
          </a:ln>
        </p:spPr>
        <p:txBody>
          <a:bodyPr/>
          <a:lstStyle/>
          <a:p>
            <a:endParaRPr lang="en-IN"/>
          </a:p>
        </p:txBody>
      </p:sp>
      <p:sp>
        <p:nvSpPr>
          <p:cNvPr id="95" name="Text 93"/>
          <p:cNvSpPr txBox="1"/>
          <p:nvPr/>
        </p:nvSpPr>
        <p:spPr>
          <a:xfrm>
            <a:off x="10315194" y="5504688"/>
            <a:ext cx="1254709" cy="4572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srgbClr val="FFFFFF"/>
                </a:solidFill>
                <a:effectLst/>
                <a:uLnTx/>
                <a:uFillTx/>
                <a:latin typeface="Trenda IG Text"/>
                <a:ea typeface="+mn-ea"/>
                <a:cs typeface="+mn-cs"/>
              </a:rPr>
              <a:t>Phase 2 live, Certain retired</a:t>
            </a:r>
            <a:endParaRPr kumimoji="0" lang="en-US" sz="1050" b="0" i="0" u="none" strike="noStrike" kern="1200" cap="none" spc="0" normalizeH="0" baseline="0" noProof="0">
              <a:ln>
                <a:noFill/>
              </a:ln>
              <a:solidFill>
                <a:srgbClr val="000000"/>
              </a:solidFill>
              <a:effectLst/>
              <a:uLnTx/>
              <a:uFillTx/>
              <a:latin typeface="Trenda IG Text"/>
              <a:ea typeface="+mn-ea"/>
              <a:cs typeface="+mn-cs"/>
            </a:endParaRPr>
          </a:p>
        </p:txBody>
      </p:sp>
      <p:sp>
        <p:nvSpPr>
          <p:cNvPr id="96" name="Slide Number Placeholder 0"/>
          <p:cNvSpPr>
            <a:spLocks noGrp="1"/>
          </p:cNvSpPr>
          <p:nvPr>
            <p:ph type="sldNum" sz="quarter" idx="4294967295"/>
          </p:nvPr>
        </p:nvSpPr>
        <p:spPr>
          <a:xfrm>
            <a:off x="11292840" y="6336792"/>
            <a:ext cx="457200" cy="22860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tx1"/>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900" b="0" i="0" u="none" strike="noStrike" kern="1200" cap="none" spc="0" normalizeH="0" baseline="0" noProof="0">
                <a:ln>
                  <a:noFill/>
                </a:ln>
                <a:solidFill>
                  <a:srgbClr val="000000"/>
                </a:solidFill>
                <a:effectLst/>
                <a:uLnTx/>
                <a:uFillTx/>
                <a:latin typeface="Trenda IG Tex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US" sz="900" b="0" i="0" u="none" strike="noStrike" kern="1200" cap="none" spc="0" normalizeH="0" baseline="0" noProof="0">
              <a:ln>
                <a:noFill/>
              </a:ln>
              <a:solidFill>
                <a:srgbClr val="000000"/>
              </a:solidFill>
              <a:effectLst/>
              <a:uLnTx/>
              <a:uFillTx/>
              <a:latin typeface="Trenda IG Text"/>
              <a:ea typeface="+mn-ea"/>
              <a:cs typeface="+mn-cs"/>
            </a:endParaRPr>
          </a:p>
        </p:txBody>
      </p:sp>
    </p:spTree>
    <p:extLst>
      <p:ext uri="{BB962C8B-B14F-4D97-AF65-F5344CB8AC3E}">
        <p14:creationId xmlns:p14="http://schemas.microsoft.com/office/powerpoint/2010/main" val="267819300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02920" y="658368"/>
            <a:ext cx="11185855" cy="822960"/>
          </a:xfrm>
          <a:prstGeom prst="rect">
            <a:avLst/>
          </a:prstGeom>
          <a:noFill/>
          <a:ln/>
        </p:spPr>
        <p:txBody>
          <a:bodyPr wrap="square" lIns="0" tIns="0" rIns="0" bIns="0" rtlCol="0" anchor="t"/>
          <a:lstStyle/>
          <a:p>
            <a:pPr marL="0" indent="0" algn="l">
              <a:buNone/>
            </a:pPr>
            <a:r>
              <a:rPr lang="en-US" sz="3200" b="1">
                <a:solidFill>
                  <a:schemeClr val="tx1"/>
                </a:solidFill>
              </a:rPr>
              <a:t>A dedicated five-person delivery pod</a:t>
            </a:r>
            <a:endParaRPr lang="en-US" sz="3200"/>
          </a:p>
        </p:txBody>
      </p:sp>
      <p:sp>
        <p:nvSpPr>
          <p:cNvPr id="3" name="Shape 1"/>
          <p:cNvSpPr/>
          <p:nvPr/>
        </p:nvSpPr>
        <p:spPr>
          <a:xfrm>
            <a:off x="502920" y="1691640"/>
            <a:ext cx="4023360" cy="4069080"/>
          </a:xfrm>
          <a:prstGeom prst="triangle">
            <a:avLst/>
          </a:prstGeom>
          <a:solidFill>
            <a:srgbClr val="FF0068"/>
          </a:solidFill>
          <a:ln w="12700">
            <a:solidFill>
              <a:srgbClr val="FF0068"/>
            </a:solidFill>
            <a:prstDash val="solid"/>
          </a:ln>
        </p:spPr>
        <p:txBody>
          <a:bodyPr/>
          <a:lstStyle/>
          <a:p>
            <a:endParaRPr lang="en-IN"/>
          </a:p>
        </p:txBody>
      </p:sp>
      <p:sp>
        <p:nvSpPr>
          <p:cNvPr id="4" name="Shape 2"/>
          <p:cNvSpPr/>
          <p:nvPr/>
        </p:nvSpPr>
        <p:spPr>
          <a:xfrm>
            <a:off x="1173480" y="1691640"/>
            <a:ext cx="2682240" cy="2712720"/>
          </a:xfrm>
          <a:prstGeom prst="triangle">
            <a:avLst/>
          </a:prstGeom>
          <a:solidFill>
            <a:srgbClr val="D9B200"/>
          </a:solidFill>
          <a:ln w="12700">
            <a:solidFill>
              <a:srgbClr val="D9B200"/>
            </a:solidFill>
            <a:prstDash val="solid"/>
          </a:ln>
        </p:spPr>
        <p:txBody>
          <a:bodyPr/>
          <a:lstStyle/>
          <a:p>
            <a:endParaRPr lang="en-IN"/>
          </a:p>
        </p:txBody>
      </p:sp>
      <p:sp>
        <p:nvSpPr>
          <p:cNvPr id="5" name="Shape 3"/>
          <p:cNvSpPr/>
          <p:nvPr/>
        </p:nvSpPr>
        <p:spPr>
          <a:xfrm>
            <a:off x="1844040" y="1691640"/>
            <a:ext cx="1341120" cy="1356360"/>
          </a:xfrm>
          <a:prstGeom prst="triangle">
            <a:avLst/>
          </a:prstGeom>
          <a:solidFill>
            <a:srgbClr val="00A9C0"/>
          </a:solidFill>
          <a:ln w="12700">
            <a:solidFill>
              <a:srgbClr val="00A9C0"/>
            </a:solidFill>
            <a:prstDash val="solid"/>
          </a:ln>
        </p:spPr>
        <p:txBody>
          <a:bodyPr/>
          <a:lstStyle/>
          <a:p>
            <a:endParaRPr lang="en-IN"/>
          </a:p>
        </p:txBody>
      </p:sp>
      <p:sp>
        <p:nvSpPr>
          <p:cNvPr id="6" name="Shape 4"/>
          <p:cNvSpPr/>
          <p:nvPr/>
        </p:nvSpPr>
        <p:spPr>
          <a:xfrm>
            <a:off x="1798320" y="3048000"/>
            <a:ext cx="1432560" cy="0"/>
          </a:xfrm>
          <a:prstGeom prst="line">
            <a:avLst/>
          </a:prstGeom>
          <a:noFill/>
          <a:ln w="63500">
            <a:solidFill>
              <a:srgbClr val="FFFFFF"/>
            </a:solidFill>
            <a:prstDash val="solid"/>
          </a:ln>
        </p:spPr>
        <p:txBody>
          <a:bodyPr/>
          <a:lstStyle/>
          <a:p>
            <a:endParaRPr lang="en-IN"/>
          </a:p>
        </p:txBody>
      </p:sp>
      <p:sp>
        <p:nvSpPr>
          <p:cNvPr id="7" name="Shape 5"/>
          <p:cNvSpPr/>
          <p:nvPr/>
        </p:nvSpPr>
        <p:spPr>
          <a:xfrm>
            <a:off x="1127760" y="4404360"/>
            <a:ext cx="2773680" cy="0"/>
          </a:xfrm>
          <a:prstGeom prst="line">
            <a:avLst/>
          </a:prstGeom>
          <a:noFill/>
          <a:ln w="63500">
            <a:solidFill>
              <a:srgbClr val="FFFFFF"/>
            </a:solidFill>
            <a:prstDash val="solid"/>
          </a:ln>
        </p:spPr>
        <p:txBody>
          <a:bodyPr/>
          <a:lstStyle/>
          <a:p>
            <a:endParaRPr lang="en-IN"/>
          </a:p>
        </p:txBody>
      </p:sp>
      <p:sp>
        <p:nvSpPr>
          <p:cNvPr id="8" name="Text 6"/>
          <p:cNvSpPr txBox="1"/>
          <p:nvPr/>
        </p:nvSpPr>
        <p:spPr>
          <a:xfrm>
            <a:off x="1965960" y="2481072"/>
            <a:ext cx="1097280" cy="54864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a:ln>
                  <a:noFill/>
                </a:ln>
                <a:solidFill>
                  <a:srgbClr val="000000"/>
                </a:solidFill>
                <a:effectLst/>
                <a:uLnTx/>
                <a:uFillTx/>
                <a:latin typeface="Trenda IG Text Light" pitchFamily="34" charset="0"/>
                <a:ea typeface="Trenda IG Text Light" pitchFamily="34" charset="-122"/>
                <a:cs typeface="Trenda IG Text Light" pitchFamily="34" charset="-120"/>
              </a:rPr>
              <a:t>1</a:t>
            </a:r>
            <a:endParaRPr kumimoji="0" lang="en-US" sz="3200" b="0" i="0" u="none" strike="noStrike" kern="1200" cap="none" spc="0" normalizeH="0" baseline="0" noProof="0">
              <a:ln>
                <a:noFill/>
              </a:ln>
              <a:solidFill>
                <a:srgbClr val="000000"/>
              </a:solidFill>
              <a:effectLst/>
              <a:uLnTx/>
              <a:uFillTx/>
              <a:latin typeface="Trenda IG Text"/>
              <a:ea typeface="+mn-ea"/>
              <a:cs typeface="+mn-cs"/>
            </a:endParaRPr>
          </a:p>
        </p:txBody>
      </p:sp>
      <p:sp>
        <p:nvSpPr>
          <p:cNvPr id="9" name="Text 7"/>
          <p:cNvSpPr txBox="1"/>
          <p:nvPr/>
        </p:nvSpPr>
        <p:spPr>
          <a:xfrm>
            <a:off x="1965960" y="3745992"/>
            <a:ext cx="1097280" cy="54864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a:ln>
                  <a:noFill/>
                </a:ln>
                <a:solidFill>
                  <a:srgbClr val="000000"/>
                </a:solidFill>
                <a:effectLst/>
                <a:uLnTx/>
                <a:uFillTx/>
                <a:latin typeface="Trenda IG Text Light" pitchFamily="34" charset="0"/>
                <a:ea typeface="Trenda IG Text Light" pitchFamily="34" charset="-122"/>
                <a:cs typeface="Trenda IG Text Light" pitchFamily="34" charset="-120"/>
              </a:rPr>
              <a:t>1</a:t>
            </a:r>
            <a:endParaRPr kumimoji="0" lang="en-US" sz="3200" b="0" i="0" u="none" strike="noStrike" kern="1200" cap="none" spc="0" normalizeH="0" baseline="0" noProof="0">
              <a:ln>
                <a:noFill/>
              </a:ln>
              <a:solidFill>
                <a:srgbClr val="000000"/>
              </a:solidFill>
              <a:effectLst/>
              <a:uLnTx/>
              <a:uFillTx/>
              <a:latin typeface="Trenda IG Text"/>
              <a:ea typeface="+mn-ea"/>
              <a:cs typeface="+mn-cs"/>
            </a:endParaRPr>
          </a:p>
        </p:txBody>
      </p:sp>
      <p:sp>
        <p:nvSpPr>
          <p:cNvPr id="10" name="Text 8"/>
          <p:cNvSpPr txBox="1"/>
          <p:nvPr/>
        </p:nvSpPr>
        <p:spPr>
          <a:xfrm>
            <a:off x="1965960" y="5010912"/>
            <a:ext cx="1097280" cy="54864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a:ln>
                  <a:noFill/>
                </a:ln>
                <a:solidFill>
                  <a:srgbClr val="FFFFFF"/>
                </a:solidFill>
                <a:effectLst/>
                <a:uLnTx/>
                <a:uFillTx/>
                <a:latin typeface="Trenda IG Text Light" pitchFamily="34" charset="0"/>
                <a:ea typeface="Trenda IG Text Light" pitchFamily="34" charset="-122"/>
                <a:cs typeface="Trenda IG Text Light" pitchFamily="34" charset="-120"/>
              </a:rPr>
              <a:t>3</a:t>
            </a:r>
            <a:endParaRPr kumimoji="0" lang="en-US" sz="3200" b="0" i="0" u="none" strike="noStrike" kern="1200" cap="none" spc="0" normalizeH="0" baseline="0" noProof="0">
              <a:ln>
                <a:noFill/>
              </a:ln>
              <a:solidFill>
                <a:srgbClr val="000000"/>
              </a:solidFill>
              <a:effectLst/>
              <a:uLnTx/>
              <a:uFillTx/>
              <a:latin typeface="Trenda IG Text"/>
              <a:ea typeface="+mn-ea"/>
              <a:cs typeface="+mn-cs"/>
            </a:endParaRPr>
          </a:p>
        </p:txBody>
      </p:sp>
      <p:sp>
        <p:nvSpPr>
          <p:cNvPr id="11" name="Shape 9"/>
          <p:cNvSpPr/>
          <p:nvPr/>
        </p:nvSpPr>
        <p:spPr>
          <a:xfrm>
            <a:off x="2977280" y="2479548"/>
            <a:ext cx="1869040" cy="0"/>
          </a:xfrm>
          <a:prstGeom prst="line">
            <a:avLst/>
          </a:prstGeom>
          <a:noFill/>
          <a:ln w="12700">
            <a:solidFill>
              <a:srgbClr val="A0A0A8"/>
            </a:solidFill>
            <a:prstDash val="sysDot"/>
          </a:ln>
        </p:spPr>
        <p:txBody>
          <a:bodyPr/>
          <a:lstStyle/>
          <a:p>
            <a:endParaRPr lang="en-IN"/>
          </a:p>
        </p:txBody>
      </p:sp>
      <p:sp>
        <p:nvSpPr>
          <p:cNvPr id="12" name="Shape 10"/>
          <p:cNvSpPr/>
          <p:nvPr/>
        </p:nvSpPr>
        <p:spPr>
          <a:xfrm>
            <a:off x="4846320" y="2433828"/>
            <a:ext cx="91440" cy="91440"/>
          </a:xfrm>
          <a:prstGeom prst="ellipse">
            <a:avLst/>
          </a:prstGeom>
          <a:solidFill>
            <a:srgbClr val="007C8C"/>
          </a:solidFill>
          <a:ln w="12700">
            <a:solidFill>
              <a:srgbClr val="007C8C"/>
            </a:solidFill>
            <a:prstDash val="solid"/>
          </a:ln>
        </p:spPr>
        <p:txBody>
          <a:bodyPr/>
          <a:lstStyle/>
          <a:p>
            <a:endParaRPr lang="en-IN"/>
          </a:p>
        </p:txBody>
      </p:sp>
      <p:sp>
        <p:nvSpPr>
          <p:cNvPr id="13" name="Text 11"/>
          <p:cNvSpPr txBox="1"/>
          <p:nvPr/>
        </p:nvSpPr>
        <p:spPr>
          <a:xfrm>
            <a:off x="5029200" y="2095500"/>
            <a:ext cx="2926080" cy="201168"/>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1" i="0" u="none" strike="noStrike" kern="0" cap="none" spc="200" normalizeH="0" baseline="0" noProof="0">
                <a:ln>
                  <a:noFill/>
                </a:ln>
                <a:solidFill>
                  <a:srgbClr val="007C8C"/>
                </a:solidFill>
                <a:effectLst/>
                <a:uLnTx/>
                <a:uFillTx/>
                <a:latin typeface="Trenda IG Text"/>
                <a:ea typeface="+mn-ea"/>
                <a:cs typeface="+mn-cs"/>
              </a:rPr>
              <a:t>LEAD</a:t>
            </a:r>
            <a:endParaRPr kumimoji="0" lang="en-US" sz="950" b="0" i="0" u="none" strike="noStrike" kern="1200" cap="none" spc="0" normalizeH="0" baseline="0" noProof="0">
              <a:ln>
                <a:noFill/>
              </a:ln>
              <a:solidFill>
                <a:srgbClr val="000000"/>
              </a:solidFill>
              <a:effectLst/>
              <a:uLnTx/>
              <a:uFillTx/>
              <a:latin typeface="Trenda IG Text"/>
              <a:ea typeface="+mn-ea"/>
              <a:cs typeface="+mn-cs"/>
            </a:endParaRPr>
          </a:p>
        </p:txBody>
      </p:sp>
      <p:sp>
        <p:nvSpPr>
          <p:cNvPr id="14" name="Text 12"/>
          <p:cNvSpPr txBox="1"/>
          <p:nvPr/>
        </p:nvSpPr>
        <p:spPr>
          <a:xfrm>
            <a:off x="5029200" y="2296668"/>
            <a:ext cx="2926080" cy="4572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000000"/>
                </a:solidFill>
                <a:effectLst/>
                <a:uLnTx/>
                <a:uFillTx/>
                <a:latin typeface="Trenda IG Text"/>
                <a:ea typeface="+mn-ea"/>
                <a:cs typeface="+mn-cs"/>
              </a:rPr>
              <a:t>Scrum Master or Project Manager</a:t>
            </a:r>
            <a:endParaRPr kumimoji="0" lang="en-US" sz="1300" b="0" i="0" u="none" strike="noStrike" kern="1200" cap="none" spc="0" normalizeH="0" baseline="0" noProof="0">
              <a:ln>
                <a:noFill/>
              </a:ln>
              <a:solidFill>
                <a:srgbClr val="000000"/>
              </a:solidFill>
              <a:effectLst/>
              <a:uLnTx/>
              <a:uFillTx/>
              <a:latin typeface="Trenda IG Text"/>
              <a:ea typeface="+mn-ea"/>
              <a:cs typeface="+mn-cs"/>
            </a:endParaRPr>
          </a:p>
        </p:txBody>
      </p:sp>
      <p:sp>
        <p:nvSpPr>
          <p:cNvPr id="15" name="Text 13"/>
          <p:cNvSpPr txBox="1"/>
          <p:nvPr/>
        </p:nvSpPr>
        <p:spPr>
          <a:xfrm>
            <a:off x="5029200" y="2570988"/>
            <a:ext cx="2926080" cy="41148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4D4D4D"/>
                </a:solidFill>
                <a:effectLst/>
                <a:uLnTx/>
                <a:uFillTx/>
                <a:latin typeface="Trenda IG Text"/>
                <a:ea typeface="+mn-ea"/>
                <a:cs typeface="+mn-cs"/>
              </a:rPr>
              <a:t>Runs sprints, milestones, risks and status</a:t>
            </a:r>
            <a:endParaRPr kumimoji="0" lang="en-US" sz="1050" b="0" i="0" u="none" strike="noStrike" kern="1200" cap="none" spc="0" normalizeH="0" baseline="0" noProof="0">
              <a:ln>
                <a:noFill/>
              </a:ln>
              <a:solidFill>
                <a:srgbClr val="000000"/>
              </a:solidFill>
              <a:effectLst/>
              <a:uLnTx/>
              <a:uFillTx/>
              <a:latin typeface="Trenda IG Text"/>
              <a:ea typeface="+mn-ea"/>
              <a:cs typeface="+mn-cs"/>
            </a:endParaRPr>
          </a:p>
        </p:txBody>
      </p:sp>
      <p:sp>
        <p:nvSpPr>
          <p:cNvPr id="16" name="Shape 14"/>
          <p:cNvSpPr/>
          <p:nvPr/>
        </p:nvSpPr>
        <p:spPr>
          <a:xfrm>
            <a:off x="3593592" y="3726180"/>
            <a:ext cx="1252728" cy="0"/>
          </a:xfrm>
          <a:prstGeom prst="line">
            <a:avLst/>
          </a:prstGeom>
          <a:noFill/>
          <a:ln w="12700">
            <a:solidFill>
              <a:srgbClr val="A0A0A8"/>
            </a:solidFill>
            <a:prstDash val="sysDot"/>
          </a:ln>
        </p:spPr>
        <p:txBody>
          <a:bodyPr/>
          <a:lstStyle/>
          <a:p>
            <a:endParaRPr lang="en-IN"/>
          </a:p>
        </p:txBody>
      </p:sp>
      <p:sp>
        <p:nvSpPr>
          <p:cNvPr id="17" name="Shape 15"/>
          <p:cNvSpPr/>
          <p:nvPr/>
        </p:nvSpPr>
        <p:spPr>
          <a:xfrm>
            <a:off x="4846320" y="3680460"/>
            <a:ext cx="91440" cy="91440"/>
          </a:xfrm>
          <a:prstGeom prst="ellipse">
            <a:avLst/>
          </a:prstGeom>
          <a:solidFill>
            <a:srgbClr val="7A6100"/>
          </a:solidFill>
          <a:ln w="12700">
            <a:solidFill>
              <a:srgbClr val="7A6100"/>
            </a:solidFill>
            <a:prstDash val="solid"/>
          </a:ln>
        </p:spPr>
        <p:txBody>
          <a:bodyPr/>
          <a:lstStyle/>
          <a:p>
            <a:endParaRPr lang="en-IN"/>
          </a:p>
        </p:txBody>
      </p:sp>
      <p:sp>
        <p:nvSpPr>
          <p:cNvPr id="18" name="Text 16"/>
          <p:cNvSpPr txBox="1"/>
          <p:nvPr/>
        </p:nvSpPr>
        <p:spPr>
          <a:xfrm>
            <a:off x="5029200" y="3342132"/>
            <a:ext cx="2926080" cy="201168"/>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1" i="0" u="none" strike="noStrike" kern="0" cap="none" spc="200" normalizeH="0" baseline="0" noProof="0">
                <a:ln>
                  <a:noFill/>
                </a:ln>
                <a:solidFill>
                  <a:srgbClr val="7A6100"/>
                </a:solidFill>
                <a:effectLst/>
                <a:uLnTx/>
                <a:uFillTx/>
                <a:latin typeface="Trenda IG Text"/>
                <a:ea typeface="+mn-ea"/>
                <a:cs typeface="+mn-cs"/>
              </a:rPr>
              <a:t>QUALITY</a:t>
            </a:r>
            <a:endParaRPr kumimoji="0" lang="en-US" sz="950" b="0" i="0" u="none" strike="noStrike" kern="1200" cap="none" spc="0" normalizeH="0" baseline="0" noProof="0">
              <a:ln>
                <a:noFill/>
              </a:ln>
              <a:solidFill>
                <a:srgbClr val="000000"/>
              </a:solidFill>
              <a:effectLst/>
              <a:uLnTx/>
              <a:uFillTx/>
              <a:latin typeface="Trenda IG Text"/>
              <a:ea typeface="+mn-ea"/>
              <a:cs typeface="+mn-cs"/>
            </a:endParaRPr>
          </a:p>
        </p:txBody>
      </p:sp>
      <p:sp>
        <p:nvSpPr>
          <p:cNvPr id="19" name="Text 17"/>
          <p:cNvSpPr txBox="1"/>
          <p:nvPr/>
        </p:nvSpPr>
        <p:spPr>
          <a:xfrm>
            <a:off x="5029200" y="3543300"/>
            <a:ext cx="2926080" cy="4572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000000"/>
                </a:solidFill>
                <a:effectLst/>
                <a:uLnTx/>
                <a:uFillTx/>
                <a:latin typeface="Trenda IG Text"/>
                <a:ea typeface="+mn-ea"/>
                <a:cs typeface="+mn-cs"/>
              </a:rPr>
              <a:t>QA Engineer</a:t>
            </a:r>
            <a:endParaRPr kumimoji="0" lang="en-US" sz="1300" b="0" i="0" u="none" strike="noStrike" kern="1200" cap="none" spc="0" normalizeH="0" baseline="0" noProof="0">
              <a:ln>
                <a:noFill/>
              </a:ln>
              <a:solidFill>
                <a:srgbClr val="000000"/>
              </a:solidFill>
              <a:effectLst/>
              <a:uLnTx/>
              <a:uFillTx/>
              <a:latin typeface="Trenda IG Text"/>
              <a:ea typeface="+mn-ea"/>
              <a:cs typeface="+mn-cs"/>
            </a:endParaRPr>
          </a:p>
        </p:txBody>
      </p:sp>
      <p:sp>
        <p:nvSpPr>
          <p:cNvPr id="20" name="Text 18"/>
          <p:cNvSpPr txBox="1"/>
          <p:nvPr/>
        </p:nvSpPr>
        <p:spPr>
          <a:xfrm>
            <a:off x="5029200" y="3817620"/>
            <a:ext cx="2926080" cy="41148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4D4D4D"/>
                </a:solidFill>
                <a:effectLst/>
                <a:uLnTx/>
                <a:uFillTx/>
                <a:latin typeface="Trenda IG Text"/>
                <a:ea typeface="+mn-ea"/>
                <a:cs typeface="+mn-cs"/>
              </a:rPr>
              <a:t>Test plans, automation, load tests, user testing support</a:t>
            </a:r>
            <a:endParaRPr kumimoji="0" lang="en-US" sz="1050" b="0" i="0" u="none" strike="noStrike" kern="1200" cap="none" spc="0" normalizeH="0" baseline="0" noProof="0">
              <a:ln>
                <a:noFill/>
              </a:ln>
              <a:solidFill>
                <a:srgbClr val="000000"/>
              </a:solidFill>
              <a:effectLst/>
              <a:uLnTx/>
              <a:uFillTx/>
              <a:latin typeface="Trenda IG Text"/>
              <a:ea typeface="+mn-ea"/>
              <a:cs typeface="+mn-cs"/>
            </a:endParaRPr>
          </a:p>
        </p:txBody>
      </p:sp>
      <p:sp>
        <p:nvSpPr>
          <p:cNvPr id="21" name="Shape 19"/>
          <p:cNvSpPr/>
          <p:nvPr/>
        </p:nvSpPr>
        <p:spPr>
          <a:xfrm>
            <a:off x="4264152" y="5082540"/>
            <a:ext cx="582168" cy="0"/>
          </a:xfrm>
          <a:prstGeom prst="line">
            <a:avLst/>
          </a:prstGeom>
          <a:noFill/>
          <a:ln w="12700">
            <a:solidFill>
              <a:srgbClr val="A0A0A8"/>
            </a:solidFill>
            <a:prstDash val="sysDot"/>
          </a:ln>
        </p:spPr>
        <p:txBody>
          <a:bodyPr/>
          <a:lstStyle/>
          <a:p>
            <a:endParaRPr lang="en-IN"/>
          </a:p>
        </p:txBody>
      </p:sp>
      <p:sp>
        <p:nvSpPr>
          <p:cNvPr id="22" name="Shape 20"/>
          <p:cNvSpPr/>
          <p:nvPr/>
        </p:nvSpPr>
        <p:spPr>
          <a:xfrm>
            <a:off x="4846320" y="5036820"/>
            <a:ext cx="91440" cy="91440"/>
          </a:xfrm>
          <a:prstGeom prst="ellipse">
            <a:avLst/>
          </a:prstGeom>
          <a:solidFill>
            <a:srgbClr val="C8005A"/>
          </a:solidFill>
          <a:ln w="12700">
            <a:solidFill>
              <a:srgbClr val="C8005A"/>
            </a:solidFill>
            <a:prstDash val="solid"/>
          </a:ln>
        </p:spPr>
        <p:txBody>
          <a:bodyPr/>
          <a:lstStyle/>
          <a:p>
            <a:endParaRPr lang="en-IN"/>
          </a:p>
        </p:txBody>
      </p:sp>
      <p:sp>
        <p:nvSpPr>
          <p:cNvPr id="23" name="Text 21"/>
          <p:cNvSpPr txBox="1"/>
          <p:nvPr/>
        </p:nvSpPr>
        <p:spPr>
          <a:xfrm>
            <a:off x="5029200" y="4698492"/>
            <a:ext cx="2926080" cy="201168"/>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1" i="0" u="none" strike="noStrike" kern="0" cap="none" spc="200" normalizeH="0" baseline="0" noProof="0">
                <a:ln>
                  <a:noFill/>
                </a:ln>
                <a:solidFill>
                  <a:srgbClr val="C8005A"/>
                </a:solidFill>
                <a:effectLst/>
                <a:uLnTx/>
                <a:uFillTx/>
                <a:latin typeface="Trenda IG Text"/>
                <a:ea typeface="+mn-ea"/>
                <a:cs typeface="+mn-cs"/>
              </a:rPr>
              <a:t>BUILD</a:t>
            </a:r>
            <a:endParaRPr kumimoji="0" lang="en-US" sz="950" b="0" i="0" u="none" strike="noStrike" kern="1200" cap="none" spc="0" normalizeH="0" baseline="0" noProof="0">
              <a:ln>
                <a:noFill/>
              </a:ln>
              <a:solidFill>
                <a:srgbClr val="000000"/>
              </a:solidFill>
              <a:effectLst/>
              <a:uLnTx/>
              <a:uFillTx/>
              <a:latin typeface="Trenda IG Text"/>
              <a:ea typeface="+mn-ea"/>
              <a:cs typeface="+mn-cs"/>
            </a:endParaRPr>
          </a:p>
        </p:txBody>
      </p:sp>
      <p:sp>
        <p:nvSpPr>
          <p:cNvPr id="24" name="Text 22"/>
          <p:cNvSpPr txBox="1"/>
          <p:nvPr/>
        </p:nvSpPr>
        <p:spPr>
          <a:xfrm>
            <a:off x="5029200" y="4899660"/>
            <a:ext cx="2926080" cy="4572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000000"/>
                </a:solidFill>
                <a:effectLst/>
                <a:uLnTx/>
                <a:uFillTx/>
                <a:latin typeface="Trenda IG Text"/>
                <a:ea typeface="+mn-ea"/>
                <a:cs typeface="+mn-cs"/>
              </a:rPr>
              <a:t>2 Salesforce Developers + 1 Marketing Cloud Developer</a:t>
            </a:r>
            <a:endParaRPr kumimoji="0" lang="en-US" sz="1300" b="0" i="0" u="none" strike="noStrike" kern="1200" cap="none" spc="0" normalizeH="0" baseline="0" noProof="0">
              <a:ln>
                <a:noFill/>
              </a:ln>
              <a:solidFill>
                <a:srgbClr val="000000"/>
              </a:solidFill>
              <a:effectLst/>
              <a:uLnTx/>
              <a:uFillTx/>
              <a:latin typeface="Trenda IG Text"/>
              <a:ea typeface="+mn-ea"/>
              <a:cs typeface="+mn-cs"/>
            </a:endParaRPr>
          </a:p>
        </p:txBody>
      </p:sp>
      <p:sp>
        <p:nvSpPr>
          <p:cNvPr id="25" name="Text 23"/>
          <p:cNvSpPr txBox="1"/>
          <p:nvPr/>
        </p:nvSpPr>
        <p:spPr>
          <a:xfrm>
            <a:off x="5029200" y="5356860"/>
            <a:ext cx="2926080" cy="41148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4D4D4D"/>
                </a:solidFill>
                <a:effectLst/>
                <a:uLnTx/>
                <a:uFillTx/>
                <a:latin typeface="Trenda IG Text"/>
                <a:ea typeface="+mn-ea"/>
                <a:cs typeface="+mn-cs"/>
              </a:rPr>
              <a:t>Event app, registration, payments, integrations, journeys and PEIs</a:t>
            </a:r>
            <a:endParaRPr kumimoji="0" lang="en-US" sz="1050" b="0" i="0" u="none" strike="noStrike" kern="1200" cap="none" spc="0" normalizeH="0" baseline="0" noProof="0">
              <a:ln>
                <a:noFill/>
              </a:ln>
              <a:solidFill>
                <a:srgbClr val="000000"/>
              </a:solidFill>
              <a:effectLst/>
              <a:uLnTx/>
              <a:uFillTx/>
              <a:latin typeface="Trenda IG Text"/>
              <a:ea typeface="+mn-ea"/>
              <a:cs typeface="+mn-cs"/>
            </a:endParaRPr>
          </a:p>
        </p:txBody>
      </p:sp>
      <p:sp>
        <p:nvSpPr>
          <p:cNvPr id="26" name="Shape 24"/>
          <p:cNvSpPr/>
          <p:nvPr/>
        </p:nvSpPr>
        <p:spPr>
          <a:xfrm>
            <a:off x="8183880" y="1691640"/>
            <a:ext cx="3502152" cy="4069080"/>
          </a:xfrm>
          <a:prstGeom prst="roundRect">
            <a:avLst>
              <a:gd name="adj" fmla="val 3133"/>
            </a:avLst>
          </a:prstGeom>
          <a:solidFill>
            <a:srgbClr val="F2F2F2"/>
          </a:solidFill>
          <a:ln w="12700">
            <a:solidFill>
              <a:srgbClr val="D0D0D6"/>
            </a:solidFill>
            <a:prstDash val="solid"/>
          </a:ln>
        </p:spPr>
        <p:txBody>
          <a:bodyPr/>
          <a:lstStyle/>
          <a:p>
            <a:endParaRPr lang="en-IN"/>
          </a:p>
        </p:txBody>
      </p:sp>
      <p:sp>
        <p:nvSpPr>
          <p:cNvPr id="27" name="Text 25"/>
          <p:cNvSpPr txBox="1"/>
          <p:nvPr/>
        </p:nvSpPr>
        <p:spPr>
          <a:xfrm>
            <a:off x="8366760" y="1828800"/>
            <a:ext cx="3136392" cy="292608"/>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a:ln>
                  <a:noFill/>
                </a:ln>
                <a:solidFill>
                  <a:srgbClr val="000000"/>
                </a:solidFill>
                <a:effectLst/>
                <a:uLnTx/>
                <a:uFillTx/>
                <a:latin typeface="Trenda IG Text"/>
                <a:ea typeface="+mn-ea"/>
                <a:cs typeface="+mn-cs"/>
              </a:rPr>
              <a:t>Every two-week sprint</a:t>
            </a:r>
            <a:endParaRPr kumimoji="0" lang="en-US" sz="1500" b="0" i="0" u="none" strike="noStrike" kern="1200" cap="none" spc="0" normalizeH="0" baseline="0" noProof="0">
              <a:ln>
                <a:noFill/>
              </a:ln>
              <a:solidFill>
                <a:srgbClr val="000000"/>
              </a:solidFill>
              <a:effectLst/>
              <a:uLnTx/>
              <a:uFillTx/>
              <a:latin typeface="Trenda IG Text"/>
              <a:ea typeface="+mn-ea"/>
              <a:cs typeface="+mn-cs"/>
            </a:endParaRPr>
          </a:p>
        </p:txBody>
      </p:sp>
      <p:sp>
        <p:nvSpPr>
          <p:cNvPr id="28" name="Shape 26"/>
          <p:cNvSpPr/>
          <p:nvPr/>
        </p:nvSpPr>
        <p:spPr>
          <a:xfrm>
            <a:off x="8366760" y="2286000"/>
            <a:ext cx="384048" cy="384048"/>
          </a:xfrm>
          <a:prstGeom prst="ellipse">
            <a:avLst/>
          </a:prstGeom>
          <a:solidFill>
            <a:srgbClr val="FFFFFF"/>
          </a:solidFill>
          <a:ln w="12700">
            <a:solidFill>
              <a:srgbClr val="C8C8CE"/>
            </a:solidFill>
            <a:prstDash val="solid"/>
          </a:ln>
        </p:spPr>
        <p:txBody>
          <a:bodyPr/>
          <a:lstStyle/>
          <a:p>
            <a:endParaRPr lang="en-IN"/>
          </a:p>
        </p:txBody>
      </p:sp>
      <p:pic>
        <p:nvPicPr>
          <p:cNvPr id="29" name="Image 0" descr="preencoded.png"/>
          <p:cNvPicPr>
            <a:picLocks noChangeAspect="1"/>
          </p:cNvPicPr>
          <p:nvPr/>
        </p:nvPicPr>
        <p:blipFill>
          <a:blip r:embed="rId3"/>
          <a:stretch>
            <a:fillRect/>
          </a:stretch>
        </p:blipFill>
        <p:spPr>
          <a:xfrm>
            <a:off x="8467344" y="2386584"/>
            <a:ext cx="182880" cy="182880"/>
          </a:xfrm>
          <a:prstGeom prst="rect">
            <a:avLst/>
          </a:prstGeom>
        </p:spPr>
      </p:pic>
      <p:sp>
        <p:nvSpPr>
          <p:cNvPr id="30" name="Text 27"/>
          <p:cNvSpPr txBox="1"/>
          <p:nvPr/>
        </p:nvSpPr>
        <p:spPr>
          <a:xfrm>
            <a:off x="8869680" y="2267712"/>
            <a:ext cx="2633472" cy="219456"/>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000000"/>
                </a:solidFill>
                <a:effectLst/>
                <a:uLnTx/>
                <a:uFillTx/>
                <a:latin typeface="Trenda IG Text"/>
                <a:ea typeface="+mn-ea"/>
                <a:cs typeface="+mn-cs"/>
              </a:rPr>
              <a:t>Plan</a:t>
            </a:r>
            <a:endParaRPr kumimoji="0" lang="en-US" sz="1200" b="0" i="0" u="none" strike="noStrike" kern="1200" cap="none" spc="0" normalizeH="0" baseline="0" noProof="0">
              <a:ln>
                <a:noFill/>
              </a:ln>
              <a:solidFill>
                <a:srgbClr val="000000"/>
              </a:solidFill>
              <a:effectLst/>
              <a:uLnTx/>
              <a:uFillTx/>
              <a:latin typeface="Trenda IG Text"/>
              <a:ea typeface="+mn-ea"/>
              <a:cs typeface="+mn-cs"/>
            </a:endParaRPr>
          </a:p>
        </p:txBody>
      </p:sp>
      <p:sp>
        <p:nvSpPr>
          <p:cNvPr id="31" name="Text 28"/>
          <p:cNvSpPr txBox="1"/>
          <p:nvPr/>
        </p:nvSpPr>
        <p:spPr>
          <a:xfrm>
            <a:off x="8869680" y="2487168"/>
            <a:ext cx="2633472" cy="329184"/>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4D4D4D"/>
                </a:solidFill>
                <a:effectLst/>
                <a:uLnTx/>
                <a:uFillTx/>
                <a:latin typeface="Trenda IG Text"/>
                <a:ea typeface="+mn-ea"/>
                <a:cs typeface="+mn-cs"/>
              </a:rPr>
              <a:t>Sprint planning with your product owner</a:t>
            </a:r>
            <a:endParaRPr kumimoji="0" lang="en-US" sz="1050" b="0" i="0" u="none" strike="noStrike" kern="1200" cap="none" spc="0" normalizeH="0" baseline="0" noProof="0">
              <a:ln>
                <a:noFill/>
              </a:ln>
              <a:solidFill>
                <a:srgbClr val="000000"/>
              </a:solidFill>
              <a:effectLst/>
              <a:uLnTx/>
              <a:uFillTx/>
              <a:latin typeface="Trenda IG Text"/>
              <a:ea typeface="+mn-ea"/>
              <a:cs typeface="+mn-cs"/>
            </a:endParaRPr>
          </a:p>
        </p:txBody>
      </p:sp>
      <p:sp>
        <p:nvSpPr>
          <p:cNvPr id="32" name="Shape 29"/>
          <p:cNvSpPr/>
          <p:nvPr/>
        </p:nvSpPr>
        <p:spPr>
          <a:xfrm>
            <a:off x="8366760" y="2944368"/>
            <a:ext cx="384048" cy="384048"/>
          </a:xfrm>
          <a:prstGeom prst="ellipse">
            <a:avLst/>
          </a:prstGeom>
          <a:solidFill>
            <a:srgbClr val="FFFFFF"/>
          </a:solidFill>
          <a:ln w="12700">
            <a:solidFill>
              <a:srgbClr val="C8C8CE"/>
            </a:solidFill>
            <a:prstDash val="solid"/>
          </a:ln>
        </p:spPr>
        <p:txBody>
          <a:bodyPr/>
          <a:lstStyle/>
          <a:p>
            <a:endParaRPr lang="en-IN"/>
          </a:p>
        </p:txBody>
      </p:sp>
      <p:pic>
        <p:nvPicPr>
          <p:cNvPr id="33" name="Image 1" descr="preencoded.png"/>
          <p:cNvPicPr>
            <a:picLocks noChangeAspect="1"/>
          </p:cNvPicPr>
          <p:nvPr/>
        </p:nvPicPr>
        <p:blipFill>
          <a:blip r:embed="rId4"/>
          <a:stretch>
            <a:fillRect/>
          </a:stretch>
        </p:blipFill>
        <p:spPr>
          <a:xfrm>
            <a:off x="8467344" y="3044952"/>
            <a:ext cx="182880" cy="182880"/>
          </a:xfrm>
          <a:prstGeom prst="rect">
            <a:avLst/>
          </a:prstGeom>
        </p:spPr>
      </p:pic>
      <p:sp>
        <p:nvSpPr>
          <p:cNvPr id="34" name="Text 30"/>
          <p:cNvSpPr txBox="1"/>
          <p:nvPr/>
        </p:nvSpPr>
        <p:spPr>
          <a:xfrm>
            <a:off x="8869680" y="2926080"/>
            <a:ext cx="2633472" cy="219456"/>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000000"/>
                </a:solidFill>
                <a:effectLst/>
                <a:uLnTx/>
                <a:uFillTx/>
                <a:latin typeface="Trenda IG Text"/>
                <a:ea typeface="+mn-ea"/>
                <a:cs typeface="+mn-cs"/>
              </a:rPr>
              <a:t>Build and test</a:t>
            </a:r>
            <a:endParaRPr kumimoji="0" lang="en-US" sz="1200" b="0" i="0" u="none" strike="noStrike" kern="1200" cap="none" spc="0" normalizeH="0" baseline="0" noProof="0">
              <a:ln>
                <a:noFill/>
              </a:ln>
              <a:solidFill>
                <a:srgbClr val="000000"/>
              </a:solidFill>
              <a:effectLst/>
              <a:uLnTx/>
              <a:uFillTx/>
              <a:latin typeface="Trenda IG Text"/>
              <a:ea typeface="+mn-ea"/>
              <a:cs typeface="+mn-cs"/>
            </a:endParaRPr>
          </a:p>
        </p:txBody>
      </p:sp>
      <p:sp>
        <p:nvSpPr>
          <p:cNvPr id="35" name="Text 31"/>
          <p:cNvSpPr txBox="1"/>
          <p:nvPr/>
        </p:nvSpPr>
        <p:spPr>
          <a:xfrm>
            <a:off x="8869680" y="3145536"/>
            <a:ext cx="2633472" cy="329184"/>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4D4D4D"/>
                </a:solidFill>
                <a:effectLst/>
                <a:uLnTx/>
                <a:uFillTx/>
                <a:latin typeface="Trenda IG Text"/>
                <a:ea typeface="+mn-ea"/>
                <a:cs typeface="+mn-cs"/>
              </a:rPr>
              <a:t>Daily stand-ups; QA inside the sprint</a:t>
            </a:r>
            <a:endParaRPr kumimoji="0" lang="en-US" sz="1050" b="0" i="0" u="none" strike="noStrike" kern="1200" cap="none" spc="0" normalizeH="0" baseline="0" noProof="0">
              <a:ln>
                <a:noFill/>
              </a:ln>
              <a:solidFill>
                <a:srgbClr val="000000"/>
              </a:solidFill>
              <a:effectLst/>
              <a:uLnTx/>
              <a:uFillTx/>
              <a:latin typeface="Trenda IG Text"/>
              <a:ea typeface="+mn-ea"/>
              <a:cs typeface="+mn-cs"/>
            </a:endParaRPr>
          </a:p>
        </p:txBody>
      </p:sp>
      <p:sp>
        <p:nvSpPr>
          <p:cNvPr id="36" name="Shape 32"/>
          <p:cNvSpPr/>
          <p:nvPr/>
        </p:nvSpPr>
        <p:spPr>
          <a:xfrm>
            <a:off x="8366760" y="3602736"/>
            <a:ext cx="384048" cy="384048"/>
          </a:xfrm>
          <a:prstGeom prst="ellipse">
            <a:avLst/>
          </a:prstGeom>
          <a:solidFill>
            <a:srgbClr val="FFFFFF"/>
          </a:solidFill>
          <a:ln w="12700">
            <a:solidFill>
              <a:srgbClr val="C8C8CE"/>
            </a:solidFill>
            <a:prstDash val="solid"/>
          </a:ln>
        </p:spPr>
        <p:txBody>
          <a:bodyPr/>
          <a:lstStyle/>
          <a:p>
            <a:endParaRPr lang="en-IN"/>
          </a:p>
        </p:txBody>
      </p:sp>
      <p:pic>
        <p:nvPicPr>
          <p:cNvPr id="37" name="Image 2" descr="preencoded.png"/>
          <p:cNvPicPr>
            <a:picLocks noChangeAspect="1"/>
          </p:cNvPicPr>
          <p:nvPr/>
        </p:nvPicPr>
        <p:blipFill>
          <a:blip r:embed="rId5"/>
          <a:stretch>
            <a:fillRect/>
          </a:stretch>
        </p:blipFill>
        <p:spPr>
          <a:xfrm>
            <a:off x="8467344" y="3703320"/>
            <a:ext cx="182880" cy="182880"/>
          </a:xfrm>
          <a:prstGeom prst="rect">
            <a:avLst/>
          </a:prstGeom>
        </p:spPr>
      </p:pic>
      <p:sp>
        <p:nvSpPr>
          <p:cNvPr id="38" name="Text 33"/>
          <p:cNvSpPr txBox="1"/>
          <p:nvPr/>
        </p:nvSpPr>
        <p:spPr>
          <a:xfrm>
            <a:off x="8869680" y="3584448"/>
            <a:ext cx="2633472" cy="219456"/>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000000"/>
                </a:solidFill>
                <a:effectLst/>
                <a:uLnTx/>
                <a:uFillTx/>
                <a:latin typeface="Trenda IG Text"/>
                <a:ea typeface="+mn-ea"/>
                <a:cs typeface="+mn-cs"/>
              </a:rPr>
              <a:t>Demo</a:t>
            </a:r>
            <a:endParaRPr kumimoji="0" lang="en-US" sz="1200" b="0" i="0" u="none" strike="noStrike" kern="1200" cap="none" spc="0" normalizeH="0" baseline="0" noProof="0">
              <a:ln>
                <a:noFill/>
              </a:ln>
              <a:solidFill>
                <a:srgbClr val="000000"/>
              </a:solidFill>
              <a:effectLst/>
              <a:uLnTx/>
              <a:uFillTx/>
              <a:latin typeface="Trenda IG Text"/>
              <a:ea typeface="+mn-ea"/>
              <a:cs typeface="+mn-cs"/>
            </a:endParaRPr>
          </a:p>
        </p:txBody>
      </p:sp>
      <p:sp>
        <p:nvSpPr>
          <p:cNvPr id="39" name="Text 34"/>
          <p:cNvSpPr txBox="1"/>
          <p:nvPr/>
        </p:nvSpPr>
        <p:spPr>
          <a:xfrm>
            <a:off x="8869680" y="3803904"/>
            <a:ext cx="2633472" cy="329184"/>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4D4D4D"/>
                </a:solidFill>
                <a:effectLst/>
                <a:uLnTx/>
                <a:uFillTx/>
                <a:latin typeface="Trenda IG Text"/>
                <a:ea typeface="+mn-ea"/>
                <a:cs typeface="+mn-cs"/>
              </a:rPr>
              <a:t>Sprint review and milestone sign-off</a:t>
            </a:r>
            <a:endParaRPr kumimoji="0" lang="en-US" sz="1050" b="0" i="0" u="none" strike="noStrike" kern="1200" cap="none" spc="0" normalizeH="0" baseline="0" noProof="0">
              <a:ln>
                <a:noFill/>
              </a:ln>
              <a:solidFill>
                <a:srgbClr val="000000"/>
              </a:solidFill>
              <a:effectLst/>
              <a:uLnTx/>
              <a:uFillTx/>
              <a:latin typeface="Trenda IG Text"/>
              <a:ea typeface="+mn-ea"/>
              <a:cs typeface="+mn-cs"/>
            </a:endParaRPr>
          </a:p>
        </p:txBody>
      </p:sp>
      <p:sp>
        <p:nvSpPr>
          <p:cNvPr id="40" name="Shape 35"/>
          <p:cNvSpPr/>
          <p:nvPr/>
        </p:nvSpPr>
        <p:spPr>
          <a:xfrm>
            <a:off x="8366760" y="4261104"/>
            <a:ext cx="384048" cy="384048"/>
          </a:xfrm>
          <a:prstGeom prst="ellipse">
            <a:avLst/>
          </a:prstGeom>
          <a:solidFill>
            <a:srgbClr val="FFFFFF"/>
          </a:solidFill>
          <a:ln w="12700">
            <a:solidFill>
              <a:srgbClr val="C8C8CE"/>
            </a:solidFill>
            <a:prstDash val="solid"/>
          </a:ln>
        </p:spPr>
        <p:txBody>
          <a:bodyPr/>
          <a:lstStyle/>
          <a:p>
            <a:endParaRPr lang="en-IN"/>
          </a:p>
        </p:txBody>
      </p:sp>
      <p:pic>
        <p:nvPicPr>
          <p:cNvPr id="41" name="Image 3" descr="preencoded.png"/>
          <p:cNvPicPr>
            <a:picLocks noChangeAspect="1"/>
          </p:cNvPicPr>
          <p:nvPr/>
        </p:nvPicPr>
        <p:blipFill>
          <a:blip r:embed="rId6"/>
          <a:stretch>
            <a:fillRect/>
          </a:stretch>
        </p:blipFill>
        <p:spPr>
          <a:xfrm>
            <a:off x="8467344" y="4361688"/>
            <a:ext cx="182880" cy="182880"/>
          </a:xfrm>
          <a:prstGeom prst="rect">
            <a:avLst/>
          </a:prstGeom>
        </p:spPr>
      </p:pic>
      <p:sp>
        <p:nvSpPr>
          <p:cNvPr id="42" name="Text 36"/>
          <p:cNvSpPr txBox="1"/>
          <p:nvPr/>
        </p:nvSpPr>
        <p:spPr>
          <a:xfrm>
            <a:off x="8869680" y="4242816"/>
            <a:ext cx="2633472" cy="219456"/>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000000"/>
                </a:solidFill>
                <a:effectLst/>
                <a:uLnTx/>
                <a:uFillTx/>
                <a:latin typeface="Trenda IG Text"/>
                <a:ea typeface="+mn-ea"/>
                <a:cs typeface="+mn-cs"/>
              </a:rPr>
              <a:t>Improve</a:t>
            </a:r>
            <a:endParaRPr kumimoji="0" lang="en-US" sz="1200" b="0" i="0" u="none" strike="noStrike" kern="1200" cap="none" spc="0" normalizeH="0" baseline="0" noProof="0">
              <a:ln>
                <a:noFill/>
              </a:ln>
              <a:solidFill>
                <a:srgbClr val="000000"/>
              </a:solidFill>
              <a:effectLst/>
              <a:uLnTx/>
              <a:uFillTx/>
              <a:latin typeface="Trenda IG Text"/>
              <a:ea typeface="+mn-ea"/>
              <a:cs typeface="+mn-cs"/>
            </a:endParaRPr>
          </a:p>
        </p:txBody>
      </p:sp>
      <p:sp>
        <p:nvSpPr>
          <p:cNvPr id="43" name="Text 37"/>
          <p:cNvSpPr txBox="1"/>
          <p:nvPr/>
        </p:nvSpPr>
        <p:spPr>
          <a:xfrm>
            <a:off x="8869680" y="4462272"/>
            <a:ext cx="2633472" cy="329184"/>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4D4D4D"/>
                </a:solidFill>
                <a:effectLst/>
                <a:uLnTx/>
                <a:uFillTx/>
                <a:latin typeface="Trenda IG Text"/>
                <a:ea typeface="+mn-ea"/>
                <a:cs typeface="+mn-cs"/>
              </a:rPr>
              <a:t>Retrospective; adjust the next sprint</a:t>
            </a:r>
            <a:endParaRPr kumimoji="0" lang="en-US" sz="1050" b="0" i="0" u="none" strike="noStrike" kern="1200" cap="none" spc="0" normalizeH="0" baseline="0" noProof="0">
              <a:ln>
                <a:noFill/>
              </a:ln>
              <a:solidFill>
                <a:srgbClr val="000000"/>
              </a:solidFill>
              <a:effectLst/>
              <a:uLnTx/>
              <a:uFillTx/>
              <a:latin typeface="Trenda IG Text"/>
              <a:ea typeface="+mn-ea"/>
              <a:cs typeface="+mn-cs"/>
            </a:endParaRPr>
          </a:p>
        </p:txBody>
      </p:sp>
      <p:sp>
        <p:nvSpPr>
          <p:cNvPr id="44" name="Text 38"/>
          <p:cNvSpPr txBox="1"/>
          <p:nvPr/>
        </p:nvSpPr>
        <p:spPr>
          <a:xfrm>
            <a:off x="8366760" y="4956048"/>
            <a:ext cx="3136392" cy="201168"/>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0" cap="none" spc="200" normalizeH="0" baseline="0" noProof="0">
                <a:ln>
                  <a:noFill/>
                </a:ln>
                <a:solidFill>
                  <a:srgbClr val="007C8C"/>
                </a:solidFill>
                <a:effectLst/>
                <a:uLnTx/>
                <a:uFillTx/>
                <a:latin typeface="Trenda IG Text"/>
                <a:ea typeface="+mn-ea"/>
                <a:cs typeface="+mn-cs"/>
              </a:rPr>
              <a:t>FROM MEMORIAL HERMANN</a:t>
            </a:r>
            <a:endParaRPr kumimoji="0" lang="en-US" sz="900" b="0" i="0" u="none" strike="noStrike" kern="1200" cap="none" spc="0" normalizeH="0" baseline="0" noProof="0">
              <a:ln>
                <a:noFill/>
              </a:ln>
              <a:solidFill>
                <a:srgbClr val="000000"/>
              </a:solidFill>
              <a:effectLst/>
              <a:uLnTx/>
              <a:uFillTx/>
              <a:latin typeface="Trenda IG Text"/>
              <a:ea typeface="+mn-ea"/>
              <a:cs typeface="+mn-cs"/>
            </a:endParaRPr>
          </a:p>
        </p:txBody>
      </p:sp>
      <p:sp>
        <p:nvSpPr>
          <p:cNvPr id="45" name="Text 39"/>
          <p:cNvSpPr txBox="1"/>
          <p:nvPr/>
        </p:nvSpPr>
        <p:spPr>
          <a:xfrm>
            <a:off x="8366760" y="5175504"/>
            <a:ext cx="3090672" cy="4572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000000"/>
                </a:solidFill>
                <a:effectLst/>
                <a:uLnTx/>
                <a:uFillTx/>
                <a:latin typeface="Trenda IG Text"/>
                <a:ea typeface="+mn-ea"/>
                <a:cs typeface="+mn-cs"/>
              </a:rPr>
              <a:t>A product owner, plus an Epic and app contact from Lucky Rai’s team</a:t>
            </a:r>
          </a:p>
        </p:txBody>
      </p:sp>
      <p:sp>
        <p:nvSpPr>
          <p:cNvPr id="46" name="Text 40"/>
          <p:cNvSpPr txBox="1"/>
          <p:nvPr/>
        </p:nvSpPr>
        <p:spPr>
          <a:xfrm>
            <a:off x="502920" y="5897880"/>
            <a:ext cx="4023360" cy="274320"/>
          </a:xfrm>
          <a:prstGeom prst="rect">
            <a:avLst/>
          </a:prstGeom>
          <a:noFill/>
          <a:ln/>
        </p:spPr>
        <p:txBody>
          <a:bodyPr wrap="square" lIns="0" tIns="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000000"/>
                </a:solidFill>
                <a:effectLst/>
                <a:uLnTx/>
                <a:uFillTx/>
                <a:latin typeface="Trenda IG Text"/>
                <a:ea typeface="+mn-ea"/>
                <a:cs typeface="+mn-cs"/>
              </a:rPr>
              <a:t>5 people  ·  12 sprints  ·  24 weeks</a:t>
            </a:r>
            <a:endParaRPr kumimoji="0" lang="en-US" sz="1300" b="0" i="0" u="none" strike="noStrike" kern="1200" cap="none" spc="0" normalizeH="0" baseline="0" noProof="0">
              <a:ln>
                <a:noFill/>
              </a:ln>
              <a:solidFill>
                <a:srgbClr val="000000"/>
              </a:solidFill>
              <a:effectLst/>
              <a:uLnTx/>
              <a:uFillTx/>
              <a:latin typeface="Trenda IG Text"/>
              <a:ea typeface="+mn-ea"/>
              <a:cs typeface="+mn-cs"/>
            </a:endParaRPr>
          </a:p>
        </p:txBody>
      </p:sp>
      <p:sp>
        <p:nvSpPr>
          <p:cNvPr id="47" name="Slide Number Placeholder 0"/>
          <p:cNvSpPr>
            <a:spLocks noGrp="1"/>
          </p:cNvSpPr>
          <p:nvPr>
            <p:ph type="sldNum" sz="quarter" idx="4294967295"/>
          </p:nvPr>
        </p:nvSpPr>
        <p:spPr>
          <a:xfrm>
            <a:off x="11292840" y="6336792"/>
            <a:ext cx="457200" cy="22860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tx1"/>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900" b="0" i="0" u="none" strike="noStrike" kern="1200" cap="none" spc="0" normalizeH="0" baseline="0" noProof="0">
                <a:ln>
                  <a:noFill/>
                </a:ln>
                <a:solidFill>
                  <a:srgbClr val="000000"/>
                </a:solidFill>
                <a:effectLst/>
                <a:uLnTx/>
                <a:uFillTx/>
                <a:latin typeface="Trenda IG Tex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US" sz="900" b="0" i="0" u="none" strike="noStrike" kern="1200" cap="none" spc="0" normalizeH="0" baseline="0" noProof="0">
              <a:ln>
                <a:noFill/>
              </a:ln>
              <a:solidFill>
                <a:srgbClr val="000000"/>
              </a:solidFill>
              <a:effectLst/>
              <a:uLnTx/>
              <a:uFillTx/>
              <a:latin typeface="Trenda IG Text"/>
              <a:ea typeface="+mn-ea"/>
              <a:cs typeface="+mn-cs"/>
            </a:endParaRPr>
          </a:p>
        </p:txBody>
      </p:sp>
    </p:spTree>
    <p:extLst>
      <p:ext uri="{BB962C8B-B14F-4D97-AF65-F5344CB8AC3E}">
        <p14:creationId xmlns:p14="http://schemas.microsoft.com/office/powerpoint/2010/main" val="117260906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02920" y="658368"/>
            <a:ext cx="11185855" cy="822960"/>
          </a:xfrm>
          <a:prstGeom prst="rect">
            <a:avLst/>
          </a:prstGeom>
          <a:noFill/>
          <a:ln/>
        </p:spPr>
        <p:txBody>
          <a:bodyPr wrap="square" lIns="0" tIns="0" rIns="0" bIns="0" rtlCol="0" anchor="t"/>
          <a:lstStyle/>
          <a:p>
            <a:pPr marL="0" indent="0" algn="l">
              <a:buNone/>
            </a:pPr>
            <a:r>
              <a:rPr lang="en-US" sz="3200" b="1">
                <a:solidFill>
                  <a:schemeClr val="tx1"/>
                </a:solidFill>
              </a:rPr>
              <a:t>What each phase delivers</a:t>
            </a:r>
            <a:endParaRPr lang="en-US" sz="3200"/>
          </a:p>
        </p:txBody>
      </p:sp>
      <p:sp>
        <p:nvSpPr>
          <p:cNvPr id="3" name="Text 1"/>
          <p:cNvSpPr txBox="1"/>
          <p:nvPr/>
        </p:nvSpPr>
        <p:spPr>
          <a:xfrm>
            <a:off x="576072" y="1554480"/>
            <a:ext cx="1865376" cy="384048"/>
          </a:xfrm>
          <a:prstGeom prst="rect">
            <a:avLst/>
          </a:prstGeom>
          <a:noFill/>
          <a:ln/>
        </p:spPr>
        <p:txBody>
          <a:bodyPr wrap="square" lIns="0" tIns="0" rIns="0" bIns="0" rtlCol="0" anchor="b"/>
          <a:lstStyle/>
          <a:p>
            <a:pPr marL="0" indent="0">
              <a:buNone/>
            </a:pPr>
            <a:endParaRPr lang="en-US" sz="1500"/>
          </a:p>
        </p:txBody>
      </p:sp>
      <p:sp>
        <p:nvSpPr>
          <p:cNvPr id="4" name="Text 2"/>
          <p:cNvSpPr txBox="1"/>
          <p:nvPr/>
        </p:nvSpPr>
        <p:spPr>
          <a:xfrm>
            <a:off x="2587752" y="1554480"/>
            <a:ext cx="4425696" cy="384048"/>
          </a:xfrm>
          <a:prstGeom prst="rect">
            <a:avLst/>
          </a:prstGeom>
          <a:noFill/>
          <a:ln/>
        </p:spPr>
        <p:txBody>
          <a:bodyPr wrap="square" lIns="0" tIns="0" rIns="0" bIns="0" rtlCol="0" anchor="b"/>
          <a:lstStyle/>
          <a:p>
            <a:pPr marL="0" indent="0">
              <a:buNone/>
            </a:pPr>
            <a:r>
              <a:rPr lang="en-US" sz="1500" b="1">
                <a:solidFill>
                  <a:schemeClr val="tx1"/>
                </a:solidFill>
              </a:rPr>
              <a:t>Phase 1  ·  Classes and events</a:t>
            </a:r>
            <a:endParaRPr lang="en-US" sz="1500"/>
          </a:p>
        </p:txBody>
      </p:sp>
      <p:sp>
        <p:nvSpPr>
          <p:cNvPr id="5" name="Text 3"/>
          <p:cNvSpPr txBox="1"/>
          <p:nvPr/>
        </p:nvSpPr>
        <p:spPr>
          <a:xfrm>
            <a:off x="7159752" y="1554480"/>
            <a:ext cx="4453128" cy="384048"/>
          </a:xfrm>
          <a:prstGeom prst="rect">
            <a:avLst/>
          </a:prstGeom>
          <a:noFill/>
          <a:ln/>
        </p:spPr>
        <p:txBody>
          <a:bodyPr wrap="square" lIns="0" tIns="0" rIns="0" bIns="0" rtlCol="0" anchor="b"/>
          <a:lstStyle/>
          <a:p>
            <a:pPr marL="0" indent="0">
              <a:buNone/>
            </a:pPr>
            <a:r>
              <a:rPr lang="en-US" sz="1500" b="1">
                <a:solidFill>
                  <a:schemeClr val="tx1"/>
                </a:solidFill>
              </a:rPr>
              <a:t>Phase 2  ·  Conferences and sessions</a:t>
            </a:r>
            <a:endParaRPr lang="en-US" sz="1500"/>
          </a:p>
        </p:txBody>
      </p:sp>
      <p:sp>
        <p:nvSpPr>
          <p:cNvPr id="6" name="Shape 4"/>
          <p:cNvSpPr/>
          <p:nvPr/>
        </p:nvSpPr>
        <p:spPr>
          <a:xfrm>
            <a:off x="502920" y="2011680"/>
            <a:ext cx="11183112" cy="0"/>
          </a:xfrm>
          <a:prstGeom prst="line">
            <a:avLst/>
          </a:prstGeom>
          <a:noFill/>
          <a:ln w="19050">
            <a:solidFill>
              <a:schemeClr val="tx1"/>
            </a:solidFill>
            <a:prstDash val="solid"/>
          </a:ln>
        </p:spPr>
        <p:txBody>
          <a:bodyPr/>
          <a:lstStyle/>
          <a:p>
            <a:endParaRPr lang="en-IN"/>
          </a:p>
        </p:txBody>
      </p:sp>
      <p:sp>
        <p:nvSpPr>
          <p:cNvPr id="7" name="Text 5"/>
          <p:cNvSpPr txBox="1"/>
          <p:nvPr/>
        </p:nvSpPr>
        <p:spPr>
          <a:xfrm>
            <a:off x="576072" y="2084832"/>
            <a:ext cx="1865376" cy="438912"/>
          </a:xfrm>
          <a:prstGeom prst="rect">
            <a:avLst/>
          </a:prstGeom>
          <a:noFill/>
          <a:ln/>
        </p:spPr>
        <p:txBody>
          <a:bodyPr wrap="square" lIns="0" tIns="0" rIns="0" bIns="0" rtlCol="0" anchor="ctr"/>
          <a:lstStyle/>
          <a:p>
            <a:pPr marL="0" indent="0">
              <a:buNone/>
            </a:pPr>
            <a:r>
              <a:rPr lang="en-US" sz="1300" b="1">
                <a:solidFill>
                  <a:schemeClr val="tx1"/>
                </a:solidFill>
              </a:rPr>
              <a:t>Scope</a:t>
            </a:r>
            <a:endParaRPr lang="en-US" sz="1300"/>
          </a:p>
        </p:txBody>
      </p:sp>
      <p:sp>
        <p:nvSpPr>
          <p:cNvPr id="8" name="Text 6"/>
          <p:cNvSpPr txBox="1"/>
          <p:nvPr/>
        </p:nvSpPr>
        <p:spPr>
          <a:xfrm>
            <a:off x="2587752" y="2084832"/>
            <a:ext cx="4425696" cy="438912"/>
          </a:xfrm>
          <a:prstGeom prst="rect">
            <a:avLst/>
          </a:prstGeom>
          <a:noFill/>
          <a:ln/>
        </p:spPr>
        <p:txBody>
          <a:bodyPr wrap="square" lIns="0" tIns="0" rIns="0" bIns="0" rtlCol="0" anchor="ctr"/>
          <a:lstStyle/>
          <a:p>
            <a:pPr marL="0" indent="0">
              <a:buNone/>
            </a:pPr>
            <a:r>
              <a:rPr lang="en-US" sz="1300">
                <a:solidFill>
                  <a:srgbClr val="4D4D4D"/>
                </a:solidFill>
              </a:rPr>
              <a:t>Event catalog, recurring classes, capacity and waitlists</a:t>
            </a:r>
            <a:endParaRPr lang="en-US" sz="1300"/>
          </a:p>
        </p:txBody>
      </p:sp>
      <p:sp>
        <p:nvSpPr>
          <p:cNvPr id="9" name="Text 7"/>
          <p:cNvSpPr txBox="1"/>
          <p:nvPr/>
        </p:nvSpPr>
        <p:spPr>
          <a:xfrm>
            <a:off x="7159752" y="2084832"/>
            <a:ext cx="4453128" cy="438912"/>
          </a:xfrm>
          <a:prstGeom prst="rect">
            <a:avLst/>
          </a:prstGeom>
          <a:noFill/>
          <a:ln/>
        </p:spPr>
        <p:txBody>
          <a:bodyPr wrap="square" lIns="0" tIns="0" rIns="0" bIns="0" rtlCol="0" anchor="ctr"/>
          <a:lstStyle/>
          <a:p>
            <a:pPr marL="0" indent="0">
              <a:buNone/>
            </a:pPr>
            <a:r>
              <a:rPr lang="en-US" sz="1300">
                <a:solidFill>
                  <a:srgbClr val="4D4D4D"/>
                </a:solidFill>
              </a:rPr>
              <a:t>Multi-day agenda, tracks, rooms and session capacity</a:t>
            </a:r>
            <a:endParaRPr lang="en-US" sz="1300"/>
          </a:p>
        </p:txBody>
      </p:sp>
      <p:sp>
        <p:nvSpPr>
          <p:cNvPr id="10" name="Shape 8"/>
          <p:cNvSpPr/>
          <p:nvPr/>
        </p:nvSpPr>
        <p:spPr>
          <a:xfrm>
            <a:off x="502920" y="2560320"/>
            <a:ext cx="11183112" cy="0"/>
          </a:xfrm>
          <a:prstGeom prst="line">
            <a:avLst/>
          </a:prstGeom>
          <a:noFill/>
          <a:ln w="9525">
            <a:solidFill>
              <a:srgbClr val="8C8C8C"/>
            </a:solidFill>
            <a:prstDash val="sysDot"/>
          </a:ln>
        </p:spPr>
        <p:txBody>
          <a:bodyPr/>
          <a:lstStyle/>
          <a:p>
            <a:endParaRPr lang="en-IN"/>
          </a:p>
        </p:txBody>
      </p:sp>
      <p:sp>
        <p:nvSpPr>
          <p:cNvPr id="11" name="Text 9"/>
          <p:cNvSpPr txBox="1"/>
          <p:nvPr/>
        </p:nvSpPr>
        <p:spPr>
          <a:xfrm>
            <a:off x="576072" y="2633472"/>
            <a:ext cx="1865376" cy="438912"/>
          </a:xfrm>
          <a:prstGeom prst="rect">
            <a:avLst/>
          </a:prstGeom>
          <a:noFill/>
          <a:ln/>
        </p:spPr>
        <p:txBody>
          <a:bodyPr wrap="square" lIns="0" tIns="0" rIns="0" bIns="0" rtlCol="0" anchor="ctr"/>
          <a:lstStyle/>
          <a:p>
            <a:pPr marL="0" indent="0">
              <a:buNone/>
            </a:pPr>
            <a:r>
              <a:rPr lang="en-US" sz="1300" b="1">
                <a:solidFill>
                  <a:schemeClr val="tx1"/>
                </a:solidFill>
              </a:rPr>
              <a:t>Registration</a:t>
            </a:r>
            <a:endParaRPr lang="en-US" sz="1300"/>
          </a:p>
        </p:txBody>
      </p:sp>
      <p:sp>
        <p:nvSpPr>
          <p:cNvPr id="12" name="Text 10"/>
          <p:cNvSpPr txBox="1"/>
          <p:nvPr/>
        </p:nvSpPr>
        <p:spPr>
          <a:xfrm>
            <a:off x="2587752" y="2633472"/>
            <a:ext cx="4425696" cy="438912"/>
          </a:xfrm>
          <a:prstGeom prst="rect">
            <a:avLst/>
          </a:prstGeom>
          <a:noFill/>
          <a:ln/>
        </p:spPr>
        <p:txBody>
          <a:bodyPr wrap="square" lIns="0" tIns="0" rIns="0" bIns="0" rtlCol="0" anchor="ctr"/>
          <a:lstStyle/>
          <a:p>
            <a:pPr marL="0" indent="0">
              <a:buNone/>
            </a:pPr>
            <a:r>
              <a:rPr lang="en-US" sz="1300">
                <a:solidFill>
                  <a:srgbClr val="4D4D4D"/>
                </a:solidFill>
              </a:rPr>
              <a:t>Consumers and caregivers, family sign-up</a:t>
            </a:r>
            <a:endParaRPr lang="en-US" sz="1300"/>
          </a:p>
        </p:txBody>
      </p:sp>
      <p:sp>
        <p:nvSpPr>
          <p:cNvPr id="13" name="Text 11"/>
          <p:cNvSpPr txBox="1"/>
          <p:nvPr/>
        </p:nvSpPr>
        <p:spPr>
          <a:xfrm>
            <a:off x="7159752" y="2633472"/>
            <a:ext cx="4453128" cy="438912"/>
          </a:xfrm>
          <a:prstGeom prst="rect">
            <a:avLst/>
          </a:prstGeom>
          <a:noFill/>
          <a:ln/>
        </p:spPr>
        <p:txBody>
          <a:bodyPr wrap="square" lIns="0" tIns="0" rIns="0" bIns="0" rtlCol="0" anchor="ctr"/>
          <a:lstStyle/>
          <a:p>
            <a:pPr marL="0" indent="0">
              <a:buNone/>
            </a:pPr>
            <a:r>
              <a:rPr lang="en-US" sz="1300">
                <a:solidFill>
                  <a:srgbClr val="4D4D4D"/>
                </a:solidFill>
              </a:rPr>
              <a:t>Providers and guests, ticket types, My Agenda</a:t>
            </a:r>
            <a:endParaRPr lang="en-US" sz="1300"/>
          </a:p>
        </p:txBody>
      </p:sp>
      <p:sp>
        <p:nvSpPr>
          <p:cNvPr id="14" name="Shape 12"/>
          <p:cNvSpPr/>
          <p:nvPr/>
        </p:nvSpPr>
        <p:spPr>
          <a:xfrm>
            <a:off x="502920" y="3108960"/>
            <a:ext cx="11183112" cy="0"/>
          </a:xfrm>
          <a:prstGeom prst="line">
            <a:avLst/>
          </a:prstGeom>
          <a:noFill/>
          <a:ln w="9525">
            <a:solidFill>
              <a:srgbClr val="8C8C8C"/>
            </a:solidFill>
            <a:prstDash val="sysDot"/>
          </a:ln>
        </p:spPr>
        <p:txBody>
          <a:bodyPr/>
          <a:lstStyle/>
          <a:p>
            <a:endParaRPr lang="en-IN"/>
          </a:p>
        </p:txBody>
      </p:sp>
      <p:sp>
        <p:nvSpPr>
          <p:cNvPr id="15" name="Text 13"/>
          <p:cNvSpPr txBox="1"/>
          <p:nvPr/>
        </p:nvSpPr>
        <p:spPr>
          <a:xfrm>
            <a:off x="576072" y="3182112"/>
            <a:ext cx="1865376" cy="438912"/>
          </a:xfrm>
          <a:prstGeom prst="rect">
            <a:avLst/>
          </a:prstGeom>
          <a:noFill/>
          <a:ln/>
        </p:spPr>
        <p:txBody>
          <a:bodyPr wrap="square" lIns="0" tIns="0" rIns="0" bIns="0" rtlCol="0" anchor="ctr"/>
          <a:lstStyle/>
          <a:p>
            <a:pPr marL="0" indent="0">
              <a:buNone/>
            </a:pPr>
            <a:r>
              <a:rPr lang="en-US" sz="1300" b="1">
                <a:solidFill>
                  <a:schemeClr val="tx1"/>
                </a:solidFill>
              </a:rPr>
              <a:t>Payments</a:t>
            </a:r>
            <a:endParaRPr lang="en-US" sz="1300"/>
          </a:p>
        </p:txBody>
      </p:sp>
      <p:sp>
        <p:nvSpPr>
          <p:cNvPr id="16" name="Text 14"/>
          <p:cNvSpPr txBox="1"/>
          <p:nvPr/>
        </p:nvSpPr>
        <p:spPr>
          <a:xfrm>
            <a:off x="2587752" y="3182112"/>
            <a:ext cx="4425696" cy="438912"/>
          </a:xfrm>
          <a:prstGeom prst="rect">
            <a:avLst/>
          </a:prstGeom>
          <a:noFill/>
          <a:ln/>
        </p:spPr>
        <p:txBody>
          <a:bodyPr wrap="square" lIns="0" tIns="0" rIns="0" bIns="0" rtlCol="0" anchor="ctr"/>
          <a:lstStyle/>
          <a:p>
            <a:pPr marL="0" indent="0">
              <a:buNone/>
            </a:pPr>
            <a:r>
              <a:rPr lang="en-US" sz="1300">
                <a:solidFill>
                  <a:srgbClr val="4D4D4D"/>
                </a:solidFill>
              </a:rPr>
              <a:t>Chase hosted checkout, refunds, receipts</a:t>
            </a:r>
            <a:endParaRPr lang="en-US" sz="1300"/>
          </a:p>
        </p:txBody>
      </p:sp>
      <p:sp>
        <p:nvSpPr>
          <p:cNvPr id="17" name="Text 15"/>
          <p:cNvSpPr txBox="1"/>
          <p:nvPr/>
        </p:nvSpPr>
        <p:spPr>
          <a:xfrm>
            <a:off x="7159752" y="3182112"/>
            <a:ext cx="4453128" cy="438912"/>
          </a:xfrm>
          <a:prstGeom prst="rect">
            <a:avLst/>
          </a:prstGeom>
          <a:noFill/>
          <a:ln/>
        </p:spPr>
        <p:txBody>
          <a:bodyPr wrap="square" lIns="0" tIns="0" rIns="0" bIns="0" rtlCol="0" anchor="ctr"/>
          <a:lstStyle/>
          <a:p>
            <a:pPr marL="0" indent="0">
              <a:buNone/>
            </a:pPr>
            <a:r>
              <a:rPr lang="en-US" sz="1300">
                <a:solidFill>
                  <a:srgbClr val="4D4D4D"/>
                </a:solidFill>
              </a:rPr>
              <a:t>Authorize.net or one consolidated gateway</a:t>
            </a:r>
            <a:endParaRPr lang="en-US" sz="1300"/>
          </a:p>
        </p:txBody>
      </p:sp>
      <p:sp>
        <p:nvSpPr>
          <p:cNvPr id="18" name="Shape 16"/>
          <p:cNvSpPr/>
          <p:nvPr/>
        </p:nvSpPr>
        <p:spPr>
          <a:xfrm>
            <a:off x="502920" y="3657600"/>
            <a:ext cx="11183112" cy="0"/>
          </a:xfrm>
          <a:prstGeom prst="line">
            <a:avLst/>
          </a:prstGeom>
          <a:noFill/>
          <a:ln w="9525">
            <a:solidFill>
              <a:srgbClr val="8C8C8C"/>
            </a:solidFill>
            <a:prstDash val="sysDot"/>
          </a:ln>
        </p:spPr>
        <p:txBody>
          <a:bodyPr/>
          <a:lstStyle/>
          <a:p>
            <a:endParaRPr lang="en-IN"/>
          </a:p>
        </p:txBody>
      </p:sp>
      <p:sp>
        <p:nvSpPr>
          <p:cNvPr id="19" name="Text 17"/>
          <p:cNvSpPr txBox="1"/>
          <p:nvPr/>
        </p:nvSpPr>
        <p:spPr>
          <a:xfrm>
            <a:off x="576072" y="3730752"/>
            <a:ext cx="1865376" cy="438912"/>
          </a:xfrm>
          <a:prstGeom prst="rect">
            <a:avLst/>
          </a:prstGeom>
          <a:noFill/>
          <a:ln/>
        </p:spPr>
        <p:txBody>
          <a:bodyPr wrap="square" lIns="0" tIns="0" rIns="0" bIns="0" rtlCol="0" anchor="ctr"/>
          <a:lstStyle/>
          <a:p>
            <a:pPr marL="0" indent="0">
              <a:buNone/>
            </a:pPr>
            <a:r>
              <a:rPr lang="en-US" sz="1300" b="1">
                <a:solidFill>
                  <a:schemeClr val="tx1"/>
                </a:solidFill>
              </a:rPr>
              <a:t>Engagement</a:t>
            </a:r>
            <a:endParaRPr lang="en-US" sz="1300"/>
          </a:p>
        </p:txBody>
      </p:sp>
      <p:sp>
        <p:nvSpPr>
          <p:cNvPr id="20" name="Text 18"/>
          <p:cNvSpPr txBox="1"/>
          <p:nvPr/>
        </p:nvSpPr>
        <p:spPr>
          <a:xfrm>
            <a:off x="2587752" y="3730752"/>
            <a:ext cx="4425696" cy="438912"/>
          </a:xfrm>
          <a:prstGeom prst="rect">
            <a:avLst/>
          </a:prstGeom>
          <a:noFill/>
          <a:ln/>
        </p:spPr>
        <p:txBody>
          <a:bodyPr wrap="square" lIns="0" tIns="0" rIns="0" bIns="0" rtlCol="0" anchor="ctr"/>
          <a:lstStyle/>
          <a:p>
            <a:pPr marL="0" indent="0">
              <a:buNone/>
            </a:pPr>
            <a:r>
              <a:rPr lang="en-US" sz="1300">
                <a:solidFill>
                  <a:srgbClr val="4D4D4D"/>
                </a:solidFill>
              </a:rPr>
              <a:t>Confirmation and reminder journeys, QR check-in</a:t>
            </a:r>
            <a:endParaRPr lang="en-US" sz="1300"/>
          </a:p>
        </p:txBody>
      </p:sp>
      <p:sp>
        <p:nvSpPr>
          <p:cNvPr id="21" name="Text 19"/>
          <p:cNvSpPr txBox="1"/>
          <p:nvPr/>
        </p:nvSpPr>
        <p:spPr>
          <a:xfrm>
            <a:off x="7159752" y="3730752"/>
            <a:ext cx="4453128" cy="438912"/>
          </a:xfrm>
          <a:prstGeom prst="rect">
            <a:avLst/>
          </a:prstGeom>
          <a:noFill/>
          <a:ln/>
        </p:spPr>
        <p:txBody>
          <a:bodyPr wrap="square" lIns="0" tIns="0" rIns="0" bIns="0" rtlCol="0" anchor="ctr"/>
          <a:lstStyle/>
          <a:p>
            <a:pPr marL="0" indent="0">
              <a:buNone/>
            </a:pPr>
            <a:r>
              <a:rPr lang="en-US" sz="1300">
                <a:solidFill>
                  <a:srgbClr val="4D4D4D"/>
                </a:solidFill>
              </a:rPr>
              <a:t>Speaker and attendee communications, badges, CME [to confirm]</a:t>
            </a:r>
            <a:endParaRPr lang="en-US" sz="1300"/>
          </a:p>
        </p:txBody>
      </p:sp>
      <p:sp>
        <p:nvSpPr>
          <p:cNvPr id="22" name="Shape 20"/>
          <p:cNvSpPr/>
          <p:nvPr/>
        </p:nvSpPr>
        <p:spPr>
          <a:xfrm>
            <a:off x="502920" y="4206240"/>
            <a:ext cx="11183112" cy="0"/>
          </a:xfrm>
          <a:prstGeom prst="line">
            <a:avLst/>
          </a:prstGeom>
          <a:noFill/>
          <a:ln w="9525">
            <a:solidFill>
              <a:srgbClr val="8C8C8C"/>
            </a:solidFill>
            <a:prstDash val="sysDot"/>
          </a:ln>
        </p:spPr>
        <p:txBody>
          <a:bodyPr/>
          <a:lstStyle/>
          <a:p>
            <a:endParaRPr lang="en-IN"/>
          </a:p>
        </p:txBody>
      </p:sp>
      <p:sp>
        <p:nvSpPr>
          <p:cNvPr id="23" name="Text 21"/>
          <p:cNvSpPr txBox="1"/>
          <p:nvPr/>
        </p:nvSpPr>
        <p:spPr>
          <a:xfrm>
            <a:off x="576072" y="4279392"/>
            <a:ext cx="1865376" cy="438912"/>
          </a:xfrm>
          <a:prstGeom prst="rect">
            <a:avLst/>
          </a:prstGeom>
          <a:noFill/>
          <a:ln/>
        </p:spPr>
        <p:txBody>
          <a:bodyPr wrap="square" lIns="0" tIns="0" rIns="0" bIns="0" rtlCol="0" anchor="ctr"/>
          <a:lstStyle/>
          <a:p>
            <a:pPr marL="0" indent="0">
              <a:buNone/>
            </a:pPr>
            <a:r>
              <a:rPr lang="en-US" sz="1300" b="1">
                <a:solidFill>
                  <a:schemeClr val="tx1"/>
                </a:solidFill>
              </a:rPr>
              <a:t>Data</a:t>
            </a:r>
            <a:endParaRPr lang="en-US" sz="1300"/>
          </a:p>
        </p:txBody>
      </p:sp>
      <p:sp>
        <p:nvSpPr>
          <p:cNvPr id="24" name="Text 22"/>
          <p:cNvSpPr txBox="1"/>
          <p:nvPr/>
        </p:nvSpPr>
        <p:spPr>
          <a:xfrm>
            <a:off x="2587752" y="4279392"/>
            <a:ext cx="4425696" cy="438912"/>
          </a:xfrm>
          <a:prstGeom prst="rect">
            <a:avLst/>
          </a:prstGeom>
          <a:noFill/>
          <a:ln/>
        </p:spPr>
        <p:txBody>
          <a:bodyPr wrap="square" lIns="0" tIns="0" rIns="0" bIns="0" rtlCol="0" anchor="ctr"/>
          <a:lstStyle/>
          <a:p>
            <a:pPr marL="0" indent="0">
              <a:buNone/>
            </a:pPr>
            <a:r>
              <a:rPr lang="en-US" sz="1300">
                <a:solidFill>
                  <a:srgbClr val="4D4D4D"/>
                </a:solidFill>
              </a:rPr>
              <a:t>Registrants matched to Health Cloud records</a:t>
            </a:r>
            <a:endParaRPr lang="en-US" sz="1300"/>
          </a:p>
        </p:txBody>
      </p:sp>
      <p:sp>
        <p:nvSpPr>
          <p:cNvPr id="25" name="Text 23"/>
          <p:cNvSpPr txBox="1"/>
          <p:nvPr/>
        </p:nvSpPr>
        <p:spPr>
          <a:xfrm>
            <a:off x="7159752" y="4279392"/>
            <a:ext cx="4453128" cy="438912"/>
          </a:xfrm>
          <a:prstGeom prst="rect">
            <a:avLst/>
          </a:prstGeom>
          <a:noFill/>
          <a:ln/>
        </p:spPr>
        <p:txBody>
          <a:bodyPr wrap="square" lIns="0" tIns="0" rIns="0" bIns="0" rtlCol="0" anchor="ctr"/>
          <a:lstStyle/>
          <a:p>
            <a:pPr marL="0" indent="0">
              <a:buNone/>
            </a:pPr>
            <a:r>
              <a:rPr lang="en-US" sz="1300">
                <a:solidFill>
                  <a:srgbClr val="4D4D4D"/>
                </a:solidFill>
              </a:rPr>
              <a:t>Certain history migrated</a:t>
            </a:r>
            <a:endParaRPr lang="en-US" sz="1300"/>
          </a:p>
        </p:txBody>
      </p:sp>
      <p:sp>
        <p:nvSpPr>
          <p:cNvPr id="26" name="Shape 24"/>
          <p:cNvSpPr/>
          <p:nvPr/>
        </p:nvSpPr>
        <p:spPr>
          <a:xfrm>
            <a:off x="502920" y="4754880"/>
            <a:ext cx="11183112" cy="0"/>
          </a:xfrm>
          <a:prstGeom prst="line">
            <a:avLst/>
          </a:prstGeom>
          <a:noFill/>
          <a:ln w="9525">
            <a:solidFill>
              <a:srgbClr val="8C8C8C"/>
            </a:solidFill>
            <a:prstDash val="sysDot"/>
          </a:ln>
        </p:spPr>
        <p:txBody>
          <a:bodyPr/>
          <a:lstStyle/>
          <a:p>
            <a:endParaRPr lang="en-IN"/>
          </a:p>
        </p:txBody>
      </p:sp>
      <p:sp>
        <p:nvSpPr>
          <p:cNvPr id="27" name="Text 25"/>
          <p:cNvSpPr txBox="1"/>
          <p:nvPr/>
        </p:nvSpPr>
        <p:spPr>
          <a:xfrm>
            <a:off x="576072" y="4828032"/>
            <a:ext cx="1865376" cy="438912"/>
          </a:xfrm>
          <a:prstGeom prst="rect">
            <a:avLst/>
          </a:prstGeom>
          <a:noFill/>
          <a:ln/>
        </p:spPr>
        <p:txBody>
          <a:bodyPr wrap="square" lIns="0" tIns="0" rIns="0" bIns="0" rtlCol="0" anchor="ctr"/>
          <a:lstStyle/>
          <a:p>
            <a:pPr marL="0" indent="0">
              <a:buNone/>
            </a:pPr>
            <a:r>
              <a:rPr lang="en-US" sz="1300" b="1">
                <a:solidFill>
                  <a:schemeClr val="tx1"/>
                </a:solidFill>
              </a:rPr>
              <a:t>Built in</a:t>
            </a:r>
            <a:endParaRPr lang="en-US" sz="1300"/>
          </a:p>
        </p:txBody>
      </p:sp>
      <p:sp>
        <p:nvSpPr>
          <p:cNvPr id="28" name="Text 26"/>
          <p:cNvSpPr txBox="1"/>
          <p:nvPr/>
        </p:nvSpPr>
        <p:spPr>
          <a:xfrm>
            <a:off x="2587752" y="4828032"/>
            <a:ext cx="4425696" cy="438912"/>
          </a:xfrm>
          <a:prstGeom prst="rect">
            <a:avLst/>
          </a:prstGeom>
          <a:noFill/>
          <a:ln/>
        </p:spPr>
        <p:txBody>
          <a:bodyPr wrap="square" lIns="0" tIns="0" rIns="0" bIns="0" rtlCol="0" anchor="ctr"/>
          <a:lstStyle/>
          <a:p>
            <a:pPr marL="0" indent="0">
              <a:buNone/>
            </a:pPr>
            <a:r>
              <a:rPr lang="en-US" sz="1300">
                <a:solidFill>
                  <a:srgbClr val="4D4D4D"/>
                </a:solidFill>
              </a:rPr>
              <a:t>Waiting room, seat holds, encryption, monitoring</a:t>
            </a:r>
            <a:endParaRPr lang="en-US" sz="1300"/>
          </a:p>
        </p:txBody>
      </p:sp>
      <p:sp>
        <p:nvSpPr>
          <p:cNvPr id="29" name="Text 27"/>
          <p:cNvSpPr txBox="1"/>
          <p:nvPr/>
        </p:nvSpPr>
        <p:spPr>
          <a:xfrm>
            <a:off x="7159752" y="4828032"/>
            <a:ext cx="4453128" cy="438912"/>
          </a:xfrm>
          <a:prstGeom prst="rect">
            <a:avLst/>
          </a:prstGeom>
          <a:noFill/>
          <a:ln/>
        </p:spPr>
        <p:txBody>
          <a:bodyPr wrap="square" lIns="0" tIns="0" rIns="0" bIns="0" rtlCol="0" anchor="ctr"/>
          <a:lstStyle/>
          <a:p>
            <a:pPr marL="0" indent="0">
              <a:buNone/>
            </a:pPr>
            <a:r>
              <a:rPr lang="en-US" sz="1300">
                <a:solidFill>
                  <a:srgbClr val="4D4D4D"/>
                </a:solidFill>
              </a:rPr>
              <a:t>Load test before each conference opens</a:t>
            </a:r>
            <a:endParaRPr lang="en-US" sz="1300"/>
          </a:p>
        </p:txBody>
      </p:sp>
      <p:sp>
        <p:nvSpPr>
          <p:cNvPr id="30" name="Shape 28"/>
          <p:cNvSpPr/>
          <p:nvPr/>
        </p:nvSpPr>
        <p:spPr>
          <a:xfrm>
            <a:off x="502920" y="5303520"/>
            <a:ext cx="11183112" cy="0"/>
          </a:xfrm>
          <a:prstGeom prst="line">
            <a:avLst/>
          </a:prstGeom>
          <a:noFill/>
          <a:ln w="9525">
            <a:solidFill>
              <a:srgbClr val="8C8C8C"/>
            </a:solidFill>
            <a:prstDash val="sysDot"/>
          </a:ln>
        </p:spPr>
        <p:txBody>
          <a:bodyPr/>
          <a:lstStyle/>
          <a:p>
            <a:endParaRPr lang="en-IN"/>
          </a:p>
        </p:txBody>
      </p:sp>
      <p:sp>
        <p:nvSpPr>
          <p:cNvPr id="31" name="Text 29"/>
          <p:cNvSpPr txBox="1"/>
          <p:nvPr/>
        </p:nvSpPr>
        <p:spPr>
          <a:xfrm>
            <a:off x="576072" y="5376672"/>
            <a:ext cx="1865376" cy="438912"/>
          </a:xfrm>
          <a:prstGeom prst="rect">
            <a:avLst/>
          </a:prstGeom>
          <a:noFill/>
          <a:ln/>
        </p:spPr>
        <p:txBody>
          <a:bodyPr wrap="square" lIns="0" tIns="0" rIns="0" bIns="0" rtlCol="0" anchor="ctr"/>
          <a:lstStyle/>
          <a:p>
            <a:pPr marL="0" indent="0">
              <a:buNone/>
            </a:pPr>
            <a:r>
              <a:rPr lang="en-US" sz="1300" b="1">
                <a:solidFill>
                  <a:schemeClr val="tx1"/>
                </a:solidFill>
              </a:rPr>
              <a:t>Retires</a:t>
            </a:r>
            <a:endParaRPr lang="en-US" sz="1300"/>
          </a:p>
        </p:txBody>
      </p:sp>
      <p:sp>
        <p:nvSpPr>
          <p:cNvPr id="32" name="Text 30"/>
          <p:cNvSpPr txBox="1"/>
          <p:nvPr/>
        </p:nvSpPr>
        <p:spPr>
          <a:xfrm>
            <a:off x="2587752" y="5376672"/>
            <a:ext cx="4425696" cy="438912"/>
          </a:xfrm>
          <a:prstGeom prst="rect">
            <a:avLst/>
          </a:prstGeom>
          <a:noFill/>
          <a:ln/>
        </p:spPr>
        <p:txBody>
          <a:bodyPr wrap="square" lIns="0" tIns="0" rIns="0" bIns="0" rtlCol="0" anchor="ctr"/>
          <a:lstStyle/>
          <a:p>
            <a:pPr marL="0" indent="0">
              <a:buNone/>
            </a:pPr>
            <a:r>
              <a:rPr lang="en-US" sz="1300">
                <a:solidFill>
                  <a:srgbClr val="4D4D4D"/>
                </a:solidFill>
              </a:rPr>
              <a:t>Home-built class registration</a:t>
            </a:r>
            <a:endParaRPr lang="en-US" sz="1300"/>
          </a:p>
        </p:txBody>
      </p:sp>
      <p:sp>
        <p:nvSpPr>
          <p:cNvPr id="33" name="Text 31"/>
          <p:cNvSpPr txBox="1"/>
          <p:nvPr/>
        </p:nvSpPr>
        <p:spPr>
          <a:xfrm>
            <a:off x="7159752" y="5376672"/>
            <a:ext cx="4453128" cy="438912"/>
          </a:xfrm>
          <a:prstGeom prst="rect">
            <a:avLst/>
          </a:prstGeom>
          <a:noFill/>
          <a:ln/>
        </p:spPr>
        <p:txBody>
          <a:bodyPr wrap="square" lIns="0" tIns="0" rIns="0" bIns="0" rtlCol="0" anchor="ctr"/>
          <a:lstStyle/>
          <a:p>
            <a:pPr marL="0" indent="0">
              <a:buNone/>
            </a:pPr>
            <a:r>
              <a:rPr lang="en-US" sz="1300">
                <a:solidFill>
                  <a:srgbClr val="4D4D4D"/>
                </a:solidFill>
              </a:rPr>
              <a:t>Certain</a:t>
            </a:r>
            <a:endParaRPr lang="en-US" sz="1300"/>
          </a:p>
        </p:txBody>
      </p:sp>
      <p:sp>
        <p:nvSpPr>
          <p:cNvPr id="34" name="Shape 32"/>
          <p:cNvSpPr/>
          <p:nvPr/>
        </p:nvSpPr>
        <p:spPr>
          <a:xfrm>
            <a:off x="502920" y="5852160"/>
            <a:ext cx="11183112" cy="0"/>
          </a:xfrm>
          <a:prstGeom prst="line">
            <a:avLst/>
          </a:prstGeom>
          <a:noFill/>
          <a:ln w="9525">
            <a:solidFill>
              <a:srgbClr val="8C8C8C"/>
            </a:solidFill>
            <a:prstDash val="sysDot"/>
          </a:ln>
        </p:spPr>
        <p:txBody>
          <a:bodyPr/>
          <a:lstStyle/>
          <a:p>
            <a:endParaRPr lang="en-IN"/>
          </a:p>
        </p:txBody>
      </p:sp>
      <p:sp>
        <p:nvSpPr>
          <p:cNvPr id="35" name="Slide Number Placeholder 0"/>
          <p:cNvSpPr>
            <a:spLocks noGrp="1"/>
          </p:cNvSpPr>
          <p:nvPr>
            <p:ph type="sldNum" sz="quarter" idx="4294967295"/>
          </p:nvPr>
        </p:nvSpPr>
        <p:spPr>
          <a:xfrm>
            <a:off x="11292840" y="6336792"/>
            <a:ext cx="457200" cy="22860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tx1"/>
                </a:solidFill>
              </a:defRPr>
            </a:lvl1pPr>
          </a:lstStyle>
          <a:p>
            <a:pPr algn="r"/>
            <a:fld id="{F7021451-1387-4CA6-816F-3879F97B5CBC}" type="slidenum">
              <a:rPr lang="en-US" b="0"/>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914400" y="2743200"/>
            <a:ext cx="10362895" cy="1005840"/>
          </a:xfrm>
          <a:prstGeom prst="rect">
            <a:avLst/>
          </a:prstGeom>
          <a:noFill/>
          <a:ln/>
        </p:spPr>
        <p:txBody>
          <a:bodyPr wrap="square" lIns="0" tIns="0" rIns="0" bIns="0" rtlCol="0" anchor="ctr"/>
          <a:lstStyle/>
          <a:p>
            <a:pPr marL="0" indent="0" algn="ctr">
              <a:buNone/>
            </a:pPr>
            <a:r>
              <a:rPr lang="en-US" sz="4400" kern="0" spc="600">
                <a:solidFill>
                  <a:schemeClr val="bg1"/>
                </a:solidFill>
                <a:latin typeface="Trenda IG Text Light" pitchFamily="34" charset="0"/>
                <a:ea typeface="Trenda IG Text Light" pitchFamily="34" charset="-122"/>
                <a:cs typeface="Trenda IG Text Light" pitchFamily="34" charset="-120"/>
              </a:rPr>
              <a:t>03  BEYOND THE EVENT</a:t>
            </a:r>
            <a:endParaRPr lang="en-US" sz="4400"/>
          </a:p>
        </p:txBody>
      </p:sp>
      <p:sp>
        <p:nvSpPr>
          <p:cNvPr id="3" name="Text 0"/>
          <p:cNvSpPr>
            <a:spLocks noGrp="1"/>
          </p:cNvSpPr>
          <p:nvPr>
            <p:ph type="body" idx="101" hasCustomPrompt="1"/>
          </p:nvPr>
        </p:nvSpPr>
        <p:spPr>
          <a:xfrm>
            <a:off x="1371600" y="3840480"/>
            <a:ext cx="9448495" cy="548640"/>
          </a:xfrm>
          <a:prstGeom prst="rect">
            <a:avLst/>
          </a:prstGeom>
          <a:noFill/>
          <a:ln/>
        </p:spPr>
        <p:txBody>
          <a:bodyPr wrap="square" lIns="0" tIns="0" rIns="0" bIns="0" rtlCol="0"/>
          <a:lstStyle/>
          <a:p>
            <a:pPr marL="0" indent="0" algn="ctr">
              <a:buNone/>
            </a:pPr>
            <a:r>
              <a:rPr lang="en-US" sz="1800">
                <a:solidFill>
                  <a:schemeClr val="bg1"/>
                </a:solidFill>
              </a:rPr>
              <a:t>Turn every registration into a lasting relationship</a:t>
            </a:r>
            <a:endParaRPr lang="en-US" sz="180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502920" y="2286000"/>
            <a:ext cx="5120640" cy="2377440"/>
          </a:xfrm>
          <a:prstGeom prst="rect">
            <a:avLst/>
          </a:prstGeom>
          <a:noFill/>
          <a:ln/>
        </p:spPr>
        <p:txBody>
          <a:bodyPr wrap="square" lIns="0" tIns="0" rIns="0" bIns="0" rtlCol="0" anchor="t"/>
          <a:lstStyle/>
          <a:p>
            <a:pPr marL="0" indent="0">
              <a:buNone/>
            </a:pPr>
            <a:r>
              <a:rPr lang="en-US" sz="3000">
                <a:solidFill>
                  <a:schemeClr val="bg1"/>
                </a:solidFill>
                <a:latin typeface="Trenda IG Text Light" pitchFamily="34" charset="0"/>
                <a:ea typeface="Trenda IG Text Light" pitchFamily="34" charset="-122"/>
                <a:cs typeface="Trenda IG Text Light" pitchFamily="34" charset="-120"/>
              </a:rPr>
              <a:t>Every registration tells you what a person cares about. Use it to bring them back and into the network.</a:t>
            </a:r>
            <a:endParaRPr lang="en-US" sz="3000"/>
          </a:p>
        </p:txBody>
      </p:sp>
      <p:sp>
        <p:nvSpPr>
          <p:cNvPr id="3" name="Text 1"/>
          <p:cNvSpPr txBox="1"/>
          <p:nvPr/>
        </p:nvSpPr>
        <p:spPr>
          <a:xfrm>
            <a:off x="5989320" y="1005840"/>
            <a:ext cx="2834640" cy="777240"/>
          </a:xfrm>
          <a:prstGeom prst="rect">
            <a:avLst/>
          </a:prstGeom>
          <a:noFill/>
          <a:ln/>
        </p:spPr>
        <p:txBody>
          <a:bodyPr wrap="square" lIns="0" tIns="0" rIns="0" bIns="0" rtlCol="0" anchor="t"/>
          <a:lstStyle/>
          <a:p>
            <a:pPr marL="0" indent="0">
              <a:buNone/>
            </a:pPr>
            <a:r>
              <a:rPr lang="en-US" sz="3400">
                <a:solidFill>
                  <a:schemeClr val="accent1"/>
                </a:solidFill>
                <a:latin typeface="Trenda IG Text Light" pitchFamily="34" charset="0"/>
                <a:ea typeface="Trenda IG Text Light" pitchFamily="34" charset="-122"/>
                <a:cs typeface="Trenda IG Text Light" pitchFamily="34" charset="-120"/>
              </a:rPr>
              <a:t>1 profile</a:t>
            </a:r>
            <a:endParaRPr lang="en-US" sz="3400"/>
          </a:p>
        </p:txBody>
      </p:sp>
      <p:sp>
        <p:nvSpPr>
          <p:cNvPr id="4" name="Text 2"/>
          <p:cNvSpPr txBox="1"/>
          <p:nvPr/>
        </p:nvSpPr>
        <p:spPr>
          <a:xfrm>
            <a:off x="5989320" y="1874520"/>
            <a:ext cx="2514600" cy="914400"/>
          </a:xfrm>
          <a:prstGeom prst="rect">
            <a:avLst/>
          </a:prstGeom>
          <a:noFill/>
          <a:ln/>
        </p:spPr>
        <p:txBody>
          <a:bodyPr wrap="square" lIns="0" tIns="0" rIns="0" bIns="0" rtlCol="0" anchor="t"/>
          <a:lstStyle/>
          <a:p>
            <a:pPr marL="0" indent="0">
              <a:buNone/>
            </a:pPr>
            <a:r>
              <a:rPr lang="en-US" sz="1400">
                <a:solidFill>
                  <a:schemeClr val="bg1"/>
                </a:solidFill>
              </a:rPr>
              <a:t>Every registrant, caregiver and provider in one Salesforce record</a:t>
            </a:r>
            <a:endParaRPr lang="en-US" sz="1400"/>
          </a:p>
        </p:txBody>
      </p:sp>
      <p:sp>
        <p:nvSpPr>
          <p:cNvPr id="5" name="Text 3"/>
          <p:cNvSpPr txBox="1"/>
          <p:nvPr/>
        </p:nvSpPr>
        <p:spPr>
          <a:xfrm>
            <a:off x="8915400" y="1005840"/>
            <a:ext cx="2834640" cy="777240"/>
          </a:xfrm>
          <a:prstGeom prst="rect">
            <a:avLst/>
          </a:prstGeom>
          <a:noFill/>
          <a:ln/>
        </p:spPr>
        <p:txBody>
          <a:bodyPr wrap="square" lIns="0" tIns="0" rIns="0" bIns="0" rtlCol="0" anchor="t"/>
          <a:lstStyle/>
          <a:p>
            <a:pPr marL="0" indent="0">
              <a:buNone/>
            </a:pPr>
            <a:r>
              <a:rPr lang="en-US" sz="3400">
                <a:solidFill>
                  <a:schemeClr val="accent1"/>
                </a:solidFill>
                <a:latin typeface="Trenda IG Text Light" pitchFamily="34" charset="0"/>
                <a:ea typeface="Trenda IG Text Light" pitchFamily="34" charset="-122"/>
                <a:cs typeface="Trenda IG Text Light" pitchFamily="34" charset="-120"/>
              </a:rPr>
              <a:t>4 PEIs</a:t>
            </a:r>
            <a:endParaRPr lang="en-US" sz="3400"/>
          </a:p>
        </p:txBody>
      </p:sp>
      <p:sp>
        <p:nvSpPr>
          <p:cNvPr id="6" name="Text 4"/>
          <p:cNvSpPr txBox="1"/>
          <p:nvPr/>
        </p:nvSpPr>
        <p:spPr>
          <a:xfrm>
            <a:off x="8915400" y="1874520"/>
            <a:ext cx="2514600" cy="914400"/>
          </a:xfrm>
          <a:prstGeom prst="rect">
            <a:avLst/>
          </a:prstGeom>
          <a:noFill/>
          <a:ln/>
        </p:spPr>
        <p:txBody>
          <a:bodyPr wrap="square" lIns="0" tIns="0" rIns="0" bIns="0" rtlCol="0" anchor="t"/>
          <a:lstStyle/>
          <a:p>
            <a:pPr marL="0" indent="0">
              <a:buNone/>
            </a:pPr>
            <a:r>
              <a:rPr lang="en-US" sz="1400">
                <a:solidFill>
                  <a:schemeClr val="bg1"/>
                </a:solidFill>
              </a:rPr>
              <a:t>Patient engagement initiatives after every class</a:t>
            </a:r>
            <a:endParaRPr lang="en-US" sz="1400"/>
          </a:p>
        </p:txBody>
      </p:sp>
      <p:sp>
        <p:nvSpPr>
          <p:cNvPr id="7" name="Text 5"/>
          <p:cNvSpPr txBox="1"/>
          <p:nvPr/>
        </p:nvSpPr>
        <p:spPr>
          <a:xfrm>
            <a:off x="5989320" y="3337560"/>
            <a:ext cx="2834640" cy="777240"/>
          </a:xfrm>
          <a:prstGeom prst="rect">
            <a:avLst/>
          </a:prstGeom>
          <a:noFill/>
          <a:ln/>
        </p:spPr>
        <p:txBody>
          <a:bodyPr wrap="square" lIns="0" tIns="0" rIns="0" bIns="0" rtlCol="0" anchor="t"/>
          <a:lstStyle/>
          <a:p>
            <a:pPr marL="0" indent="0">
              <a:buNone/>
            </a:pPr>
            <a:r>
              <a:rPr lang="en-US" sz="3400">
                <a:solidFill>
                  <a:schemeClr val="accent1"/>
                </a:solidFill>
                <a:latin typeface="Trenda IG Text Light" pitchFamily="34" charset="0"/>
                <a:ea typeface="Trenda IG Text Light" pitchFamily="34" charset="-122"/>
                <a:cs typeface="Trenda IG Text Light" pitchFamily="34" charset="-120"/>
              </a:rPr>
              <a:t>1 tap</a:t>
            </a:r>
            <a:endParaRPr lang="en-US" sz="3400"/>
          </a:p>
        </p:txBody>
      </p:sp>
      <p:sp>
        <p:nvSpPr>
          <p:cNvPr id="8" name="Text 6"/>
          <p:cNvSpPr txBox="1"/>
          <p:nvPr/>
        </p:nvSpPr>
        <p:spPr>
          <a:xfrm>
            <a:off x="5989320" y="4206240"/>
            <a:ext cx="2514600" cy="914400"/>
          </a:xfrm>
          <a:prstGeom prst="rect">
            <a:avLst/>
          </a:prstGeom>
          <a:noFill/>
          <a:ln/>
        </p:spPr>
        <p:txBody>
          <a:bodyPr wrap="square" lIns="0" tIns="0" rIns="0" bIns="0" rtlCol="0" anchor="t"/>
          <a:lstStyle/>
          <a:p>
            <a:pPr marL="0" indent="0">
              <a:buNone/>
            </a:pPr>
            <a:r>
              <a:rPr lang="en-US" sz="1400">
                <a:solidFill>
                  <a:schemeClr val="bg1"/>
                </a:solidFill>
              </a:rPr>
              <a:t>App download link at confirmation, check-in and follow-up</a:t>
            </a:r>
            <a:endParaRPr lang="en-US" sz="1400"/>
          </a:p>
        </p:txBody>
      </p:sp>
      <p:sp>
        <p:nvSpPr>
          <p:cNvPr id="9" name="Text 7"/>
          <p:cNvSpPr txBox="1"/>
          <p:nvPr/>
        </p:nvSpPr>
        <p:spPr>
          <a:xfrm>
            <a:off x="8915400" y="3337560"/>
            <a:ext cx="2834640" cy="777240"/>
          </a:xfrm>
          <a:prstGeom prst="rect">
            <a:avLst/>
          </a:prstGeom>
          <a:noFill/>
          <a:ln/>
        </p:spPr>
        <p:txBody>
          <a:bodyPr wrap="square" lIns="0" tIns="0" rIns="0" bIns="0" rtlCol="0" anchor="t"/>
          <a:lstStyle/>
          <a:p>
            <a:pPr marL="0" indent="0">
              <a:buNone/>
            </a:pPr>
            <a:r>
              <a:rPr lang="en-US" sz="3400">
                <a:solidFill>
                  <a:schemeClr val="accent1"/>
                </a:solidFill>
                <a:latin typeface="Trenda IG Text Light" pitchFamily="34" charset="0"/>
                <a:ea typeface="Trenda IG Text Light" pitchFamily="34" charset="-122"/>
                <a:cs typeface="Trenda IG Text Light" pitchFamily="34" charset="-120"/>
              </a:rPr>
              <a:t>Closed loop</a:t>
            </a:r>
            <a:endParaRPr lang="en-US" sz="3400"/>
          </a:p>
        </p:txBody>
      </p:sp>
      <p:sp>
        <p:nvSpPr>
          <p:cNvPr id="10" name="Text 8"/>
          <p:cNvSpPr txBox="1"/>
          <p:nvPr/>
        </p:nvSpPr>
        <p:spPr>
          <a:xfrm>
            <a:off x="8915400" y="4206240"/>
            <a:ext cx="2514600" cy="914400"/>
          </a:xfrm>
          <a:prstGeom prst="rect">
            <a:avLst/>
          </a:prstGeom>
          <a:noFill/>
          <a:ln/>
        </p:spPr>
        <p:txBody>
          <a:bodyPr wrap="square" lIns="0" tIns="0" rIns="0" bIns="0" rtlCol="0" anchor="t"/>
          <a:lstStyle/>
          <a:p>
            <a:pPr marL="0" indent="0">
              <a:buNone/>
            </a:pPr>
            <a:r>
              <a:rPr lang="en-US" sz="1400">
                <a:solidFill>
                  <a:schemeClr val="bg1"/>
                </a:solidFill>
              </a:rPr>
              <a:t>From class attended to visit booked, measured end to end</a:t>
            </a:r>
            <a:endParaRPr lang="en-US" sz="1400"/>
          </a:p>
        </p:txBody>
      </p:sp>
      <p:sp>
        <p:nvSpPr>
          <p:cNvPr id="11" name="Text 9"/>
          <p:cNvSpPr txBox="1"/>
          <p:nvPr/>
        </p:nvSpPr>
        <p:spPr>
          <a:xfrm>
            <a:off x="502920" y="5669280"/>
            <a:ext cx="5120640" cy="320040"/>
          </a:xfrm>
          <a:prstGeom prst="rect">
            <a:avLst/>
          </a:prstGeom>
          <a:noFill/>
          <a:ln/>
        </p:spPr>
        <p:txBody>
          <a:bodyPr wrap="square" lIns="0" tIns="0" rIns="0" bIns="0" rtlCol="0" anchor="t"/>
          <a:lstStyle/>
          <a:p>
            <a:pPr marL="0" indent="0">
              <a:buNone/>
            </a:pPr>
            <a:r>
              <a:rPr lang="en-US" sz="1200" i="1">
                <a:solidFill>
                  <a:srgbClr val="BFBFBF"/>
                </a:solidFill>
              </a:rPr>
              <a:t>Consent-based: messages go only to people who opt in at registration.</a:t>
            </a:r>
            <a:endParaRPr lang="en-US" sz="1200"/>
          </a:p>
        </p:txBody>
      </p:sp>
      <p:sp>
        <p:nvSpPr>
          <p:cNvPr id="25" name="Slide Number Placeholder 0"/>
          <p:cNvSpPr>
            <a:spLocks noGrp="1"/>
          </p:cNvSpPr>
          <p:nvPr>
            <p:ph type="sldNum" sz="quarter" idx="4294967295"/>
          </p:nvPr>
        </p:nvSpPr>
        <p:spPr>
          <a:xfrm>
            <a:off x="11292840" y="6336792"/>
            <a:ext cx="457200" cy="22860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bg1"/>
                </a:solidFill>
              </a:defRPr>
            </a:lvl1pPr>
          </a:lstStyle>
          <a:p>
            <a:pPr algn="r"/>
            <a:fld id="{F7021451-1387-4CA6-816F-3879F97B5CBC}" type="slidenum">
              <a:rPr lang="en-US" b="0"/>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02920" y="658368"/>
            <a:ext cx="11185855" cy="822960"/>
          </a:xfrm>
          <a:prstGeom prst="rect">
            <a:avLst/>
          </a:prstGeom>
          <a:noFill/>
          <a:ln/>
        </p:spPr>
        <p:txBody>
          <a:bodyPr wrap="square" lIns="0" tIns="0" rIns="0" bIns="0" rtlCol="0" anchor="t"/>
          <a:lstStyle/>
          <a:p>
            <a:pPr marL="0" indent="0" algn="l">
              <a:buNone/>
            </a:pPr>
            <a:r>
              <a:rPr lang="en-US" sz="3200" b="1">
                <a:solidFill>
                  <a:schemeClr val="tx1"/>
                </a:solidFill>
              </a:rPr>
              <a:t>After the class: patient engagement initiatives (PEIs)</a:t>
            </a:r>
            <a:endParaRPr lang="en-US" sz="3200"/>
          </a:p>
        </p:txBody>
      </p:sp>
      <p:pic>
        <p:nvPicPr>
          <p:cNvPr id="3" name="05-marketing-journey.png" descr="/home/user/presales_memorial-hermann/deck/mockups/png/05-marketing-journey.png"/>
          <p:cNvPicPr>
            <a:picLocks noChangeAspect="1"/>
          </p:cNvPicPr>
          <p:nvPr/>
        </p:nvPicPr>
        <p:blipFill>
          <a:blip r:embed="rId3"/>
          <a:stretch>
            <a:fillRect/>
          </a:stretch>
        </p:blipFill>
        <p:spPr>
          <a:xfrm>
            <a:off x="502920" y="1600200"/>
            <a:ext cx="11183112" cy="4471416"/>
          </a:xfrm>
          <a:prstGeom prst="rect">
            <a:avLst/>
          </a:prstGeom>
          <a:effectLst>
            <a:outerShdw blurRad="101600" dist="25400" dir="5400000" algn="bl" rotWithShape="0">
              <a:srgbClr val="000000">
                <a:alpha val="25000"/>
              </a:srgbClr>
            </a:outerShdw>
          </a:effectLst>
        </p:spPr>
      </p:pic>
      <p:sp>
        <p:nvSpPr>
          <p:cNvPr id="25" name="Slide Number Placeholder 0"/>
          <p:cNvSpPr>
            <a:spLocks noGrp="1"/>
          </p:cNvSpPr>
          <p:nvPr>
            <p:ph type="sldNum" sz="quarter" idx="4294967295"/>
          </p:nvPr>
        </p:nvSpPr>
        <p:spPr>
          <a:xfrm>
            <a:off x="11292840" y="6336792"/>
            <a:ext cx="457200" cy="22860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tx1"/>
                </a:solidFill>
              </a:defRPr>
            </a:lvl1pPr>
          </a:lstStyle>
          <a:p>
            <a:pPr algn="r"/>
            <a:fld id="{F7021451-1387-4CA6-816F-3879F97B5CBC}" type="slidenum">
              <a:rPr lang="en-US" b="0"/>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02920" y="658368"/>
            <a:ext cx="11185855" cy="822960"/>
          </a:xfrm>
          <a:prstGeom prst="rect">
            <a:avLst/>
          </a:prstGeom>
          <a:noFill/>
          <a:ln/>
        </p:spPr>
        <p:txBody>
          <a:bodyPr wrap="square" lIns="0" tIns="0" rIns="0" bIns="0" rtlCol="0" anchor="t"/>
          <a:lstStyle/>
          <a:p>
            <a:pPr marL="0" indent="0" algn="l">
              <a:buNone/>
            </a:pPr>
            <a:r>
              <a:rPr lang="en-US" sz="3200" b="1">
                <a:solidFill>
                  <a:schemeClr val="tx1"/>
                </a:solidFill>
              </a:rPr>
              <a:t>Campaigns built from registration data</a:t>
            </a:r>
            <a:endParaRPr lang="en-US" sz="3200"/>
          </a:p>
        </p:txBody>
      </p:sp>
      <p:sp>
        <p:nvSpPr>
          <p:cNvPr id="3" name="Text 1"/>
          <p:cNvSpPr txBox="1"/>
          <p:nvPr/>
        </p:nvSpPr>
        <p:spPr>
          <a:xfrm>
            <a:off x="576072" y="1554480"/>
            <a:ext cx="2459736" cy="384048"/>
          </a:xfrm>
          <a:prstGeom prst="rect">
            <a:avLst/>
          </a:prstGeom>
          <a:noFill/>
          <a:ln/>
        </p:spPr>
        <p:txBody>
          <a:bodyPr wrap="square" lIns="0" tIns="0" rIns="0" bIns="0" rtlCol="0" anchor="b"/>
          <a:lstStyle/>
          <a:p>
            <a:pPr marL="0" indent="0">
              <a:buNone/>
            </a:pPr>
            <a:r>
              <a:rPr lang="en-US" sz="1500" b="1">
                <a:solidFill>
                  <a:schemeClr val="tx1"/>
                </a:solidFill>
              </a:rPr>
              <a:t>After this class</a:t>
            </a:r>
            <a:endParaRPr lang="en-US" sz="1500"/>
          </a:p>
        </p:txBody>
      </p:sp>
      <p:sp>
        <p:nvSpPr>
          <p:cNvPr id="4" name="Text 2"/>
          <p:cNvSpPr txBox="1"/>
          <p:nvPr/>
        </p:nvSpPr>
        <p:spPr>
          <a:xfrm>
            <a:off x="3182112" y="1554480"/>
            <a:ext cx="4608576" cy="384048"/>
          </a:xfrm>
          <a:prstGeom prst="rect">
            <a:avLst/>
          </a:prstGeom>
          <a:noFill/>
          <a:ln/>
        </p:spPr>
        <p:txBody>
          <a:bodyPr wrap="square" lIns="0" tIns="0" rIns="0" bIns="0" rtlCol="0" anchor="b"/>
          <a:lstStyle/>
          <a:p>
            <a:pPr marL="0" indent="0">
              <a:buNone/>
            </a:pPr>
            <a:r>
              <a:rPr lang="en-US" sz="1500" b="1">
                <a:solidFill>
                  <a:schemeClr val="tx1"/>
                </a:solidFill>
              </a:rPr>
              <a:t>Follow-up PEIs</a:t>
            </a:r>
            <a:endParaRPr lang="en-US" sz="1500"/>
          </a:p>
        </p:txBody>
      </p:sp>
      <p:sp>
        <p:nvSpPr>
          <p:cNvPr id="5" name="Text 3"/>
          <p:cNvSpPr txBox="1"/>
          <p:nvPr/>
        </p:nvSpPr>
        <p:spPr>
          <a:xfrm>
            <a:off x="7936992" y="1554480"/>
            <a:ext cx="3675888" cy="384048"/>
          </a:xfrm>
          <a:prstGeom prst="rect">
            <a:avLst/>
          </a:prstGeom>
          <a:noFill/>
          <a:ln/>
        </p:spPr>
        <p:txBody>
          <a:bodyPr wrap="square" lIns="0" tIns="0" rIns="0" bIns="0" rtlCol="0" anchor="b"/>
          <a:lstStyle/>
          <a:p>
            <a:pPr marL="0" indent="0">
              <a:buNone/>
            </a:pPr>
            <a:r>
              <a:rPr lang="en-US" sz="1500" b="1">
                <a:solidFill>
                  <a:schemeClr val="tx1"/>
                </a:solidFill>
              </a:rPr>
              <a:t>Network outcome</a:t>
            </a:r>
            <a:endParaRPr lang="en-US" sz="1500"/>
          </a:p>
        </p:txBody>
      </p:sp>
      <p:sp>
        <p:nvSpPr>
          <p:cNvPr id="6" name="Shape 4"/>
          <p:cNvSpPr/>
          <p:nvPr/>
        </p:nvSpPr>
        <p:spPr>
          <a:xfrm>
            <a:off x="502920" y="2011680"/>
            <a:ext cx="11183112" cy="0"/>
          </a:xfrm>
          <a:prstGeom prst="line">
            <a:avLst/>
          </a:prstGeom>
          <a:noFill/>
          <a:ln w="19050">
            <a:solidFill>
              <a:schemeClr val="tx1"/>
            </a:solidFill>
            <a:prstDash val="solid"/>
          </a:ln>
        </p:spPr>
        <p:txBody>
          <a:bodyPr/>
          <a:lstStyle/>
          <a:p>
            <a:endParaRPr lang="en-IN"/>
          </a:p>
        </p:txBody>
      </p:sp>
      <p:sp>
        <p:nvSpPr>
          <p:cNvPr id="7" name="Text 5"/>
          <p:cNvSpPr txBox="1"/>
          <p:nvPr/>
        </p:nvSpPr>
        <p:spPr>
          <a:xfrm>
            <a:off x="576072" y="2084832"/>
            <a:ext cx="2459736" cy="603504"/>
          </a:xfrm>
          <a:prstGeom prst="rect">
            <a:avLst/>
          </a:prstGeom>
          <a:noFill/>
          <a:ln/>
        </p:spPr>
        <p:txBody>
          <a:bodyPr wrap="square" lIns="0" tIns="0" rIns="0" bIns="0" rtlCol="0" anchor="ctr"/>
          <a:lstStyle/>
          <a:p>
            <a:pPr marL="0" indent="0">
              <a:buNone/>
            </a:pPr>
            <a:r>
              <a:rPr lang="en-US" sz="1300" b="1">
                <a:solidFill>
                  <a:schemeClr val="tx1"/>
                </a:solidFill>
              </a:rPr>
              <a:t>Labor and delivery prep</a:t>
            </a:r>
            <a:endParaRPr lang="en-US" sz="1300"/>
          </a:p>
        </p:txBody>
      </p:sp>
      <p:sp>
        <p:nvSpPr>
          <p:cNvPr id="8" name="Text 6"/>
          <p:cNvSpPr txBox="1"/>
          <p:nvPr/>
        </p:nvSpPr>
        <p:spPr>
          <a:xfrm>
            <a:off x="3182112" y="2084832"/>
            <a:ext cx="4608576" cy="603504"/>
          </a:xfrm>
          <a:prstGeom prst="rect">
            <a:avLst/>
          </a:prstGeom>
          <a:noFill/>
          <a:ln/>
        </p:spPr>
        <p:txBody>
          <a:bodyPr wrap="square" lIns="0" tIns="0" rIns="0" bIns="0" rtlCol="0" anchor="ctr"/>
          <a:lstStyle/>
          <a:p>
            <a:pPr marL="0" indent="0">
              <a:buNone/>
            </a:pPr>
            <a:r>
              <a:rPr lang="en-US" sz="1300">
                <a:solidFill>
                  <a:srgbClr val="4D4D4D"/>
                </a:solidFill>
              </a:rPr>
              <a:t>Breastfeeding and newborn classes, choose a pediatrician</a:t>
            </a:r>
            <a:endParaRPr lang="en-US" sz="1300"/>
          </a:p>
        </p:txBody>
      </p:sp>
      <p:sp>
        <p:nvSpPr>
          <p:cNvPr id="9" name="Text 7"/>
          <p:cNvSpPr txBox="1"/>
          <p:nvPr/>
        </p:nvSpPr>
        <p:spPr>
          <a:xfrm>
            <a:off x="7936992" y="2084832"/>
            <a:ext cx="3675888" cy="603504"/>
          </a:xfrm>
          <a:prstGeom prst="rect">
            <a:avLst/>
          </a:prstGeom>
          <a:noFill/>
          <a:ln/>
        </p:spPr>
        <p:txBody>
          <a:bodyPr wrap="square" lIns="0" tIns="0" rIns="0" bIns="0" rtlCol="0" anchor="ctr"/>
          <a:lstStyle/>
          <a:p>
            <a:pPr marL="0" indent="0">
              <a:buNone/>
            </a:pPr>
            <a:r>
              <a:rPr lang="en-US" sz="1300">
                <a:solidFill>
                  <a:srgbClr val="4D4D4D"/>
                </a:solidFill>
              </a:rPr>
              <a:t>Delivery at Memorial Hermann, new pediatric patients</a:t>
            </a:r>
            <a:endParaRPr lang="en-US" sz="1300"/>
          </a:p>
        </p:txBody>
      </p:sp>
      <p:sp>
        <p:nvSpPr>
          <p:cNvPr id="10" name="Shape 8"/>
          <p:cNvSpPr/>
          <p:nvPr/>
        </p:nvSpPr>
        <p:spPr>
          <a:xfrm>
            <a:off x="502920" y="2724912"/>
            <a:ext cx="11183112" cy="0"/>
          </a:xfrm>
          <a:prstGeom prst="line">
            <a:avLst/>
          </a:prstGeom>
          <a:noFill/>
          <a:ln w="9525">
            <a:solidFill>
              <a:srgbClr val="8C8C8C"/>
            </a:solidFill>
            <a:prstDash val="sysDot"/>
          </a:ln>
        </p:spPr>
        <p:txBody>
          <a:bodyPr/>
          <a:lstStyle/>
          <a:p>
            <a:endParaRPr lang="en-IN"/>
          </a:p>
        </p:txBody>
      </p:sp>
      <p:sp>
        <p:nvSpPr>
          <p:cNvPr id="11" name="Text 9"/>
          <p:cNvSpPr txBox="1"/>
          <p:nvPr/>
        </p:nvSpPr>
        <p:spPr>
          <a:xfrm>
            <a:off x="576072" y="2798064"/>
            <a:ext cx="2459736" cy="603504"/>
          </a:xfrm>
          <a:prstGeom prst="rect">
            <a:avLst/>
          </a:prstGeom>
          <a:noFill/>
          <a:ln/>
        </p:spPr>
        <p:txBody>
          <a:bodyPr wrap="square" lIns="0" tIns="0" rIns="0" bIns="0" rtlCol="0" anchor="ctr"/>
          <a:lstStyle/>
          <a:p>
            <a:pPr marL="0" indent="0">
              <a:buNone/>
            </a:pPr>
            <a:r>
              <a:rPr lang="en-US" sz="1300" b="1">
                <a:solidFill>
                  <a:schemeClr val="tx1"/>
                </a:solidFill>
              </a:rPr>
              <a:t>Maternity hospital tour</a:t>
            </a:r>
            <a:endParaRPr lang="en-US" sz="1300"/>
          </a:p>
        </p:txBody>
      </p:sp>
      <p:sp>
        <p:nvSpPr>
          <p:cNvPr id="12" name="Text 10"/>
          <p:cNvSpPr txBox="1"/>
          <p:nvPr/>
        </p:nvSpPr>
        <p:spPr>
          <a:xfrm>
            <a:off x="3182112" y="2798064"/>
            <a:ext cx="4608576" cy="603504"/>
          </a:xfrm>
          <a:prstGeom prst="rect">
            <a:avLst/>
          </a:prstGeom>
          <a:noFill/>
          <a:ln/>
        </p:spPr>
        <p:txBody>
          <a:bodyPr wrap="square" lIns="0" tIns="0" rIns="0" bIns="0" rtlCol="0" anchor="ctr"/>
          <a:lstStyle/>
          <a:p>
            <a:pPr marL="0" indent="0">
              <a:buNone/>
            </a:pPr>
            <a:r>
              <a:rPr lang="en-US" sz="1300">
                <a:solidFill>
                  <a:srgbClr val="4D4D4D"/>
                </a:solidFill>
              </a:rPr>
              <a:t>Pre-register for delivery, prenatal class bundle</a:t>
            </a:r>
            <a:endParaRPr lang="en-US" sz="1300"/>
          </a:p>
        </p:txBody>
      </p:sp>
      <p:sp>
        <p:nvSpPr>
          <p:cNvPr id="13" name="Text 11"/>
          <p:cNvSpPr txBox="1"/>
          <p:nvPr/>
        </p:nvSpPr>
        <p:spPr>
          <a:xfrm>
            <a:off x="7936992" y="2798064"/>
            <a:ext cx="3675888" cy="603504"/>
          </a:xfrm>
          <a:prstGeom prst="rect">
            <a:avLst/>
          </a:prstGeom>
          <a:noFill/>
          <a:ln/>
        </p:spPr>
        <p:txBody>
          <a:bodyPr wrap="square" lIns="0" tIns="0" rIns="0" bIns="0" rtlCol="0" anchor="ctr"/>
          <a:lstStyle/>
          <a:p>
            <a:pPr marL="0" indent="0">
              <a:buNone/>
            </a:pPr>
            <a:r>
              <a:rPr lang="en-US" sz="1300">
                <a:solidFill>
                  <a:srgbClr val="4D4D4D"/>
                </a:solidFill>
              </a:rPr>
              <a:t>Delivery booked at Memorial Hermann</a:t>
            </a:r>
            <a:endParaRPr lang="en-US" sz="1300"/>
          </a:p>
        </p:txBody>
      </p:sp>
      <p:sp>
        <p:nvSpPr>
          <p:cNvPr id="14" name="Shape 12"/>
          <p:cNvSpPr/>
          <p:nvPr/>
        </p:nvSpPr>
        <p:spPr>
          <a:xfrm>
            <a:off x="502920" y="3438144"/>
            <a:ext cx="11183112" cy="0"/>
          </a:xfrm>
          <a:prstGeom prst="line">
            <a:avLst/>
          </a:prstGeom>
          <a:noFill/>
          <a:ln w="9525">
            <a:solidFill>
              <a:srgbClr val="8C8C8C"/>
            </a:solidFill>
            <a:prstDash val="sysDot"/>
          </a:ln>
        </p:spPr>
        <p:txBody>
          <a:bodyPr/>
          <a:lstStyle/>
          <a:p>
            <a:endParaRPr lang="en-IN"/>
          </a:p>
        </p:txBody>
      </p:sp>
      <p:sp>
        <p:nvSpPr>
          <p:cNvPr id="15" name="Text 13"/>
          <p:cNvSpPr txBox="1"/>
          <p:nvPr/>
        </p:nvSpPr>
        <p:spPr>
          <a:xfrm>
            <a:off x="576072" y="3511296"/>
            <a:ext cx="2459736" cy="603504"/>
          </a:xfrm>
          <a:prstGeom prst="rect">
            <a:avLst/>
          </a:prstGeom>
          <a:noFill/>
          <a:ln/>
        </p:spPr>
        <p:txBody>
          <a:bodyPr wrap="square" lIns="0" tIns="0" rIns="0" bIns="0" rtlCol="0" anchor="ctr"/>
          <a:lstStyle/>
          <a:p>
            <a:pPr marL="0" indent="0">
              <a:buNone/>
            </a:pPr>
            <a:r>
              <a:rPr lang="en-US" sz="1300" b="1">
                <a:solidFill>
                  <a:schemeClr val="tx1"/>
                </a:solidFill>
              </a:rPr>
              <a:t>CPR and first aid</a:t>
            </a:r>
            <a:endParaRPr lang="en-US" sz="1300"/>
          </a:p>
        </p:txBody>
      </p:sp>
      <p:sp>
        <p:nvSpPr>
          <p:cNvPr id="16" name="Text 14"/>
          <p:cNvSpPr txBox="1"/>
          <p:nvPr/>
        </p:nvSpPr>
        <p:spPr>
          <a:xfrm>
            <a:off x="3182112" y="3511296"/>
            <a:ext cx="4608576" cy="603504"/>
          </a:xfrm>
          <a:prstGeom prst="rect">
            <a:avLst/>
          </a:prstGeom>
          <a:noFill/>
          <a:ln/>
        </p:spPr>
        <p:txBody>
          <a:bodyPr wrap="square" lIns="0" tIns="0" rIns="0" bIns="0" rtlCol="0" anchor="ctr"/>
          <a:lstStyle/>
          <a:p>
            <a:pPr marL="0" indent="0">
              <a:buNone/>
            </a:pPr>
            <a:r>
              <a:rPr lang="en-US" sz="1300">
                <a:solidFill>
                  <a:srgbClr val="4D4D4D"/>
                </a:solidFill>
              </a:rPr>
              <a:t>Heart health seminar, free screening invitation</a:t>
            </a:r>
            <a:endParaRPr lang="en-US" sz="1300"/>
          </a:p>
        </p:txBody>
      </p:sp>
      <p:sp>
        <p:nvSpPr>
          <p:cNvPr id="17" name="Text 15"/>
          <p:cNvSpPr txBox="1"/>
          <p:nvPr/>
        </p:nvSpPr>
        <p:spPr>
          <a:xfrm>
            <a:off x="7936992" y="3511296"/>
            <a:ext cx="3675888" cy="603504"/>
          </a:xfrm>
          <a:prstGeom prst="rect">
            <a:avLst/>
          </a:prstGeom>
          <a:noFill/>
          <a:ln/>
        </p:spPr>
        <p:txBody>
          <a:bodyPr wrap="square" lIns="0" tIns="0" rIns="0" bIns="0" rtlCol="0" anchor="ctr"/>
          <a:lstStyle/>
          <a:p>
            <a:pPr marL="0" indent="0">
              <a:buNone/>
            </a:pPr>
            <a:r>
              <a:rPr lang="en-US" sz="1300">
                <a:solidFill>
                  <a:srgbClr val="4D4D4D"/>
                </a:solidFill>
              </a:rPr>
              <a:t>Primary care and cardiology visits</a:t>
            </a:r>
            <a:endParaRPr lang="en-US" sz="1300"/>
          </a:p>
        </p:txBody>
      </p:sp>
      <p:sp>
        <p:nvSpPr>
          <p:cNvPr id="18" name="Shape 16"/>
          <p:cNvSpPr/>
          <p:nvPr/>
        </p:nvSpPr>
        <p:spPr>
          <a:xfrm>
            <a:off x="502920" y="4151376"/>
            <a:ext cx="11183112" cy="0"/>
          </a:xfrm>
          <a:prstGeom prst="line">
            <a:avLst/>
          </a:prstGeom>
          <a:noFill/>
          <a:ln w="9525">
            <a:solidFill>
              <a:srgbClr val="8C8C8C"/>
            </a:solidFill>
            <a:prstDash val="sysDot"/>
          </a:ln>
        </p:spPr>
        <p:txBody>
          <a:bodyPr/>
          <a:lstStyle/>
          <a:p>
            <a:endParaRPr lang="en-IN"/>
          </a:p>
        </p:txBody>
      </p:sp>
      <p:sp>
        <p:nvSpPr>
          <p:cNvPr id="19" name="Text 17"/>
          <p:cNvSpPr txBox="1"/>
          <p:nvPr/>
        </p:nvSpPr>
        <p:spPr>
          <a:xfrm>
            <a:off x="576072" y="4224528"/>
            <a:ext cx="2459736" cy="603504"/>
          </a:xfrm>
          <a:prstGeom prst="rect">
            <a:avLst/>
          </a:prstGeom>
          <a:noFill/>
          <a:ln/>
        </p:spPr>
        <p:txBody>
          <a:bodyPr wrap="square" lIns="0" tIns="0" rIns="0" bIns="0" rtlCol="0" anchor="ctr"/>
          <a:lstStyle/>
          <a:p>
            <a:pPr marL="0" indent="0">
              <a:buNone/>
            </a:pPr>
            <a:r>
              <a:rPr lang="en-US" sz="1300" b="1">
                <a:solidFill>
                  <a:schemeClr val="tx1"/>
                </a:solidFill>
              </a:rPr>
              <a:t>Support groups and seminars</a:t>
            </a:r>
            <a:endParaRPr lang="en-US" sz="1300"/>
          </a:p>
        </p:txBody>
      </p:sp>
      <p:sp>
        <p:nvSpPr>
          <p:cNvPr id="20" name="Text 18"/>
          <p:cNvSpPr txBox="1"/>
          <p:nvPr/>
        </p:nvSpPr>
        <p:spPr>
          <a:xfrm>
            <a:off x="3182112" y="4224528"/>
            <a:ext cx="4608576" cy="603504"/>
          </a:xfrm>
          <a:prstGeom prst="rect">
            <a:avLst/>
          </a:prstGeom>
          <a:noFill/>
          <a:ln/>
        </p:spPr>
        <p:txBody>
          <a:bodyPr wrap="square" lIns="0" tIns="0" rIns="0" bIns="0" rtlCol="0" anchor="ctr"/>
          <a:lstStyle/>
          <a:p>
            <a:pPr marL="0" indent="0">
              <a:buNone/>
            </a:pPr>
            <a:r>
              <a:rPr lang="en-US" sz="1300">
                <a:solidFill>
                  <a:srgbClr val="4D4D4D"/>
                </a:solidFill>
              </a:rPr>
              <a:t>Education series, specialist-led events</a:t>
            </a:r>
            <a:endParaRPr lang="en-US" sz="1300"/>
          </a:p>
        </p:txBody>
      </p:sp>
      <p:sp>
        <p:nvSpPr>
          <p:cNvPr id="21" name="Text 19"/>
          <p:cNvSpPr txBox="1"/>
          <p:nvPr/>
        </p:nvSpPr>
        <p:spPr>
          <a:xfrm>
            <a:off x="7936992" y="4224528"/>
            <a:ext cx="3675888" cy="603504"/>
          </a:xfrm>
          <a:prstGeom prst="rect">
            <a:avLst/>
          </a:prstGeom>
          <a:noFill/>
          <a:ln/>
        </p:spPr>
        <p:txBody>
          <a:bodyPr wrap="square" lIns="0" tIns="0" rIns="0" bIns="0" rtlCol="0" anchor="ctr"/>
          <a:lstStyle/>
          <a:p>
            <a:pPr marL="0" indent="0">
              <a:buNone/>
            </a:pPr>
            <a:r>
              <a:rPr lang="en-US" sz="1300">
                <a:solidFill>
                  <a:srgbClr val="4D4D4D"/>
                </a:solidFill>
              </a:rPr>
              <a:t>Ongoing specialty care relationships</a:t>
            </a:r>
            <a:endParaRPr lang="en-US" sz="1300"/>
          </a:p>
        </p:txBody>
      </p:sp>
      <p:sp>
        <p:nvSpPr>
          <p:cNvPr id="22" name="Shape 20"/>
          <p:cNvSpPr/>
          <p:nvPr/>
        </p:nvSpPr>
        <p:spPr>
          <a:xfrm>
            <a:off x="502920" y="4864608"/>
            <a:ext cx="11183112" cy="0"/>
          </a:xfrm>
          <a:prstGeom prst="line">
            <a:avLst/>
          </a:prstGeom>
          <a:noFill/>
          <a:ln w="9525">
            <a:solidFill>
              <a:srgbClr val="8C8C8C"/>
            </a:solidFill>
            <a:prstDash val="sysDot"/>
          </a:ln>
        </p:spPr>
        <p:txBody>
          <a:bodyPr/>
          <a:lstStyle/>
          <a:p>
            <a:endParaRPr lang="en-IN"/>
          </a:p>
        </p:txBody>
      </p:sp>
      <p:sp>
        <p:nvSpPr>
          <p:cNvPr id="23" name="Text 21"/>
          <p:cNvSpPr txBox="1"/>
          <p:nvPr/>
        </p:nvSpPr>
        <p:spPr>
          <a:xfrm>
            <a:off x="576072" y="4937760"/>
            <a:ext cx="2459736" cy="603504"/>
          </a:xfrm>
          <a:prstGeom prst="rect">
            <a:avLst/>
          </a:prstGeom>
          <a:noFill/>
          <a:ln/>
        </p:spPr>
        <p:txBody>
          <a:bodyPr wrap="square" lIns="0" tIns="0" rIns="0" bIns="0" rtlCol="0" anchor="ctr"/>
          <a:lstStyle/>
          <a:p>
            <a:pPr marL="0" indent="0">
              <a:buNone/>
            </a:pPr>
            <a:r>
              <a:rPr lang="en-US" sz="1300" b="1">
                <a:solidFill>
                  <a:schemeClr val="tx1"/>
                </a:solidFill>
              </a:rPr>
              <a:t>Provider conference</a:t>
            </a:r>
            <a:endParaRPr lang="en-US" sz="1300"/>
          </a:p>
        </p:txBody>
      </p:sp>
      <p:sp>
        <p:nvSpPr>
          <p:cNvPr id="24" name="Text 22"/>
          <p:cNvSpPr txBox="1"/>
          <p:nvPr/>
        </p:nvSpPr>
        <p:spPr>
          <a:xfrm>
            <a:off x="3182112" y="4937760"/>
            <a:ext cx="4608576" cy="603504"/>
          </a:xfrm>
          <a:prstGeom prst="rect">
            <a:avLst/>
          </a:prstGeom>
          <a:noFill/>
          <a:ln/>
        </p:spPr>
        <p:txBody>
          <a:bodyPr wrap="square" lIns="0" tIns="0" rIns="0" bIns="0" rtlCol="0" anchor="ctr"/>
          <a:lstStyle/>
          <a:p>
            <a:pPr marL="0" indent="0">
              <a:buNone/>
            </a:pPr>
            <a:r>
              <a:rPr lang="en-US" sz="1300">
                <a:solidFill>
                  <a:srgbClr val="4D4D4D"/>
                </a:solidFill>
              </a:rPr>
              <a:t>Next CME events, referral resources</a:t>
            </a:r>
            <a:endParaRPr lang="en-US" sz="1300"/>
          </a:p>
        </p:txBody>
      </p:sp>
      <p:sp>
        <p:nvSpPr>
          <p:cNvPr id="25" name="Text 23"/>
          <p:cNvSpPr txBox="1"/>
          <p:nvPr/>
        </p:nvSpPr>
        <p:spPr>
          <a:xfrm>
            <a:off x="7936992" y="4937760"/>
            <a:ext cx="3675888" cy="603504"/>
          </a:xfrm>
          <a:prstGeom prst="rect">
            <a:avLst/>
          </a:prstGeom>
          <a:noFill/>
          <a:ln/>
        </p:spPr>
        <p:txBody>
          <a:bodyPr wrap="square" lIns="0" tIns="0" rIns="0" bIns="0" rtlCol="0" anchor="ctr"/>
          <a:lstStyle/>
          <a:p>
            <a:pPr marL="0" indent="0">
              <a:buNone/>
            </a:pPr>
            <a:r>
              <a:rPr lang="en-US" sz="1300">
                <a:solidFill>
                  <a:srgbClr val="4D4D4D"/>
                </a:solidFill>
              </a:rPr>
              <a:t>A stronger referral network</a:t>
            </a:r>
            <a:endParaRPr lang="en-US" sz="1300"/>
          </a:p>
        </p:txBody>
      </p:sp>
      <p:sp>
        <p:nvSpPr>
          <p:cNvPr id="26" name="Shape 24"/>
          <p:cNvSpPr/>
          <p:nvPr/>
        </p:nvSpPr>
        <p:spPr>
          <a:xfrm>
            <a:off x="502920" y="5577840"/>
            <a:ext cx="11183112" cy="0"/>
          </a:xfrm>
          <a:prstGeom prst="line">
            <a:avLst/>
          </a:prstGeom>
          <a:noFill/>
          <a:ln w="9525">
            <a:solidFill>
              <a:srgbClr val="8C8C8C"/>
            </a:solidFill>
            <a:prstDash val="sysDot"/>
          </a:ln>
        </p:spPr>
        <p:txBody>
          <a:bodyPr/>
          <a:lstStyle/>
          <a:p>
            <a:endParaRPr lang="en-IN"/>
          </a:p>
        </p:txBody>
      </p:sp>
      <p:sp>
        <p:nvSpPr>
          <p:cNvPr id="27" name="Slide Number Placeholder 0"/>
          <p:cNvSpPr>
            <a:spLocks noGrp="1"/>
          </p:cNvSpPr>
          <p:nvPr>
            <p:ph type="sldNum" sz="quarter" idx="4294967295"/>
          </p:nvPr>
        </p:nvSpPr>
        <p:spPr>
          <a:xfrm>
            <a:off x="11292840" y="6336792"/>
            <a:ext cx="457200" cy="22860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tx1"/>
                </a:solidFill>
              </a:defRPr>
            </a:lvl1pPr>
          </a:lstStyle>
          <a:p>
            <a:pPr algn="r"/>
            <a:fld id="{F7021451-1387-4CA6-816F-3879F97B5CBC}" type="slidenum">
              <a:rPr lang="en-US" b="0"/>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02920" y="658368"/>
            <a:ext cx="11185855" cy="822960"/>
          </a:xfrm>
          <a:prstGeom prst="rect">
            <a:avLst/>
          </a:prstGeom>
          <a:noFill/>
          <a:ln/>
        </p:spPr>
        <p:txBody>
          <a:bodyPr wrap="square" lIns="0" tIns="0" rIns="0" bIns="0" rtlCol="0" anchor="t"/>
          <a:lstStyle/>
          <a:p>
            <a:pPr marL="0" indent="0" algn="l">
              <a:buNone/>
            </a:pPr>
            <a:r>
              <a:rPr lang="en-US" sz="3200" b="1">
                <a:solidFill>
                  <a:schemeClr val="bg1"/>
                </a:solidFill>
              </a:rPr>
              <a:t>Bring website registrants into the app</a:t>
            </a:r>
            <a:endParaRPr lang="en-US" sz="3200"/>
          </a:p>
        </p:txBody>
      </p:sp>
      <p:pic>
        <p:nvPicPr>
          <p:cNvPr id="3" name="confirmation email" descr="/home/user/presales_memorial-hermann/deck/mockups/png/06-confirmation-email.png"/>
          <p:cNvPicPr>
            <a:picLocks noChangeAspect="1"/>
          </p:cNvPicPr>
          <p:nvPr/>
        </p:nvPicPr>
        <p:blipFill>
          <a:blip r:embed="rId3"/>
          <a:stretch>
            <a:fillRect/>
          </a:stretch>
        </p:blipFill>
        <p:spPr>
          <a:xfrm>
            <a:off x="685800" y="1554480"/>
            <a:ext cx="2377440" cy="4572000"/>
          </a:xfrm>
          <a:prstGeom prst="rect">
            <a:avLst/>
          </a:prstGeom>
        </p:spPr>
      </p:pic>
      <p:sp>
        <p:nvSpPr>
          <p:cNvPr id="4" name="circle-1"/>
          <p:cNvSpPr/>
          <p:nvPr/>
        </p:nvSpPr>
        <p:spPr>
          <a:xfrm>
            <a:off x="3657600" y="1691640"/>
            <a:ext cx="420624" cy="420624"/>
          </a:xfrm>
          <a:prstGeom prst="ellipse">
            <a:avLst/>
          </a:prstGeom>
          <a:ln w="15875">
            <a:solidFill>
              <a:schemeClr val="bg1"/>
            </a:solidFill>
            <a:prstDash val="solid"/>
          </a:ln>
        </p:spPr>
        <p:txBody>
          <a:bodyPr/>
          <a:lstStyle/>
          <a:p>
            <a:endParaRPr lang="en-IN"/>
          </a:p>
        </p:txBody>
      </p:sp>
      <p:sp>
        <p:nvSpPr>
          <p:cNvPr id="5" name="Text 2"/>
          <p:cNvSpPr txBox="1"/>
          <p:nvPr/>
        </p:nvSpPr>
        <p:spPr>
          <a:xfrm>
            <a:off x="3657600" y="1691640"/>
            <a:ext cx="420624" cy="420624"/>
          </a:xfrm>
          <a:prstGeom prst="rect">
            <a:avLst/>
          </a:prstGeom>
          <a:noFill/>
          <a:ln/>
        </p:spPr>
        <p:txBody>
          <a:bodyPr wrap="square" lIns="0" tIns="0" rIns="0" bIns="0" rtlCol="0" anchor="ctr"/>
          <a:lstStyle/>
          <a:p>
            <a:pPr marL="0" indent="0" algn="ctr">
              <a:buNone/>
            </a:pPr>
            <a:r>
              <a:rPr lang="en-US" sz="1400">
                <a:solidFill>
                  <a:schemeClr val="bg1"/>
                </a:solidFill>
              </a:rPr>
              <a:t>1</a:t>
            </a:r>
            <a:endParaRPr lang="en-US" sz="1400"/>
          </a:p>
        </p:txBody>
      </p:sp>
      <p:sp>
        <p:nvSpPr>
          <p:cNvPr id="6" name="Text 3"/>
          <p:cNvSpPr txBox="1"/>
          <p:nvPr/>
        </p:nvSpPr>
        <p:spPr>
          <a:xfrm>
            <a:off x="4297680" y="1655064"/>
            <a:ext cx="6858000" cy="329184"/>
          </a:xfrm>
          <a:prstGeom prst="rect">
            <a:avLst/>
          </a:prstGeom>
          <a:noFill/>
          <a:ln/>
        </p:spPr>
        <p:txBody>
          <a:bodyPr wrap="square" lIns="0" tIns="0" rIns="0" bIns="0" rtlCol="0" anchor="t"/>
          <a:lstStyle/>
          <a:p>
            <a:pPr marL="0" indent="0">
              <a:buNone/>
            </a:pPr>
            <a:r>
              <a:rPr lang="en-US" sz="1800" b="1">
                <a:solidFill>
                  <a:schemeClr val="bg1"/>
                </a:solidFill>
              </a:rPr>
              <a:t>Confirmation email</a:t>
            </a:r>
            <a:endParaRPr lang="en-US" sz="1800"/>
          </a:p>
        </p:txBody>
      </p:sp>
      <p:sp>
        <p:nvSpPr>
          <p:cNvPr id="7" name="Text 4"/>
          <p:cNvSpPr txBox="1"/>
          <p:nvPr/>
        </p:nvSpPr>
        <p:spPr>
          <a:xfrm>
            <a:off x="4297680" y="2011680"/>
            <a:ext cx="6858000" cy="365760"/>
          </a:xfrm>
          <a:prstGeom prst="rect">
            <a:avLst/>
          </a:prstGeom>
          <a:noFill/>
          <a:ln/>
        </p:spPr>
        <p:txBody>
          <a:bodyPr wrap="square" lIns="0" tIns="0" rIns="0" bIns="0" rtlCol="0" anchor="t"/>
          <a:lstStyle/>
          <a:p>
            <a:pPr marL="0" indent="0">
              <a:buNone/>
            </a:pPr>
            <a:r>
              <a:rPr lang="en-US" sz="1400">
                <a:solidFill>
                  <a:srgbClr val="BFBFBF"/>
                </a:solidFill>
              </a:rPr>
              <a:t>App link beside the calendar invite and QR code</a:t>
            </a:r>
            <a:endParaRPr lang="en-US" sz="1400"/>
          </a:p>
        </p:txBody>
      </p:sp>
      <p:sp>
        <p:nvSpPr>
          <p:cNvPr id="8" name="circle-2"/>
          <p:cNvSpPr/>
          <p:nvPr/>
        </p:nvSpPr>
        <p:spPr>
          <a:xfrm>
            <a:off x="3657600" y="2679192"/>
            <a:ext cx="420624" cy="420624"/>
          </a:xfrm>
          <a:prstGeom prst="ellipse">
            <a:avLst/>
          </a:prstGeom>
          <a:ln w="15875">
            <a:solidFill>
              <a:schemeClr val="bg1"/>
            </a:solidFill>
            <a:prstDash val="solid"/>
          </a:ln>
        </p:spPr>
        <p:txBody>
          <a:bodyPr/>
          <a:lstStyle/>
          <a:p>
            <a:endParaRPr lang="en-IN"/>
          </a:p>
        </p:txBody>
      </p:sp>
      <p:sp>
        <p:nvSpPr>
          <p:cNvPr id="9" name="Text 6"/>
          <p:cNvSpPr txBox="1"/>
          <p:nvPr/>
        </p:nvSpPr>
        <p:spPr>
          <a:xfrm>
            <a:off x="3657600" y="2679192"/>
            <a:ext cx="420624" cy="420624"/>
          </a:xfrm>
          <a:prstGeom prst="rect">
            <a:avLst/>
          </a:prstGeom>
          <a:noFill/>
          <a:ln/>
        </p:spPr>
        <p:txBody>
          <a:bodyPr wrap="square" lIns="0" tIns="0" rIns="0" bIns="0" rtlCol="0" anchor="ctr"/>
          <a:lstStyle/>
          <a:p>
            <a:pPr marL="0" indent="0" algn="ctr">
              <a:buNone/>
            </a:pPr>
            <a:r>
              <a:rPr lang="en-US" sz="1400">
                <a:solidFill>
                  <a:schemeClr val="bg1"/>
                </a:solidFill>
              </a:rPr>
              <a:t>2</a:t>
            </a:r>
            <a:endParaRPr lang="en-US" sz="1400"/>
          </a:p>
        </p:txBody>
      </p:sp>
      <p:sp>
        <p:nvSpPr>
          <p:cNvPr id="10" name="Text 7"/>
          <p:cNvSpPr txBox="1"/>
          <p:nvPr/>
        </p:nvSpPr>
        <p:spPr>
          <a:xfrm>
            <a:off x="4297680" y="2642616"/>
            <a:ext cx="6858000" cy="329184"/>
          </a:xfrm>
          <a:prstGeom prst="rect">
            <a:avLst/>
          </a:prstGeom>
          <a:noFill/>
          <a:ln/>
        </p:spPr>
        <p:txBody>
          <a:bodyPr wrap="square" lIns="0" tIns="0" rIns="0" bIns="0" rtlCol="0" anchor="t"/>
          <a:lstStyle/>
          <a:p>
            <a:pPr marL="0" indent="0">
              <a:buNone/>
            </a:pPr>
            <a:r>
              <a:rPr lang="en-US" sz="1800" b="1">
                <a:solidFill>
                  <a:schemeClr val="bg1"/>
                </a:solidFill>
              </a:rPr>
              <a:t>Check-in</a:t>
            </a:r>
            <a:endParaRPr lang="en-US" sz="1800"/>
          </a:p>
        </p:txBody>
      </p:sp>
      <p:sp>
        <p:nvSpPr>
          <p:cNvPr id="11" name="Text 8"/>
          <p:cNvSpPr txBox="1"/>
          <p:nvPr/>
        </p:nvSpPr>
        <p:spPr>
          <a:xfrm>
            <a:off x="4297680" y="2999232"/>
            <a:ext cx="6858000" cy="365760"/>
          </a:xfrm>
          <a:prstGeom prst="rect">
            <a:avLst/>
          </a:prstGeom>
          <a:noFill/>
          <a:ln/>
        </p:spPr>
        <p:txBody>
          <a:bodyPr wrap="square" lIns="0" tIns="0" rIns="0" bIns="0" rtlCol="0" anchor="t"/>
          <a:lstStyle/>
          <a:p>
            <a:pPr marL="0" indent="0">
              <a:buNone/>
            </a:pPr>
            <a:r>
              <a:rPr lang="en-US" sz="1400">
                <a:solidFill>
                  <a:srgbClr val="BFBFBF"/>
                </a:solidFill>
              </a:rPr>
              <a:t>QR at the door and on room signage: scan to download</a:t>
            </a:r>
            <a:endParaRPr lang="en-US" sz="1400"/>
          </a:p>
        </p:txBody>
      </p:sp>
      <p:sp>
        <p:nvSpPr>
          <p:cNvPr id="12" name="circle-3"/>
          <p:cNvSpPr/>
          <p:nvPr/>
        </p:nvSpPr>
        <p:spPr>
          <a:xfrm>
            <a:off x="3657600" y="3666744"/>
            <a:ext cx="420624" cy="420624"/>
          </a:xfrm>
          <a:prstGeom prst="ellipse">
            <a:avLst/>
          </a:prstGeom>
          <a:ln w="15875">
            <a:solidFill>
              <a:schemeClr val="bg1"/>
            </a:solidFill>
            <a:prstDash val="solid"/>
          </a:ln>
        </p:spPr>
        <p:txBody>
          <a:bodyPr/>
          <a:lstStyle/>
          <a:p>
            <a:endParaRPr lang="en-IN"/>
          </a:p>
        </p:txBody>
      </p:sp>
      <p:sp>
        <p:nvSpPr>
          <p:cNvPr id="13" name="Text 10"/>
          <p:cNvSpPr txBox="1"/>
          <p:nvPr/>
        </p:nvSpPr>
        <p:spPr>
          <a:xfrm>
            <a:off x="3657600" y="3666744"/>
            <a:ext cx="420624" cy="420624"/>
          </a:xfrm>
          <a:prstGeom prst="rect">
            <a:avLst/>
          </a:prstGeom>
          <a:noFill/>
          <a:ln/>
        </p:spPr>
        <p:txBody>
          <a:bodyPr wrap="square" lIns="0" tIns="0" rIns="0" bIns="0" rtlCol="0" anchor="ctr"/>
          <a:lstStyle/>
          <a:p>
            <a:pPr marL="0" indent="0" algn="ctr">
              <a:buNone/>
            </a:pPr>
            <a:r>
              <a:rPr lang="en-US" sz="1400">
                <a:solidFill>
                  <a:schemeClr val="bg1"/>
                </a:solidFill>
              </a:rPr>
              <a:t>3</a:t>
            </a:r>
            <a:endParaRPr lang="en-US" sz="1400"/>
          </a:p>
        </p:txBody>
      </p:sp>
      <p:sp>
        <p:nvSpPr>
          <p:cNvPr id="14" name="Text 11"/>
          <p:cNvSpPr txBox="1"/>
          <p:nvPr/>
        </p:nvSpPr>
        <p:spPr>
          <a:xfrm>
            <a:off x="4297680" y="3630168"/>
            <a:ext cx="6858000" cy="329184"/>
          </a:xfrm>
          <a:prstGeom prst="rect">
            <a:avLst/>
          </a:prstGeom>
          <a:noFill/>
          <a:ln/>
        </p:spPr>
        <p:txBody>
          <a:bodyPr wrap="square" lIns="0" tIns="0" rIns="0" bIns="0" rtlCol="0" anchor="t"/>
          <a:lstStyle/>
          <a:p>
            <a:pPr marL="0" indent="0">
              <a:buNone/>
            </a:pPr>
            <a:r>
              <a:rPr lang="en-US" sz="1800" b="1">
                <a:solidFill>
                  <a:schemeClr val="bg1"/>
                </a:solidFill>
              </a:rPr>
              <a:t>SMS reminder</a:t>
            </a:r>
            <a:endParaRPr lang="en-US" sz="1800"/>
          </a:p>
        </p:txBody>
      </p:sp>
      <p:sp>
        <p:nvSpPr>
          <p:cNvPr id="15" name="Text 12"/>
          <p:cNvSpPr txBox="1"/>
          <p:nvPr/>
        </p:nvSpPr>
        <p:spPr>
          <a:xfrm>
            <a:off x="4297680" y="3986784"/>
            <a:ext cx="6858000" cy="365760"/>
          </a:xfrm>
          <a:prstGeom prst="rect">
            <a:avLst/>
          </a:prstGeom>
          <a:noFill/>
          <a:ln/>
        </p:spPr>
        <p:txBody>
          <a:bodyPr wrap="square" lIns="0" tIns="0" rIns="0" bIns="0" rtlCol="0" anchor="t"/>
          <a:lstStyle/>
          <a:p>
            <a:pPr marL="0" indent="0">
              <a:buNone/>
            </a:pPr>
            <a:r>
              <a:rPr lang="en-US" sz="1400">
                <a:solidFill>
                  <a:srgbClr val="BFBFBF"/>
                </a:solidFill>
              </a:rPr>
              <a:t>Manage or cancel your class in the app</a:t>
            </a:r>
            <a:endParaRPr lang="en-US" sz="1400"/>
          </a:p>
        </p:txBody>
      </p:sp>
      <p:sp>
        <p:nvSpPr>
          <p:cNvPr id="16" name="circle-4"/>
          <p:cNvSpPr/>
          <p:nvPr/>
        </p:nvSpPr>
        <p:spPr>
          <a:xfrm>
            <a:off x="3657600" y="4654296"/>
            <a:ext cx="420624" cy="420624"/>
          </a:xfrm>
          <a:prstGeom prst="ellipse">
            <a:avLst/>
          </a:prstGeom>
          <a:ln w="15875">
            <a:solidFill>
              <a:schemeClr val="bg1"/>
            </a:solidFill>
            <a:prstDash val="solid"/>
          </a:ln>
        </p:spPr>
        <p:txBody>
          <a:bodyPr/>
          <a:lstStyle/>
          <a:p>
            <a:endParaRPr lang="en-IN"/>
          </a:p>
        </p:txBody>
      </p:sp>
      <p:sp>
        <p:nvSpPr>
          <p:cNvPr id="17" name="Text 14"/>
          <p:cNvSpPr txBox="1"/>
          <p:nvPr/>
        </p:nvSpPr>
        <p:spPr>
          <a:xfrm>
            <a:off x="3657600" y="4654296"/>
            <a:ext cx="420624" cy="420624"/>
          </a:xfrm>
          <a:prstGeom prst="rect">
            <a:avLst/>
          </a:prstGeom>
          <a:noFill/>
          <a:ln/>
        </p:spPr>
        <p:txBody>
          <a:bodyPr wrap="square" lIns="0" tIns="0" rIns="0" bIns="0" rtlCol="0" anchor="ctr"/>
          <a:lstStyle/>
          <a:p>
            <a:pPr marL="0" indent="0" algn="ctr">
              <a:buNone/>
            </a:pPr>
            <a:r>
              <a:rPr lang="en-US" sz="1400">
                <a:solidFill>
                  <a:schemeClr val="bg1"/>
                </a:solidFill>
              </a:rPr>
              <a:t>4</a:t>
            </a:r>
            <a:endParaRPr lang="en-US" sz="1400"/>
          </a:p>
        </p:txBody>
      </p:sp>
      <p:sp>
        <p:nvSpPr>
          <p:cNvPr id="18" name="Text 15"/>
          <p:cNvSpPr txBox="1"/>
          <p:nvPr/>
        </p:nvSpPr>
        <p:spPr>
          <a:xfrm>
            <a:off x="4297680" y="4617720"/>
            <a:ext cx="6858000" cy="329184"/>
          </a:xfrm>
          <a:prstGeom prst="rect">
            <a:avLst/>
          </a:prstGeom>
          <a:noFill/>
          <a:ln/>
        </p:spPr>
        <p:txBody>
          <a:bodyPr wrap="square" lIns="0" tIns="0" rIns="0" bIns="0" rtlCol="0" anchor="t"/>
          <a:lstStyle/>
          <a:p>
            <a:pPr marL="0" indent="0">
              <a:buNone/>
            </a:pPr>
            <a:r>
              <a:rPr lang="en-US" sz="1800" b="1">
                <a:solidFill>
                  <a:schemeClr val="bg1"/>
                </a:solidFill>
              </a:rPr>
              <a:t>Post-class PEIs</a:t>
            </a:r>
            <a:endParaRPr lang="en-US" sz="1800"/>
          </a:p>
        </p:txBody>
      </p:sp>
      <p:sp>
        <p:nvSpPr>
          <p:cNvPr id="19" name="Text 16"/>
          <p:cNvSpPr txBox="1"/>
          <p:nvPr/>
        </p:nvSpPr>
        <p:spPr>
          <a:xfrm>
            <a:off x="4297680" y="4974336"/>
            <a:ext cx="6858000" cy="365760"/>
          </a:xfrm>
          <a:prstGeom prst="rect">
            <a:avLst/>
          </a:prstGeom>
          <a:noFill/>
          <a:ln/>
        </p:spPr>
        <p:txBody>
          <a:bodyPr wrap="square" lIns="0" tIns="0" rIns="0" bIns="0" rtlCol="0" anchor="t"/>
          <a:lstStyle/>
          <a:p>
            <a:pPr marL="0" indent="0">
              <a:buNone/>
            </a:pPr>
            <a:r>
              <a:rPr lang="en-US" sz="1400">
                <a:solidFill>
                  <a:srgbClr val="BFBFBF"/>
                </a:solidFill>
              </a:rPr>
              <a:t>Find a doctor, book a visit, see results in the app</a:t>
            </a:r>
            <a:endParaRPr lang="en-US" sz="1400"/>
          </a:p>
        </p:txBody>
      </p:sp>
      <p:sp>
        <p:nvSpPr>
          <p:cNvPr id="20" name="Text 17"/>
          <p:cNvSpPr txBox="1"/>
          <p:nvPr/>
        </p:nvSpPr>
        <p:spPr>
          <a:xfrm>
            <a:off x="3657600" y="5715000"/>
            <a:ext cx="7863840" cy="320040"/>
          </a:xfrm>
          <a:prstGeom prst="rect">
            <a:avLst/>
          </a:prstGeom>
          <a:noFill/>
          <a:ln/>
        </p:spPr>
        <p:txBody>
          <a:bodyPr wrap="square" lIns="0" tIns="0" rIns="0" bIns="0" rtlCol="0" anchor="t"/>
          <a:lstStyle/>
          <a:p>
            <a:pPr marL="0" indent="0">
              <a:buNone/>
            </a:pPr>
            <a:r>
              <a:rPr lang="en-US" sz="1300" i="1">
                <a:solidFill>
                  <a:schemeClr val="accent1"/>
                </a:solidFill>
              </a:rPr>
              <a:t>Tracked links show which classes and service lines drive downloads and booked visits.</a:t>
            </a:r>
            <a:endParaRPr lang="en-US" sz="1300"/>
          </a:p>
        </p:txBody>
      </p:sp>
      <p:sp>
        <p:nvSpPr>
          <p:cNvPr id="25" name="Slide Number Placeholder 0"/>
          <p:cNvSpPr>
            <a:spLocks noGrp="1"/>
          </p:cNvSpPr>
          <p:nvPr>
            <p:ph type="sldNum" sz="quarter" idx="4294967295"/>
          </p:nvPr>
        </p:nvSpPr>
        <p:spPr>
          <a:xfrm>
            <a:off x="11292840" y="6336792"/>
            <a:ext cx="457200" cy="22860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bg1"/>
                </a:solidFill>
              </a:defRPr>
            </a:lvl1pPr>
          </a:lstStyle>
          <a:p>
            <a:pPr algn="r"/>
            <a:fld id="{F7021451-1387-4CA6-816F-3879F97B5CBC}" type="slidenum">
              <a:rPr lang="en-US" b="0"/>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02920" y="658368"/>
            <a:ext cx="11185855" cy="822960"/>
          </a:xfrm>
          <a:prstGeom prst="rect">
            <a:avLst/>
          </a:prstGeom>
          <a:noFill/>
          <a:ln/>
        </p:spPr>
        <p:txBody>
          <a:bodyPr wrap="square" lIns="0" tIns="0" rIns="0" bIns="0" rtlCol="0" anchor="t"/>
          <a:lstStyle/>
          <a:p>
            <a:pPr marL="0" indent="0" algn="l">
              <a:buNone/>
            </a:pPr>
            <a:r>
              <a:rPr lang="en-US" sz="3200" b="1">
                <a:solidFill>
                  <a:schemeClr val="bg1"/>
                </a:solidFill>
              </a:rPr>
              <a:t>How we will measure success</a:t>
            </a:r>
            <a:endParaRPr lang="en-US" sz="3200"/>
          </a:p>
        </p:txBody>
      </p:sp>
      <p:sp>
        <p:nvSpPr>
          <p:cNvPr id="3" name="Text 1"/>
          <p:cNvSpPr txBox="1"/>
          <p:nvPr/>
        </p:nvSpPr>
        <p:spPr>
          <a:xfrm>
            <a:off x="502920" y="1691640"/>
            <a:ext cx="3566160" cy="685800"/>
          </a:xfrm>
          <a:prstGeom prst="rect">
            <a:avLst/>
          </a:prstGeom>
          <a:noFill/>
          <a:ln/>
        </p:spPr>
        <p:txBody>
          <a:bodyPr wrap="square" lIns="0" tIns="0" rIns="0" bIns="0" rtlCol="0" anchor="t"/>
          <a:lstStyle/>
          <a:p>
            <a:pPr marL="0" indent="0">
              <a:buNone/>
            </a:pPr>
            <a:r>
              <a:rPr lang="en-US" sz="3400">
                <a:solidFill>
                  <a:schemeClr val="accent1"/>
                </a:solidFill>
                <a:latin typeface="Trenda IG Text Light" pitchFamily="34" charset="0"/>
                <a:ea typeface="Trenda IG Text Light" pitchFamily="34" charset="-122"/>
                <a:cs typeface="Trenda IG Text Light" pitchFamily="34" charset="-120"/>
              </a:rPr>
              <a:t>Conversion</a:t>
            </a:r>
            <a:endParaRPr lang="en-US" sz="3400"/>
          </a:p>
        </p:txBody>
      </p:sp>
      <p:sp>
        <p:nvSpPr>
          <p:cNvPr id="4" name="Text 2"/>
          <p:cNvSpPr txBox="1"/>
          <p:nvPr/>
        </p:nvSpPr>
        <p:spPr>
          <a:xfrm>
            <a:off x="502920" y="2423160"/>
            <a:ext cx="3291840" cy="457200"/>
          </a:xfrm>
          <a:prstGeom prst="rect">
            <a:avLst/>
          </a:prstGeom>
          <a:noFill/>
          <a:ln/>
        </p:spPr>
        <p:txBody>
          <a:bodyPr wrap="square" lIns="0" tIns="0" rIns="0" bIns="0" rtlCol="0" anchor="t"/>
          <a:lstStyle/>
          <a:p>
            <a:pPr marL="0" indent="0">
              <a:buNone/>
            </a:pPr>
            <a:r>
              <a:rPr lang="en-US" sz="1400">
                <a:solidFill>
                  <a:schemeClr val="bg1"/>
                </a:solidFill>
              </a:rPr>
              <a:t>Visitors who complete a registration</a:t>
            </a:r>
            <a:endParaRPr lang="en-US" sz="1400"/>
          </a:p>
        </p:txBody>
      </p:sp>
      <p:sp>
        <p:nvSpPr>
          <p:cNvPr id="5" name="Text 3"/>
          <p:cNvSpPr txBox="1"/>
          <p:nvPr/>
        </p:nvSpPr>
        <p:spPr>
          <a:xfrm>
            <a:off x="502920" y="2880360"/>
            <a:ext cx="3291840" cy="274320"/>
          </a:xfrm>
          <a:prstGeom prst="rect">
            <a:avLst/>
          </a:prstGeom>
          <a:noFill/>
          <a:ln/>
        </p:spPr>
        <p:txBody>
          <a:bodyPr wrap="square" lIns="0" tIns="0" rIns="0" bIns="0" rtlCol="0" anchor="t"/>
          <a:lstStyle/>
          <a:p>
            <a:pPr marL="0" indent="0">
              <a:buNone/>
            </a:pPr>
            <a:r>
              <a:rPr lang="en-US" sz="1100" i="1">
                <a:solidFill>
                  <a:srgbClr val="BFBFBF"/>
                </a:solidFill>
              </a:rPr>
              <a:t>Baseline set in discovery</a:t>
            </a:r>
            <a:endParaRPr lang="en-US" sz="1100"/>
          </a:p>
        </p:txBody>
      </p:sp>
      <p:sp>
        <p:nvSpPr>
          <p:cNvPr id="6" name="Text 4"/>
          <p:cNvSpPr txBox="1"/>
          <p:nvPr/>
        </p:nvSpPr>
        <p:spPr>
          <a:xfrm>
            <a:off x="4297680" y="1691640"/>
            <a:ext cx="3566160" cy="685800"/>
          </a:xfrm>
          <a:prstGeom prst="rect">
            <a:avLst/>
          </a:prstGeom>
          <a:noFill/>
          <a:ln/>
        </p:spPr>
        <p:txBody>
          <a:bodyPr wrap="square" lIns="0" tIns="0" rIns="0" bIns="0" rtlCol="0" anchor="t"/>
          <a:lstStyle/>
          <a:p>
            <a:pPr marL="0" indent="0">
              <a:buNone/>
            </a:pPr>
            <a:r>
              <a:rPr lang="en-US" sz="3400">
                <a:solidFill>
                  <a:schemeClr val="accent1"/>
                </a:solidFill>
                <a:latin typeface="Trenda IG Text Light" pitchFamily="34" charset="0"/>
                <a:ea typeface="Trenda IG Text Light" pitchFamily="34" charset="-122"/>
                <a:cs typeface="Trenda IG Text Light" pitchFamily="34" charset="-120"/>
              </a:rPr>
              <a:t>Attendance</a:t>
            </a:r>
            <a:endParaRPr lang="en-US" sz="3400"/>
          </a:p>
        </p:txBody>
      </p:sp>
      <p:sp>
        <p:nvSpPr>
          <p:cNvPr id="7" name="Text 5"/>
          <p:cNvSpPr txBox="1"/>
          <p:nvPr/>
        </p:nvSpPr>
        <p:spPr>
          <a:xfrm>
            <a:off x="4297680" y="2423160"/>
            <a:ext cx="3291840" cy="457200"/>
          </a:xfrm>
          <a:prstGeom prst="rect">
            <a:avLst/>
          </a:prstGeom>
          <a:noFill/>
          <a:ln/>
        </p:spPr>
        <p:txBody>
          <a:bodyPr wrap="square" lIns="0" tIns="0" rIns="0" bIns="0" rtlCol="0" anchor="t"/>
          <a:lstStyle/>
          <a:p>
            <a:pPr marL="0" indent="0">
              <a:buNone/>
            </a:pPr>
            <a:r>
              <a:rPr lang="en-US" sz="1400">
                <a:solidFill>
                  <a:schemeClr val="bg1"/>
                </a:solidFill>
              </a:rPr>
              <a:t>Registrants who show up; fewer no-shows</a:t>
            </a:r>
            <a:endParaRPr lang="en-US" sz="1400"/>
          </a:p>
        </p:txBody>
      </p:sp>
      <p:sp>
        <p:nvSpPr>
          <p:cNvPr id="8" name="Text 6"/>
          <p:cNvSpPr txBox="1"/>
          <p:nvPr/>
        </p:nvSpPr>
        <p:spPr>
          <a:xfrm>
            <a:off x="4297680" y="2880360"/>
            <a:ext cx="3291840" cy="274320"/>
          </a:xfrm>
          <a:prstGeom prst="rect">
            <a:avLst/>
          </a:prstGeom>
          <a:noFill/>
          <a:ln/>
        </p:spPr>
        <p:txBody>
          <a:bodyPr wrap="square" lIns="0" tIns="0" rIns="0" bIns="0" rtlCol="0" anchor="t"/>
          <a:lstStyle/>
          <a:p>
            <a:pPr marL="0" indent="0">
              <a:buNone/>
            </a:pPr>
            <a:r>
              <a:rPr lang="en-US" sz="1100" i="1">
                <a:solidFill>
                  <a:srgbClr val="BFBFBF"/>
                </a:solidFill>
              </a:rPr>
              <a:t>Baseline set in discovery</a:t>
            </a:r>
            <a:endParaRPr lang="en-US" sz="1100"/>
          </a:p>
        </p:txBody>
      </p:sp>
      <p:sp>
        <p:nvSpPr>
          <p:cNvPr id="9" name="Text 7"/>
          <p:cNvSpPr txBox="1"/>
          <p:nvPr/>
        </p:nvSpPr>
        <p:spPr>
          <a:xfrm>
            <a:off x="8092440" y="1691640"/>
            <a:ext cx="3566160" cy="685800"/>
          </a:xfrm>
          <a:prstGeom prst="rect">
            <a:avLst/>
          </a:prstGeom>
          <a:noFill/>
          <a:ln/>
        </p:spPr>
        <p:txBody>
          <a:bodyPr wrap="square" lIns="0" tIns="0" rIns="0" bIns="0" rtlCol="0" anchor="t"/>
          <a:lstStyle/>
          <a:p>
            <a:pPr marL="0" indent="0">
              <a:buNone/>
            </a:pPr>
            <a:r>
              <a:rPr lang="en-US" sz="3400">
                <a:solidFill>
                  <a:schemeClr val="accent1"/>
                </a:solidFill>
                <a:latin typeface="Trenda IG Text Light" pitchFamily="34" charset="0"/>
                <a:ea typeface="Trenda IG Text Light" pitchFamily="34" charset="-122"/>
                <a:cs typeface="Trenda IG Text Light" pitchFamily="34" charset="-120"/>
              </a:rPr>
              <a:t>Engagement</a:t>
            </a:r>
            <a:endParaRPr lang="en-US" sz="3400"/>
          </a:p>
        </p:txBody>
      </p:sp>
      <p:sp>
        <p:nvSpPr>
          <p:cNvPr id="10" name="Text 8"/>
          <p:cNvSpPr txBox="1"/>
          <p:nvPr/>
        </p:nvSpPr>
        <p:spPr>
          <a:xfrm>
            <a:off x="8092440" y="2423160"/>
            <a:ext cx="3291840" cy="457200"/>
          </a:xfrm>
          <a:prstGeom prst="rect">
            <a:avLst/>
          </a:prstGeom>
          <a:noFill/>
          <a:ln/>
        </p:spPr>
        <p:txBody>
          <a:bodyPr wrap="square" lIns="0" tIns="0" rIns="0" bIns="0" rtlCol="0" anchor="t"/>
          <a:lstStyle/>
          <a:p>
            <a:pPr marL="0" indent="0">
              <a:buNone/>
            </a:pPr>
            <a:r>
              <a:rPr lang="en-US" sz="1400">
                <a:solidFill>
                  <a:schemeClr val="bg1"/>
                </a:solidFill>
              </a:rPr>
              <a:t>PEI opens, clicks and survey responses</a:t>
            </a:r>
            <a:endParaRPr lang="en-US" sz="1400"/>
          </a:p>
        </p:txBody>
      </p:sp>
      <p:sp>
        <p:nvSpPr>
          <p:cNvPr id="11" name="Text 9"/>
          <p:cNvSpPr txBox="1"/>
          <p:nvPr/>
        </p:nvSpPr>
        <p:spPr>
          <a:xfrm>
            <a:off x="8092440" y="2880360"/>
            <a:ext cx="3291840" cy="274320"/>
          </a:xfrm>
          <a:prstGeom prst="rect">
            <a:avLst/>
          </a:prstGeom>
          <a:noFill/>
          <a:ln/>
        </p:spPr>
        <p:txBody>
          <a:bodyPr wrap="square" lIns="0" tIns="0" rIns="0" bIns="0" rtlCol="0" anchor="t"/>
          <a:lstStyle/>
          <a:p>
            <a:pPr marL="0" indent="0">
              <a:buNone/>
            </a:pPr>
            <a:r>
              <a:rPr lang="en-US" sz="1100" i="1">
                <a:solidFill>
                  <a:srgbClr val="BFBFBF"/>
                </a:solidFill>
              </a:rPr>
              <a:t>Baseline set in discovery</a:t>
            </a:r>
            <a:endParaRPr lang="en-US" sz="1100"/>
          </a:p>
        </p:txBody>
      </p:sp>
      <p:sp>
        <p:nvSpPr>
          <p:cNvPr id="12" name="Text 10"/>
          <p:cNvSpPr txBox="1"/>
          <p:nvPr/>
        </p:nvSpPr>
        <p:spPr>
          <a:xfrm>
            <a:off x="502920" y="3749040"/>
            <a:ext cx="3566160" cy="685800"/>
          </a:xfrm>
          <a:prstGeom prst="rect">
            <a:avLst/>
          </a:prstGeom>
          <a:noFill/>
          <a:ln/>
        </p:spPr>
        <p:txBody>
          <a:bodyPr wrap="square" lIns="0" tIns="0" rIns="0" bIns="0" rtlCol="0" anchor="t"/>
          <a:lstStyle/>
          <a:p>
            <a:pPr marL="0" indent="0">
              <a:buNone/>
            </a:pPr>
            <a:r>
              <a:rPr lang="en-US" sz="3400">
                <a:solidFill>
                  <a:schemeClr val="accent1"/>
                </a:solidFill>
                <a:latin typeface="Trenda IG Text Light" pitchFamily="34" charset="0"/>
                <a:ea typeface="Trenda IG Text Light" pitchFamily="34" charset="-122"/>
                <a:cs typeface="Trenda IG Text Light" pitchFamily="34" charset="-120"/>
              </a:rPr>
              <a:t>Downloads</a:t>
            </a:r>
            <a:endParaRPr lang="en-US" sz="3400"/>
          </a:p>
        </p:txBody>
      </p:sp>
      <p:sp>
        <p:nvSpPr>
          <p:cNvPr id="13" name="Text 11"/>
          <p:cNvSpPr txBox="1"/>
          <p:nvPr/>
        </p:nvSpPr>
        <p:spPr>
          <a:xfrm>
            <a:off x="502920" y="4480560"/>
            <a:ext cx="3291840" cy="457200"/>
          </a:xfrm>
          <a:prstGeom prst="rect">
            <a:avLst/>
          </a:prstGeom>
          <a:noFill/>
          <a:ln/>
        </p:spPr>
        <p:txBody>
          <a:bodyPr wrap="square" lIns="0" tIns="0" rIns="0" bIns="0" rtlCol="0" anchor="t"/>
          <a:lstStyle/>
          <a:p>
            <a:pPr marL="0" indent="0">
              <a:buNone/>
            </a:pPr>
            <a:r>
              <a:rPr lang="en-US" sz="1400">
                <a:solidFill>
                  <a:schemeClr val="bg1"/>
                </a:solidFill>
              </a:rPr>
              <a:t>App installs from event links</a:t>
            </a:r>
            <a:endParaRPr lang="en-US" sz="1400"/>
          </a:p>
        </p:txBody>
      </p:sp>
      <p:sp>
        <p:nvSpPr>
          <p:cNvPr id="14" name="Text 12"/>
          <p:cNvSpPr txBox="1"/>
          <p:nvPr/>
        </p:nvSpPr>
        <p:spPr>
          <a:xfrm>
            <a:off x="502920" y="4937760"/>
            <a:ext cx="3291840" cy="274320"/>
          </a:xfrm>
          <a:prstGeom prst="rect">
            <a:avLst/>
          </a:prstGeom>
          <a:noFill/>
          <a:ln/>
        </p:spPr>
        <p:txBody>
          <a:bodyPr wrap="square" lIns="0" tIns="0" rIns="0" bIns="0" rtlCol="0" anchor="t"/>
          <a:lstStyle/>
          <a:p>
            <a:pPr marL="0" indent="0">
              <a:buNone/>
            </a:pPr>
            <a:r>
              <a:rPr lang="en-US" sz="1100" i="1">
                <a:solidFill>
                  <a:srgbClr val="BFBFBF"/>
                </a:solidFill>
              </a:rPr>
              <a:t>Baseline set in discovery</a:t>
            </a:r>
            <a:endParaRPr lang="en-US" sz="1100"/>
          </a:p>
        </p:txBody>
      </p:sp>
      <p:sp>
        <p:nvSpPr>
          <p:cNvPr id="15" name="Text 13"/>
          <p:cNvSpPr txBox="1"/>
          <p:nvPr/>
        </p:nvSpPr>
        <p:spPr>
          <a:xfrm>
            <a:off x="4297680" y="3749040"/>
            <a:ext cx="3566160" cy="685800"/>
          </a:xfrm>
          <a:prstGeom prst="rect">
            <a:avLst/>
          </a:prstGeom>
          <a:noFill/>
          <a:ln/>
        </p:spPr>
        <p:txBody>
          <a:bodyPr wrap="square" lIns="0" tIns="0" rIns="0" bIns="0" rtlCol="0" anchor="t"/>
          <a:lstStyle/>
          <a:p>
            <a:pPr marL="0" indent="0">
              <a:buNone/>
            </a:pPr>
            <a:r>
              <a:rPr lang="en-US" sz="3400">
                <a:solidFill>
                  <a:schemeClr val="accent1"/>
                </a:solidFill>
                <a:latin typeface="Trenda IG Text Light" pitchFamily="34" charset="0"/>
                <a:ea typeface="Trenda IG Text Light" pitchFamily="34" charset="-122"/>
                <a:cs typeface="Trenda IG Text Light" pitchFamily="34" charset="-120"/>
              </a:rPr>
              <a:t>Visits booked</a:t>
            </a:r>
            <a:endParaRPr lang="en-US" sz="3400"/>
          </a:p>
        </p:txBody>
      </p:sp>
      <p:sp>
        <p:nvSpPr>
          <p:cNvPr id="16" name="Text 14"/>
          <p:cNvSpPr txBox="1"/>
          <p:nvPr/>
        </p:nvSpPr>
        <p:spPr>
          <a:xfrm>
            <a:off x="4297680" y="4480560"/>
            <a:ext cx="3291840" cy="457200"/>
          </a:xfrm>
          <a:prstGeom prst="rect">
            <a:avLst/>
          </a:prstGeom>
          <a:noFill/>
          <a:ln/>
        </p:spPr>
        <p:txBody>
          <a:bodyPr wrap="square" lIns="0" tIns="0" rIns="0" bIns="0" rtlCol="0" anchor="t"/>
          <a:lstStyle/>
          <a:p>
            <a:pPr marL="0" indent="0">
              <a:buNone/>
            </a:pPr>
            <a:r>
              <a:rPr lang="en-US" sz="1400">
                <a:solidFill>
                  <a:schemeClr val="bg1"/>
                </a:solidFill>
              </a:rPr>
              <a:t>Appointments after a class or event</a:t>
            </a:r>
            <a:endParaRPr lang="en-US" sz="1400"/>
          </a:p>
        </p:txBody>
      </p:sp>
      <p:sp>
        <p:nvSpPr>
          <p:cNvPr id="17" name="Text 15"/>
          <p:cNvSpPr txBox="1"/>
          <p:nvPr/>
        </p:nvSpPr>
        <p:spPr>
          <a:xfrm>
            <a:off x="4297680" y="4937760"/>
            <a:ext cx="3291840" cy="274320"/>
          </a:xfrm>
          <a:prstGeom prst="rect">
            <a:avLst/>
          </a:prstGeom>
          <a:noFill/>
          <a:ln/>
        </p:spPr>
        <p:txBody>
          <a:bodyPr wrap="square" lIns="0" tIns="0" rIns="0" bIns="0" rtlCol="0" anchor="t"/>
          <a:lstStyle/>
          <a:p>
            <a:pPr marL="0" indent="0">
              <a:buNone/>
            </a:pPr>
            <a:r>
              <a:rPr lang="en-US" sz="1100" i="1">
                <a:solidFill>
                  <a:srgbClr val="BFBFBF"/>
                </a:solidFill>
              </a:rPr>
              <a:t>Baseline set in discovery</a:t>
            </a:r>
            <a:endParaRPr lang="en-US" sz="1100"/>
          </a:p>
        </p:txBody>
      </p:sp>
      <p:sp>
        <p:nvSpPr>
          <p:cNvPr id="18" name="Text 16"/>
          <p:cNvSpPr txBox="1"/>
          <p:nvPr/>
        </p:nvSpPr>
        <p:spPr>
          <a:xfrm>
            <a:off x="8092440" y="3749040"/>
            <a:ext cx="3566160" cy="685800"/>
          </a:xfrm>
          <a:prstGeom prst="rect">
            <a:avLst/>
          </a:prstGeom>
          <a:noFill/>
          <a:ln/>
        </p:spPr>
        <p:txBody>
          <a:bodyPr wrap="square" lIns="0" tIns="0" rIns="0" bIns="0" rtlCol="0" anchor="t"/>
          <a:lstStyle/>
          <a:p>
            <a:pPr marL="0" indent="0">
              <a:buNone/>
            </a:pPr>
            <a:r>
              <a:rPr lang="en-US" sz="3400">
                <a:solidFill>
                  <a:schemeClr val="accent1"/>
                </a:solidFill>
                <a:latin typeface="Trenda IG Text Light" pitchFamily="34" charset="0"/>
                <a:ea typeface="Trenda IG Text Light" pitchFamily="34" charset="-122"/>
                <a:cs typeface="Trenda IG Text Light" pitchFamily="34" charset="-120"/>
              </a:rPr>
              <a:t>Revenue</a:t>
            </a:r>
            <a:endParaRPr lang="en-US" sz="3400"/>
          </a:p>
        </p:txBody>
      </p:sp>
      <p:sp>
        <p:nvSpPr>
          <p:cNvPr id="19" name="Text 17"/>
          <p:cNvSpPr txBox="1"/>
          <p:nvPr/>
        </p:nvSpPr>
        <p:spPr>
          <a:xfrm>
            <a:off x="8092440" y="4480560"/>
            <a:ext cx="3291840" cy="457200"/>
          </a:xfrm>
          <a:prstGeom prst="rect">
            <a:avLst/>
          </a:prstGeom>
          <a:noFill/>
          <a:ln/>
        </p:spPr>
        <p:txBody>
          <a:bodyPr wrap="square" lIns="0" tIns="0" rIns="0" bIns="0" rtlCol="0" anchor="t"/>
          <a:lstStyle/>
          <a:p>
            <a:pPr marL="0" indent="0">
              <a:buNone/>
            </a:pPr>
            <a:r>
              <a:rPr lang="en-US" sz="1400">
                <a:solidFill>
                  <a:schemeClr val="bg1"/>
                </a:solidFill>
              </a:rPr>
              <a:t>Paid registrations and conference fees</a:t>
            </a:r>
            <a:endParaRPr lang="en-US" sz="1400"/>
          </a:p>
        </p:txBody>
      </p:sp>
      <p:sp>
        <p:nvSpPr>
          <p:cNvPr id="20" name="Text 18"/>
          <p:cNvSpPr txBox="1"/>
          <p:nvPr/>
        </p:nvSpPr>
        <p:spPr>
          <a:xfrm>
            <a:off x="8092440" y="4937760"/>
            <a:ext cx="3291840" cy="274320"/>
          </a:xfrm>
          <a:prstGeom prst="rect">
            <a:avLst/>
          </a:prstGeom>
          <a:noFill/>
          <a:ln/>
        </p:spPr>
        <p:txBody>
          <a:bodyPr wrap="square" lIns="0" tIns="0" rIns="0" bIns="0" rtlCol="0" anchor="t"/>
          <a:lstStyle/>
          <a:p>
            <a:pPr marL="0" indent="0">
              <a:buNone/>
            </a:pPr>
            <a:r>
              <a:rPr lang="en-US" sz="1100" i="1">
                <a:solidFill>
                  <a:srgbClr val="BFBFBF"/>
                </a:solidFill>
              </a:rPr>
              <a:t>Baseline set in discovery</a:t>
            </a:r>
            <a:endParaRPr lang="en-US" sz="1100"/>
          </a:p>
        </p:txBody>
      </p:sp>
      <p:sp>
        <p:nvSpPr>
          <p:cNvPr id="25" name="Slide Number Placeholder 0"/>
          <p:cNvSpPr>
            <a:spLocks noGrp="1"/>
          </p:cNvSpPr>
          <p:nvPr>
            <p:ph type="sldNum" sz="quarter" idx="4294967295"/>
          </p:nvPr>
        </p:nvSpPr>
        <p:spPr>
          <a:xfrm>
            <a:off x="11292840" y="6336792"/>
            <a:ext cx="457200" cy="22860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bg1"/>
                </a:solidFill>
              </a:defRPr>
            </a:lvl1pPr>
          </a:lstStyle>
          <a:p>
            <a:pPr algn="r"/>
            <a:fld id="{F7021451-1387-4CA6-816F-3879F97B5CBC}" type="slidenum">
              <a:rPr lang="en-US" b="0"/>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02920" y="658368"/>
            <a:ext cx="11185855" cy="822960"/>
          </a:xfrm>
          <a:prstGeom prst="rect">
            <a:avLst/>
          </a:prstGeom>
          <a:noFill/>
          <a:ln/>
        </p:spPr>
        <p:txBody>
          <a:bodyPr wrap="square" lIns="0" tIns="0" rIns="0" bIns="0" rtlCol="0" anchor="t"/>
          <a:lstStyle/>
          <a:p>
            <a:pPr marL="0" indent="0" algn="l">
              <a:buNone/>
            </a:pPr>
            <a:r>
              <a:rPr lang="en-US" sz="3200" b="1">
                <a:solidFill>
                  <a:schemeClr val="tx1"/>
                </a:solidFill>
              </a:rPr>
              <a:t>Roadmap: from registration to relationship</a:t>
            </a:r>
            <a:endParaRPr lang="en-US" sz="3200"/>
          </a:p>
        </p:txBody>
      </p:sp>
      <p:sp>
        <p:nvSpPr>
          <p:cNvPr id="3" name="circle-1"/>
          <p:cNvSpPr/>
          <p:nvPr/>
        </p:nvSpPr>
        <p:spPr>
          <a:xfrm>
            <a:off x="502920" y="1691640"/>
            <a:ext cx="420624" cy="420624"/>
          </a:xfrm>
          <a:prstGeom prst="ellipse">
            <a:avLst/>
          </a:prstGeom>
          <a:ln w="15875">
            <a:solidFill>
              <a:schemeClr val="tx1"/>
            </a:solidFill>
            <a:prstDash val="solid"/>
          </a:ln>
        </p:spPr>
        <p:txBody>
          <a:bodyPr/>
          <a:lstStyle/>
          <a:p>
            <a:endParaRPr lang="en-IN"/>
          </a:p>
        </p:txBody>
      </p:sp>
      <p:sp>
        <p:nvSpPr>
          <p:cNvPr id="4" name="Text 2"/>
          <p:cNvSpPr txBox="1"/>
          <p:nvPr/>
        </p:nvSpPr>
        <p:spPr>
          <a:xfrm>
            <a:off x="502920" y="1691640"/>
            <a:ext cx="420624" cy="420624"/>
          </a:xfrm>
          <a:prstGeom prst="rect">
            <a:avLst/>
          </a:prstGeom>
          <a:noFill/>
          <a:ln/>
        </p:spPr>
        <p:txBody>
          <a:bodyPr wrap="square" lIns="0" tIns="0" rIns="0" bIns="0" rtlCol="0" anchor="ctr"/>
          <a:lstStyle/>
          <a:p>
            <a:pPr marL="0" indent="0" algn="ctr">
              <a:buNone/>
            </a:pPr>
            <a:r>
              <a:rPr lang="en-US" sz="1400">
                <a:solidFill>
                  <a:schemeClr val="tx1"/>
                </a:solidFill>
              </a:rPr>
              <a:t>1</a:t>
            </a:r>
            <a:endParaRPr lang="en-US" sz="1400"/>
          </a:p>
        </p:txBody>
      </p:sp>
      <p:sp>
        <p:nvSpPr>
          <p:cNvPr id="5" name="Text 3"/>
          <p:cNvSpPr txBox="1"/>
          <p:nvPr/>
        </p:nvSpPr>
        <p:spPr>
          <a:xfrm>
            <a:off x="502920" y="2286000"/>
            <a:ext cx="2606040" cy="384048"/>
          </a:xfrm>
          <a:prstGeom prst="rect">
            <a:avLst/>
          </a:prstGeom>
          <a:noFill/>
          <a:ln/>
        </p:spPr>
        <p:txBody>
          <a:bodyPr wrap="square" lIns="0" tIns="0" rIns="0" bIns="0" rtlCol="0" anchor="t"/>
          <a:lstStyle/>
          <a:p>
            <a:pPr marL="0" indent="0">
              <a:buNone/>
            </a:pPr>
            <a:r>
              <a:rPr lang="en-US" sz="1900" b="1">
                <a:solidFill>
                  <a:schemeClr val="tx1"/>
                </a:solidFill>
              </a:rPr>
              <a:t>Classes and events</a:t>
            </a:r>
            <a:endParaRPr lang="en-US" sz="1900"/>
          </a:p>
        </p:txBody>
      </p:sp>
      <p:sp>
        <p:nvSpPr>
          <p:cNvPr id="6" name="Text 4"/>
          <p:cNvSpPr txBox="1"/>
          <p:nvPr/>
        </p:nvSpPr>
        <p:spPr>
          <a:xfrm>
            <a:off x="502920" y="2697480"/>
            <a:ext cx="2606040" cy="292608"/>
          </a:xfrm>
          <a:prstGeom prst="rect">
            <a:avLst/>
          </a:prstGeom>
          <a:noFill/>
          <a:ln/>
        </p:spPr>
        <p:txBody>
          <a:bodyPr wrap="square" lIns="0" tIns="0" rIns="0" bIns="0" rtlCol="0" anchor="t"/>
          <a:lstStyle/>
          <a:p>
            <a:pPr marL="0" indent="0">
              <a:buNone/>
            </a:pPr>
            <a:r>
              <a:rPr lang="en-US" sz="1300" b="1">
                <a:solidFill>
                  <a:schemeClr val="accent6"/>
                </a:solidFill>
              </a:rPr>
              <a:t>Weeks 1-14</a:t>
            </a:r>
            <a:endParaRPr lang="en-US" sz="1300"/>
          </a:p>
        </p:txBody>
      </p:sp>
      <p:sp>
        <p:nvSpPr>
          <p:cNvPr id="7" name="Text 5"/>
          <p:cNvSpPr txBox="1"/>
          <p:nvPr/>
        </p:nvSpPr>
        <p:spPr>
          <a:xfrm>
            <a:off x="502920" y="3154680"/>
            <a:ext cx="2560320" cy="2194560"/>
          </a:xfrm>
          <a:prstGeom prst="rect">
            <a:avLst/>
          </a:prstGeom>
          <a:noFill/>
          <a:ln/>
        </p:spPr>
        <p:txBody>
          <a:bodyPr wrap="square" lIns="0" tIns="0" rIns="0" bIns="0" rtlCol="0" anchor="t"/>
          <a:lstStyle/>
          <a:p>
            <a:pPr marL="342900" indent="-342900">
              <a:spcAft>
                <a:spcPts val="600"/>
              </a:spcAft>
              <a:buSzPct val="100000"/>
              <a:buChar char="•"/>
            </a:pPr>
            <a:r>
              <a:rPr lang="en-US" sz="1400">
                <a:solidFill>
                  <a:srgbClr val="4D4D4D"/>
                </a:solidFill>
              </a:rPr>
              <a:t>Registration and payments</a:t>
            </a:r>
            <a:endParaRPr lang="en-US" sz="1400"/>
          </a:p>
          <a:p>
            <a:pPr marL="342900" indent="-342900">
              <a:spcAft>
                <a:spcPts val="600"/>
              </a:spcAft>
              <a:buSzPct val="100000"/>
              <a:buChar char="•"/>
            </a:pPr>
            <a:r>
              <a:rPr lang="en-US" sz="1400">
                <a:solidFill>
                  <a:srgbClr val="4D4D4D"/>
                </a:solidFill>
              </a:rPr>
              <a:t>Marketing Cloud reminders</a:t>
            </a:r>
            <a:endParaRPr lang="en-US" sz="1400"/>
          </a:p>
          <a:p>
            <a:pPr marL="342900" indent="-342900">
              <a:spcAft>
                <a:spcPts val="600"/>
              </a:spcAft>
              <a:buSzPct val="100000"/>
              <a:buChar char="•"/>
            </a:pPr>
            <a:r>
              <a:rPr lang="en-US" sz="1400">
                <a:solidFill>
                  <a:srgbClr val="4D4D4D"/>
                </a:solidFill>
              </a:rPr>
              <a:t>QR check-in and reporting</a:t>
            </a:r>
            <a:endParaRPr lang="en-US" sz="1400"/>
          </a:p>
        </p:txBody>
      </p:sp>
      <p:sp>
        <p:nvSpPr>
          <p:cNvPr id="8" name="circle-2"/>
          <p:cNvSpPr/>
          <p:nvPr/>
        </p:nvSpPr>
        <p:spPr>
          <a:xfrm>
            <a:off x="3337560" y="1691640"/>
            <a:ext cx="420624" cy="420624"/>
          </a:xfrm>
          <a:prstGeom prst="ellipse">
            <a:avLst/>
          </a:prstGeom>
          <a:ln w="15875">
            <a:solidFill>
              <a:schemeClr val="tx1"/>
            </a:solidFill>
            <a:prstDash val="solid"/>
          </a:ln>
        </p:spPr>
        <p:txBody>
          <a:bodyPr/>
          <a:lstStyle/>
          <a:p>
            <a:endParaRPr lang="en-IN"/>
          </a:p>
        </p:txBody>
      </p:sp>
      <p:sp>
        <p:nvSpPr>
          <p:cNvPr id="9" name="Text 7"/>
          <p:cNvSpPr txBox="1"/>
          <p:nvPr/>
        </p:nvSpPr>
        <p:spPr>
          <a:xfrm>
            <a:off x="3337560" y="1691640"/>
            <a:ext cx="420624" cy="420624"/>
          </a:xfrm>
          <a:prstGeom prst="rect">
            <a:avLst/>
          </a:prstGeom>
          <a:noFill/>
          <a:ln/>
        </p:spPr>
        <p:txBody>
          <a:bodyPr wrap="square" lIns="0" tIns="0" rIns="0" bIns="0" rtlCol="0" anchor="ctr"/>
          <a:lstStyle/>
          <a:p>
            <a:pPr marL="0" indent="0" algn="ctr">
              <a:buNone/>
            </a:pPr>
            <a:r>
              <a:rPr lang="en-US" sz="1400">
                <a:solidFill>
                  <a:schemeClr val="tx1"/>
                </a:solidFill>
              </a:rPr>
              <a:t>2</a:t>
            </a:r>
            <a:endParaRPr lang="en-US" sz="1400"/>
          </a:p>
        </p:txBody>
      </p:sp>
      <p:sp>
        <p:nvSpPr>
          <p:cNvPr id="10" name="Text 8"/>
          <p:cNvSpPr txBox="1"/>
          <p:nvPr/>
        </p:nvSpPr>
        <p:spPr>
          <a:xfrm>
            <a:off x="3337560" y="2286000"/>
            <a:ext cx="2606040" cy="384048"/>
          </a:xfrm>
          <a:prstGeom prst="rect">
            <a:avLst/>
          </a:prstGeom>
          <a:noFill/>
          <a:ln/>
        </p:spPr>
        <p:txBody>
          <a:bodyPr wrap="square" lIns="0" tIns="0" rIns="0" bIns="0" rtlCol="0" anchor="t"/>
          <a:lstStyle/>
          <a:p>
            <a:pPr marL="0" indent="0">
              <a:buNone/>
            </a:pPr>
            <a:r>
              <a:rPr lang="en-US" sz="1900" b="1">
                <a:solidFill>
                  <a:schemeClr val="tx1"/>
                </a:solidFill>
              </a:rPr>
              <a:t>Conferences</a:t>
            </a:r>
            <a:endParaRPr lang="en-US" sz="1900"/>
          </a:p>
        </p:txBody>
      </p:sp>
      <p:sp>
        <p:nvSpPr>
          <p:cNvPr id="11" name="Text 9"/>
          <p:cNvSpPr txBox="1"/>
          <p:nvPr/>
        </p:nvSpPr>
        <p:spPr>
          <a:xfrm>
            <a:off x="3337560" y="2697480"/>
            <a:ext cx="2606040" cy="292608"/>
          </a:xfrm>
          <a:prstGeom prst="rect">
            <a:avLst/>
          </a:prstGeom>
          <a:noFill/>
          <a:ln/>
        </p:spPr>
        <p:txBody>
          <a:bodyPr wrap="square" lIns="0" tIns="0" rIns="0" bIns="0" rtlCol="0" anchor="t"/>
          <a:lstStyle/>
          <a:p>
            <a:pPr marL="0" indent="0">
              <a:buNone/>
            </a:pPr>
            <a:r>
              <a:rPr lang="en-US" sz="1300" b="1">
                <a:solidFill>
                  <a:schemeClr val="accent3"/>
                </a:solidFill>
              </a:rPr>
              <a:t>Weeks 15-24</a:t>
            </a:r>
            <a:endParaRPr lang="en-US" sz="1300"/>
          </a:p>
        </p:txBody>
      </p:sp>
      <p:sp>
        <p:nvSpPr>
          <p:cNvPr id="12" name="Text 10"/>
          <p:cNvSpPr txBox="1"/>
          <p:nvPr/>
        </p:nvSpPr>
        <p:spPr>
          <a:xfrm>
            <a:off x="3337560" y="3154680"/>
            <a:ext cx="2560320" cy="2194560"/>
          </a:xfrm>
          <a:prstGeom prst="rect">
            <a:avLst/>
          </a:prstGeom>
          <a:noFill/>
          <a:ln/>
        </p:spPr>
        <p:txBody>
          <a:bodyPr wrap="square" lIns="0" tIns="0" rIns="0" bIns="0" rtlCol="0" anchor="t"/>
          <a:lstStyle/>
          <a:p>
            <a:pPr marL="342900" indent="-342900">
              <a:spcAft>
                <a:spcPts val="600"/>
              </a:spcAft>
              <a:buSzPct val="100000"/>
              <a:buChar char="•"/>
            </a:pPr>
            <a:r>
              <a:rPr lang="en-US" sz="1400">
                <a:solidFill>
                  <a:srgbClr val="4D4D4D"/>
                </a:solidFill>
              </a:rPr>
              <a:t>Sessions and speakers</a:t>
            </a:r>
            <a:endParaRPr lang="en-US" sz="1400"/>
          </a:p>
          <a:p>
            <a:pPr marL="342900" indent="-342900">
              <a:spcAft>
                <a:spcPts val="600"/>
              </a:spcAft>
              <a:buSzPct val="100000"/>
              <a:buChar char="•"/>
            </a:pPr>
            <a:r>
              <a:rPr lang="en-US" sz="1400">
                <a:solidFill>
                  <a:srgbClr val="4D4D4D"/>
                </a:solidFill>
              </a:rPr>
              <a:t>My Agenda and badges</a:t>
            </a:r>
            <a:endParaRPr lang="en-US" sz="1400"/>
          </a:p>
          <a:p>
            <a:pPr marL="342900" indent="-342900">
              <a:spcAft>
                <a:spcPts val="600"/>
              </a:spcAft>
              <a:buSzPct val="100000"/>
              <a:buChar char="•"/>
            </a:pPr>
            <a:r>
              <a:rPr lang="en-US" sz="1400">
                <a:solidFill>
                  <a:srgbClr val="4D4D4D"/>
                </a:solidFill>
              </a:rPr>
              <a:t>Certain retired</a:t>
            </a:r>
            <a:endParaRPr lang="en-US" sz="1400"/>
          </a:p>
        </p:txBody>
      </p:sp>
      <p:sp>
        <p:nvSpPr>
          <p:cNvPr id="13" name="circle-3"/>
          <p:cNvSpPr/>
          <p:nvPr/>
        </p:nvSpPr>
        <p:spPr>
          <a:xfrm>
            <a:off x="6172200" y="1691640"/>
            <a:ext cx="420624" cy="420624"/>
          </a:xfrm>
          <a:prstGeom prst="ellipse">
            <a:avLst/>
          </a:prstGeom>
          <a:ln w="15875">
            <a:solidFill>
              <a:schemeClr val="tx1"/>
            </a:solidFill>
            <a:prstDash val="solid"/>
          </a:ln>
        </p:spPr>
        <p:txBody>
          <a:bodyPr/>
          <a:lstStyle/>
          <a:p>
            <a:endParaRPr lang="en-IN"/>
          </a:p>
        </p:txBody>
      </p:sp>
      <p:sp>
        <p:nvSpPr>
          <p:cNvPr id="14" name="Text 12"/>
          <p:cNvSpPr txBox="1"/>
          <p:nvPr/>
        </p:nvSpPr>
        <p:spPr>
          <a:xfrm>
            <a:off x="6172200" y="1691640"/>
            <a:ext cx="420624" cy="420624"/>
          </a:xfrm>
          <a:prstGeom prst="rect">
            <a:avLst/>
          </a:prstGeom>
          <a:noFill/>
          <a:ln/>
        </p:spPr>
        <p:txBody>
          <a:bodyPr wrap="square" lIns="0" tIns="0" rIns="0" bIns="0" rtlCol="0" anchor="ctr"/>
          <a:lstStyle/>
          <a:p>
            <a:pPr marL="0" indent="0" algn="ctr">
              <a:buNone/>
            </a:pPr>
            <a:r>
              <a:rPr lang="en-US" sz="1400">
                <a:solidFill>
                  <a:schemeClr val="tx1"/>
                </a:solidFill>
              </a:rPr>
              <a:t>3</a:t>
            </a:r>
            <a:endParaRPr lang="en-US" sz="1400"/>
          </a:p>
        </p:txBody>
      </p:sp>
      <p:sp>
        <p:nvSpPr>
          <p:cNvPr id="15" name="Text 13"/>
          <p:cNvSpPr txBox="1"/>
          <p:nvPr/>
        </p:nvSpPr>
        <p:spPr>
          <a:xfrm>
            <a:off x="6172200" y="2286000"/>
            <a:ext cx="2606040" cy="384048"/>
          </a:xfrm>
          <a:prstGeom prst="rect">
            <a:avLst/>
          </a:prstGeom>
          <a:noFill/>
          <a:ln/>
        </p:spPr>
        <p:txBody>
          <a:bodyPr wrap="square" lIns="0" tIns="0" rIns="0" bIns="0" rtlCol="0" anchor="t"/>
          <a:lstStyle/>
          <a:p>
            <a:pPr marL="0" indent="0">
              <a:buNone/>
            </a:pPr>
            <a:r>
              <a:rPr lang="en-US" sz="1900" b="1">
                <a:solidFill>
                  <a:schemeClr val="tx1"/>
                </a:solidFill>
              </a:rPr>
              <a:t>Engagement</a:t>
            </a:r>
            <a:endParaRPr lang="en-US" sz="1900"/>
          </a:p>
        </p:txBody>
      </p:sp>
      <p:sp>
        <p:nvSpPr>
          <p:cNvPr id="16" name="Text 14"/>
          <p:cNvSpPr txBox="1"/>
          <p:nvPr/>
        </p:nvSpPr>
        <p:spPr>
          <a:xfrm>
            <a:off x="6172200" y="2697480"/>
            <a:ext cx="2606040" cy="292608"/>
          </a:xfrm>
          <a:prstGeom prst="rect">
            <a:avLst/>
          </a:prstGeom>
          <a:noFill/>
          <a:ln/>
        </p:spPr>
        <p:txBody>
          <a:bodyPr wrap="square" lIns="0" tIns="0" rIns="0" bIns="0" rtlCol="0" anchor="t"/>
          <a:lstStyle/>
          <a:p>
            <a:pPr marL="0" indent="0">
              <a:buNone/>
            </a:pPr>
            <a:r>
              <a:rPr lang="en-US" sz="1300" b="1">
                <a:solidFill>
                  <a:schemeClr val="accent5"/>
                </a:solidFill>
              </a:rPr>
              <a:t>From Phase 1 go-live</a:t>
            </a:r>
            <a:endParaRPr lang="en-US" sz="1300"/>
          </a:p>
        </p:txBody>
      </p:sp>
      <p:sp>
        <p:nvSpPr>
          <p:cNvPr id="17" name="Text 15"/>
          <p:cNvSpPr txBox="1"/>
          <p:nvPr/>
        </p:nvSpPr>
        <p:spPr>
          <a:xfrm>
            <a:off x="6172200" y="3154680"/>
            <a:ext cx="2560320" cy="2194560"/>
          </a:xfrm>
          <a:prstGeom prst="rect">
            <a:avLst/>
          </a:prstGeom>
          <a:noFill/>
          <a:ln/>
        </p:spPr>
        <p:txBody>
          <a:bodyPr wrap="square" lIns="0" tIns="0" rIns="0" bIns="0" rtlCol="0" anchor="t"/>
          <a:lstStyle/>
          <a:p>
            <a:pPr marL="342900" indent="-342900">
              <a:spcAft>
                <a:spcPts val="600"/>
              </a:spcAft>
              <a:buSzPct val="100000"/>
              <a:buChar char="•"/>
            </a:pPr>
            <a:r>
              <a:rPr lang="en-US" sz="1400">
                <a:solidFill>
                  <a:srgbClr val="4D4D4D"/>
                </a:solidFill>
              </a:rPr>
              <a:t>PEI journeys by service line</a:t>
            </a:r>
            <a:endParaRPr lang="en-US" sz="1400"/>
          </a:p>
          <a:p>
            <a:pPr marL="342900" indent="-342900">
              <a:spcAft>
                <a:spcPts val="600"/>
              </a:spcAft>
              <a:buSzPct val="100000"/>
              <a:buChar char="•"/>
            </a:pPr>
            <a:r>
              <a:rPr lang="en-US" sz="1400">
                <a:solidFill>
                  <a:srgbClr val="4D4D4D"/>
                </a:solidFill>
              </a:rPr>
              <a:t>App download campaigns</a:t>
            </a:r>
            <a:endParaRPr lang="en-US" sz="1400"/>
          </a:p>
          <a:p>
            <a:pPr marL="342900" indent="-342900">
              <a:spcAft>
                <a:spcPts val="600"/>
              </a:spcAft>
              <a:buSzPct val="100000"/>
              <a:buChar char="•"/>
            </a:pPr>
            <a:r>
              <a:rPr lang="en-US" sz="1400">
                <a:solidFill>
                  <a:srgbClr val="4D4D4D"/>
                </a:solidFill>
              </a:rPr>
              <a:t>Find-a-doctor nurture</a:t>
            </a:r>
            <a:endParaRPr lang="en-US" sz="1400"/>
          </a:p>
        </p:txBody>
      </p:sp>
      <p:sp>
        <p:nvSpPr>
          <p:cNvPr id="18" name="circle-4"/>
          <p:cNvSpPr/>
          <p:nvPr/>
        </p:nvSpPr>
        <p:spPr>
          <a:xfrm>
            <a:off x="9006840" y="1691640"/>
            <a:ext cx="420624" cy="420624"/>
          </a:xfrm>
          <a:prstGeom prst="ellipse">
            <a:avLst/>
          </a:prstGeom>
          <a:ln w="15875">
            <a:solidFill>
              <a:schemeClr val="tx1"/>
            </a:solidFill>
            <a:prstDash val="solid"/>
          </a:ln>
        </p:spPr>
        <p:txBody>
          <a:bodyPr/>
          <a:lstStyle/>
          <a:p>
            <a:endParaRPr lang="en-IN"/>
          </a:p>
        </p:txBody>
      </p:sp>
      <p:sp>
        <p:nvSpPr>
          <p:cNvPr id="19" name="Text 17"/>
          <p:cNvSpPr txBox="1"/>
          <p:nvPr/>
        </p:nvSpPr>
        <p:spPr>
          <a:xfrm>
            <a:off x="9006840" y="1691640"/>
            <a:ext cx="420624" cy="420624"/>
          </a:xfrm>
          <a:prstGeom prst="rect">
            <a:avLst/>
          </a:prstGeom>
          <a:noFill/>
          <a:ln/>
        </p:spPr>
        <p:txBody>
          <a:bodyPr wrap="square" lIns="0" tIns="0" rIns="0" bIns="0" rtlCol="0" anchor="ctr"/>
          <a:lstStyle/>
          <a:p>
            <a:pPr marL="0" indent="0" algn="ctr">
              <a:buNone/>
            </a:pPr>
            <a:r>
              <a:rPr lang="en-US" sz="1400">
                <a:solidFill>
                  <a:schemeClr val="tx1"/>
                </a:solidFill>
              </a:rPr>
              <a:t>4</a:t>
            </a:r>
            <a:endParaRPr lang="en-US" sz="1400"/>
          </a:p>
        </p:txBody>
      </p:sp>
      <p:sp>
        <p:nvSpPr>
          <p:cNvPr id="20" name="Text 18"/>
          <p:cNvSpPr txBox="1"/>
          <p:nvPr/>
        </p:nvSpPr>
        <p:spPr>
          <a:xfrm>
            <a:off x="9006840" y="2286000"/>
            <a:ext cx="2606040" cy="384048"/>
          </a:xfrm>
          <a:prstGeom prst="rect">
            <a:avLst/>
          </a:prstGeom>
          <a:noFill/>
          <a:ln/>
        </p:spPr>
        <p:txBody>
          <a:bodyPr wrap="square" lIns="0" tIns="0" rIns="0" bIns="0" rtlCol="0" anchor="t"/>
          <a:lstStyle/>
          <a:p>
            <a:pPr marL="0" indent="0">
              <a:buNone/>
            </a:pPr>
            <a:r>
              <a:rPr lang="en-US" sz="1900" b="1">
                <a:solidFill>
                  <a:schemeClr val="tx1"/>
                </a:solidFill>
              </a:rPr>
              <a:t>AI agents</a:t>
            </a:r>
            <a:endParaRPr lang="en-US" sz="1900"/>
          </a:p>
        </p:txBody>
      </p:sp>
      <p:sp>
        <p:nvSpPr>
          <p:cNvPr id="21" name="Text 19"/>
          <p:cNvSpPr txBox="1"/>
          <p:nvPr/>
        </p:nvSpPr>
        <p:spPr>
          <a:xfrm>
            <a:off x="9006840" y="2697480"/>
            <a:ext cx="2606040" cy="292608"/>
          </a:xfrm>
          <a:prstGeom prst="rect">
            <a:avLst/>
          </a:prstGeom>
          <a:noFill/>
          <a:ln/>
        </p:spPr>
        <p:txBody>
          <a:bodyPr wrap="square" lIns="0" tIns="0" rIns="0" bIns="0" rtlCol="0" anchor="t"/>
          <a:lstStyle/>
          <a:p>
            <a:pPr marL="0" indent="0">
              <a:buNone/>
            </a:pPr>
            <a:r>
              <a:rPr lang="en-US" sz="1300" b="1">
                <a:solidFill>
                  <a:schemeClr val="accent4"/>
                </a:solidFill>
              </a:rPr>
              <a:t>Week 25+</a:t>
            </a:r>
            <a:endParaRPr lang="en-US" sz="1300"/>
          </a:p>
        </p:txBody>
      </p:sp>
      <p:sp>
        <p:nvSpPr>
          <p:cNvPr id="22" name="Text 20"/>
          <p:cNvSpPr txBox="1"/>
          <p:nvPr/>
        </p:nvSpPr>
        <p:spPr>
          <a:xfrm>
            <a:off x="9006840" y="3154680"/>
            <a:ext cx="2560320" cy="2194560"/>
          </a:xfrm>
          <a:prstGeom prst="rect">
            <a:avLst/>
          </a:prstGeom>
          <a:noFill/>
          <a:ln/>
        </p:spPr>
        <p:txBody>
          <a:bodyPr wrap="square" lIns="0" tIns="0" rIns="0" bIns="0" rtlCol="0" anchor="t"/>
          <a:lstStyle/>
          <a:p>
            <a:pPr marL="342900" indent="-342900">
              <a:spcAft>
                <a:spcPts val="600"/>
              </a:spcAft>
              <a:buSzPct val="100000"/>
              <a:buChar char="•"/>
            </a:pPr>
            <a:r>
              <a:rPr lang="en-US" sz="1400">
                <a:solidFill>
                  <a:srgbClr val="4D4D4D"/>
                </a:solidFill>
              </a:rPr>
              <a:t>Agents in a controlled harness</a:t>
            </a:r>
            <a:endParaRPr lang="en-US" sz="1400"/>
          </a:p>
          <a:p>
            <a:pPr marL="342900" indent="-342900">
              <a:spcAft>
                <a:spcPts val="600"/>
              </a:spcAft>
              <a:buSzPct val="100000"/>
              <a:buChar char="•"/>
            </a:pPr>
            <a:r>
              <a:rPr lang="en-US" sz="1400">
                <a:solidFill>
                  <a:srgbClr val="4D4D4D"/>
                </a:solidFill>
              </a:rPr>
              <a:t>Demand and campaign agents</a:t>
            </a:r>
            <a:endParaRPr lang="en-US" sz="1400"/>
          </a:p>
          <a:p>
            <a:pPr marL="342900" indent="-342900">
              <a:spcAft>
                <a:spcPts val="600"/>
              </a:spcAft>
              <a:buSzPct val="100000"/>
              <a:buChar char="•"/>
            </a:pPr>
            <a:r>
              <a:rPr lang="en-US" sz="1400">
                <a:solidFill>
                  <a:srgbClr val="4D4D4D"/>
                </a:solidFill>
              </a:rPr>
              <a:t>Concierge on web, app and SMS</a:t>
            </a:r>
            <a:endParaRPr lang="en-US" sz="1400"/>
          </a:p>
        </p:txBody>
      </p:sp>
      <p:sp>
        <p:nvSpPr>
          <p:cNvPr id="23" name="Text 21"/>
          <p:cNvSpPr txBox="1"/>
          <p:nvPr/>
        </p:nvSpPr>
        <p:spPr>
          <a:xfrm>
            <a:off x="502920" y="5257800"/>
            <a:ext cx="11185855" cy="365760"/>
          </a:xfrm>
          <a:prstGeom prst="rect">
            <a:avLst/>
          </a:prstGeom>
          <a:noFill/>
          <a:ln/>
        </p:spPr>
        <p:txBody>
          <a:bodyPr wrap="square" lIns="0" tIns="0" rIns="0" bIns="0" rtlCol="0" anchor="t"/>
          <a:lstStyle/>
          <a:p>
            <a:pPr marL="0" indent="0">
              <a:buNone/>
            </a:pPr>
            <a:r>
              <a:rPr lang="en-US" sz="1400" b="1">
                <a:solidFill>
                  <a:schemeClr val="tx1"/>
                </a:solidFill>
              </a:rPr>
              <a:t>Phases 1 and 2 solve today’s problem. Phases 3 and 4 grow engagement and the network on the same platform.</a:t>
            </a:r>
            <a:endParaRPr lang="en-US" sz="1400"/>
          </a:p>
        </p:txBody>
      </p:sp>
      <p:sp>
        <p:nvSpPr>
          <p:cNvPr id="25" name="Slide Number Placeholder 0"/>
          <p:cNvSpPr>
            <a:spLocks noGrp="1"/>
          </p:cNvSpPr>
          <p:nvPr>
            <p:ph type="sldNum" sz="quarter" idx="4294967295"/>
          </p:nvPr>
        </p:nvSpPr>
        <p:spPr>
          <a:xfrm>
            <a:off x="11292840" y="6336792"/>
            <a:ext cx="457200" cy="22860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tx1"/>
                </a:solidFill>
              </a:defRPr>
            </a:lvl1pPr>
          </a:lstStyle>
          <a:p>
            <a:pPr algn="r"/>
            <a:fld id="{F7021451-1387-4CA6-816F-3879F97B5CBC}" type="slidenum">
              <a:rPr lang="en-US" b="0"/>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02920" y="658368"/>
            <a:ext cx="11185855" cy="822960"/>
          </a:xfrm>
          <a:prstGeom prst="rect">
            <a:avLst/>
          </a:prstGeom>
          <a:noFill/>
          <a:ln/>
        </p:spPr>
        <p:txBody>
          <a:bodyPr wrap="square" lIns="0" tIns="0" rIns="0" bIns="0" rtlCol="0" anchor="t"/>
          <a:lstStyle/>
          <a:p>
            <a:pPr marL="0" indent="0" algn="l">
              <a:buNone/>
            </a:pPr>
            <a:r>
              <a:rPr lang="en-US" sz="3200" b="1">
                <a:solidFill>
                  <a:schemeClr val="bg1"/>
                </a:solidFill>
              </a:rPr>
              <a:t>Future state: AI agents in a controlled harness</a:t>
            </a:r>
            <a:endParaRPr lang="en-US" sz="3200"/>
          </a:p>
        </p:txBody>
      </p:sp>
      <p:sp>
        <p:nvSpPr>
          <p:cNvPr id="3" name="Text 1"/>
          <p:cNvSpPr txBox="1"/>
          <p:nvPr/>
        </p:nvSpPr>
        <p:spPr>
          <a:xfrm>
            <a:off x="502920" y="1325880"/>
            <a:ext cx="8229600" cy="320040"/>
          </a:xfrm>
          <a:prstGeom prst="rect">
            <a:avLst/>
          </a:prstGeom>
          <a:noFill/>
          <a:ln/>
        </p:spPr>
        <p:txBody>
          <a:bodyPr wrap="square" lIns="0" tIns="0" rIns="0" bIns="0" rtlCol="0" anchor="t"/>
          <a:lstStyle/>
          <a:p>
            <a:pPr marL="0" indent="0">
              <a:buNone/>
            </a:pPr>
            <a:r>
              <a:rPr lang="en-US" sz="1400">
                <a:solidFill>
                  <a:srgbClr val="BFBFBF"/>
                </a:solidFill>
              </a:rPr>
              <a:t>Phase 4, after the core platform is stable. Agentforce and Data Cloud [to confirm].</a:t>
            </a:r>
            <a:endParaRPr lang="en-US" sz="1400"/>
          </a:p>
        </p:txBody>
      </p:sp>
      <p:sp>
        <p:nvSpPr>
          <p:cNvPr id="4" name="Shape 2"/>
          <p:cNvSpPr/>
          <p:nvPr/>
        </p:nvSpPr>
        <p:spPr>
          <a:xfrm>
            <a:off x="2194560" y="2148840"/>
            <a:ext cx="3657600" cy="3657600"/>
          </a:xfrm>
          <a:prstGeom prst="ellipse">
            <a:avLst/>
          </a:prstGeom>
          <a:ln w="12700">
            <a:solidFill>
              <a:srgbClr val="5A5A64"/>
            </a:solidFill>
            <a:prstDash val="sysDot"/>
          </a:ln>
        </p:spPr>
        <p:txBody>
          <a:bodyPr/>
          <a:lstStyle/>
          <a:p>
            <a:endParaRPr lang="en-IN"/>
          </a:p>
        </p:txBody>
      </p:sp>
      <p:sp>
        <p:nvSpPr>
          <p:cNvPr id="5" name="harness"/>
          <p:cNvSpPr/>
          <p:nvPr/>
        </p:nvSpPr>
        <p:spPr>
          <a:xfrm>
            <a:off x="2834640" y="2788920"/>
            <a:ext cx="2377440" cy="2377440"/>
          </a:xfrm>
          <a:prstGeom prst="ellipse">
            <a:avLst/>
          </a:prstGeom>
          <a:solidFill>
            <a:srgbClr val="0E1A1D"/>
          </a:solidFill>
          <a:ln w="28575">
            <a:solidFill>
              <a:srgbClr val="00D6F2"/>
            </a:solidFill>
            <a:prstDash val="solid"/>
          </a:ln>
        </p:spPr>
        <p:txBody>
          <a:bodyPr/>
          <a:lstStyle/>
          <a:p>
            <a:endParaRPr lang="en-IN"/>
          </a:p>
        </p:txBody>
      </p:sp>
      <p:sp>
        <p:nvSpPr>
          <p:cNvPr id="6" name="Text 4"/>
          <p:cNvSpPr txBox="1"/>
          <p:nvPr/>
        </p:nvSpPr>
        <p:spPr>
          <a:xfrm>
            <a:off x="3108960" y="2953512"/>
            <a:ext cx="1828800" cy="256032"/>
          </a:xfrm>
          <a:prstGeom prst="rect">
            <a:avLst/>
          </a:prstGeom>
          <a:noFill/>
          <a:ln/>
        </p:spPr>
        <p:txBody>
          <a:bodyPr wrap="square" lIns="0" tIns="0" rIns="0" bIns="0" rtlCol="0" anchor="t"/>
          <a:lstStyle/>
          <a:p>
            <a:pPr marL="0" indent="0" algn="ctr">
              <a:buNone/>
            </a:pPr>
            <a:r>
              <a:rPr lang="en-US" sz="1000" b="1" kern="0" spc="400">
                <a:solidFill>
                  <a:srgbClr val="00D6F2"/>
                </a:solidFill>
              </a:rPr>
              <a:t>HARNESS</a:t>
            </a:r>
            <a:endParaRPr lang="en-US" sz="1000"/>
          </a:p>
        </p:txBody>
      </p:sp>
      <p:sp>
        <p:nvSpPr>
          <p:cNvPr id="7" name="platform"/>
          <p:cNvSpPr/>
          <p:nvPr/>
        </p:nvSpPr>
        <p:spPr>
          <a:xfrm>
            <a:off x="3291840" y="3319272"/>
            <a:ext cx="1463040" cy="1463040"/>
          </a:xfrm>
          <a:prstGeom prst="ellipse">
            <a:avLst/>
          </a:prstGeom>
          <a:solidFill>
            <a:srgbClr val="00D6F2"/>
          </a:solidFill>
          <a:ln w="12700">
            <a:solidFill>
              <a:srgbClr val="00D6F2"/>
            </a:solidFill>
            <a:prstDash val="solid"/>
          </a:ln>
        </p:spPr>
        <p:txBody>
          <a:bodyPr/>
          <a:lstStyle/>
          <a:p>
            <a:endParaRPr lang="en-IN"/>
          </a:p>
        </p:txBody>
      </p:sp>
      <p:sp>
        <p:nvSpPr>
          <p:cNvPr id="8" name="Text 6"/>
          <p:cNvSpPr txBox="1"/>
          <p:nvPr/>
        </p:nvSpPr>
        <p:spPr>
          <a:xfrm>
            <a:off x="3401568" y="3520440"/>
            <a:ext cx="1243584" cy="1060704"/>
          </a:xfrm>
          <a:prstGeom prst="rect">
            <a:avLst/>
          </a:prstGeom>
          <a:noFill/>
          <a:ln/>
        </p:spPr>
        <p:txBody>
          <a:bodyPr wrap="square" lIns="0" tIns="0" rIns="0" bIns="0" rtlCol="0" anchor="ctr"/>
          <a:lstStyle/>
          <a:p>
            <a:pPr marL="0" indent="0" algn="ctr">
              <a:buNone/>
            </a:pPr>
            <a:r>
              <a:rPr lang="en-US" sz="1150" b="1">
                <a:solidFill>
                  <a:srgbClr val="000000"/>
                </a:solidFill>
              </a:rPr>
              <a:t>Event platform + Marketing Cloud</a:t>
            </a:r>
            <a:endParaRPr lang="en-US" sz="1150"/>
          </a:p>
        </p:txBody>
      </p:sp>
      <p:sp>
        <p:nvSpPr>
          <p:cNvPr id="9" name="Shape 7"/>
          <p:cNvSpPr/>
          <p:nvPr/>
        </p:nvSpPr>
        <p:spPr>
          <a:xfrm flipH="1">
            <a:off x="4023360" y="2560320"/>
            <a:ext cx="0" cy="228600"/>
          </a:xfrm>
          <a:prstGeom prst="line">
            <a:avLst/>
          </a:prstGeom>
          <a:noFill/>
          <a:ln w="15875">
            <a:solidFill>
              <a:srgbClr val="FED700"/>
            </a:solidFill>
            <a:prstDash val="dash"/>
          </a:ln>
        </p:spPr>
        <p:txBody>
          <a:bodyPr/>
          <a:lstStyle/>
          <a:p>
            <a:endParaRPr lang="en-IN"/>
          </a:p>
        </p:txBody>
      </p:sp>
      <p:sp>
        <p:nvSpPr>
          <p:cNvPr id="10" name="agent-Event Ops"/>
          <p:cNvSpPr/>
          <p:nvPr/>
        </p:nvSpPr>
        <p:spPr>
          <a:xfrm>
            <a:off x="3611880" y="1737360"/>
            <a:ext cx="822960" cy="822960"/>
          </a:xfrm>
          <a:prstGeom prst="ellipse">
            <a:avLst/>
          </a:prstGeom>
          <a:solidFill>
            <a:srgbClr val="15151A"/>
          </a:solidFill>
          <a:ln w="22225">
            <a:solidFill>
              <a:srgbClr val="FED700"/>
            </a:solidFill>
            <a:prstDash val="solid"/>
          </a:ln>
        </p:spPr>
        <p:txBody>
          <a:bodyPr/>
          <a:lstStyle/>
          <a:p>
            <a:endParaRPr lang="en-IN"/>
          </a:p>
        </p:txBody>
      </p:sp>
      <p:pic>
        <p:nvPicPr>
          <p:cNvPr id="11" name="Image 0" descr="preencoded.png"/>
          <p:cNvPicPr>
            <a:picLocks noChangeAspect="1"/>
          </p:cNvPicPr>
          <p:nvPr/>
        </p:nvPicPr>
        <p:blipFill>
          <a:blip r:embed="rId3"/>
          <a:stretch>
            <a:fillRect/>
          </a:stretch>
        </p:blipFill>
        <p:spPr>
          <a:xfrm>
            <a:off x="3849624" y="1975104"/>
            <a:ext cx="347472" cy="347472"/>
          </a:xfrm>
          <a:prstGeom prst="rect">
            <a:avLst/>
          </a:prstGeom>
        </p:spPr>
      </p:pic>
      <p:sp>
        <p:nvSpPr>
          <p:cNvPr id="12" name="Text 9"/>
          <p:cNvSpPr txBox="1"/>
          <p:nvPr/>
        </p:nvSpPr>
        <p:spPr>
          <a:xfrm>
            <a:off x="4544568" y="1856232"/>
            <a:ext cx="1828800" cy="274320"/>
          </a:xfrm>
          <a:prstGeom prst="rect">
            <a:avLst/>
          </a:prstGeom>
          <a:noFill/>
          <a:ln/>
        </p:spPr>
        <p:txBody>
          <a:bodyPr wrap="square" lIns="0" tIns="0" rIns="0" bIns="0" rtlCol="0" anchor="t"/>
          <a:lstStyle/>
          <a:p>
            <a:pPr marL="0" indent="0" algn="l">
              <a:buNone/>
            </a:pPr>
            <a:r>
              <a:rPr lang="en-US" sz="1300" b="1">
                <a:solidFill>
                  <a:schemeClr val="bg1"/>
                </a:solidFill>
              </a:rPr>
              <a:t>Event Ops</a:t>
            </a:r>
            <a:endParaRPr lang="en-US" sz="1300"/>
          </a:p>
        </p:txBody>
      </p:sp>
      <p:sp>
        <p:nvSpPr>
          <p:cNvPr id="13" name="Text 10"/>
          <p:cNvSpPr txBox="1"/>
          <p:nvPr/>
        </p:nvSpPr>
        <p:spPr>
          <a:xfrm>
            <a:off x="4544568" y="2130552"/>
            <a:ext cx="1828800" cy="603504"/>
          </a:xfrm>
          <a:prstGeom prst="rect">
            <a:avLst/>
          </a:prstGeom>
          <a:noFill/>
          <a:ln/>
        </p:spPr>
        <p:txBody>
          <a:bodyPr wrap="square" lIns="0" tIns="0" rIns="0" bIns="0" rtlCol="0" anchor="t"/>
          <a:lstStyle/>
          <a:p>
            <a:pPr marL="0" indent="0" algn="l">
              <a:buNone/>
            </a:pPr>
            <a:r>
              <a:rPr lang="en-US" sz="1050">
                <a:solidFill>
                  <a:srgbClr val="BFBFBF"/>
                </a:solidFill>
              </a:rPr>
              <a:t>Sessions, capacity, reminders</a:t>
            </a:r>
            <a:endParaRPr lang="en-US" sz="1050"/>
          </a:p>
        </p:txBody>
      </p:sp>
      <p:sp>
        <p:nvSpPr>
          <p:cNvPr id="14" name="Shape 11"/>
          <p:cNvSpPr/>
          <p:nvPr/>
        </p:nvSpPr>
        <p:spPr>
          <a:xfrm flipH="1">
            <a:off x="5153900" y="3539664"/>
            <a:ext cx="217412" cy="70641"/>
          </a:xfrm>
          <a:prstGeom prst="line">
            <a:avLst/>
          </a:prstGeom>
          <a:noFill/>
          <a:ln w="15875">
            <a:solidFill>
              <a:srgbClr val="FF0068"/>
            </a:solidFill>
            <a:prstDash val="dash"/>
          </a:ln>
        </p:spPr>
        <p:txBody>
          <a:bodyPr/>
          <a:lstStyle/>
          <a:p>
            <a:endParaRPr lang="en-IN"/>
          </a:p>
        </p:txBody>
      </p:sp>
      <p:sp>
        <p:nvSpPr>
          <p:cNvPr id="15" name="agent-Demand"/>
          <p:cNvSpPr/>
          <p:nvPr/>
        </p:nvSpPr>
        <p:spPr>
          <a:xfrm>
            <a:off x="5351172" y="3001030"/>
            <a:ext cx="822960" cy="822960"/>
          </a:xfrm>
          <a:prstGeom prst="ellipse">
            <a:avLst/>
          </a:prstGeom>
          <a:solidFill>
            <a:srgbClr val="15151A"/>
          </a:solidFill>
          <a:ln w="22225">
            <a:solidFill>
              <a:srgbClr val="FF0068"/>
            </a:solidFill>
            <a:prstDash val="solid"/>
          </a:ln>
        </p:spPr>
        <p:txBody>
          <a:bodyPr/>
          <a:lstStyle/>
          <a:p>
            <a:endParaRPr lang="en-IN"/>
          </a:p>
        </p:txBody>
      </p:sp>
      <p:pic>
        <p:nvPicPr>
          <p:cNvPr id="16" name="Image 1" descr="preencoded.png"/>
          <p:cNvPicPr>
            <a:picLocks noChangeAspect="1"/>
          </p:cNvPicPr>
          <p:nvPr/>
        </p:nvPicPr>
        <p:blipFill>
          <a:blip r:embed="rId4"/>
          <a:stretch>
            <a:fillRect/>
          </a:stretch>
        </p:blipFill>
        <p:spPr>
          <a:xfrm>
            <a:off x="5588916" y="3238774"/>
            <a:ext cx="347472" cy="347472"/>
          </a:xfrm>
          <a:prstGeom prst="rect">
            <a:avLst/>
          </a:prstGeom>
        </p:spPr>
      </p:pic>
      <p:sp>
        <p:nvSpPr>
          <p:cNvPr id="17" name="Text 13"/>
          <p:cNvSpPr txBox="1"/>
          <p:nvPr/>
        </p:nvSpPr>
        <p:spPr>
          <a:xfrm>
            <a:off x="6283860" y="3119902"/>
            <a:ext cx="1214220" cy="274320"/>
          </a:xfrm>
          <a:prstGeom prst="rect">
            <a:avLst/>
          </a:prstGeom>
          <a:noFill/>
          <a:ln/>
        </p:spPr>
        <p:txBody>
          <a:bodyPr wrap="square" lIns="0" tIns="0" rIns="0" bIns="0" rtlCol="0" anchor="t"/>
          <a:lstStyle/>
          <a:p>
            <a:pPr marL="0" indent="0" algn="l">
              <a:buNone/>
            </a:pPr>
            <a:r>
              <a:rPr lang="en-US" sz="1300" b="1">
                <a:solidFill>
                  <a:schemeClr val="bg1"/>
                </a:solidFill>
              </a:rPr>
              <a:t>Demand</a:t>
            </a:r>
            <a:endParaRPr lang="en-US" sz="1300"/>
          </a:p>
        </p:txBody>
      </p:sp>
      <p:sp>
        <p:nvSpPr>
          <p:cNvPr id="18" name="Text 14"/>
          <p:cNvSpPr txBox="1"/>
          <p:nvPr/>
        </p:nvSpPr>
        <p:spPr>
          <a:xfrm>
            <a:off x="6283860" y="3394222"/>
            <a:ext cx="1214220" cy="603504"/>
          </a:xfrm>
          <a:prstGeom prst="rect">
            <a:avLst/>
          </a:prstGeom>
          <a:noFill/>
          <a:ln/>
        </p:spPr>
        <p:txBody>
          <a:bodyPr wrap="square" lIns="0" tIns="0" rIns="0" bIns="0" rtlCol="0" anchor="t"/>
          <a:lstStyle/>
          <a:p>
            <a:pPr marL="0" indent="0" algn="l">
              <a:buNone/>
            </a:pPr>
            <a:r>
              <a:rPr lang="en-US" sz="1050">
                <a:solidFill>
                  <a:srgbClr val="BFBFBF"/>
                </a:solidFill>
              </a:rPr>
              <a:t>Spots surges, drafts new dates</a:t>
            </a:r>
            <a:endParaRPr lang="en-US" sz="1050"/>
          </a:p>
        </p:txBody>
      </p:sp>
      <p:sp>
        <p:nvSpPr>
          <p:cNvPr id="19" name="Shape 15"/>
          <p:cNvSpPr/>
          <p:nvPr/>
        </p:nvSpPr>
        <p:spPr>
          <a:xfrm>
            <a:off x="4722072" y="4939335"/>
            <a:ext cx="134368" cy="184941"/>
          </a:xfrm>
          <a:prstGeom prst="line">
            <a:avLst/>
          </a:prstGeom>
          <a:noFill/>
          <a:ln w="15875">
            <a:solidFill>
              <a:srgbClr val="FED700"/>
            </a:solidFill>
            <a:prstDash val="dash"/>
          </a:ln>
        </p:spPr>
        <p:txBody>
          <a:bodyPr/>
          <a:lstStyle/>
          <a:p>
            <a:endParaRPr lang="en-IN"/>
          </a:p>
        </p:txBody>
      </p:sp>
      <p:sp>
        <p:nvSpPr>
          <p:cNvPr id="20" name="agent-Campaign"/>
          <p:cNvSpPr/>
          <p:nvPr/>
        </p:nvSpPr>
        <p:spPr>
          <a:xfrm>
            <a:off x="4686822" y="5045690"/>
            <a:ext cx="822960" cy="822960"/>
          </a:xfrm>
          <a:prstGeom prst="ellipse">
            <a:avLst/>
          </a:prstGeom>
          <a:solidFill>
            <a:srgbClr val="15151A"/>
          </a:solidFill>
          <a:ln w="22225">
            <a:solidFill>
              <a:srgbClr val="FED700"/>
            </a:solidFill>
            <a:prstDash val="solid"/>
          </a:ln>
        </p:spPr>
        <p:txBody>
          <a:bodyPr/>
          <a:lstStyle/>
          <a:p>
            <a:endParaRPr lang="en-IN"/>
          </a:p>
        </p:txBody>
      </p:sp>
      <p:pic>
        <p:nvPicPr>
          <p:cNvPr id="21" name="Image 2" descr="preencoded.png"/>
          <p:cNvPicPr>
            <a:picLocks noChangeAspect="1"/>
          </p:cNvPicPr>
          <p:nvPr/>
        </p:nvPicPr>
        <p:blipFill>
          <a:blip r:embed="rId5"/>
          <a:stretch>
            <a:fillRect/>
          </a:stretch>
        </p:blipFill>
        <p:spPr>
          <a:xfrm>
            <a:off x="4924566" y="5283434"/>
            <a:ext cx="347472" cy="347472"/>
          </a:xfrm>
          <a:prstGeom prst="rect">
            <a:avLst/>
          </a:prstGeom>
        </p:spPr>
      </p:pic>
      <p:sp>
        <p:nvSpPr>
          <p:cNvPr id="22" name="Text 17"/>
          <p:cNvSpPr txBox="1"/>
          <p:nvPr/>
        </p:nvSpPr>
        <p:spPr>
          <a:xfrm>
            <a:off x="5619510" y="5164562"/>
            <a:ext cx="1828800" cy="274320"/>
          </a:xfrm>
          <a:prstGeom prst="rect">
            <a:avLst/>
          </a:prstGeom>
          <a:noFill/>
          <a:ln/>
        </p:spPr>
        <p:txBody>
          <a:bodyPr wrap="square" lIns="0" tIns="0" rIns="0" bIns="0" rtlCol="0" anchor="t"/>
          <a:lstStyle/>
          <a:p>
            <a:pPr marL="0" indent="0" algn="l">
              <a:buNone/>
            </a:pPr>
            <a:r>
              <a:rPr lang="en-US" sz="1300" b="1">
                <a:solidFill>
                  <a:schemeClr val="bg1"/>
                </a:solidFill>
              </a:rPr>
              <a:t>Campaign</a:t>
            </a:r>
            <a:endParaRPr lang="en-US" sz="1300"/>
          </a:p>
        </p:txBody>
      </p:sp>
      <p:sp>
        <p:nvSpPr>
          <p:cNvPr id="23" name="Text 18"/>
          <p:cNvSpPr txBox="1"/>
          <p:nvPr/>
        </p:nvSpPr>
        <p:spPr>
          <a:xfrm>
            <a:off x="5619510" y="5438882"/>
            <a:ext cx="1828800" cy="603504"/>
          </a:xfrm>
          <a:prstGeom prst="rect">
            <a:avLst/>
          </a:prstGeom>
          <a:noFill/>
          <a:ln/>
        </p:spPr>
        <p:txBody>
          <a:bodyPr wrap="square" lIns="0" tIns="0" rIns="0" bIns="0" rtlCol="0" anchor="t"/>
          <a:lstStyle/>
          <a:p>
            <a:pPr marL="0" indent="0" algn="l">
              <a:buNone/>
            </a:pPr>
            <a:r>
              <a:rPr lang="en-US" sz="1050">
                <a:solidFill>
                  <a:srgbClr val="BFBFBF"/>
                </a:solidFill>
              </a:rPr>
              <a:t>Builds PEI journeys</a:t>
            </a:r>
            <a:endParaRPr lang="en-US" sz="1050"/>
          </a:p>
        </p:txBody>
      </p:sp>
      <p:sp>
        <p:nvSpPr>
          <p:cNvPr id="24" name="Shape 19"/>
          <p:cNvSpPr/>
          <p:nvPr/>
        </p:nvSpPr>
        <p:spPr>
          <a:xfrm flipH="1">
            <a:off x="3190280" y="4939335"/>
            <a:ext cx="134368" cy="184941"/>
          </a:xfrm>
          <a:prstGeom prst="line">
            <a:avLst/>
          </a:prstGeom>
          <a:noFill/>
          <a:ln w="15875">
            <a:solidFill>
              <a:srgbClr val="FF0068"/>
            </a:solidFill>
            <a:prstDash val="dash"/>
          </a:ln>
        </p:spPr>
        <p:txBody>
          <a:bodyPr/>
          <a:lstStyle/>
          <a:p>
            <a:endParaRPr lang="en-IN"/>
          </a:p>
        </p:txBody>
      </p:sp>
      <p:sp>
        <p:nvSpPr>
          <p:cNvPr id="25" name="agent-Concierge"/>
          <p:cNvSpPr/>
          <p:nvPr/>
        </p:nvSpPr>
        <p:spPr>
          <a:xfrm>
            <a:off x="2536938" y="5045690"/>
            <a:ext cx="822960" cy="822960"/>
          </a:xfrm>
          <a:prstGeom prst="ellipse">
            <a:avLst/>
          </a:prstGeom>
          <a:solidFill>
            <a:srgbClr val="15151A"/>
          </a:solidFill>
          <a:ln w="22225">
            <a:solidFill>
              <a:srgbClr val="FF0068"/>
            </a:solidFill>
            <a:prstDash val="solid"/>
          </a:ln>
        </p:spPr>
        <p:txBody>
          <a:bodyPr/>
          <a:lstStyle/>
          <a:p>
            <a:endParaRPr lang="en-IN"/>
          </a:p>
        </p:txBody>
      </p:sp>
      <p:pic>
        <p:nvPicPr>
          <p:cNvPr id="26" name="Image 3" descr="preencoded.png"/>
          <p:cNvPicPr>
            <a:picLocks noChangeAspect="1"/>
          </p:cNvPicPr>
          <p:nvPr/>
        </p:nvPicPr>
        <p:blipFill>
          <a:blip r:embed="rId6"/>
          <a:stretch>
            <a:fillRect/>
          </a:stretch>
        </p:blipFill>
        <p:spPr>
          <a:xfrm>
            <a:off x="2774682" y="5283434"/>
            <a:ext cx="347472" cy="347472"/>
          </a:xfrm>
          <a:prstGeom prst="rect">
            <a:avLst/>
          </a:prstGeom>
        </p:spPr>
      </p:pic>
      <p:sp>
        <p:nvSpPr>
          <p:cNvPr id="27" name="Text 21"/>
          <p:cNvSpPr txBox="1"/>
          <p:nvPr/>
        </p:nvSpPr>
        <p:spPr>
          <a:xfrm>
            <a:off x="598410" y="5164562"/>
            <a:ext cx="1828800" cy="274320"/>
          </a:xfrm>
          <a:prstGeom prst="rect">
            <a:avLst/>
          </a:prstGeom>
          <a:noFill/>
          <a:ln/>
        </p:spPr>
        <p:txBody>
          <a:bodyPr wrap="square" lIns="0" tIns="0" rIns="0" bIns="0" rtlCol="0" anchor="t"/>
          <a:lstStyle/>
          <a:p>
            <a:pPr marL="0" indent="0" algn="r">
              <a:buNone/>
            </a:pPr>
            <a:r>
              <a:rPr lang="en-US" sz="1300" b="1">
                <a:solidFill>
                  <a:schemeClr val="bg1"/>
                </a:solidFill>
              </a:rPr>
              <a:t>Concierge</a:t>
            </a:r>
            <a:endParaRPr lang="en-US" sz="1300"/>
          </a:p>
        </p:txBody>
      </p:sp>
      <p:sp>
        <p:nvSpPr>
          <p:cNvPr id="28" name="Text 22"/>
          <p:cNvSpPr txBox="1"/>
          <p:nvPr/>
        </p:nvSpPr>
        <p:spPr>
          <a:xfrm>
            <a:off x="598410" y="5438882"/>
            <a:ext cx="1828800" cy="603504"/>
          </a:xfrm>
          <a:prstGeom prst="rect">
            <a:avLst/>
          </a:prstGeom>
          <a:noFill/>
          <a:ln/>
        </p:spPr>
        <p:txBody>
          <a:bodyPr wrap="square" lIns="0" tIns="0" rIns="0" bIns="0" rtlCol="0" anchor="t"/>
          <a:lstStyle/>
          <a:p>
            <a:pPr marL="0" indent="0" algn="r">
              <a:buNone/>
            </a:pPr>
            <a:r>
              <a:rPr lang="en-US" sz="1050">
                <a:solidFill>
                  <a:srgbClr val="BFBFBF"/>
                </a:solidFill>
              </a:rPr>
              <a:t>Registers and answers on web, app, SMS</a:t>
            </a:r>
            <a:endParaRPr lang="en-US" sz="1050"/>
          </a:p>
        </p:txBody>
      </p:sp>
      <p:sp>
        <p:nvSpPr>
          <p:cNvPr id="29" name="Shape 23"/>
          <p:cNvSpPr/>
          <p:nvPr/>
        </p:nvSpPr>
        <p:spPr>
          <a:xfrm>
            <a:off x="2675409" y="3539664"/>
            <a:ext cx="217412" cy="70641"/>
          </a:xfrm>
          <a:prstGeom prst="line">
            <a:avLst/>
          </a:prstGeom>
          <a:noFill/>
          <a:ln w="15875">
            <a:solidFill>
              <a:srgbClr val="FED700"/>
            </a:solidFill>
            <a:prstDash val="dash"/>
          </a:ln>
        </p:spPr>
        <p:txBody>
          <a:bodyPr/>
          <a:lstStyle/>
          <a:p>
            <a:endParaRPr lang="en-IN"/>
          </a:p>
        </p:txBody>
      </p:sp>
      <p:sp>
        <p:nvSpPr>
          <p:cNvPr id="30" name="agent-Insights"/>
          <p:cNvSpPr/>
          <p:nvPr/>
        </p:nvSpPr>
        <p:spPr>
          <a:xfrm>
            <a:off x="1872588" y="3001030"/>
            <a:ext cx="822960" cy="822960"/>
          </a:xfrm>
          <a:prstGeom prst="ellipse">
            <a:avLst/>
          </a:prstGeom>
          <a:solidFill>
            <a:srgbClr val="15151A"/>
          </a:solidFill>
          <a:ln w="22225">
            <a:solidFill>
              <a:srgbClr val="FED700"/>
            </a:solidFill>
            <a:prstDash val="solid"/>
          </a:ln>
        </p:spPr>
        <p:txBody>
          <a:bodyPr/>
          <a:lstStyle/>
          <a:p>
            <a:endParaRPr lang="en-IN"/>
          </a:p>
        </p:txBody>
      </p:sp>
      <p:pic>
        <p:nvPicPr>
          <p:cNvPr id="31" name="Image 4" descr="preencoded.png"/>
          <p:cNvPicPr>
            <a:picLocks noChangeAspect="1"/>
          </p:cNvPicPr>
          <p:nvPr/>
        </p:nvPicPr>
        <p:blipFill>
          <a:blip r:embed="rId7"/>
          <a:stretch>
            <a:fillRect/>
          </a:stretch>
        </p:blipFill>
        <p:spPr>
          <a:xfrm>
            <a:off x="2110332" y="3238774"/>
            <a:ext cx="347472" cy="347472"/>
          </a:xfrm>
          <a:prstGeom prst="rect">
            <a:avLst/>
          </a:prstGeom>
        </p:spPr>
      </p:pic>
      <p:sp>
        <p:nvSpPr>
          <p:cNvPr id="32" name="Text 25"/>
          <p:cNvSpPr txBox="1"/>
          <p:nvPr/>
        </p:nvSpPr>
        <p:spPr>
          <a:xfrm>
            <a:off x="502920" y="3119902"/>
            <a:ext cx="1259940" cy="274320"/>
          </a:xfrm>
          <a:prstGeom prst="rect">
            <a:avLst/>
          </a:prstGeom>
          <a:noFill/>
          <a:ln/>
        </p:spPr>
        <p:txBody>
          <a:bodyPr wrap="square" lIns="0" tIns="0" rIns="0" bIns="0" rtlCol="0" anchor="t"/>
          <a:lstStyle/>
          <a:p>
            <a:pPr marL="0" indent="0" algn="r">
              <a:buNone/>
            </a:pPr>
            <a:r>
              <a:rPr lang="en-US" sz="1300" b="1">
                <a:solidFill>
                  <a:schemeClr val="bg1"/>
                </a:solidFill>
              </a:rPr>
              <a:t>Insights</a:t>
            </a:r>
            <a:endParaRPr lang="en-US" sz="1300"/>
          </a:p>
        </p:txBody>
      </p:sp>
      <p:sp>
        <p:nvSpPr>
          <p:cNvPr id="33" name="Text 26"/>
          <p:cNvSpPr txBox="1"/>
          <p:nvPr/>
        </p:nvSpPr>
        <p:spPr>
          <a:xfrm>
            <a:off x="502920" y="3394222"/>
            <a:ext cx="1259940" cy="603504"/>
          </a:xfrm>
          <a:prstGeom prst="rect">
            <a:avLst/>
          </a:prstGeom>
          <a:noFill/>
          <a:ln/>
        </p:spPr>
        <p:txBody>
          <a:bodyPr wrap="square" lIns="0" tIns="0" rIns="0" bIns="0" rtlCol="0" anchor="t"/>
          <a:lstStyle/>
          <a:p>
            <a:pPr marL="0" indent="0" algn="r">
              <a:buNone/>
            </a:pPr>
            <a:r>
              <a:rPr lang="en-US" sz="1050">
                <a:solidFill>
                  <a:srgbClr val="BFBFBF"/>
                </a:solidFill>
              </a:rPr>
              <a:t>Summarizes feedback and results</a:t>
            </a:r>
            <a:endParaRPr lang="en-US" sz="1050"/>
          </a:p>
        </p:txBody>
      </p:sp>
      <p:sp>
        <p:nvSpPr>
          <p:cNvPr id="34" name="Text 27"/>
          <p:cNvSpPr txBox="1"/>
          <p:nvPr/>
        </p:nvSpPr>
        <p:spPr>
          <a:xfrm>
            <a:off x="7635240" y="1600200"/>
            <a:ext cx="4050792" cy="365760"/>
          </a:xfrm>
          <a:prstGeom prst="rect">
            <a:avLst/>
          </a:prstGeom>
          <a:noFill/>
          <a:ln/>
        </p:spPr>
        <p:txBody>
          <a:bodyPr wrap="square" lIns="0" tIns="0" rIns="0" bIns="0" rtlCol="0" anchor="t"/>
          <a:lstStyle/>
          <a:p>
            <a:pPr marL="0" indent="0">
              <a:buNone/>
            </a:pPr>
            <a:r>
              <a:rPr lang="en-US" sz="1700" b="1">
                <a:solidFill>
                  <a:schemeClr val="bg1"/>
                </a:solidFill>
              </a:rPr>
              <a:t>What the harness controls</a:t>
            </a:r>
            <a:endParaRPr lang="en-US" sz="1700"/>
          </a:p>
        </p:txBody>
      </p:sp>
      <p:pic>
        <p:nvPicPr>
          <p:cNvPr id="35" name="Image 5" descr="preencoded.png"/>
          <p:cNvPicPr>
            <a:picLocks noChangeAspect="1"/>
          </p:cNvPicPr>
          <p:nvPr/>
        </p:nvPicPr>
        <p:blipFill>
          <a:blip r:embed="rId8"/>
          <a:stretch>
            <a:fillRect/>
          </a:stretch>
        </p:blipFill>
        <p:spPr>
          <a:xfrm>
            <a:off x="7635240" y="2130552"/>
            <a:ext cx="237744" cy="237744"/>
          </a:xfrm>
          <a:prstGeom prst="rect">
            <a:avLst/>
          </a:prstGeom>
        </p:spPr>
      </p:pic>
      <p:sp>
        <p:nvSpPr>
          <p:cNvPr id="36" name="Text 28"/>
          <p:cNvSpPr txBox="1"/>
          <p:nvPr/>
        </p:nvSpPr>
        <p:spPr>
          <a:xfrm>
            <a:off x="8019288" y="2103120"/>
            <a:ext cx="3666744" cy="310896"/>
          </a:xfrm>
          <a:prstGeom prst="rect">
            <a:avLst/>
          </a:prstGeom>
          <a:noFill/>
          <a:ln/>
        </p:spPr>
        <p:txBody>
          <a:bodyPr wrap="square" lIns="0" tIns="0" rIns="0" bIns="0" rtlCol="0" anchor="ctr"/>
          <a:lstStyle/>
          <a:p>
            <a:pPr marL="0" indent="0">
              <a:buNone/>
            </a:pPr>
            <a:r>
              <a:rPr lang="en-US" sz="1200">
                <a:solidFill>
                  <a:schemeClr val="bg1"/>
                </a:solidFill>
              </a:rPr>
              <a:t>Approved actions only</a:t>
            </a:r>
            <a:endParaRPr lang="en-US" sz="1200"/>
          </a:p>
        </p:txBody>
      </p:sp>
      <p:pic>
        <p:nvPicPr>
          <p:cNvPr id="37" name="Image 6" descr="preencoded.png"/>
          <p:cNvPicPr>
            <a:picLocks noChangeAspect="1"/>
          </p:cNvPicPr>
          <p:nvPr/>
        </p:nvPicPr>
        <p:blipFill>
          <a:blip r:embed="rId9"/>
          <a:stretch>
            <a:fillRect/>
          </a:stretch>
        </p:blipFill>
        <p:spPr>
          <a:xfrm>
            <a:off x="7635240" y="2560320"/>
            <a:ext cx="237744" cy="237744"/>
          </a:xfrm>
          <a:prstGeom prst="rect">
            <a:avLst/>
          </a:prstGeom>
        </p:spPr>
      </p:pic>
      <p:sp>
        <p:nvSpPr>
          <p:cNvPr id="38" name="Text 29"/>
          <p:cNvSpPr txBox="1"/>
          <p:nvPr/>
        </p:nvSpPr>
        <p:spPr>
          <a:xfrm>
            <a:off x="8019288" y="2532888"/>
            <a:ext cx="3666744" cy="310896"/>
          </a:xfrm>
          <a:prstGeom prst="rect">
            <a:avLst/>
          </a:prstGeom>
          <a:noFill/>
          <a:ln/>
        </p:spPr>
        <p:txBody>
          <a:bodyPr wrap="square" lIns="0" tIns="0" rIns="0" bIns="0" rtlCol="0" anchor="ctr"/>
          <a:lstStyle/>
          <a:p>
            <a:pPr marL="0" indent="0">
              <a:buNone/>
            </a:pPr>
            <a:r>
              <a:rPr lang="en-US" sz="1200">
                <a:solidFill>
                  <a:schemeClr val="bg1"/>
                </a:solidFill>
              </a:rPr>
              <a:t>Guardrails: consent, patient data, spend limits</a:t>
            </a:r>
            <a:endParaRPr lang="en-US" sz="1200"/>
          </a:p>
        </p:txBody>
      </p:sp>
      <p:pic>
        <p:nvPicPr>
          <p:cNvPr id="39" name="Image 7" descr="preencoded.png"/>
          <p:cNvPicPr>
            <a:picLocks noChangeAspect="1"/>
          </p:cNvPicPr>
          <p:nvPr/>
        </p:nvPicPr>
        <p:blipFill>
          <a:blip r:embed="rId10"/>
          <a:stretch>
            <a:fillRect/>
          </a:stretch>
        </p:blipFill>
        <p:spPr>
          <a:xfrm>
            <a:off x="7635240" y="2990088"/>
            <a:ext cx="237744" cy="237744"/>
          </a:xfrm>
          <a:prstGeom prst="rect">
            <a:avLst/>
          </a:prstGeom>
        </p:spPr>
      </p:pic>
      <p:sp>
        <p:nvSpPr>
          <p:cNvPr id="40" name="Text 30"/>
          <p:cNvSpPr txBox="1"/>
          <p:nvPr/>
        </p:nvSpPr>
        <p:spPr>
          <a:xfrm>
            <a:off x="8019288" y="2962656"/>
            <a:ext cx="3666744" cy="310896"/>
          </a:xfrm>
          <a:prstGeom prst="rect">
            <a:avLst/>
          </a:prstGeom>
          <a:noFill/>
          <a:ln/>
        </p:spPr>
        <p:txBody>
          <a:bodyPr wrap="square" lIns="0" tIns="0" rIns="0" bIns="0" rtlCol="0" anchor="ctr"/>
          <a:lstStyle/>
          <a:p>
            <a:pPr marL="0" indent="0">
              <a:buNone/>
            </a:pPr>
            <a:r>
              <a:rPr lang="en-US" sz="1200">
                <a:solidFill>
                  <a:schemeClr val="bg1"/>
                </a:solidFill>
              </a:rPr>
              <a:t>Staff approve anything sent or published</a:t>
            </a:r>
            <a:endParaRPr lang="en-US" sz="1200"/>
          </a:p>
        </p:txBody>
      </p:sp>
      <p:pic>
        <p:nvPicPr>
          <p:cNvPr id="41" name="Image 8" descr="preencoded.png"/>
          <p:cNvPicPr>
            <a:picLocks noChangeAspect="1"/>
          </p:cNvPicPr>
          <p:nvPr/>
        </p:nvPicPr>
        <p:blipFill>
          <a:blip r:embed="rId11"/>
          <a:stretch>
            <a:fillRect/>
          </a:stretch>
        </p:blipFill>
        <p:spPr>
          <a:xfrm>
            <a:off x="7635240" y="3419856"/>
            <a:ext cx="237744" cy="237744"/>
          </a:xfrm>
          <a:prstGeom prst="rect">
            <a:avLst/>
          </a:prstGeom>
        </p:spPr>
      </p:pic>
      <p:sp>
        <p:nvSpPr>
          <p:cNvPr id="42" name="Text 31"/>
          <p:cNvSpPr txBox="1"/>
          <p:nvPr/>
        </p:nvSpPr>
        <p:spPr>
          <a:xfrm>
            <a:off x="8019288" y="3392424"/>
            <a:ext cx="3666744" cy="310896"/>
          </a:xfrm>
          <a:prstGeom prst="rect">
            <a:avLst/>
          </a:prstGeom>
          <a:noFill/>
          <a:ln/>
        </p:spPr>
        <p:txBody>
          <a:bodyPr wrap="square" lIns="0" tIns="0" rIns="0" bIns="0" rtlCol="0" anchor="ctr"/>
          <a:lstStyle/>
          <a:p>
            <a:pPr marL="0" indent="0">
              <a:buNone/>
            </a:pPr>
            <a:r>
              <a:rPr lang="en-US" sz="1200">
                <a:solidFill>
                  <a:schemeClr val="bg1"/>
                </a:solidFill>
              </a:rPr>
              <a:t>Least-privilege identity per agent</a:t>
            </a:r>
            <a:endParaRPr lang="en-US" sz="1200"/>
          </a:p>
        </p:txBody>
      </p:sp>
      <p:pic>
        <p:nvPicPr>
          <p:cNvPr id="43" name="Image 9" descr="preencoded.png"/>
          <p:cNvPicPr>
            <a:picLocks noChangeAspect="1"/>
          </p:cNvPicPr>
          <p:nvPr/>
        </p:nvPicPr>
        <p:blipFill>
          <a:blip r:embed="rId12"/>
          <a:stretch>
            <a:fillRect/>
          </a:stretch>
        </p:blipFill>
        <p:spPr>
          <a:xfrm>
            <a:off x="7635240" y="3849624"/>
            <a:ext cx="237744" cy="237744"/>
          </a:xfrm>
          <a:prstGeom prst="rect">
            <a:avLst/>
          </a:prstGeom>
        </p:spPr>
      </p:pic>
      <p:sp>
        <p:nvSpPr>
          <p:cNvPr id="44" name="Text 32"/>
          <p:cNvSpPr txBox="1"/>
          <p:nvPr/>
        </p:nvSpPr>
        <p:spPr>
          <a:xfrm>
            <a:off x="8019288" y="3822192"/>
            <a:ext cx="3666744" cy="310896"/>
          </a:xfrm>
          <a:prstGeom prst="rect">
            <a:avLst/>
          </a:prstGeom>
          <a:noFill/>
          <a:ln/>
        </p:spPr>
        <p:txBody>
          <a:bodyPr wrap="square" lIns="0" tIns="0" rIns="0" bIns="0" rtlCol="0" anchor="ctr"/>
          <a:lstStyle/>
          <a:p>
            <a:pPr marL="0" indent="0">
              <a:buNone/>
            </a:pPr>
            <a:r>
              <a:rPr lang="en-US" sz="1200">
                <a:solidFill>
                  <a:schemeClr val="bg1"/>
                </a:solidFill>
              </a:rPr>
              <a:t>Full audit trail of every action</a:t>
            </a:r>
            <a:endParaRPr lang="en-US" sz="1200"/>
          </a:p>
        </p:txBody>
      </p:sp>
      <p:pic>
        <p:nvPicPr>
          <p:cNvPr id="45" name="Image 10" descr="preencoded.png"/>
          <p:cNvPicPr>
            <a:picLocks noChangeAspect="1"/>
          </p:cNvPicPr>
          <p:nvPr/>
        </p:nvPicPr>
        <p:blipFill>
          <a:blip r:embed="rId13"/>
          <a:stretch>
            <a:fillRect/>
          </a:stretch>
        </p:blipFill>
        <p:spPr>
          <a:xfrm>
            <a:off x="7635240" y="4279392"/>
            <a:ext cx="237744" cy="237744"/>
          </a:xfrm>
          <a:prstGeom prst="rect">
            <a:avLst/>
          </a:prstGeom>
        </p:spPr>
      </p:pic>
      <p:sp>
        <p:nvSpPr>
          <p:cNvPr id="46" name="Text 33"/>
          <p:cNvSpPr txBox="1"/>
          <p:nvPr/>
        </p:nvSpPr>
        <p:spPr>
          <a:xfrm>
            <a:off x="8019288" y="4251960"/>
            <a:ext cx="3666744" cy="310896"/>
          </a:xfrm>
          <a:prstGeom prst="rect">
            <a:avLst/>
          </a:prstGeom>
          <a:noFill/>
          <a:ln/>
        </p:spPr>
        <p:txBody>
          <a:bodyPr wrap="square" lIns="0" tIns="0" rIns="0" bIns="0" rtlCol="0" anchor="ctr"/>
          <a:lstStyle/>
          <a:p>
            <a:pPr marL="0" indent="0">
              <a:buNone/>
            </a:pPr>
            <a:r>
              <a:rPr lang="en-US" sz="1200">
                <a:solidFill>
                  <a:schemeClr val="bg1"/>
                </a:solidFill>
              </a:rPr>
              <a:t>Tested and evaluated before each release</a:t>
            </a:r>
            <a:endParaRPr lang="en-US" sz="1200"/>
          </a:p>
        </p:txBody>
      </p:sp>
      <p:pic>
        <p:nvPicPr>
          <p:cNvPr id="47" name="Image 11" descr="preencoded.png"/>
          <p:cNvPicPr>
            <a:picLocks noChangeAspect="1"/>
          </p:cNvPicPr>
          <p:nvPr/>
        </p:nvPicPr>
        <p:blipFill>
          <a:blip r:embed="rId14"/>
          <a:stretch>
            <a:fillRect/>
          </a:stretch>
        </p:blipFill>
        <p:spPr>
          <a:xfrm>
            <a:off x="7635240" y="4709160"/>
            <a:ext cx="237744" cy="237744"/>
          </a:xfrm>
          <a:prstGeom prst="rect">
            <a:avLst/>
          </a:prstGeom>
        </p:spPr>
      </p:pic>
      <p:sp>
        <p:nvSpPr>
          <p:cNvPr id="48" name="Text 34"/>
          <p:cNvSpPr txBox="1"/>
          <p:nvPr/>
        </p:nvSpPr>
        <p:spPr>
          <a:xfrm>
            <a:off x="8019288" y="4681728"/>
            <a:ext cx="3666744" cy="310896"/>
          </a:xfrm>
          <a:prstGeom prst="rect">
            <a:avLst/>
          </a:prstGeom>
          <a:noFill/>
          <a:ln/>
        </p:spPr>
        <p:txBody>
          <a:bodyPr wrap="square" lIns="0" tIns="0" rIns="0" bIns="0" rtlCol="0" anchor="ctr"/>
          <a:lstStyle/>
          <a:p>
            <a:pPr marL="0" indent="0">
              <a:buNone/>
            </a:pPr>
            <a:r>
              <a:rPr lang="en-US" sz="1200">
                <a:solidFill>
                  <a:schemeClr val="bg1"/>
                </a:solidFill>
              </a:rPr>
              <a:t>Einstein Trust Layer: masking, zero data retention</a:t>
            </a:r>
            <a:endParaRPr lang="en-US" sz="1200"/>
          </a:p>
        </p:txBody>
      </p:sp>
      <p:pic>
        <p:nvPicPr>
          <p:cNvPr id="49" name="Image 12" descr="preencoded.png"/>
          <p:cNvPicPr>
            <a:picLocks noChangeAspect="1"/>
          </p:cNvPicPr>
          <p:nvPr/>
        </p:nvPicPr>
        <p:blipFill>
          <a:blip r:embed="rId15"/>
          <a:stretch>
            <a:fillRect/>
          </a:stretch>
        </p:blipFill>
        <p:spPr>
          <a:xfrm>
            <a:off x="7635240" y="5138928"/>
            <a:ext cx="237744" cy="237744"/>
          </a:xfrm>
          <a:prstGeom prst="rect">
            <a:avLst/>
          </a:prstGeom>
        </p:spPr>
      </p:pic>
      <p:sp>
        <p:nvSpPr>
          <p:cNvPr id="50" name="Text 35"/>
          <p:cNvSpPr txBox="1"/>
          <p:nvPr/>
        </p:nvSpPr>
        <p:spPr>
          <a:xfrm>
            <a:off x="8019288" y="5111496"/>
            <a:ext cx="3666744" cy="310896"/>
          </a:xfrm>
          <a:prstGeom prst="rect">
            <a:avLst/>
          </a:prstGeom>
          <a:noFill/>
          <a:ln/>
        </p:spPr>
        <p:txBody>
          <a:bodyPr wrap="square" lIns="0" tIns="0" rIns="0" bIns="0" rtlCol="0" anchor="ctr"/>
          <a:lstStyle/>
          <a:p>
            <a:pPr marL="0" indent="0">
              <a:buNone/>
            </a:pPr>
            <a:r>
              <a:rPr lang="en-US" sz="1200">
                <a:solidFill>
                  <a:schemeClr val="bg1"/>
                </a:solidFill>
              </a:rPr>
              <a:t>Kill switch for any agent</a:t>
            </a:r>
            <a:endParaRPr lang="en-US" sz="1200"/>
          </a:p>
        </p:txBody>
      </p:sp>
      <p:sp>
        <p:nvSpPr>
          <p:cNvPr id="51" name="Text 36"/>
          <p:cNvSpPr txBox="1"/>
          <p:nvPr/>
        </p:nvSpPr>
        <p:spPr>
          <a:xfrm>
            <a:off x="7635240" y="5641848"/>
            <a:ext cx="4050792" cy="228600"/>
          </a:xfrm>
          <a:prstGeom prst="rect">
            <a:avLst/>
          </a:prstGeom>
          <a:noFill/>
          <a:ln/>
        </p:spPr>
        <p:txBody>
          <a:bodyPr wrap="square" lIns="0" tIns="0" rIns="0" bIns="0" rtlCol="0" anchor="t"/>
          <a:lstStyle/>
          <a:p>
            <a:pPr marL="0" indent="0">
              <a:buNone/>
            </a:pPr>
            <a:r>
              <a:rPr lang="en-US" sz="900" b="1" kern="0" spc="200">
                <a:solidFill>
                  <a:srgbClr val="BFBFBF"/>
                </a:solidFill>
              </a:rPr>
              <a:t>AUTONOMY GROWS WITH TRUST</a:t>
            </a:r>
            <a:endParaRPr lang="en-US" sz="900"/>
          </a:p>
        </p:txBody>
      </p:sp>
      <p:sp>
        <p:nvSpPr>
          <p:cNvPr id="52" name="Shape 37"/>
          <p:cNvSpPr/>
          <p:nvPr/>
        </p:nvSpPr>
        <p:spPr>
          <a:xfrm>
            <a:off x="7635240" y="5897880"/>
            <a:ext cx="1261872" cy="310896"/>
          </a:xfrm>
          <a:prstGeom prst="roundRect">
            <a:avLst>
              <a:gd name="adj" fmla="val 50000"/>
            </a:avLst>
          </a:prstGeom>
          <a:ln w="15875">
            <a:solidFill>
              <a:srgbClr val="00D6F2"/>
            </a:solidFill>
            <a:prstDash val="solid"/>
          </a:ln>
        </p:spPr>
        <p:txBody>
          <a:bodyPr/>
          <a:lstStyle/>
          <a:p>
            <a:endParaRPr lang="en-IN"/>
          </a:p>
        </p:txBody>
      </p:sp>
      <p:sp>
        <p:nvSpPr>
          <p:cNvPr id="53" name="Text 38"/>
          <p:cNvSpPr txBox="1"/>
          <p:nvPr/>
        </p:nvSpPr>
        <p:spPr>
          <a:xfrm>
            <a:off x="7635240" y="5897880"/>
            <a:ext cx="1261872" cy="310896"/>
          </a:xfrm>
          <a:prstGeom prst="rect">
            <a:avLst/>
          </a:prstGeom>
          <a:noFill/>
          <a:ln/>
        </p:spPr>
        <p:txBody>
          <a:bodyPr wrap="square" lIns="0" tIns="0" rIns="0" bIns="0" rtlCol="0" anchor="ctr"/>
          <a:lstStyle/>
          <a:p>
            <a:pPr marL="0" indent="0" algn="ctr">
              <a:buNone/>
            </a:pPr>
            <a:r>
              <a:rPr lang="en-US" sz="1000" b="1">
                <a:solidFill>
                  <a:schemeClr val="bg1"/>
                </a:solidFill>
              </a:rPr>
              <a:t>Suggest</a:t>
            </a:r>
            <a:endParaRPr lang="en-US" sz="1000"/>
          </a:p>
        </p:txBody>
      </p:sp>
      <p:sp>
        <p:nvSpPr>
          <p:cNvPr id="54" name="Shape 39"/>
          <p:cNvSpPr/>
          <p:nvPr/>
        </p:nvSpPr>
        <p:spPr>
          <a:xfrm>
            <a:off x="9006840" y="5897880"/>
            <a:ext cx="1261872" cy="310896"/>
          </a:xfrm>
          <a:prstGeom prst="roundRect">
            <a:avLst>
              <a:gd name="adj" fmla="val 50000"/>
            </a:avLst>
          </a:prstGeom>
          <a:ln w="15875">
            <a:solidFill>
              <a:srgbClr val="FED700"/>
            </a:solidFill>
            <a:prstDash val="solid"/>
          </a:ln>
        </p:spPr>
        <p:txBody>
          <a:bodyPr/>
          <a:lstStyle/>
          <a:p>
            <a:endParaRPr lang="en-IN"/>
          </a:p>
        </p:txBody>
      </p:sp>
      <p:sp>
        <p:nvSpPr>
          <p:cNvPr id="55" name="Text 40"/>
          <p:cNvSpPr txBox="1"/>
          <p:nvPr/>
        </p:nvSpPr>
        <p:spPr>
          <a:xfrm>
            <a:off x="9006840" y="5897880"/>
            <a:ext cx="1261872" cy="310896"/>
          </a:xfrm>
          <a:prstGeom prst="rect">
            <a:avLst/>
          </a:prstGeom>
          <a:noFill/>
          <a:ln/>
        </p:spPr>
        <p:txBody>
          <a:bodyPr wrap="square" lIns="0" tIns="0" rIns="0" bIns="0" rtlCol="0" anchor="ctr"/>
          <a:lstStyle/>
          <a:p>
            <a:pPr marL="0" indent="0" algn="ctr">
              <a:buNone/>
            </a:pPr>
            <a:r>
              <a:rPr lang="en-US" sz="1000" b="1">
                <a:solidFill>
                  <a:schemeClr val="bg1"/>
                </a:solidFill>
              </a:rPr>
              <a:t>Act with approval</a:t>
            </a:r>
            <a:endParaRPr lang="en-US" sz="1000"/>
          </a:p>
        </p:txBody>
      </p:sp>
      <p:sp>
        <p:nvSpPr>
          <p:cNvPr id="56" name="Shape 41"/>
          <p:cNvSpPr/>
          <p:nvPr/>
        </p:nvSpPr>
        <p:spPr>
          <a:xfrm>
            <a:off x="10378440" y="5897880"/>
            <a:ext cx="1261872" cy="310896"/>
          </a:xfrm>
          <a:prstGeom prst="roundRect">
            <a:avLst>
              <a:gd name="adj" fmla="val 50000"/>
            </a:avLst>
          </a:prstGeom>
          <a:ln w="15875">
            <a:solidFill>
              <a:srgbClr val="FF0068"/>
            </a:solidFill>
            <a:prstDash val="solid"/>
          </a:ln>
        </p:spPr>
        <p:txBody>
          <a:bodyPr/>
          <a:lstStyle/>
          <a:p>
            <a:endParaRPr lang="en-IN"/>
          </a:p>
        </p:txBody>
      </p:sp>
      <p:sp>
        <p:nvSpPr>
          <p:cNvPr id="57" name="Text 42"/>
          <p:cNvSpPr txBox="1"/>
          <p:nvPr/>
        </p:nvSpPr>
        <p:spPr>
          <a:xfrm>
            <a:off x="10378440" y="5897880"/>
            <a:ext cx="1261872" cy="310896"/>
          </a:xfrm>
          <a:prstGeom prst="rect">
            <a:avLst/>
          </a:prstGeom>
          <a:noFill/>
          <a:ln/>
        </p:spPr>
        <p:txBody>
          <a:bodyPr wrap="square" lIns="0" tIns="0" rIns="0" bIns="0" rtlCol="0" anchor="ctr"/>
          <a:lstStyle/>
          <a:p>
            <a:pPr marL="0" indent="0" algn="ctr">
              <a:buNone/>
            </a:pPr>
            <a:r>
              <a:rPr lang="en-US" sz="1000" b="1">
                <a:solidFill>
                  <a:schemeClr val="bg1"/>
                </a:solidFill>
              </a:rPr>
              <a:t>Act within limits</a:t>
            </a:r>
            <a:endParaRPr lang="en-US" sz="1000"/>
          </a:p>
        </p:txBody>
      </p:sp>
      <p:sp>
        <p:nvSpPr>
          <p:cNvPr id="58" name="Slide Number Placeholder 0"/>
          <p:cNvSpPr>
            <a:spLocks noGrp="1"/>
          </p:cNvSpPr>
          <p:nvPr>
            <p:ph type="sldNum" sz="quarter" idx="4294967295"/>
          </p:nvPr>
        </p:nvSpPr>
        <p:spPr>
          <a:xfrm>
            <a:off x="11292840" y="6336792"/>
            <a:ext cx="457200" cy="22860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bg1"/>
                </a:solidFill>
              </a:defRPr>
            </a:lvl1pPr>
          </a:lstStyle>
          <a:p>
            <a:pPr algn="r"/>
            <a:fld id="{F7021451-1387-4CA6-816F-3879F97B5CBC}" type="slidenum">
              <a:rPr lang="en-US" b="0"/>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02920" y="658368"/>
            <a:ext cx="11185855" cy="822960"/>
          </a:xfrm>
          <a:prstGeom prst="rect">
            <a:avLst/>
          </a:prstGeom>
          <a:noFill/>
          <a:ln/>
        </p:spPr>
        <p:txBody>
          <a:bodyPr wrap="square" lIns="0" tIns="0" rIns="0" bIns="0" rtlCol="0" anchor="t"/>
          <a:lstStyle/>
          <a:p>
            <a:pPr marL="0" indent="0" algn="l">
              <a:buNone/>
            </a:pPr>
            <a:r>
              <a:rPr lang="en-US" sz="3200" b="1">
                <a:solidFill>
                  <a:schemeClr val="tx1"/>
                </a:solidFill>
              </a:rPr>
              <a:t>Investment</a:t>
            </a:r>
            <a:endParaRPr lang="en-US" sz="3200"/>
          </a:p>
        </p:txBody>
      </p:sp>
      <p:sp>
        <p:nvSpPr>
          <p:cNvPr id="3" name="Text 1"/>
          <p:cNvSpPr txBox="1"/>
          <p:nvPr/>
        </p:nvSpPr>
        <p:spPr>
          <a:xfrm>
            <a:off x="502920" y="1298448"/>
            <a:ext cx="8229600" cy="292608"/>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4D4D4D"/>
                </a:solidFill>
                <a:effectLst/>
                <a:uLnTx/>
                <a:uFillTx/>
                <a:latin typeface="Trenda IG Text"/>
                <a:ea typeface="+mn-ea"/>
                <a:cs typeface="+mn-cs"/>
              </a:rPr>
              <a:t>Offshore delivery model: fixed scope, five-person pod, 12 sprints</a:t>
            </a:r>
            <a:endParaRPr kumimoji="0" lang="en-US" sz="1400" b="0" i="0" u="none" strike="noStrike" kern="1200" cap="none" spc="0" normalizeH="0" baseline="0" noProof="0">
              <a:ln>
                <a:noFill/>
              </a:ln>
              <a:solidFill>
                <a:srgbClr val="000000"/>
              </a:solidFill>
              <a:effectLst/>
              <a:uLnTx/>
              <a:uFillTx/>
              <a:latin typeface="Trenda IG Text"/>
              <a:ea typeface="+mn-ea"/>
              <a:cs typeface="+mn-cs"/>
            </a:endParaRPr>
          </a:p>
        </p:txBody>
      </p:sp>
      <p:sp>
        <p:nvSpPr>
          <p:cNvPr id="4" name="price-card"/>
          <p:cNvSpPr/>
          <p:nvPr/>
        </p:nvSpPr>
        <p:spPr>
          <a:xfrm>
            <a:off x="502920" y="1783080"/>
            <a:ext cx="4206240" cy="4069080"/>
          </a:xfrm>
          <a:prstGeom prst="roundRect">
            <a:avLst>
              <a:gd name="adj" fmla="val 3146"/>
            </a:avLst>
          </a:prstGeom>
          <a:solidFill>
            <a:srgbClr val="000000"/>
          </a:solidFill>
          <a:ln w="12700">
            <a:solidFill>
              <a:srgbClr val="000000"/>
            </a:solidFill>
            <a:prstDash val="solid"/>
          </a:ln>
        </p:spPr>
        <p:txBody>
          <a:bodyPr/>
          <a:lstStyle/>
          <a:p>
            <a:endParaRPr lang="en-IN"/>
          </a:p>
        </p:txBody>
      </p:sp>
      <p:sp>
        <p:nvSpPr>
          <p:cNvPr id="5" name="Shape 3"/>
          <p:cNvSpPr/>
          <p:nvPr/>
        </p:nvSpPr>
        <p:spPr>
          <a:xfrm>
            <a:off x="3291840" y="2057400"/>
            <a:ext cx="1097280" cy="292608"/>
          </a:xfrm>
          <a:prstGeom prst="roundRect">
            <a:avLst>
              <a:gd name="adj" fmla="val 50000"/>
            </a:avLst>
          </a:prstGeom>
          <a:ln w="15875">
            <a:solidFill>
              <a:srgbClr val="00D6F2"/>
            </a:solidFill>
            <a:prstDash val="solid"/>
          </a:ln>
        </p:spPr>
        <p:txBody>
          <a:bodyPr/>
          <a:lstStyle/>
          <a:p>
            <a:endParaRPr lang="en-IN"/>
          </a:p>
        </p:txBody>
      </p:sp>
      <p:sp>
        <p:nvSpPr>
          <p:cNvPr id="6" name="Text 4"/>
          <p:cNvSpPr txBox="1"/>
          <p:nvPr/>
        </p:nvSpPr>
        <p:spPr>
          <a:xfrm>
            <a:off x="3291840" y="2057400"/>
            <a:ext cx="1097280" cy="29260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50" b="1" i="0" u="none" strike="noStrike" kern="0" cap="none" spc="200" normalizeH="0" baseline="0" noProof="0">
                <a:ln>
                  <a:noFill/>
                </a:ln>
                <a:solidFill>
                  <a:srgbClr val="00D6F2"/>
                </a:solidFill>
                <a:effectLst/>
                <a:uLnTx/>
                <a:uFillTx/>
                <a:latin typeface="Trenda IG Text"/>
                <a:ea typeface="+mn-ea"/>
                <a:cs typeface="+mn-cs"/>
              </a:rPr>
              <a:t>OFFSHORE</a:t>
            </a:r>
            <a:endParaRPr kumimoji="0" lang="en-US" sz="950" b="0" i="0" u="none" strike="noStrike" kern="1200" cap="none" spc="0" normalizeH="0" baseline="0" noProof="0">
              <a:ln>
                <a:noFill/>
              </a:ln>
              <a:solidFill>
                <a:srgbClr val="000000"/>
              </a:solidFill>
              <a:effectLst/>
              <a:uLnTx/>
              <a:uFillTx/>
              <a:latin typeface="Trenda IG Text"/>
              <a:ea typeface="+mn-ea"/>
              <a:cs typeface="+mn-cs"/>
            </a:endParaRPr>
          </a:p>
        </p:txBody>
      </p:sp>
      <p:sp>
        <p:nvSpPr>
          <p:cNvPr id="7" name="Text 5"/>
          <p:cNvSpPr txBox="1"/>
          <p:nvPr/>
        </p:nvSpPr>
        <p:spPr>
          <a:xfrm>
            <a:off x="822960" y="2103120"/>
            <a:ext cx="2377440" cy="219456"/>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0" cap="none" spc="200" normalizeH="0" baseline="0" noProof="0">
                <a:ln>
                  <a:noFill/>
                </a:ln>
                <a:solidFill>
                  <a:srgbClr val="BFBFBF"/>
                </a:solidFill>
                <a:effectLst/>
                <a:uLnTx/>
                <a:uFillTx/>
                <a:latin typeface="Trenda IG Text"/>
                <a:ea typeface="+mn-ea"/>
                <a:cs typeface="+mn-cs"/>
              </a:rPr>
              <a:t>STANDARD PROGRAM VALUE</a:t>
            </a:r>
            <a:endParaRPr kumimoji="0" lang="en-US" sz="1000" b="0" i="0" u="none" strike="noStrike" kern="1200" cap="none" spc="0" normalizeH="0" baseline="0" noProof="0">
              <a:ln>
                <a:noFill/>
              </a:ln>
              <a:solidFill>
                <a:srgbClr val="000000"/>
              </a:solidFill>
              <a:effectLst/>
              <a:uLnTx/>
              <a:uFillTx/>
              <a:latin typeface="Trenda IG Text"/>
              <a:ea typeface="+mn-ea"/>
              <a:cs typeface="+mn-cs"/>
            </a:endParaRPr>
          </a:p>
        </p:txBody>
      </p:sp>
      <p:sp>
        <p:nvSpPr>
          <p:cNvPr id="8" name="Text 6"/>
          <p:cNvSpPr txBox="1"/>
          <p:nvPr/>
        </p:nvSpPr>
        <p:spPr>
          <a:xfrm>
            <a:off x="822960" y="2350008"/>
            <a:ext cx="3566160" cy="54864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000" b="0" i="0" u="none" strike="sngStrike" kern="1200" cap="none" spc="0" normalizeH="0" baseline="0" noProof="0">
                <a:ln>
                  <a:noFill/>
                </a:ln>
                <a:solidFill>
                  <a:srgbClr val="8C8C8C"/>
                </a:solidFill>
                <a:effectLst/>
                <a:uLnTx/>
                <a:uFillTx/>
                <a:latin typeface="Trenda IG Text Light" pitchFamily="34" charset="0"/>
                <a:ea typeface="Trenda IG Text Light" pitchFamily="34" charset="-122"/>
                <a:cs typeface="Trenda IG Text Light" pitchFamily="34" charset="-120"/>
              </a:rPr>
              <a:t>$700,000</a:t>
            </a:r>
            <a:endParaRPr kumimoji="0" lang="en-US" sz="3000" b="0" i="0" u="none" strike="noStrike" kern="1200" cap="none" spc="0" normalizeH="0" baseline="0" noProof="0">
              <a:ln>
                <a:noFill/>
              </a:ln>
              <a:solidFill>
                <a:srgbClr val="000000"/>
              </a:solidFill>
              <a:effectLst/>
              <a:uLnTx/>
              <a:uFillTx/>
              <a:latin typeface="Trenda IG Text"/>
              <a:ea typeface="+mn-ea"/>
              <a:cs typeface="+mn-cs"/>
            </a:endParaRPr>
          </a:p>
        </p:txBody>
      </p:sp>
      <p:sp>
        <p:nvSpPr>
          <p:cNvPr id="9" name="Shape 7"/>
          <p:cNvSpPr/>
          <p:nvPr/>
        </p:nvSpPr>
        <p:spPr>
          <a:xfrm>
            <a:off x="822960" y="3108960"/>
            <a:ext cx="3566160" cy="0"/>
          </a:xfrm>
          <a:prstGeom prst="line">
            <a:avLst/>
          </a:prstGeom>
          <a:noFill/>
          <a:ln w="9525">
            <a:solidFill>
              <a:srgbClr val="444444"/>
            </a:solidFill>
            <a:prstDash val="solid"/>
          </a:ln>
        </p:spPr>
        <p:txBody>
          <a:bodyPr/>
          <a:lstStyle/>
          <a:p>
            <a:endParaRPr lang="en-IN"/>
          </a:p>
        </p:txBody>
      </p:sp>
      <p:sp>
        <p:nvSpPr>
          <p:cNvPr id="10" name="Text 8"/>
          <p:cNvSpPr txBox="1"/>
          <p:nvPr/>
        </p:nvSpPr>
        <p:spPr>
          <a:xfrm>
            <a:off x="822960" y="3291840"/>
            <a:ext cx="3566160" cy="219456"/>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0" cap="none" spc="200" normalizeH="0" baseline="0" noProof="0">
                <a:ln>
                  <a:noFill/>
                </a:ln>
                <a:solidFill>
                  <a:srgbClr val="00D6F2"/>
                </a:solidFill>
                <a:effectLst/>
                <a:uLnTx/>
                <a:uFillTx/>
                <a:latin typeface="Trenda IG Text"/>
                <a:ea typeface="+mn-ea"/>
                <a:cs typeface="+mn-cs"/>
              </a:rPr>
              <a:t>STRATEGIC PARTNER INVESTMENT</a:t>
            </a:r>
            <a:endParaRPr kumimoji="0" lang="en-US" sz="1000" b="0" i="0" u="none" strike="noStrike" kern="1200" cap="none" spc="0" normalizeH="0" baseline="0" noProof="0">
              <a:ln>
                <a:noFill/>
              </a:ln>
              <a:solidFill>
                <a:srgbClr val="000000"/>
              </a:solidFill>
              <a:effectLst/>
              <a:uLnTx/>
              <a:uFillTx/>
              <a:latin typeface="Trenda IG Text"/>
              <a:ea typeface="+mn-ea"/>
              <a:cs typeface="+mn-cs"/>
            </a:endParaRPr>
          </a:p>
        </p:txBody>
      </p:sp>
      <p:sp>
        <p:nvSpPr>
          <p:cNvPr id="11" name="Text 9"/>
          <p:cNvSpPr txBox="1"/>
          <p:nvPr/>
        </p:nvSpPr>
        <p:spPr>
          <a:xfrm>
            <a:off x="822960" y="3566160"/>
            <a:ext cx="3566160" cy="9144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5400" b="0" i="0" u="none" strike="noStrike" kern="1200" cap="none" spc="0" normalizeH="0" baseline="0" noProof="0">
                <a:ln>
                  <a:noFill/>
                </a:ln>
                <a:solidFill>
                  <a:srgbClr val="FFFFFF"/>
                </a:solidFill>
                <a:effectLst/>
                <a:uLnTx/>
                <a:uFillTx/>
                <a:latin typeface="Trenda IG Text Light" pitchFamily="34" charset="0"/>
                <a:ea typeface="Trenda IG Text Light" pitchFamily="34" charset="-122"/>
                <a:cs typeface="Trenda IG Text Light" pitchFamily="34" charset="-120"/>
              </a:rPr>
              <a:t>$350,000</a:t>
            </a:r>
            <a:endParaRPr kumimoji="0" lang="en-US" sz="5400" b="0" i="0" u="none" strike="noStrike" kern="1200" cap="none" spc="0" normalizeH="0" baseline="0" noProof="0">
              <a:ln>
                <a:noFill/>
              </a:ln>
              <a:solidFill>
                <a:srgbClr val="000000"/>
              </a:solidFill>
              <a:effectLst/>
              <a:uLnTx/>
              <a:uFillTx/>
              <a:latin typeface="Trenda IG Text"/>
              <a:ea typeface="+mn-ea"/>
              <a:cs typeface="+mn-cs"/>
            </a:endParaRPr>
          </a:p>
        </p:txBody>
      </p:sp>
      <p:sp>
        <p:nvSpPr>
          <p:cNvPr id="12" name="Shape 10"/>
          <p:cNvSpPr/>
          <p:nvPr/>
        </p:nvSpPr>
        <p:spPr>
          <a:xfrm>
            <a:off x="822960" y="4617720"/>
            <a:ext cx="3108960" cy="384048"/>
          </a:xfrm>
          <a:prstGeom prst="roundRect">
            <a:avLst>
              <a:gd name="adj" fmla="val 50000"/>
            </a:avLst>
          </a:prstGeom>
          <a:solidFill>
            <a:srgbClr val="FF0068"/>
          </a:solidFill>
          <a:ln w="12700">
            <a:solidFill>
              <a:srgbClr val="FF0068"/>
            </a:solidFill>
            <a:prstDash val="solid"/>
          </a:ln>
        </p:spPr>
        <p:txBody>
          <a:bodyPr/>
          <a:lstStyle/>
          <a:p>
            <a:endParaRPr lang="en-IN"/>
          </a:p>
        </p:txBody>
      </p:sp>
      <p:sp>
        <p:nvSpPr>
          <p:cNvPr id="13" name="Text 11"/>
          <p:cNvSpPr txBox="1"/>
          <p:nvPr/>
        </p:nvSpPr>
        <p:spPr>
          <a:xfrm>
            <a:off x="822960" y="4617720"/>
            <a:ext cx="3108960"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FFFFF"/>
                </a:solidFill>
                <a:effectLst/>
                <a:uLnTx/>
                <a:uFillTx/>
                <a:latin typeface="Trenda IG Text"/>
                <a:ea typeface="+mn-ea"/>
                <a:cs typeface="+mn-cs"/>
              </a:rPr>
              <a:t>50% partnership credit, applied upfront</a:t>
            </a:r>
            <a:endParaRPr kumimoji="0" lang="en-US" sz="1200" b="0" i="0" u="none" strike="noStrike" kern="1200" cap="none" spc="0" normalizeH="0" baseline="0" noProof="0">
              <a:ln>
                <a:noFill/>
              </a:ln>
              <a:solidFill>
                <a:srgbClr val="000000"/>
              </a:solidFill>
              <a:effectLst/>
              <a:uLnTx/>
              <a:uFillTx/>
              <a:latin typeface="Trenda IG Text"/>
              <a:ea typeface="+mn-ea"/>
              <a:cs typeface="+mn-cs"/>
            </a:endParaRPr>
          </a:p>
        </p:txBody>
      </p:sp>
      <p:sp>
        <p:nvSpPr>
          <p:cNvPr id="14" name="Text 12"/>
          <p:cNvSpPr txBox="1"/>
          <p:nvPr/>
        </p:nvSpPr>
        <p:spPr>
          <a:xfrm>
            <a:off x="822960" y="5184648"/>
            <a:ext cx="3566160" cy="27432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D9D9D9"/>
                </a:solidFill>
                <a:effectLst/>
                <a:uLnTx/>
                <a:uFillTx/>
                <a:latin typeface="Trenda IG Text"/>
                <a:ea typeface="+mn-ea"/>
                <a:cs typeface="+mn-cs"/>
              </a:rPr>
              <a:t>You save $350,000 on the full program</a:t>
            </a:r>
            <a:endParaRPr kumimoji="0" lang="en-US" sz="1200" b="0" i="0" u="none" strike="noStrike" kern="1200" cap="none" spc="0" normalizeH="0" baseline="0" noProof="0">
              <a:ln>
                <a:noFill/>
              </a:ln>
              <a:solidFill>
                <a:srgbClr val="000000"/>
              </a:solidFill>
              <a:effectLst/>
              <a:uLnTx/>
              <a:uFillTx/>
              <a:latin typeface="Trenda IG Text"/>
              <a:ea typeface="+mn-ea"/>
              <a:cs typeface="+mn-cs"/>
            </a:endParaRPr>
          </a:p>
        </p:txBody>
      </p:sp>
      <p:sp>
        <p:nvSpPr>
          <p:cNvPr id="15" name="Text 13"/>
          <p:cNvSpPr txBox="1"/>
          <p:nvPr/>
        </p:nvSpPr>
        <p:spPr>
          <a:xfrm>
            <a:off x="5129784" y="1783080"/>
            <a:ext cx="3182112" cy="32918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000000"/>
                </a:solidFill>
                <a:effectLst/>
                <a:uLnTx/>
                <a:uFillTx/>
                <a:latin typeface="Trenda IG Text"/>
                <a:ea typeface="+mn-ea"/>
                <a:cs typeface="+mn-cs"/>
              </a:rPr>
              <a:t>Phase</a:t>
            </a:r>
            <a:endParaRPr kumimoji="0" lang="en-US" sz="1200" b="0" i="0" u="none" strike="noStrike" kern="1200" cap="none" spc="0" normalizeH="0" baseline="0" noProof="0">
              <a:ln>
                <a:noFill/>
              </a:ln>
              <a:solidFill>
                <a:srgbClr val="000000"/>
              </a:solidFill>
              <a:effectLst/>
              <a:uLnTx/>
              <a:uFillTx/>
              <a:latin typeface="Trenda IG Text"/>
              <a:ea typeface="+mn-ea"/>
              <a:cs typeface="+mn-cs"/>
            </a:endParaRPr>
          </a:p>
        </p:txBody>
      </p:sp>
      <p:sp>
        <p:nvSpPr>
          <p:cNvPr id="16" name="Text 14"/>
          <p:cNvSpPr txBox="1"/>
          <p:nvPr/>
        </p:nvSpPr>
        <p:spPr>
          <a:xfrm>
            <a:off x="8421624" y="1783080"/>
            <a:ext cx="896112" cy="32918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000000"/>
                </a:solidFill>
                <a:effectLst/>
                <a:uLnTx/>
                <a:uFillTx/>
                <a:latin typeface="Trenda IG Text"/>
                <a:ea typeface="+mn-ea"/>
                <a:cs typeface="+mn-cs"/>
              </a:rPr>
              <a:t>Sprints</a:t>
            </a:r>
            <a:endParaRPr kumimoji="0" lang="en-US" sz="1200" b="0" i="0" u="none" strike="noStrike" kern="1200" cap="none" spc="0" normalizeH="0" baseline="0" noProof="0">
              <a:ln>
                <a:noFill/>
              </a:ln>
              <a:solidFill>
                <a:srgbClr val="000000"/>
              </a:solidFill>
              <a:effectLst/>
              <a:uLnTx/>
              <a:uFillTx/>
              <a:latin typeface="Trenda IG Text"/>
              <a:ea typeface="+mn-ea"/>
              <a:cs typeface="+mn-cs"/>
            </a:endParaRPr>
          </a:p>
        </p:txBody>
      </p:sp>
      <p:sp>
        <p:nvSpPr>
          <p:cNvPr id="17" name="Text 15"/>
          <p:cNvSpPr txBox="1"/>
          <p:nvPr/>
        </p:nvSpPr>
        <p:spPr>
          <a:xfrm>
            <a:off x="9427464" y="1783080"/>
            <a:ext cx="1078992" cy="329184"/>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000000"/>
                </a:solidFill>
                <a:effectLst/>
                <a:uLnTx/>
                <a:uFillTx/>
                <a:latin typeface="Trenda IG Text"/>
                <a:ea typeface="+mn-ea"/>
                <a:cs typeface="+mn-cs"/>
              </a:rPr>
              <a:t>Standard</a:t>
            </a:r>
            <a:endParaRPr kumimoji="0" lang="en-US" sz="1200" b="0" i="0" u="none" strike="noStrike" kern="1200" cap="none" spc="0" normalizeH="0" baseline="0" noProof="0">
              <a:ln>
                <a:noFill/>
              </a:ln>
              <a:solidFill>
                <a:srgbClr val="000000"/>
              </a:solidFill>
              <a:effectLst/>
              <a:uLnTx/>
              <a:uFillTx/>
              <a:latin typeface="Trenda IG Text"/>
              <a:ea typeface="+mn-ea"/>
              <a:cs typeface="+mn-cs"/>
            </a:endParaRPr>
          </a:p>
        </p:txBody>
      </p:sp>
      <p:sp>
        <p:nvSpPr>
          <p:cNvPr id="18" name="Text 16"/>
          <p:cNvSpPr txBox="1"/>
          <p:nvPr/>
        </p:nvSpPr>
        <p:spPr>
          <a:xfrm>
            <a:off x="10616184" y="1783080"/>
            <a:ext cx="1014984" cy="329184"/>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000000"/>
                </a:solidFill>
                <a:effectLst/>
                <a:uLnTx/>
                <a:uFillTx/>
                <a:latin typeface="Trenda IG Text"/>
                <a:ea typeface="+mn-ea"/>
                <a:cs typeface="+mn-cs"/>
              </a:rPr>
              <a:t>Partner</a:t>
            </a:r>
            <a:endParaRPr kumimoji="0" lang="en-US" sz="1200" b="0" i="0" u="none" strike="noStrike" kern="1200" cap="none" spc="0" normalizeH="0" baseline="0" noProof="0">
              <a:ln>
                <a:noFill/>
              </a:ln>
              <a:solidFill>
                <a:srgbClr val="000000"/>
              </a:solidFill>
              <a:effectLst/>
              <a:uLnTx/>
              <a:uFillTx/>
              <a:latin typeface="Trenda IG Text"/>
              <a:ea typeface="+mn-ea"/>
              <a:cs typeface="+mn-cs"/>
            </a:endParaRPr>
          </a:p>
        </p:txBody>
      </p:sp>
      <p:sp>
        <p:nvSpPr>
          <p:cNvPr id="19" name="Shape 17"/>
          <p:cNvSpPr/>
          <p:nvPr/>
        </p:nvSpPr>
        <p:spPr>
          <a:xfrm>
            <a:off x="5074920" y="2112264"/>
            <a:ext cx="6611112" cy="0"/>
          </a:xfrm>
          <a:prstGeom prst="line">
            <a:avLst/>
          </a:prstGeom>
          <a:noFill/>
          <a:ln w="15875">
            <a:solidFill>
              <a:srgbClr val="000000"/>
            </a:solidFill>
            <a:prstDash val="solid"/>
          </a:ln>
        </p:spPr>
        <p:txBody>
          <a:bodyPr/>
          <a:lstStyle/>
          <a:p>
            <a:endParaRPr lang="en-IN"/>
          </a:p>
        </p:txBody>
      </p:sp>
      <p:sp>
        <p:nvSpPr>
          <p:cNvPr id="20" name="Text 18"/>
          <p:cNvSpPr txBox="1"/>
          <p:nvPr/>
        </p:nvSpPr>
        <p:spPr>
          <a:xfrm>
            <a:off x="5129784" y="2112264"/>
            <a:ext cx="3182112" cy="4572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Trenda IG Text"/>
                <a:ea typeface="+mn-ea"/>
                <a:cs typeface="+mn-cs"/>
              </a:rPr>
              <a:t>Phase 1 · Classes and events</a:t>
            </a:r>
          </a:p>
        </p:txBody>
      </p:sp>
      <p:sp>
        <p:nvSpPr>
          <p:cNvPr id="21" name="Text 19"/>
          <p:cNvSpPr txBox="1"/>
          <p:nvPr/>
        </p:nvSpPr>
        <p:spPr>
          <a:xfrm>
            <a:off x="8421624" y="2112264"/>
            <a:ext cx="896112" cy="4572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Trenda IG Text"/>
                <a:ea typeface="+mn-ea"/>
                <a:cs typeface="+mn-cs"/>
              </a:rPr>
              <a:t>1-7</a:t>
            </a:r>
          </a:p>
        </p:txBody>
      </p:sp>
      <p:sp>
        <p:nvSpPr>
          <p:cNvPr id="22" name="Text 20"/>
          <p:cNvSpPr txBox="1"/>
          <p:nvPr/>
        </p:nvSpPr>
        <p:spPr>
          <a:xfrm>
            <a:off x="9427464" y="2112264"/>
            <a:ext cx="1078992" cy="45720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sngStrike" kern="1200" cap="none" spc="0" normalizeH="0" baseline="0" noProof="0">
                <a:ln>
                  <a:noFill/>
                </a:ln>
                <a:solidFill>
                  <a:srgbClr val="8C8C8C"/>
                </a:solidFill>
                <a:effectLst/>
                <a:uLnTx/>
                <a:uFillTx/>
                <a:latin typeface="Trenda IG Text"/>
                <a:ea typeface="+mn-ea"/>
                <a:cs typeface="+mn-cs"/>
              </a:rPr>
              <a:t>$410,000</a:t>
            </a:r>
            <a:endParaRPr kumimoji="0" lang="en-US" sz="1200" b="0" i="0" u="none" strike="noStrike" kern="1200" cap="none" spc="0" normalizeH="0" baseline="0" noProof="0">
              <a:ln>
                <a:noFill/>
              </a:ln>
              <a:solidFill>
                <a:srgbClr val="000000"/>
              </a:solidFill>
              <a:effectLst/>
              <a:uLnTx/>
              <a:uFillTx/>
              <a:latin typeface="Trenda IG Text"/>
              <a:ea typeface="+mn-ea"/>
              <a:cs typeface="+mn-cs"/>
            </a:endParaRPr>
          </a:p>
        </p:txBody>
      </p:sp>
      <p:sp>
        <p:nvSpPr>
          <p:cNvPr id="23" name="Text 21"/>
          <p:cNvSpPr txBox="1"/>
          <p:nvPr/>
        </p:nvSpPr>
        <p:spPr>
          <a:xfrm>
            <a:off x="10616184" y="2112264"/>
            <a:ext cx="1014984" cy="45720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000000"/>
                </a:solidFill>
                <a:effectLst/>
                <a:uLnTx/>
                <a:uFillTx/>
                <a:latin typeface="Trenda IG Text"/>
                <a:ea typeface="+mn-ea"/>
                <a:cs typeface="+mn-cs"/>
              </a:rPr>
              <a:t>$205,000</a:t>
            </a:r>
            <a:endParaRPr kumimoji="0" lang="en-US" sz="1200" b="0" i="0" u="none" strike="noStrike" kern="1200" cap="none" spc="0" normalizeH="0" baseline="0" noProof="0">
              <a:ln>
                <a:noFill/>
              </a:ln>
              <a:solidFill>
                <a:srgbClr val="000000"/>
              </a:solidFill>
              <a:effectLst/>
              <a:uLnTx/>
              <a:uFillTx/>
              <a:latin typeface="Trenda IG Text"/>
              <a:ea typeface="+mn-ea"/>
              <a:cs typeface="+mn-cs"/>
            </a:endParaRPr>
          </a:p>
        </p:txBody>
      </p:sp>
      <p:sp>
        <p:nvSpPr>
          <p:cNvPr id="24" name="Shape 22"/>
          <p:cNvSpPr/>
          <p:nvPr/>
        </p:nvSpPr>
        <p:spPr>
          <a:xfrm>
            <a:off x="5074920" y="2569464"/>
            <a:ext cx="6611112" cy="0"/>
          </a:xfrm>
          <a:prstGeom prst="line">
            <a:avLst/>
          </a:prstGeom>
          <a:noFill/>
          <a:ln w="9525">
            <a:solidFill>
              <a:srgbClr val="A0A0A8"/>
            </a:solidFill>
            <a:prstDash val="sysDot"/>
          </a:ln>
        </p:spPr>
        <p:txBody>
          <a:bodyPr/>
          <a:lstStyle/>
          <a:p>
            <a:endParaRPr lang="en-IN"/>
          </a:p>
        </p:txBody>
      </p:sp>
      <p:sp>
        <p:nvSpPr>
          <p:cNvPr id="25" name="Text 23"/>
          <p:cNvSpPr txBox="1"/>
          <p:nvPr/>
        </p:nvSpPr>
        <p:spPr>
          <a:xfrm>
            <a:off x="5129784" y="2569464"/>
            <a:ext cx="3182112" cy="4572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Trenda IG Text"/>
                <a:ea typeface="+mn-ea"/>
                <a:cs typeface="+mn-cs"/>
              </a:rPr>
              <a:t>Phase 2 · Conferences and engagement</a:t>
            </a:r>
          </a:p>
        </p:txBody>
      </p:sp>
      <p:sp>
        <p:nvSpPr>
          <p:cNvPr id="26" name="Text 24"/>
          <p:cNvSpPr txBox="1"/>
          <p:nvPr/>
        </p:nvSpPr>
        <p:spPr>
          <a:xfrm>
            <a:off x="8421624" y="2569464"/>
            <a:ext cx="896112" cy="4572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Trenda IG Text"/>
                <a:ea typeface="+mn-ea"/>
                <a:cs typeface="+mn-cs"/>
              </a:rPr>
              <a:t>8-12</a:t>
            </a:r>
          </a:p>
        </p:txBody>
      </p:sp>
      <p:sp>
        <p:nvSpPr>
          <p:cNvPr id="27" name="Text 25"/>
          <p:cNvSpPr txBox="1"/>
          <p:nvPr/>
        </p:nvSpPr>
        <p:spPr>
          <a:xfrm>
            <a:off x="9427464" y="2569464"/>
            <a:ext cx="1078992" cy="45720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sngStrike" kern="1200" cap="none" spc="0" normalizeH="0" baseline="0" noProof="0">
                <a:ln>
                  <a:noFill/>
                </a:ln>
                <a:solidFill>
                  <a:srgbClr val="8C8C8C"/>
                </a:solidFill>
                <a:effectLst/>
                <a:uLnTx/>
                <a:uFillTx/>
                <a:latin typeface="Trenda IG Text"/>
                <a:ea typeface="+mn-ea"/>
                <a:cs typeface="+mn-cs"/>
              </a:rPr>
              <a:t>$290,000</a:t>
            </a:r>
            <a:endParaRPr kumimoji="0" lang="en-US" sz="1200" b="0" i="0" u="none" strike="noStrike" kern="1200" cap="none" spc="0" normalizeH="0" baseline="0" noProof="0">
              <a:ln>
                <a:noFill/>
              </a:ln>
              <a:solidFill>
                <a:srgbClr val="000000"/>
              </a:solidFill>
              <a:effectLst/>
              <a:uLnTx/>
              <a:uFillTx/>
              <a:latin typeface="Trenda IG Text"/>
              <a:ea typeface="+mn-ea"/>
              <a:cs typeface="+mn-cs"/>
            </a:endParaRPr>
          </a:p>
        </p:txBody>
      </p:sp>
      <p:sp>
        <p:nvSpPr>
          <p:cNvPr id="28" name="Text 26"/>
          <p:cNvSpPr txBox="1"/>
          <p:nvPr/>
        </p:nvSpPr>
        <p:spPr>
          <a:xfrm>
            <a:off x="10616184" y="2569464"/>
            <a:ext cx="1014984" cy="45720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000000"/>
                </a:solidFill>
                <a:effectLst/>
                <a:uLnTx/>
                <a:uFillTx/>
                <a:latin typeface="Trenda IG Text"/>
                <a:ea typeface="+mn-ea"/>
                <a:cs typeface="+mn-cs"/>
              </a:rPr>
              <a:t>$145,000</a:t>
            </a:r>
            <a:endParaRPr kumimoji="0" lang="en-US" sz="1200" b="0" i="0" u="none" strike="noStrike" kern="1200" cap="none" spc="0" normalizeH="0" baseline="0" noProof="0">
              <a:ln>
                <a:noFill/>
              </a:ln>
              <a:solidFill>
                <a:srgbClr val="000000"/>
              </a:solidFill>
              <a:effectLst/>
              <a:uLnTx/>
              <a:uFillTx/>
              <a:latin typeface="Trenda IG Text"/>
              <a:ea typeface="+mn-ea"/>
              <a:cs typeface="+mn-cs"/>
            </a:endParaRPr>
          </a:p>
        </p:txBody>
      </p:sp>
      <p:sp>
        <p:nvSpPr>
          <p:cNvPr id="29" name="Shape 27"/>
          <p:cNvSpPr/>
          <p:nvPr/>
        </p:nvSpPr>
        <p:spPr>
          <a:xfrm>
            <a:off x="5074920" y="3026664"/>
            <a:ext cx="6611112" cy="0"/>
          </a:xfrm>
          <a:prstGeom prst="line">
            <a:avLst/>
          </a:prstGeom>
          <a:noFill/>
          <a:ln w="15875">
            <a:solidFill>
              <a:srgbClr val="000000"/>
            </a:solidFill>
            <a:prstDash val="solid"/>
          </a:ln>
        </p:spPr>
        <p:txBody>
          <a:bodyPr/>
          <a:lstStyle/>
          <a:p>
            <a:endParaRPr lang="en-IN"/>
          </a:p>
        </p:txBody>
      </p:sp>
      <p:sp>
        <p:nvSpPr>
          <p:cNvPr id="30" name="Text 28"/>
          <p:cNvSpPr txBox="1"/>
          <p:nvPr/>
        </p:nvSpPr>
        <p:spPr>
          <a:xfrm>
            <a:off x="5129784" y="3026664"/>
            <a:ext cx="3182112" cy="4572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000000"/>
                </a:solidFill>
                <a:effectLst/>
                <a:uLnTx/>
                <a:uFillTx/>
                <a:latin typeface="Trenda IG Text"/>
                <a:ea typeface="+mn-ea"/>
                <a:cs typeface="+mn-cs"/>
              </a:rPr>
              <a:t>Total program</a:t>
            </a:r>
            <a:endParaRPr kumimoji="0" lang="en-US" sz="1200" b="0" i="0" u="none" strike="noStrike" kern="1200" cap="none" spc="0" normalizeH="0" baseline="0" noProof="0">
              <a:ln>
                <a:noFill/>
              </a:ln>
              <a:solidFill>
                <a:srgbClr val="000000"/>
              </a:solidFill>
              <a:effectLst/>
              <a:uLnTx/>
              <a:uFillTx/>
              <a:latin typeface="Trenda IG Text"/>
              <a:ea typeface="+mn-ea"/>
              <a:cs typeface="+mn-cs"/>
            </a:endParaRPr>
          </a:p>
        </p:txBody>
      </p:sp>
      <p:sp>
        <p:nvSpPr>
          <p:cNvPr id="31" name="Text 29"/>
          <p:cNvSpPr txBox="1"/>
          <p:nvPr/>
        </p:nvSpPr>
        <p:spPr>
          <a:xfrm>
            <a:off x="8421624" y="3026664"/>
            <a:ext cx="896112" cy="4572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000000"/>
                </a:solidFill>
                <a:effectLst/>
                <a:uLnTx/>
                <a:uFillTx/>
                <a:latin typeface="Trenda IG Text"/>
                <a:ea typeface="+mn-ea"/>
                <a:cs typeface="+mn-cs"/>
              </a:rPr>
              <a:t>12 sprints</a:t>
            </a:r>
            <a:endParaRPr kumimoji="0" lang="en-US" sz="1200" b="0" i="0" u="none" strike="noStrike" kern="1200" cap="none" spc="0" normalizeH="0" baseline="0" noProof="0">
              <a:ln>
                <a:noFill/>
              </a:ln>
              <a:solidFill>
                <a:srgbClr val="000000"/>
              </a:solidFill>
              <a:effectLst/>
              <a:uLnTx/>
              <a:uFillTx/>
              <a:latin typeface="Trenda IG Text"/>
              <a:ea typeface="+mn-ea"/>
              <a:cs typeface="+mn-cs"/>
            </a:endParaRPr>
          </a:p>
        </p:txBody>
      </p:sp>
      <p:sp>
        <p:nvSpPr>
          <p:cNvPr id="32" name="Text 30"/>
          <p:cNvSpPr txBox="1"/>
          <p:nvPr/>
        </p:nvSpPr>
        <p:spPr>
          <a:xfrm>
            <a:off x="9427464" y="3026664"/>
            <a:ext cx="1078992" cy="45720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1" i="0" u="none" strike="sngStrike" kern="1200" cap="none" spc="0" normalizeH="0" baseline="0" noProof="0">
                <a:ln>
                  <a:noFill/>
                </a:ln>
                <a:solidFill>
                  <a:srgbClr val="8C8C8C"/>
                </a:solidFill>
                <a:effectLst/>
                <a:uLnTx/>
                <a:uFillTx/>
                <a:latin typeface="Trenda IG Text"/>
                <a:ea typeface="+mn-ea"/>
                <a:cs typeface="+mn-cs"/>
              </a:rPr>
              <a:t>$700,000</a:t>
            </a:r>
            <a:endParaRPr kumimoji="0" lang="en-US" sz="1200" b="0" i="0" u="none" strike="noStrike" kern="1200" cap="none" spc="0" normalizeH="0" baseline="0" noProof="0">
              <a:ln>
                <a:noFill/>
              </a:ln>
              <a:solidFill>
                <a:srgbClr val="000000"/>
              </a:solidFill>
              <a:effectLst/>
              <a:uLnTx/>
              <a:uFillTx/>
              <a:latin typeface="Trenda IG Text"/>
              <a:ea typeface="+mn-ea"/>
              <a:cs typeface="+mn-cs"/>
            </a:endParaRPr>
          </a:p>
        </p:txBody>
      </p:sp>
      <p:sp>
        <p:nvSpPr>
          <p:cNvPr id="33" name="Text 31"/>
          <p:cNvSpPr txBox="1"/>
          <p:nvPr/>
        </p:nvSpPr>
        <p:spPr>
          <a:xfrm>
            <a:off x="10616184" y="3026664"/>
            <a:ext cx="1014984" cy="45720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000000"/>
                </a:solidFill>
                <a:effectLst/>
                <a:uLnTx/>
                <a:uFillTx/>
                <a:latin typeface="Trenda IG Text"/>
                <a:ea typeface="+mn-ea"/>
                <a:cs typeface="+mn-cs"/>
              </a:rPr>
              <a:t>$350,000</a:t>
            </a:r>
            <a:endParaRPr kumimoji="0" lang="en-US" sz="1200" b="0" i="0" u="none" strike="noStrike" kern="1200" cap="none" spc="0" normalizeH="0" baseline="0" noProof="0">
              <a:ln>
                <a:noFill/>
              </a:ln>
              <a:solidFill>
                <a:srgbClr val="000000"/>
              </a:solidFill>
              <a:effectLst/>
              <a:uLnTx/>
              <a:uFillTx/>
              <a:latin typeface="Trenda IG Text"/>
              <a:ea typeface="+mn-ea"/>
              <a:cs typeface="+mn-cs"/>
            </a:endParaRPr>
          </a:p>
        </p:txBody>
      </p:sp>
      <p:sp>
        <p:nvSpPr>
          <p:cNvPr id="34" name="Shape 32"/>
          <p:cNvSpPr/>
          <p:nvPr/>
        </p:nvSpPr>
        <p:spPr>
          <a:xfrm>
            <a:off x="5074920" y="3483864"/>
            <a:ext cx="6611112" cy="0"/>
          </a:xfrm>
          <a:prstGeom prst="line">
            <a:avLst/>
          </a:prstGeom>
          <a:noFill/>
          <a:ln w="9525">
            <a:solidFill>
              <a:srgbClr val="A0A0A8"/>
            </a:solidFill>
            <a:prstDash val="sysDot"/>
          </a:ln>
        </p:spPr>
        <p:txBody>
          <a:bodyPr/>
          <a:lstStyle/>
          <a:p>
            <a:endParaRPr lang="en-IN"/>
          </a:p>
        </p:txBody>
      </p:sp>
      <p:sp>
        <p:nvSpPr>
          <p:cNvPr id="35" name="Text 33"/>
          <p:cNvSpPr txBox="1"/>
          <p:nvPr/>
        </p:nvSpPr>
        <p:spPr>
          <a:xfrm>
            <a:off x="5074920" y="3703320"/>
            <a:ext cx="3200400" cy="27432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000000"/>
                </a:solidFill>
                <a:effectLst/>
                <a:uLnTx/>
                <a:uFillTx/>
                <a:latin typeface="Trenda IG Text"/>
                <a:ea typeface="+mn-ea"/>
                <a:cs typeface="+mn-cs"/>
              </a:rPr>
              <a:t>Included</a:t>
            </a:r>
            <a:endParaRPr kumimoji="0" lang="en-US" sz="1400" b="0" i="0" u="none" strike="noStrike" kern="1200" cap="none" spc="0" normalizeH="0" baseline="0" noProof="0">
              <a:ln>
                <a:noFill/>
              </a:ln>
              <a:solidFill>
                <a:srgbClr val="000000"/>
              </a:solidFill>
              <a:effectLst/>
              <a:uLnTx/>
              <a:uFillTx/>
              <a:latin typeface="Trenda IG Text"/>
              <a:ea typeface="+mn-ea"/>
              <a:cs typeface="+mn-cs"/>
            </a:endParaRPr>
          </a:p>
        </p:txBody>
      </p:sp>
      <p:sp>
        <p:nvSpPr>
          <p:cNvPr id="36" name="Text 34"/>
          <p:cNvSpPr txBox="1"/>
          <p:nvPr/>
        </p:nvSpPr>
        <p:spPr>
          <a:xfrm>
            <a:off x="5074920" y="4032504"/>
            <a:ext cx="3291840" cy="1463040"/>
          </a:xfrm>
          <a:prstGeom prst="rect">
            <a:avLst/>
          </a:prstGeom>
          <a:noFill/>
          <a:ln/>
        </p:spPr>
        <p:txBody>
          <a:bodyPr wrap="square" lIns="0" tIns="0" rIns="0" bIns="0" rtlCol="0" anchor="t"/>
          <a:lstStyle/>
          <a:p>
            <a:pPr marL="342900" marR="0" lvl="0" indent="-342900" algn="l" defTabSz="914400" rtl="0" eaLnBrk="1" fontAlgn="auto" latinLnBrk="0" hangingPunct="1">
              <a:lnSpc>
                <a:spcPct val="100000"/>
              </a:lnSpc>
              <a:spcBef>
                <a:spcPts val="0"/>
              </a:spcBef>
              <a:spcAft>
                <a:spcPts val="400"/>
              </a:spcAft>
              <a:buClrTx/>
              <a:buSzPct val="100000"/>
              <a:buFontTx/>
              <a:buChar char="•"/>
              <a:tabLst/>
              <a:defRPr/>
            </a:pPr>
            <a:r>
              <a:rPr kumimoji="0" lang="en-US" sz="1100" b="0" i="0" u="none" strike="noStrike" kern="1200" cap="none" spc="0" normalizeH="0" baseline="0" noProof="0">
                <a:ln>
                  <a:noFill/>
                </a:ln>
                <a:solidFill>
                  <a:srgbClr val="4D4D4D"/>
                </a:solidFill>
                <a:effectLst/>
                <a:uLnTx/>
                <a:uFillTx/>
                <a:latin typeface="Trenda IG Text"/>
                <a:ea typeface="+mn-ea"/>
                <a:cs typeface="+mn-cs"/>
              </a:rPr>
              <a:t>Dedicated five-person offshore pod for 24 weeks</a:t>
            </a:r>
            <a:endParaRPr kumimoji="0" lang="en-US" sz="1100" b="0" i="0" u="none" strike="noStrike" kern="1200" cap="none" spc="0" normalizeH="0" baseline="0" noProof="0">
              <a:ln>
                <a:noFill/>
              </a:ln>
              <a:solidFill>
                <a:srgbClr val="000000"/>
              </a:solidFill>
              <a:effectLst/>
              <a:uLnTx/>
              <a:uFillTx/>
              <a:latin typeface="Trenda IG Text"/>
              <a:ea typeface="+mn-ea"/>
              <a:cs typeface="+mn-cs"/>
            </a:endParaRPr>
          </a:p>
          <a:p>
            <a:pPr marL="342900" marR="0" lvl="0" indent="-342900" algn="l" defTabSz="914400" rtl="0" eaLnBrk="1" fontAlgn="auto" latinLnBrk="0" hangingPunct="1">
              <a:lnSpc>
                <a:spcPct val="100000"/>
              </a:lnSpc>
              <a:spcBef>
                <a:spcPts val="0"/>
              </a:spcBef>
              <a:spcAft>
                <a:spcPts val="400"/>
              </a:spcAft>
              <a:buClrTx/>
              <a:buSzPct val="100000"/>
              <a:buFontTx/>
              <a:buChar char="•"/>
              <a:tabLst/>
              <a:defRPr/>
            </a:pPr>
            <a:r>
              <a:rPr kumimoji="0" lang="en-US" sz="1100" b="0" i="0" u="none" strike="noStrike" kern="1200" cap="none" spc="0" normalizeH="0" baseline="0" noProof="0">
                <a:ln>
                  <a:noFill/>
                </a:ln>
                <a:solidFill>
                  <a:srgbClr val="4D4D4D"/>
                </a:solidFill>
                <a:effectLst/>
                <a:uLnTx/>
                <a:uFillTx/>
                <a:latin typeface="Trenda IG Text"/>
                <a:ea typeface="+mn-ea"/>
                <a:cs typeface="+mn-cs"/>
              </a:rPr>
              <a:t>Sprint demos and milestone sign-offs</a:t>
            </a:r>
            <a:endParaRPr kumimoji="0" lang="en-US" sz="1100" b="0" i="0" u="none" strike="noStrike" kern="1200" cap="none" spc="0" normalizeH="0" baseline="0" noProof="0">
              <a:ln>
                <a:noFill/>
              </a:ln>
              <a:solidFill>
                <a:srgbClr val="000000"/>
              </a:solidFill>
              <a:effectLst/>
              <a:uLnTx/>
              <a:uFillTx/>
              <a:latin typeface="Trenda IG Text"/>
              <a:ea typeface="+mn-ea"/>
              <a:cs typeface="+mn-cs"/>
            </a:endParaRPr>
          </a:p>
          <a:p>
            <a:pPr marL="342900" marR="0" lvl="0" indent="-342900" algn="l" defTabSz="914400" rtl="0" eaLnBrk="1" fontAlgn="auto" latinLnBrk="0" hangingPunct="1">
              <a:lnSpc>
                <a:spcPct val="100000"/>
              </a:lnSpc>
              <a:spcBef>
                <a:spcPts val="0"/>
              </a:spcBef>
              <a:spcAft>
                <a:spcPts val="400"/>
              </a:spcAft>
              <a:buClrTx/>
              <a:buSzPct val="100000"/>
              <a:buFontTx/>
              <a:buChar char="•"/>
              <a:tabLst/>
              <a:defRPr/>
            </a:pPr>
            <a:r>
              <a:rPr kumimoji="0" lang="en-US" sz="1100" b="0" i="0" u="none" strike="noStrike" kern="1200" cap="none" spc="0" normalizeH="0" baseline="0" noProof="0">
                <a:ln>
                  <a:noFill/>
                </a:ln>
                <a:solidFill>
                  <a:srgbClr val="4D4D4D"/>
                </a:solidFill>
                <a:effectLst/>
                <a:uLnTx/>
                <a:uFillTx/>
                <a:latin typeface="Trenda IG Text"/>
                <a:ea typeface="+mn-ea"/>
                <a:cs typeface="+mn-cs"/>
              </a:rPr>
              <a:t>Testing, load testing, go-live and hypercare</a:t>
            </a:r>
            <a:endParaRPr kumimoji="0" lang="en-US" sz="1100" b="0" i="0" u="none" strike="noStrike" kern="1200" cap="none" spc="0" normalizeH="0" baseline="0" noProof="0">
              <a:ln>
                <a:noFill/>
              </a:ln>
              <a:solidFill>
                <a:srgbClr val="000000"/>
              </a:solidFill>
              <a:effectLst/>
              <a:uLnTx/>
              <a:uFillTx/>
              <a:latin typeface="Trenda IG Text"/>
              <a:ea typeface="+mn-ea"/>
              <a:cs typeface="+mn-cs"/>
            </a:endParaRPr>
          </a:p>
          <a:p>
            <a:pPr marL="342900" marR="0" lvl="0" indent="-342900" algn="l" defTabSz="914400" rtl="0" eaLnBrk="1" fontAlgn="auto" latinLnBrk="0" hangingPunct="1">
              <a:lnSpc>
                <a:spcPct val="100000"/>
              </a:lnSpc>
              <a:spcBef>
                <a:spcPts val="0"/>
              </a:spcBef>
              <a:spcAft>
                <a:spcPts val="400"/>
              </a:spcAft>
              <a:buClrTx/>
              <a:buSzPct val="100000"/>
              <a:buFontTx/>
              <a:buChar char="•"/>
              <a:tabLst/>
              <a:defRPr/>
            </a:pPr>
            <a:r>
              <a:rPr kumimoji="0" lang="en-US" sz="1100" b="0" i="0" u="none" strike="noStrike" kern="1200" cap="none" spc="0" normalizeH="0" baseline="0" noProof="0">
                <a:ln>
                  <a:noFill/>
                </a:ln>
                <a:solidFill>
                  <a:srgbClr val="4D4D4D"/>
                </a:solidFill>
                <a:effectLst/>
                <a:uLnTx/>
                <a:uFillTx/>
                <a:latin typeface="Trenda IG Text"/>
                <a:ea typeface="+mn-ea"/>
                <a:cs typeface="+mn-cs"/>
              </a:rPr>
              <a:t>Documentation and handover to your admins</a:t>
            </a:r>
            <a:endParaRPr kumimoji="0" lang="en-US" sz="1100" b="0" i="0" u="none" strike="noStrike" kern="1200" cap="none" spc="0" normalizeH="0" baseline="0" noProof="0">
              <a:ln>
                <a:noFill/>
              </a:ln>
              <a:solidFill>
                <a:srgbClr val="000000"/>
              </a:solidFill>
              <a:effectLst/>
              <a:uLnTx/>
              <a:uFillTx/>
              <a:latin typeface="Trenda IG Text"/>
              <a:ea typeface="+mn-ea"/>
              <a:cs typeface="+mn-cs"/>
            </a:endParaRPr>
          </a:p>
        </p:txBody>
      </p:sp>
      <p:sp>
        <p:nvSpPr>
          <p:cNvPr id="37" name="Text 35"/>
          <p:cNvSpPr txBox="1"/>
          <p:nvPr/>
        </p:nvSpPr>
        <p:spPr>
          <a:xfrm>
            <a:off x="8595360" y="3703320"/>
            <a:ext cx="3108960" cy="27432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000000"/>
                </a:solidFill>
                <a:effectLst/>
                <a:uLnTx/>
                <a:uFillTx/>
                <a:latin typeface="Trenda IG Text"/>
                <a:ea typeface="+mn-ea"/>
                <a:cs typeface="+mn-cs"/>
              </a:rPr>
              <a:t>Not included</a:t>
            </a:r>
            <a:endParaRPr kumimoji="0" lang="en-US" sz="1400" b="0" i="0" u="none" strike="noStrike" kern="1200" cap="none" spc="0" normalizeH="0" baseline="0" noProof="0">
              <a:ln>
                <a:noFill/>
              </a:ln>
              <a:solidFill>
                <a:srgbClr val="000000"/>
              </a:solidFill>
              <a:effectLst/>
              <a:uLnTx/>
              <a:uFillTx/>
              <a:latin typeface="Trenda IG Text"/>
              <a:ea typeface="+mn-ea"/>
              <a:cs typeface="+mn-cs"/>
            </a:endParaRPr>
          </a:p>
        </p:txBody>
      </p:sp>
      <p:sp>
        <p:nvSpPr>
          <p:cNvPr id="38" name="Text 36"/>
          <p:cNvSpPr txBox="1"/>
          <p:nvPr/>
        </p:nvSpPr>
        <p:spPr>
          <a:xfrm>
            <a:off x="8595360" y="4032504"/>
            <a:ext cx="3090672" cy="1463040"/>
          </a:xfrm>
          <a:prstGeom prst="rect">
            <a:avLst/>
          </a:prstGeom>
          <a:noFill/>
          <a:ln/>
        </p:spPr>
        <p:txBody>
          <a:bodyPr wrap="square" lIns="0" tIns="0" rIns="0" bIns="0" rtlCol="0" anchor="t"/>
          <a:lstStyle/>
          <a:p>
            <a:pPr marL="342900" marR="0" lvl="0" indent="-342900" algn="l" defTabSz="914400" rtl="0" eaLnBrk="1" fontAlgn="auto" latinLnBrk="0" hangingPunct="1">
              <a:lnSpc>
                <a:spcPct val="100000"/>
              </a:lnSpc>
              <a:spcBef>
                <a:spcPts val="0"/>
              </a:spcBef>
              <a:spcAft>
                <a:spcPts val="400"/>
              </a:spcAft>
              <a:buClrTx/>
              <a:buSzPct val="100000"/>
              <a:buFontTx/>
              <a:buChar char="•"/>
              <a:tabLst/>
              <a:defRPr/>
            </a:pPr>
            <a:r>
              <a:rPr kumimoji="0" lang="en-US" sz="1100" b="0" i="0" u="none" strike="noStrike" kern="1200" cap="none" spc="0" normalizeH="0" baseline="0" noProof="0">
                <a:ln>
                  <a:noFill/>
                </a:ln>
                <a:solidFill>
                  <a:srgbClr val="4D4D4D"/>
                </a:solidFill>
                <a:effectLst/>
                <a:uLnTx/>
                <a:uFillTx/>
                <a:latin typeface="Trenda IG Text"/>
                <a:ea typeface="+mn-ea"/>
                <a:cs typeface="+mn-cs"/>
              </a:rPr>
              <a:t>Salesforce licenses</a:t>
            </a:r>
            <a:endParaRPr kumimoji="0" lang="en-US" sz="1100" b="0" i="0" u="none" strike="noStrike" kern="1200" cap="none" spc="0" normalizeH="0" baseline="0" noProof="0">
              <a:ln>
                <a:noFill/>
              </a:ln>
              <a:solidFill>
                <a:srgbClr val="000000"/>
              </a:solidFill>
              <a:effectLst/>
              <a:uLnTx/>
              <a:uFillTx/>
              <a:latin typeface="Trenda IG Text"/>
              <a:ea typeface="+mn-ea"/>
              <a:cs typeface="+mn-cs"/>
            </a:endParaRPr>
          </a:p>
          <a:p>
            <a:pPr marL="342900" marR="0" lvl="0" indent="-342900" algn="l" defTabSz="914400" rtl="0" eaLnBrk="1" fontAlgn="auto" latinLnBrk="0" hangingPunct="1">
              <a:lnSpc>
                <a:spcPct val="100000"/>
              </a:lnSpc>
              <a:spcBef>
                <a:spcPts val="0"/>
              </a:spcBef>
              <a:spcAft>
                <a:spcPts val="400"/>
              </a:spcAft>
              <a:buClrTx/>
              <a:buSzPct val="100000"/>
              <a:buFontTx/>
              <a:buChar char="•"/>
              <a:tabLst/>
              <a:defRPr/>
            </a:pPr>
            <a:r>
              <a:rPr kumimoji="0" lang="en-US" sz="1100" b="0" i="0" u="none" strike="noStrike" kern="1200" cap="none" spc="0" normalizeH="0" baseline="0" noProof="0">
                <a:ln>
                  <a:noFill/>
                </a:ln>
                <a:solidFill>
                  <a:srgbClr val="4D4D4D"/>
                </a:solidFill>
                <a:effectLst/>
                <a:uLnTx/>
                <a:uFillTx/>
                <a:latin typeface="Trenda IG Text"/>
                <a:ea typeface="+mn-ea"/>
                <a:cs typeface="+mn-cs"/>
              </a:rPr>
              <a:t>Payment gateway transaction fees</a:t>
            </a:r>
            <a:endParaRPr kumimoji="0" lang="en-US" sz="1100" b="0" i="0" u="none" strike="noStrike" kern="1200" cap="none" spc="0" normalizeH="0" baseline="0" noProof="0">
              <a:ln>
                <a:noFill/>
              </a:ln>
              <a:solidFill>
                <a:srgbClr val="000000"/>
              </a:solidFill>
              <a:effectLst/>
              <a:uLnTx/>
              <a:uFillTx/>
              <a:latin typeface="Trenda IG Text"/>
              <a:ea typeface="+mn-ea"/>
              <a:cs typeface="+mn-cs"/>
            </a:endParaRPr>
          </a:p>
          <a:p>
            <a:pPr marL="342900" marR="0" lvl="0" indent="-342900" algn="l" defTabSz="914400" rtl="0" eaLnBrk="1" fontAlgn="auto" latinLnBrk="0" hangingPunct="1">
              <a:lnSpc>
                <a:spcPct val="100000"/>
              </a:lnSpc>
              <a:spcBef>
                <a:spcPts val="0"/>
              </a:spcBef>
              <a:spcAft>
                <a:spcPts val="400"/>
              </a:spcAft>
              <a:buClrTx/>
              <a:buSzPct val="100000"/>
              <a:buFontTx/>
              <a:buChar char="•"/>
              <a:tabLst/>
              <a:defRPr/>
            </a:pPr>
            <a:r>
              <a:rPr kumimoji="0" lang="en-US" sz="1100" b="0" i="0" u="none" strike="noStrike" kern="1200" cap="none" spc="0" normalizeH="0" baseline="0" noProof="0">
                <a:ln>
                  <a:noFill/>
                </a:ln>
                <a:solidFill>
                  <a:srgbClr val="4D4D4D"/>
                </a:solidFill>
                <a:effectLst/>
                <a:uLnTx/>
                <a:uFillTx/>
                <a:latin typeface="Trenda IG Text"/>
                <a:ea typeface="+mn-ea"/>
                <a:cs typeface="+mn-cs"/>
              </a:rPr>
              <a:t>Waiting room subscription</a:t>
            </a:r>
            <a:endParaRPr kumimoji="0" lang="en-US" sz="1100" b="0" i="0" u="none" strike="noStrike" kern="1200" cap="none" spc="0" normalizeH="0" baseline="0" noProof="0">
              <a:ln>
                <a:noFill/>
              </a:ln>
              <a:solidFill>
                <a:srgbClr val="000000"/>
              </a:solidFill>
              <a:effectLst/>
              <a:uLnTx/>
              <a:uFillTx/>
              <a:latin typeface="Trenda IG Text"/>
              <a:ea typeface="+mn-ea"/>
              <a:cs typeface="+mn-cs"/>
            </a:endParaRPr>
          </a:p>
        </p:txBody>
      </p:sp>
      <p:sp>
        <p:nvSpPr>
          <p:cNvPr id="39" name="Text 37"/>
          <p:cNvSpPr txBox="1"/>
          <p:nvPr/>
        </p:nvSpPr>
        <p:spPr>
          <a:xfrm>
            <a:off x="5074920" y="5577840"/>
            <a:ext cx="6611112" cy="27432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1" u="none" strike="noStrike" kern="1200" cap="none" spc="0" normalizeH="0" baseline="0" noProof="0">
                <a:ln>
                  <a:noFill/>
                </a:ln>
                <a:solidFill>
                  <a:srgbClr val="4D4D4D"/>
                </a:solidFill>
                <a:effectLst/>
                <a:uLnTx/>
                <a:uFillTx/>
                <a:latin typeface="Trenda IG Text"/>
                <a:ea typeface="+mn-ea"/>
                <a:cs typeface="+mn-cs"/>
              </a:rPr>
              <a:t>Pricing is for an offshore delivery model. Indicative, billed at sprint milestones; final commercials in the statement of work.</a:t>
            </a:r>
            <a:endParaRPr kumimoji="0" lang="en-US" sz="1050" b="0" i="0" u="none" strike="noStrike" kern="1200" cap="none" spc="0" normalizeH="0" baseline="0" noProof="0">
              <a:ln>
                <a:noFill/>
              </a:ln>
              <a:solidFill>
                <a:srgbClr val="000000"/>
              </a:solidFill>
              <a:effectLst/>
              <a:uLnTx/>
              <a:uFillTx/>
              <a:latin typeface="Trenda IG Text"/>
              <a:ea typeface="+mn-ea"/>
              <a:cs typeface="+mn-cs"/>
            </a:endParaRPr>
          </a:p>
        </p:txBody>
      </p:sp>
      <p:sp>
        <p:nvSpPr>
          <p:cNvPr id="40" name="Slide Number Placeholder 0"/>
          <p:cNvSpPr>
            <a:spLocks noGrp="1"/>
          </p:cNvSpPr>
          <p:nvPr>
            <p:ph type="sldNum" sz="quarter" idx="4294967295"/>
          </p:nvPr>
        </p:nvSpPr>
        <p:spPr>
          <a:xfrm>
            <a:off x="11292840" y="6336792"/>
            <a:ext cx="457200" cy="22860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tx1"/>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900" b="0" i="0" u="none" strike="noStrike" kern="1200" cap="none" spc="0" normalizeH="0" baseline="0" noProof="0">
                <a:ln>
                  <a:noFill/>
                </a:ln>
                <a:solidFill>
                  <a:srgbClr val="000000"/>
                </a:solidFill>
                <a:effectLst/>
                <a:uLnTx/>
                <a:uFillTx/>
                <a:latin typeface="Trenda IG Tex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en-US" sz="900" b="0" i="0" u="none" strike="noStrike" kern="1200" cap="none" spc="0" normalizeH="0" baseline="0" noProof="0">
              <a:ln>
                <a:noFill/>
              </a:ln>
              <a:solidFill>
                <a:srgbClr val="000000"/>
              </a:solidFill>
              <a:effectLst/>
              <a:uLnTx/>
              <a:uFillTx/>
              <a:latin typeface="Trenda IG Text"/>
              <a:ea typeface="+mn-ea"/>
              <a:cs typeface="+mn-cs"/>
            </a:endParaRPr>
          </a:p>
        </p:txBody>
      </p:sp>
    </p:spTree>
    <p:extLst>
      <p:ext uri="{BB962C8B-B14F-4D97-AF65-F5344CB8AC3E}">
        <p14:creationId xmlns:p14="http://schemas.microsoft.com/office/powerpoint/2010/main" val="192382904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02920" y="658368"/>
            <a:ext cx="11185855" cy="822960"/>
          </a:xfrm>
          <a:prstGeom prst="rect">
            <a:avLst/>
          </a:prstGeom>
          <a:noFill/>
          <a:ln/>
        </p:spPr>
        <p:txBody>
          <a:bodyPr wrap="square" lIns="0" tIns="0" rIns="0" bIns="0" rtlCol="0" anchor="t"/>
          <a:lstStyle/>
          <a:p>
            <a:pPr marL="0" indent="0" algn="l">
              <a:buNone/>
            </a:pPr>
            <a:r>
              <a:rPr lang="en-US" sz="3200" b="1">
                <a:solidFill>
                  <a:schemeClr val="bg1"/>
                </a:solidFill>
              </a:rPr>
              <a:t>Next steps</a:t>
            </a:r>
            <a:endParaRPr lang="en-US" sz="3200"/>
          </a:p>
        </p:txBody>
      </p:sp>
      <p:sp>
        <p:nvSpPr>
          <p:cNvPr id="3" name="circle-1"/>
          <p:cNvSpPr/>
          <p:nvPr/>
        </p:nvSpPr>
        <p:spPr>
          <a:xfrm>
            <a:off x="548640" y="1600200"/>
            <a:ext cx="420624" cy="420624"/>
          </a:xfrm>
          <a:prstGeom prst="ellipse">
            <a:avLst/>
          </a:prstGeom>
          <a:ln w="15875">
            <a:solidFill>
              <a:schemeClr val="bg1"/>
            </a:solidFill>
            <a:prstDash val="solid"/>
          </a:ln>
        </p:spPr>
        <p:txBody>
          <a:bodyPr/>
          <a:lstStyle/>
          <a:p>
            <a:endParaRPr lang="en-IN"/>
          </a:p>
        </p:txBody>
      </p:sp>
      <p:sp>
        <p:nvSpPr>
          <p:cNvPr id="4" name="Text 2"/>
          <p:cNvSpPr txBox="1"/>
          <p:nvPr/>
        </p:nvSpPr>
        <p:spPr>
          <a:xfrm>
            <a:off x="548640" y="1600200"/>
            <a:ext cx="420624" cy="420624"/>
          </a:xfrm>
          <a:prstGeom prst="rect">
            <a:avLst/>
          </a:prstGeom>
          <a:noFill/>
          <a:ln/>
        </p:spPr>
        <p:txBody>
          <a:bodyPr wrap="square" lIns="0" tIns="0" rIns="0" bIns="0" rtlCol="0" anchor="ctr"/>
          <a:lstStyle/>
          <a:p>
            <a:pPr marL="0" indent="0" algn="ctr">
              <a:buNone/>
            </a:pPr>
            <a:r>
              <a:rPr lang="en-US" sz="1400">
                <a:solidFill>
                  <a:schemeClr val="bg1"/>
                </a:solidFill>
              </a:rPr>
              <a:t>1</a:t>
            </a:r>
            <a:endParaRPr lang="en-US" sz="1400"/>
          </a:p>
        </p:txBody>
      </p:sp>
      <p:sp>
        <p:nvSpPr>
          <p:cNvPr id="5" name="Text 3"/>
          <p:cNvSpPr txBox="1"/>
          <p:nvPr/>
        </p:nvSpPr>
        <p:spPr>
          <a:xfrm>
            <a:off x="1188720" y="1600200"/>
            <a:ext cx="10058400" cy="420624"/>
          </a:xfrm>
          <a:prstGeom prst="rect">
            <a:avLst/>
          </a:prstGeom>
          <a:noFill/>
          <a:ln/>
        </p:spPr>
        <p:txBody>
          <a:bodyPr wrap="square" lIns="0" tIns="0" rIns="0" bIns="0" rtlCol="0" anchor="ctr"/>
          <a:lstStyle/>
          <a:p>
            <a:pPr marL="0" indent="0">
              <a:buNone/>
            </a:pPr>
            <a:r>
              <a:rPr lang="en-US" sz="2000">
                <a:solidFill>
                  <a:schemeClr val="bg1"/>
                </a:solidFill>
                <a:latin typeface="Trenda IG Text Light" pitchFamily="34" charset="0"/>
                <a:ea typeface="Trenda IG Text Light" pitchFamily="34" charset="-122"/>
                <a:cs typeface="Trenda IG Text Light" pitchFamily="34" charset="-120"/>
              </a:rPr>
              <a:t>Walk through the current class solution with Lucky Rai’s team</a:t>
            </a:r>
            <a:endParaRPr lang="en-US" sz="2000"/>
          </a:p>
        </p:txBody>
      </p:sp>
      <p:sp>
        <p:nvSpPr>
          <p:cNvPr id="6" name="circle-2"/>
          <p:cNvSpPr/>
          <p:nvPr/>
        </p:nvSpPr>
        <p:spPr>
          <a:xfrm>
            <a:off x="548640" y="2185416"/>
            <a:ext cx="420624" cy="420624"/>
          </a:xfrm>
          <a:prstGeom prst="ellipse">
            <a:avLst/>
          </a:prstGeom>
          <a:ln w="15875">
            <a:solidFill>
              <a:schemeClr val="bg1"/>
            </a:solidFill>
            <a:prstDash val="solid"/>
          </a:ln>
        </p:spPr>
        <p:txBody>
          <a:bodyPr/>
          <a:lstStyle/>
          <a:p>
            <a:endParaRPr lang="en-IN"/>
          </a:p>
        </p:txBody>
      </p:sp>
      <p:sp>
        <p:nvSpPr>
          <p:cNvPr id="7" name="Text 5"/>
          <p:cNvSpPr txBox="1"/>
          <p:nvPr/>
        </p:nvSpPr>
        <p:spPr>
          <a:xfrm>
            <a:off x="548640" y="2185416"/>
            <a:ext cx="420624" cy="420624"/>
          </a:xfrm>
          <a:prstGeom prst="rect">
            <a:avLst/>
          </a:prstGeom>
          <a:noFill/>
          <a:ln/>
        </p:spPr>
        <p:txBody>
          <a:bodyPr wrap="square" lIns="0" tIns="0" rIns="0" bIns="0" rtlCol="0" anchor="ctr"/>
          <a:lstStyle/>
          <a:p>
            <a:pPr marL="0" indent="0" algn="ctr">
              <a:buNone/>
            </a:pPr>
            <a:r>
              <a:rPr lang="en-US" sz="1400">
                <a:solidFill>
                  <a:schemeClr val="bg1"/>
                </a:solidFill>
              </a:rPr>
              <a:t>2</a:t>
            </a:r>
            <a:endParaRPr lang="en-US" sz="1400"/>
          </a:p>
        </p:txBody>
      </p:sp>
      <p:sp>
        <p:nvSpPr>
          <p:cNvPr id="8" name="Text 6"/>
          <p:cNvSpPr txBox="1"/>
          <p:nvPr/>
        </p:nvSpPr>
        <p:spPr>
          <a:xfrm>
            <a:off x="1188720" y="2185416"/>
            <a:ext cx="10058400" cy="420624"/>
          </a:xfrm>
          <a:prstGeom prst="rect">
            <a:avLst/>
          </a:prstGeom>
          <a:noFill/>
          <a:ln/>
        </p:spPr>
        <p:txBody>
          <a:bodyPr wrap="square" lIns="0" tIns="0" rIns="0" bIns="0" rtlCol="0" anchor="ctr"/>
          <a:lstStyle/>
          <a:p>
            <a:pPr marL="0" indent="0">
              <a:buNone/>
            </a:pPr>
            <a:r>
              <a:rPr lang="en-US" sz="2000">
                <a:solidFill>
                  <a:schemeClr val="bg1"/>
                </a:solidFill>
                <a:latin typeface="Trenda IG Text Light" pitchFamily="34" charset="0"/>
                <a:ea typeface="Trenda IG Text Light" pitchFamily="34" charset="-122"/>
                <a:cs typeface="Trenda IG Text Light" pitchFamily="34" charset="-120"/>
              </a:rPr>
              <a:t>Confirm how registration opens inside the My Memorial Hermann app</a:t>
            </a:r>
            <a:endParaRPr lang="en-US" sz="2000"/>
          </a:p>
        </p:txBody>
      </p:sp>
      <p:sp>
        <p:nvSpPr>
          <p:cNvPr id="9" name="circle-3"/>
          <p:cNvSpPr/>
          <p:nvPr/>
        </p:nvSpPr>
        <p:spPr>
          <a:xfrm>
            <a:off x="548640" y="2770632"/>
            <a:ext cx="420624" cy="420624"/>
          </a:xfrm>
          <a:prstGeom prst="ellipse">
            <a:avLst/>
          </a:prstGeom>
          <a:ln w="15875">
            <a:solidFill>
              <a:schemeClr val="bg1"/>
            </a:solidFill>
            <a:prstDash val="solid"/>
          </a:ln>
        </p:spPr>
        <p:txBody>
          <a:bodyPr/>
          <a:lstStyle/>
          <a:p>
            <a:endParaRPr lang="en-IN"/>
          </a:p>
        </p:txBody>
      </p:sp>
      <p:sp>
        <p:nvSpPr>
          <p:cNvPr id="10" name="Text 8"/>
          <p:cNvSpPr txBox="1"/>
          <p:nvPr/>
        </p:nvSpPr>
        <p:spPr>
          <a:xfrm>
            <a:off x="548640" y="2770632"/>
            <a:ext cx="420624" cy="420624"/>
          </a:xfrm>
          <a:prstGeom prst="rect">
            <a:avLst/>
          </a:prstGeom>
          <a:noFill/>
          <a:ln/>
        </p:spPr>
        <p:txBody>
          <a:bodyPr wrap="square" lIns="0" tIns="0" rIns="0" bIns="0" rtlCol="0" anchor="ctr"/>
          <a:lstStyle/>
          <a:p>
            <a:pPr marL="0" indent="0" algn="ctr">
              <a:buNone/>
            </a:pPr>
            <a:r>
              <a:rPr lang="en-US" sz="1400">
                <a:solidFill>
                  <a:schemeClr val="bg1"/>
                </a:solidFill>
              </a:rPr>
              <a:t>3</a:t>
            </a:r>
            <a:endParaRPr lang="en-US" sz="1400"/>
          </a:p>
        </p:txBody>
      </p:sp>
      <p:sp>
        <p:nvSpPr>
          <p:cNvPr id="11" name="Text 9"/>
          <p:cNvSpPr txBox="1"/>
          <p:nvPr/>
        </p:nvSpPr>
        <p:spPr>
          <a:xfrm>
            <a:off x="1188720" y="2770632"/>
            <a:ext cx="10058400" cy="420624"/>
          </a:xfrm>
          <a:prstGeom prst="rect">
            <a:avLst/>
          </a:prstGeom>
          <a:noFill/>
          <a:ln/>
        </p:spPr>
        <p:txBody>
          <a:bodyPr wrap="square" lIns="0" tIns="0" rIns="0" bIns="0" rtlCol="0" anchor="ctr"/>
          <a:lstStyle/>
          <a:p>
            <a:pPr marL="0" indent="0">
              <a:buNone/>
            </a:pPr>
            <a:r>
              <a:rPr lang="en-US" sz="2000">
                <a:solidFill>
                  <a:schemeClr val="bg1"/>
                </a:solidFill>
                <a:latin typeface="Trenda IG Text Light" pitchFamily="34" charset="0"/>
                <a:ea typeface="Trenda IG Text Light" pitchFamily="34" charset="-122"/>
                <a:cs typeface="Trenda IG Text Light" pitchFamily="34" charset="-120"/>
              </a:rPr>
              <a:t>Confirm yearly volumes: classes, conferences, registrants</a:t>
            </a:r>
            <a:endParaRPr lang="en-US" sz="2000"/>
          </a:p>
        </p:txBody>
      </p:sp>
      <p:sp>
        <p:nvSpPr>
          <p:cNvPr id="12" name="circle-4"/>
          <p:cNvSpPr/>
          <p:nvPr/>
        </p:nvSpPr>
        <p:spPr>
          <a:xfrm>
            <a:off x="548640" y="3355848"/>
            <a:ext cx="420624" cy="420624"/>
          </a:xfrm>
          <a:prstGeom prst="ellipse">
            <a:avLst/>
          </a:prstGeom>
          <a:ln w="15875">
            <a:solidFill>
              <a:schemeClr val="bg1"/>
            </a:solidFill>
            <a:prstDash val="solid"/>
          </a:ln>
        </p:spPr>
        <p:txBody>
          <a:bodyPr/>
          <a:lstStyle/>
          <a:p>
            <a:endParaRPr lang="en-IN"/>
          </a:p>
        </p:txBody>
      </p:sp>
      <p:sp>
        <p:nvSpPr>
          <p:cNvPr id="13" name="Text 11"/>
          <p:cNvSpPr txBox="1"/>
          <p:nvPr/>
        </p:nvSpPr>
        <p:spPr>
          <a:xfrm>
            <a:off x="548640" y="3355848"/>
            <a:ext cx="420624" cy="420624"/>
          </a:xfrm>
          <a:prstGeom prst="rect">
            <a:avLst/>
          </a:prstGeom>
          <a:noFill/>
          <a:ln/>
        </p:spPr>
        <p:txBody>
          <a:bodyPr wrap="square" lIns="0" tIns="0" rIns="0" bIns="0" rtlCol="0" anchor="ctr"/>
          <a:lstStyle/>
          <a:p>
            <a:pPr marL="0" indent="0" algn="ctr">
              <a:buNone/>
            </a:pPr>
            <a:r>
              <a:rPr lang="en-US" sz="1400">
                <a:solidFill>
                  <a:schemeClr val="bg1"/>
                </a:solidFill>
              </a:rPr>
              <a:t>4</a:t>
            </a:r>
            <a:endParaRPr lang="en-US" sz="1400"/>
          </a:p>
        </p:txBody>
      </p:sp>
      <p:sp>
        <p:nvSpPr>
          <p:cNvPr id="14" name="Text 12"/>
          <p:cNvSpPr txBox="1"/>
          <p:nvPr/>
        </p:nvSpPr>
        <p:spPr>
          <a:xfrm>
            <a:off x="1188720" y="3355848"/>
            <a:ext cx="10058400" cy="420624"/>
          </a:xfrm>
          <a:prstGeom prst="rect">
            <a:avLst/>
          </a:prstGeom>
          <a:noFill/>
          <a:ln/>
        </p:spPr>
        <p:txBody>
          <a:bodyPr wrap="square" lIns="0" tIns="0" rIns="0" bIns="0" rtlCol="0" anchor="ctr"/>
          <a:lstStyle/>
          <a:p>
            <a:pPr marL="0" indent="0">
              <a:buNone/>
            </a:pPr>
            <a:r>
              <a:rPr lang="en-US" sz="2000">
                <a:solidFill>
                  <a:schemeClr val="bg1"/>
                </a:solidFill>
                <a:latin typeface="Trenda IG Text Light" pitchFamily="34" charset="0"/>
                <a:ea typeface="Trenda IG Text Light" pitchFamily="34" charset="-122"/>
                <a:cs typeface="Trenda IG Text Light" pitchFamily="34" charset="-120"/>
              </a:rPr>
              <a:t>Confirm conference must-haves: sessions, badges, sponsors, CME</a:t>
            </a:r>
            <a:endParaRPr lang="en-US" sz="2000"/>
          </a:p>
        </p:txBody>
      </p:sp>
      <p:sp>
        <p:nvSpPr>
          <p:cNvPr id="15" name="circle-5"/>
          <p:cNvSpPr/>
          <p:nvPr/>
        </p:nvSpPr>
        <p:spPr>
          <a:xfrm>
            <a:off x="548640" y="3941064"/>
            <a:ext cx="420624" cy="420624"/>
          </a:xfrm>
          <a:prstGeom prst="ellipse">
            <a:avLst/>
          </a:prstGeom>
          <a:ln w="15875">
            <a:solidFill>
              <a:schemeClr val="bg1"/>
            </a:solidFill>
            <a:prstDash val="solid"/>
          </a:ln>
        </p:spPr>
        <p:txBody>
          <a:bodyPr/>
          <a:lstStyle/>
          <a:p>
            <a:endParaRPr lang="en-IN"/>
          </a:p>
        </p:txBody>
      </p:sp>
      <p:sp>
        <p:nvSpPr>
          <p:cNvPr id="16" name="Text 14"/>
          <p:cNvSpPr txBox="1"/>
          <p:nvPr/>
        </p:nvSpPr>
        <p:spPr>
          <a:xfrm>
            <a:off x="548640" y="3941064"/>
            <a:ext cx="420624" cy="420624"/>
          </a:xfrm>
          <a:prstGeom prst="rect">
            <a:avLst/>
          </a:prstGeom>
          <a:noFill/>
          <a:ln/>
        </p:spPr>
        <p:txBody>
          <a:bodyPr wrap="square" lIns="0" tIns="0" rIns="0" bIns="0" rtlCol="0" anchor="ctr"/>
          <a:lstStyle/>
          <a:p>
            <a:pPr marL="0" indent="0" algn="ctr">
              <a:buNone/>
            </a:pPr>
            <a:r>
              <a:rPr lang="en-US" sz="1400">
                <a:solidFill>
                  <a:schemeClr val="bg1"/>
                </a:solidFill>
              </a:rPr>
              <a:t>5</a:t>
            </a:r>
            <a:endParaRPr lang="en-US" sz="1400"/>
          </a:p>
        </p:txBody>
      </p:sp>
      <p:sp>
        <p:nvSpPr>
          <p:cNvPr id="17" name="Text 15"/>
          <p:cNvSpPr txBox="1"/>
          <p:nvPr/>
        </p:nvSpPr>
        <p:spPr>
          <a:xfrm>
            <a:off x="1188720" y="3941064"/>
            <a:ext cx="10058400" cy="420624"/>
          </a:xfrm>
          <a:prstGeom prst="rect">
            <a:avLst/>
          </a:prstGeom>
          <a:noFill/>
          <a:ln/>
        </p:spPr>
        <p:txBody>
          <a:bodyPr wrap="square" lIns="0" tIns="0" rIns="0" bIns="0" rtlCol="0" anchor="ctr"/>
          <a:lstStyle/>
          <a:p>
            <a:pPr marL="0" indent="0">
              <a:buNone/>
            </a:pPr>
            <a:r>
              <a:rPr lang="en-US" sz="2000">
                <a:solidFill>
                  <a:schemeClr val="bg1"/>
                </a:solidFill>
                <a:latin typeface="Trenda IG Text Light" pitchFamily="34" charset="0"/>
                <a:ea typeface="Trenda IG Text Light" pitchFamily="34" charset="-122"/>
                <a:cs typeface="Trenda IG Text Light" pitchFamily="34" charset="-120"/>
              </a:rPr>
              <a:t>Agree the payment approach: keep both gateways or consolidate</a:t>
            </a:r>
            <a:endParaRPr lang="en-US" sz="2000"/>
          </a:p>
        </p:txBody>
      </p:sp>
      <p:sp>
        <p:nvSpPr>
          <p:cNvPr id="18" name="circle-6"/>
          <p:cNvSpPr/>
          <p:nvPr/>
        </p:nvSpPr>
        <p:spPr>
          <a:xfrm>
            <a:off x="548640" y="4526280"/>
            <a:ext cx="420624" cy="420624"/>
          </a:xfrm>
          <a:prstGeom prst="ellipse">
            <a:avLst/>
          </a:prstGeom>
          <a:ln w="15875">
            <a:solidFill>
              <a:schemeClr val="bg1"/>
            </a:solidFill>
            <a:prstDash val="solid"/>
          </a:ln>
        </p:spPr>
        <p:txBody>
          <a:bodyPr/>
          <a:lstStyle/>
          <a:p>
            <a:endParaRPr lang="en-IN"/>
          </a:p>
        </p:txBody>
      </p:sp>
      <p:sp>
        <p:nvSpPr>
          <p:cNvPr id="19" name="Text 17"/>
          <p:cNvSpPr txBox="1"/>
          <p:nvPr/>
        </p:nvSpPr>
        <p:spPr>
          <a:xfrm>
            <a:off x="548640" y="4526280"/>
            <a:ext cx="420624" cy="420624"/>
          </a:xfrm>
          <a:prstGeom prst="rect">
            <a:avLst/>
          </a:prstGeom>
          <a:noFill/>
          <a:ln/>
        </p:spPr>
        <p:txBody>
          <a:bodyPr wrap="square" lIns="0" tIns="0" rIns="0" bIns="0" rtlCol="0" anchor="ctr"/>
          <a:lstStyle/>
          <a:p>
            <a:pPr marL="0" indent="0" algn="ctr">
              <a:buNone/>
            </a:pPr>
            <a:r>
              <a:rPr lang="en-US" sz="1400">
                <a:solidFill>
                  <a:schemeClr val="bg1"/>
                </a:solidFill>
              </a:rPr>
              <a:t>6</a:t>
            </a:r>
            <a:endParaRPr lang="en-US" sz="1400"/>
          </a:p>
        </p:txBody>
      </p:sp>
      <p:sp>
        <p:nvSpPr>
          <p:cNvPr id="20" name="Text 18"/>
          <p:cNvSpPr txBox="1"/>
          <p:nvPr/>
        </p:nvSpPr>
        <p:spPr>
          <a:xfrm>
            <a:off x="1188720" y="4526280"/>
            <a:ext cx="10058400" cy="420624"/>
          </a:xfrm>
          <a:prstGeom prst="rect">
            <a:avLst/>
          </a:prstGeom>
          <a:noFill/>
          <a:ln/>
        </p:spPr>
        <p:txBody>
          <a:bodyPr wrap="square" lIns="0" tIns="0" rIns="0" bIns="0" rtlCol="0" anchor="ctr"/>
          <a:lstStyle/>
          <a:p>
            <a:pPr marL="0" indent="0">
              <a:buNone/>
            </a:pPr>
            <a:r>
              <a:rPr lang="en-US" sz="2000">
                <a:solidFill>
                  <a:schemeClr val="bg1"/>
                </a:solidFill>
                <a:latin typeface="Trenda IG Text Light" pitchFamily="34" charset="0"/>
                <a:ea typeface="Trenda IG Text Light" pitchFamily="34" charset="-122"/>
                <a:cs typeface="Trenda IG Text Light" pitchFamily="34" charset="-120"/>
              </a:rPr>
              <a:t>Share the Certain renewal date so Phase 2 lands before it</a:t>
            </a:r>
            <a:endParaRPr lang="en-US" sz="2000"/>
          </a:p>
        </p:txBody>
      </p:sp>
      <p:sp>
        <p:nvSpPr>
          <p:cNvPr id="21" name="circle-7"/>
          <p:cNvSpPr/>
          <p:nvPr/>
        </p:nvSpPr>
        <p:spPr>
          <a:xfrm>
            <a:off x="548640" y="5111496"/>
            <a:ext cx="420624" cy="420624"/>
          </a:xfrm>
          <a:prstGeom prst="ellipse">
            <a:avLst/>
          </a:prstGeom>
          <a:ln w="15875">
            <a:solidFill>
              <a:schemeClr val="bg1"/>
            </a:solidFill>
            <a:prstDash val="solid"/>
          </a:ln>
        </p:spPr>
        <p:txBody>
          <a:bodyPr/>
          <a:lstStyle/>
          <a:p>
            <a:endParaRPr lang="en-IN"/>
          </a:p>
        </p:txBody>
      </p:sp>
      <p:sp>
        <p:nvSpPr>
          <p:cNvPr id="22" name="Text 20"/>
          <p:cNvSpPr txBox="1"/>
          <p:nvPr/>
        </p:nvSpPr>
        <p:spPr>
          <a:xfrm>
            <a:off x="548640" y="5111496"/>
            <a:ext cx="420624" cy="420624"/>
          </a:xfrm>
          <a:prstGeom prst="rect">
            <a:avLst/>
          </a:prstGeom>
          <a:noFill/>
          <a:ln/>
        </p:spPr>
        <p:txBody>
          <a:bodyPr wrap="square" lIns="0" tIns="0" rIns="0" bIns="0" rtlCol="0" anchor="ctr"/>
          <a:lstStyle/>
          <a:p>
            <a:pPr marL="0" indent="0" algn="ctr">
              <a:buNone/>
            </a:pPr>
            <a:r>
              <a:rPr lang="en-US" sz="1400">
                <a:solidFill>
                  <a:schemeClr val="bg1"/>
                </a:solidFill>
              </a:rPr>
              <a:t>7</a:t>
            </a:r>
            <a:endParaRPr lang="en-US" sz="1400"/>
          </a:p>
        </p:txBody>
      </p:sp>
      <p:sp>
        <p:nvSpPr>
          <p:cNvPr id="23" name="Text 21"/>
          <p:cNvSpPr txBox="1"/>
          <p:nvPr/>
        </p:nvSpPr>
        <p:spPr>
          <a:xfrm>
            <a:off x="1188720" y="5111496"/>
            <a:ext cx="10058400" cy="420624"/>
          </a:xfrm>
          <a:prstGeom prst="rect">
            <a:avLst/>
          </a:prstGeom>
          <a:noFill/>
          <a:ln/>
        </p:spPr>
        <p:txBody>
          <a:bodyPr wrap="square" lIns="0" tIns="0" rIns="0" bIns="0" rtlCol="0" anchor="ctr"/>
          <a:lstStyle/>
          <a:p>
            <a:pPr marL="0" indent="0">
              <a:buNone/>
            </a:pPr>
            <a:r>
              <a:rPr lang="en-US" sz="2000">
                <a:solidFill>
                  <a:schemeClr val="bg1"/>
                </a:solidFill>
                <a:latin typeface="Trenda IG Text Light" pitchFamily="34" charset="0"/>
                <a:ea typeface="Trenda IG Text Light" pitchFamily="34" charset="-122"/>
                <a:cs typeface="Trenda IG Text Light" pitchFamily="34" charset="-120"/>
              </a:rPr>
              <a:t>Pick 2 to 3 service lines for the first engagement journeys</a:t>
            </a:r>
            <a:endParaRPr lang="en-US" sz="2000"/>
          </a:p>
        </p:txBody>
      </p:sp>
      <p:sp>
        <p:nvSpPr>
          <p:cNvPr id="24" name="Text 22"/>
          <p:cNvSpPr txBox="1"/>
          <p:nvPr/>
        </p:nvSpPr>
        <p:spPr>
          <a:xfrm>
            <a:off x="1188720" y="5806440"/>
            <a:ext cx="10058400" cy="320040"/>
          </a:xfrm>
          <a:prstGeom prst="rect">
            <a:avLst/>
          </a:prstGeom>
          <a:noFill/>
          <a:ln/>
        </p:spPr>
        <p:txBody>
          <a:bodyPr wrap="square" lIns="0" tIns="0" rIns="0" bIns="0" rtlCol="0" anchor="t"/>
          <a:lstStyle/>
          <a:p>
            <a:pPr marL="0" indent="0">
              <a:buNone/>
            </a:pPr>
            <a:r>
              <a:rPr lang="en-US" sz="1400" b="1">
                <a:solidFill>
                  <a:schemeClr val="accent1"/>
                </a:solidFill>
              </a:rPr>
              <a:t>Then we return with a scoped plan, team and estimate.</a:t>
            </a:r>
            <a:endParaRPr lang="en-US" sz="1400"/>
          </a:p>
        </p:txBody>
      </p:sp>
      <p:sp>
        <p:nvSpPr>
          <p:cNvPr id="25" name="Slide Number Placeholder 0"/>
          <p:cNvSpPr>
            <a:spLocks noGrp="1"/>
          </p:cNvSpPr>
          <p:nvPr>
            <p:ph type="sldNum" sz="quarter" idx="4294967295"/>
          </p:nvPr>
        </p:nvSpPr>
        <p:spPr>
          <a:xfrm>
            <a:off x="11292840" y="6336792"/>
            <a:ext cx="457200" cy="22860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bg1"/>
                </a:solidFill>
              </a:defRPr>
            </a:lvl1pPr>
          </a:lstStyle>
          <a:p>
            <a:pPr algn="r"/>
            <a:fld id="{F7021451-1387-4CA6-816F-3879F97B5CBC}" type="slidenum">
              <a:rPr lang="en-US" b="0"/>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Insight Global">
  <a:themeElements>
    <a:clrScheme name="Insight Global">
      <a:dk1>
        <a:srgbClr val="000000"/>
      </a:dk1>
      <a:lt1>
        <a:srgbClr val="FFFFFF"/>
      </a:lt1>
      <a:dk2>
        <a:srgbClr val="01273C"/>
      </a:dk2>
      <a:lt2>
        <a:srgbClr val="F2F2F2"/>
      </a:lt2>
      <a:accent1>
        <a:srgbClr val="00D6F2"/>
      </a:accent1>
      <a:accent2>
        <a:srgbClr val="FED700"/>
      </a:accent2>
      <a:accent3>
        <a:srgbClr val="FF0068"/>
      </a:accent3>
      <a:accent4>
        <a:srgbClr val="F98B34"/>
      </a:accent4>
      <a:accent5>
        <a:srgbClr val="D214AA"/>
      </a:accent5>
      <a:accent6>
        <a:srgbClr val="45289F"/>
      </a:accent6>
      <a:hlink>
        <a:srgbClr val="FF0068"/>
      </a:hlink>
      <a:folHlink>
        <a:srgbClr val="D214AA"/>
      </a:folHlink>
    </a:clrScheme>
    <a:fontScheme name="Insight Global">
      <a:majorFont>
        <a:latin typeface="Trenda IG Tex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Trenda IG Text"/>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TotalTime>
  <Words>3534</Words>
  <Application>Microsoft Office PowerPoint</Application>
  <PresentationFormat>Widescreen</PresentationFormat>
  <Paragraphs>619</Paragraphs>
  <Slides>29</Slides>
  <Notes>29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29</vt:i4>
      </vt:variant>
    </vt:vector>
  </HeadingPairs>
  <TitlesOfParts>
    <vt:vector size="34" baseType="lpstr">
      <vt:lpstr>Aptos</vt:lpstr>
      <vt:lpstr>Arial</vt:lpstr>
      <vt:lpstr>Trenda IG Text</vt:lpstr>
      <vt:lpstr>Trenda IG Text Light</vt:lpstr>
      <vt:lpstr>Insight Global</vt:lpstr>
      <vt:lpstr>ONE EVENT PLATFORM ON SALESFORCE</vt:lpstr>
      <vt:lpstr>Agenda</vt:lpstr>
      <vt:lpstr>Business Opportunity</vt:lpstr>
      <vt:lpstr>01  THE SOLUTION</vt:lpstr>
      <vt:lpstr>An event app inside your Salesforce org</vt:lpstr>
      <vt:lpstr>Overall solution design</vt:lpstr>
      <vt:lpstr>One registration flow for website and app</vt:lpstr>
      <vt:lpstr>Staff run every class from one Salesforce console</vt:lpstr>
      <vt:lpstr>Conferences with full session management</vt:lpstr>
      <vt:lpstr>Every seat filled, no interested person lost</vt:lpstr>
      <vt:lpstr>Design detail: registration and seat flow</vt:lpstr>
      <vt:lpstr>Payments and data security by design</vt:lpstr>
      <vt:lpstr>Design detail: payment sequence</vt:lpstr>
      <vt:lpstr>02  DELIVERY PLAN</vt:lpstr>
      <vt:lpstr>Delivery timeline</vt:lpstr>
      <vt:lpstr>Delivery plan: 12 two-week sprints</vt:lpstr>
      <vt:lpstr>A dedicated five-person delivery pod</vt:lpstr>
      <vt:lpstr>What each phase delivers</vt:lpstr>
      <vt:lpstr>03  BEYOND THE EVENT</vt:lpstr>
      <vt:lpstr>PowerPoint Presentation</vt:lpstr>
      <vt:lpstr>After the class: patient engagement initiatives (PEIs)</vt:lpstr>
      <vt:lpstr>Campaigns built from registration data</vt:lpstr>
      <vt:lpstr>Bring website registrants into the app</vt:lpstr>
      <vt:lpstr>How we will measure success</vt:lpstr>
      <vt:lpstr>Roadmap: from registration to relationship</vt:lpstr>
      <vt:lpstr>Future state: AI agents in a controlled harness</vt:lpstr>
      <vt:lpstr>Investment</vt:lpstr>
      <vt:lpstr>Next steps</vt:lpstr>
      <vt:lpstr>PowerPoint Presentation</vt:lpstr>
    </vt:vector>
  </TitlesOfParts>
  <Company>Insight Global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Memorial Hermann: One Event Platform on Salesforce</dc:title>
  <dc:subject>PptxGenJS Presentation</dc:subject>
  <dc:creator>Insight Global</dc:creator>
  <cp:lastModifiedBy>Surya Chinta</cp:lastModifiedBy>
  <cp:revision>1</cp:revision>
  <dcterms:created xsi:type="dcterms:W3CDTF">2026-10-15T06:01:21Z</dcterms:created>
  <dcterms:modified xsi:type="dcterms:W3CDTF">2026-10-19T05:58:18Z</dcterms:modified>
</cp:coreProperties>
</file>